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93" r:id="rId4"/>
    <p:sldId id="258" r:id="rId5"/>
    <p:sldId id="289" r:id="rId6"/>
    <p:sldId id="259" r:id="rId7"/>
    <p:sldId id="288" r:id="rId8"/>
    <p:sldId id="260" r:id="rId9"/>
    <p:sldId id="261" r:id="rId10"/>
    <p:sldId id="286" r:id="rId11"/>
    <p:sldId id="294" r:id="rId12"/>
    <p:sldId id="287" r:id="rId13"/>
    <p:sldId id="277" r:id="rId14"/>
    <p:sldId id="265" r:id="rId15"/>
    <p:sldId id="267" r:id="rId16"/>
    <p:sldId id="268" r:id="rId17"/>
    <p:sldId id="269" r:id="rId18"/>
    <p:sldId id="295" r:id="rId2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3EE"/>
    <a:srgbClr val="1E7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2" d="100"/>
          <a:sy n="62" d="100"/>
        </p:scale>
        <p:origin x="248"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Plan</c:v>
                </c:pt>
              </c:strCache>
            </c:strRef>
          </c:tx>
          <c:spPr>
            <a:solidFill>
              <a:srgbClr val="C0392B"/>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Sheet1!$B$2:$B$11</c:f>
              <c:numCache>
                <c:formatCode>General</c:formatCode>
                <c:ptCount val="10"/>
                <c:pt idx="0">
                  <c:v>924</c:v>
                </c:pt>
                <c:pt idx="1">
                  <c:v>1698</c:v>
                </c:pt>
                <c:pt idx="2">
                  <c:v>39102</c:v>
                </c:pt>
                <c:pt idx="3">
                  <c:v>3570</c:v>
                </c:pt>
                <c:pt idx="4">
                  <c:v>1500</c:v>
                </c:pt>
                <c:pt idx="5">
                  <c:v>5416</c:v>
                </c:pt>
                <c:pt idx="6">
                  <c:v>4857</c:v>
                </c:pt>
                <c:pt idx="7">
                  <c:v>6387</c:v>
                </c:pt>
                <c:pt idx="8">
                  <c:v>30308</c:v>
                </c:pt>
                <c:pt idx="9">
                  <c:v>21158</c:v>
                </c:pt>
              </c:numCache>
            </c:numRef>
          </c:val>
        </c:ser>
        <c:ser>
          <c:idx val="1"/>
          <c:order val="1"/>
          <c:tx>
            <c:strRef>
              <c:f>Sheet1!$C$1</c:f>
              <c:strCache>
                <c:ptCount val="1"/>
                <c:pt idx="0">
                  <c:v>Today (TTM actual)</c:v>
                </c:pt>
              </c:strCache>
            </c:strRef>
          </c:tx>
          <c:spPr>
            <a:solidFill>
              <a:srgbClr val="A9C47F"/>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Sheet1!$C$2:$C$11</c:f>
              <c:numCache>
                <c:formatCode>General</c:formatCode>
                <c:ptCount val="10"/>
                <c:pt idx="0">
                  <c:v>0</c:v>
                </c:pt>
                <c:pt idx="1">
                  <c:v>198</c:v>
                </c:pt>
                <c:pt idx="2">
                  <c:v>35102</c:v>
                </c:pt>
                <c:pt idx="3">
                  <c:v>570</c:v>
                </c:pt>
                <c:pt idx="4">
                  <c:v>0</c:v>
                </c:pt>
                <c:pt idx="5">
                  <c:v>1416</c:v>
                </c:pt>
                <c:pt idx="6">
                  <c:v>857</c:v>
                </c:pt>
                <c:pt idx="7">
                  <c:v>387</c:v>
                </c:pt>
                <c:pt idx="8">
                  <c:v>18308</c:v>
                </c:pt>
                <c:pt idx="9">
                  <c:v>13158</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b"/>
        <c:majorGridlines/>
        <c:numFmt formatCode="$#,##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16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Wing loses money because of its staffing model. This plan keeps the product, the margin and the brand, and changes three things: how the room is staffed, what the owner charges, and what sits on the shelves. Prepared for ownership review, July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plan, here's what actually sells, straight from twelve months of Toast. Coffee and tea drinks are the engine at 40 percent of product sales, with sandwiches and retail beverages tied for second at 17 percent each. The read that matters for the plan: it's beverage-led — coffee, cooler cans, and smoothies together are 59 percent of sales — and retail already sells. Canned beer, wine and NA drinks are already the number-three category before we touch the shelves, which is exactly why the merchandising lever is low-risk. This excludes Vessel events, gift cards and open-item rings.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pulled in order. Labor is the largest and already moving — one 10-hour shift, 76 hours a week, a second barista only on peak weekend days. Pricing is the fastest: a $0.50 lift on coffee and tea and a $1.00 lift on sandwiches and smoothies, our highest-volume items. Cutting controllable cost — a 4% management fee replacing the $48K flat fee, with rent waived — adds $53.4K. And remerchandising the shelves builds retail over the quarter. Together they carry the turnaround.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70D-5CC7-D021-A5F1-066C4881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01A9-F0CF-2811-5D57-03956FD6B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43F4-15D3-2CE8-E61B-21DF83F63ADF}"/>
              </a:ext>
            </a:extLst>
          </p:cNvPr>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a:extLst>
              <a:ext uri="{FF2B5EF4-FFF2-40B4-BE49-F238E27FC236}">
                <a16:creationId xmlns:a16="http://schemas.microsoft.com/office/drawing/2014/main" id="{244743B3-EA0F-D287-5A73-60F389C11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509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7920-CE06-F552-8898-8A4CF3DC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243D-9E1B-D3C2-2AF5-5F4A0A133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A991-B761-D434-A384-943446B8B411}"/>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BE2F582B-7520-57DD-1D5C-4592FAFCC6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658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E39B-1889-605F-594D-6B2CEF1A3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1E03-7256-75AF-B205-D476DDE83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BEC3-33DC-835B-4BCE-51984A274460}"/>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A2F39787-58F8-0189-43B8-8BB0CEC3E7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9399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8CD2-ECDA-4D94-271B-616A9BEB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51D9-8418-89A7-02B9-458C8FF8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2E303-5645-58C7-67CB-14E8A513F8E2}"/>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30A13F73-50BD-2997-FDC7-43984900B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790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6E3B-5627-F983-D229-F2E7AA6DA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1748-0DEC-434F-5220-D29248D34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75B3A-0495-52EE-B33B-BE5543FC9195}"/>
              </a:ext>
            </a:extLst>
          </p:cNvPr>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a:extLst>
              <a:ext uri="{FF2B5EF4-FFF2-40B4-BE49-F238E27FC236}">
                <a16:creationId xmlns:a16="http://schemas.microsoft.com/office/drawing/2014/main" id="{C1C37701-41B4-456B-3415-796753EF969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495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versus the go-forward P&amp;L. Two placeholders drive this page and both get replaced with the Toast actuals: current retail set at 40% of plan ($25.5K), reclassed out of cafe lines to avoid double-counting, and the modeled PM mix behind the 75.8% capture. The structural moves are unchanged either way — labor +$95.7K, owner terms +$53.4K — and the swing from FY26 is roughly +$150K.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Vessel — our event venue in the same building, upstairs from the cafe. It has been priced by the room with no real floor, staffed ad hoc, and it's been booking events that lose money once you account for the disruption to the building. We're making a few strategic changes to protect margin on every booking: set a floor, standardize the package, and take fewer, better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commercial changes. First, an F&amp;B minimum — Vessel had none, so a room could book for almost nothing; now it's four thousand dollars against four hours. Second, a 20 percent service charge, which is roughly eight hundred on that minimum and covers service labor. Third, a flat 40 percent markup on all event food to protect the plate. And fourth, we take fewer, better events — some bookings actually lose money once you account for the traffic and disruption they create in the building, so we cut that 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 standard staffing package so every event is priced the same way. Every event includes one bartender and two servers, at thirty-five an hour for a five-hour shift — that's five hundred and twenty-five dollars of labor, baked into the event price. Anything beyond that standard is special consideration and the additional labor is billed through to the client. The one thing we need to confirm is the SOP: any hourly labor above the standard package needs written sign-off before it's committed — Brad or Michael.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5" name="Text 3"/>
          <p:cNvSpPr/>
          <p:nvPr/>
        </p:nvSpPr>
        <p:spPr>
          <a:xfrm>
            <a:off x="1028700" y="6033135"/>
            <a:ext cx="100584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i="1" dirty="0">
                <a:solidFill>
                  <a:srgbClr val="5E6B70"/>
                </a:solidFill>
                <a:latin typeface="Georgia" pitchFamily="34" charset="0"/>
                <a:ea typeface="Georgia" pitchFamily="34" charset="-122"/>
                <a:cs typeface="Georgia" pitchFamily="34" charset="-120"/>
              </a:rPr>
              <a:t>The Little Wing &amp; Vessel</a:t>
            </a:r>
            <a:endParaRPr lang="en-US" sz="3300" dirty="0"/>
          </a:p>
        </p:txBody>
      </p:sp>
      <p:sp>
        <p:nvSpPr>
          <p:cNvPr id="6" name="Text 4"/>
          <p:cNvSpPr/>
          <p:nvPr/>
        </p:nvSpPr>
        <p:spPr>
          <a:xfrm>
            <a:off x="1028700" y="6566535"/>
            <a:ext cx="9418320" cy="1866900"/>
          </a:xfrm>
          <a:prstGeom prst="rect">
            <a:avLst/>
          </a:prstGeom>
          <a:noFill/>
          <a:ln/>
        </p:spPr>
        <p:txBody>
          <a:bodyPr wrap="square" lIns="25400" tIns="25400" rIns="25400" bIns="25400" rtlCol="0" anchor="t">
            <a:normAutofit/>
          </a:bodyPr>
          <a:lstStyle/>
          <a:p>
            <a:pPr marL="0" indent="0" algn="l">
              <a:lnSpc>
                <a:spcPct val="98000"/>
              </a:lnSpc>
              <a:buNone/>
            </a:pPr>
            <a:r>
              <a:rPr lang="en-US" sz="7350" kern="0" spc="-112" dirty="0">
                <a:solidFill>
                  <a:srgbClr val="22424B"/>
                </a:solidFill>
                <a:latin typeface="Georgia" pitchFamily="34" charset="0"/>
                <a:ea typeface="Georgia" pitchFamily="34" charset="-122"/>
                <a:cs typeface="Georgia" pitchFamily="34" charset="-120"/>
              </a:rPr>
              <a:t>Plan of Action</a:t>
            </a:r>
            <a:endParaRPr lang="en-US" sz="7350" dirty="0"/>
          </a:p>
        </p:txBody>
      </p:sp>
      <p:sp>
        <p:nvSpPr>
          <p:cNvPr id="15" name="Text 13"/>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16" name="Image 0" descr="preencoded.png"/>
          <p:cNvPicPr>
            <a:picLocks noChangeAspect="1"/>
          </p:cNvPicPr>
          <p:nvPr/>
        </p:nvPicPr>
        <p:blipFill>
          <a:blip r:embed="rId3"/>
          <a:srcRect l="9580" r="9580"/>
          <a:stretch/>
        </p:blipFill>
        <p:spPr>
          <a:xfrm>
            <a:off x="10972800" y="0"/>
            <a:ext cx="7315200" cy="10287000"/>
          </a:xfrm>
          <a:prstGeom prst="rect">
            <a:avLst/>
          </a:prstGeom>
        </p:spPr>
      </p:pic>
      <p:pic>
        <p:nvPicPr>
          <p:cNvPr id="17" name="Picture 16">
            <a:extLst>
              <a:ext uri="{FF2B5EF4-FFF2-40B4-BE49-F238E27FC236}">
                <a16:creationId xmlns:a16="http://schemas.microsoft.com/office/drawing/2014/main" id="{90F36764-235E-BF51-94F2-E1071FC0644D}"/>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23B"/>
        </a:solidFill>
        <a:effectLst/>
      </p:bgPr>
    </p:bg>
    <p:spTree>
      <p:nvGrpSpPr>
        <p:cNvPr id="1" name=""/>
        <p:cNvGrpSpPr/>
        <p:nvPr/>
      </p:nvGrpSpPr>
      <p:grpSpPr>
        <a:xfrm>
          <a:off x="0" y="0"/>
          <a:ext cx="0" cy="0"/>
          <a:chOff x="0" y="0"/>
          <a:chExt cx="0" cy="0"/>
        </a:xfrm>
      </p:grpSpPr>
      <p:sp>
        <p:nvSpPr>
          <p:cNvPr id="2" name="Text 0"/>
          <p:cNvSpPr/>
          <p:nvPr/>
        </p:nvSpPr>
        <p:spPr>
          <a:xfrm>
            <a:off x="1028700" y="838200"/>
            <a:ext cx="178536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63BACB"/>
                </a:solidFill>
                <a:latin typeface="Arial" pitchFamily="34" charset="0"/>
                <a:cs typeface="Arial" pitchFamily="34" charset="-120"/>
              </a:rPr>
              <a:t>CURRENT ECONOMICS</a:t>
            </a:r>
            <a:endParaRPr lang="en-US" sz="1650" dirty="0"/>
          </a:p>
        </p:txBody>
      </p:sp>
      <p:sp>
        <p:nvSpPr>
          <p:cNvPr id="3" name="Text 1"/>
          <p:cNvSpPr/>
          <p:nvPr/>
        </p:nvSpPr>
        <p:spPr>
          <a:xfrm>
            <a:off x="1028700" y="1276350"/>
            <a:ext cx="13735050" cy="137160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37" dirty="0">
                <a:solidFill>
                  <a:srgbClr val="F4F3EE"/>
                </a:solidFill>
                <a:latin typeface="Georgia" pitchFamily="34" charset="0"/>
                <a:ea typeface="Georgia" pitchFamily="34" charset="-122"/>
                <a:cs typeface="Georgia" pitchFamily="34" charset="-120"/>
              </a:rPr>
              <a:t>A cost-structure problem, not a concept problem</a:t>
            </a:r>
            <a:endParaRPr lang="en-US" sz="5100" dirty="0"/>
          </a:p>
        </p:txBody>
      </p:sp>
      <p:pic>
        <p:nvPicPr>
          <p:cNvPr id="24" name="Picture 23">
            <a:extLst>
              <a:ext uri="{FF2B5EF4-FFF2-40B4-BE49-F238E27FC236}">
                <a16:creationId xmlns:a16="http://schemas.microsoft.com/office/drawing/2014/main" id="{AA9B48F7-DBF8-DB52-D808-93492DDB69F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Box 24"/>
          <p:cNvSpPr txBox="1"/>
          <p:nvPr/>
        </p:nvSpPr>
        <p:spPr>
          <a:xfrm>
            <a:off x="1024128" y="4206240"/>
            <a:ext cx="5394960" cy="502920"/>
          </a:xfrm>
          <a:prstGeom prst="rect">
            <a:avLst/>
          </a:prstGeom>
          <a:noFill/>
        </p:spPr>
        <p:txBody>
          <a:bodyPr wrap="none">
            <a:spAutoFit/>
          </a:bodyPr>
          <a:lstStyle/>
          <a:p>
            <a:r>
              <a:rPr sz="3300">
                <a:solidFill>
                  <a:srgbClr val="F4F3EE"/>
                </a:solidFill>
                <a:latin typeface="Georgia"/>
              </a:rPr>
              <a:t>$288.7K</a:t>
            </a:r>
          </a:p>
        </p:txBody>
      </p:sp>
      <p:sp>
        <p:nvSpPr>
          <p:cNvPr id="26" name="TextBox 25"/>
          <p:cNvSpPr txBox="1"/>
          <p:nvPr/>
        </p:nvSpPr>
        <p:spPr>
          <a:xfrm>
            <a:off x="1024128" y="4736592"/>
            <a:ext cx="5394960" cy="502920"/>
          </a:xfrm>
          <a:prstGeom prst="rect">
            <a:avLst/>
          </a:prstGeom>
          <a:noFill/>
        </p:spPr>
        <p:txBody>
          <a:bodyPr wrap="square">
            <a:spAutoFit/>
          </a:bodyPr>
          <a:lstStyle/>
          <a:p>
            <a:r>
              <a:rPr sz="1500">
                <a:solidFill>
                  <a:srgbClr val="A8B4B8"/>
                </a:solidFill>
                <a:latin typeface="Arial"/>
              </a:rPr>
              <a:t>2026 revenue — Jan–Jun actuals + Jul–Dec forecast</a:t>
            </a:r>
          </a:p>
        </p:txBody>
      </p:sp>
      <p:sp>
        <p:nvSpPr>
          <p:cNvPr id="27" name="TextBox 26"/>
          <p:cNvSpPr txBox="1"/>
          <p:nvPr/>
        </p:nvSpPr>
        <p:spPr>
          <a:xfrm>
            <a:off x="6830568" y="4206240"/>
            <a:ext cx="5394960" cy="502920"/>
          </a:xfrm>
          <a:prstGeom prst="rect">
            <a:avLst/>
          </a:prstGeom>
          <a:noFill/>
        </p:spPr>
        <p:txBody>
          <a:bodyPr wrap="none">
            <a:spAutoFit/>
          </a:bodyPr>
          <a:lstStyle/>
          <a:p>
            <a:r>
              <a:rPr sz="3300">
                <a:solidFill>
                  <a:srgbClr val="63BACB"/>
                </a:solidFill>
                <a:latin typeface="Georgia"/>
              </a:rPr>
              <a:t>($164.0K)</a:t>
            </a:r>
          </a:p>
        </p:txBody>
      </p:sp>
      <p:sp>
        <p:nvSpPr>
          <p:cNvPr id="28" name="TextBox 27"/>
          <p:cNvSpPr txBox="1"/>
          <p:nvPr/>
        </p:nvSpPr>
        <p:spPr>
          <a:xfrm>
            <a:off x="6830568" y="4736592"/>
            <a:ext cx="5394960" cy="502920"/>
          </a:xfrm>
          <a:prstGeom prst="rect">
            <a:avLst/>
          </a:prstGeom>
          <a:noFill/>
        </p:spPr>
        <p:txBody>
          <a:bodyPr wrap="square">
            <a:spAutoFit/>
          </a:bodyPr>
          <a:lstStyle/>
          <a:p>
            <a:r>
              <a:rPr sz="1500">
                <a:solidFill>
                  <a:srgbClr val="A8B4B8"/>
                </a:solidFill>
                <a:latin typeface="Arial"/>
              </a:rPr>
              <a:t>2026 net operating loss · −57% of revenue</a:t>
            </a:r>
          </a:p>
        </p:txBody>
      </p:sp>
      <p:sp>
        <p:nvSpPr>
          <p:cNvPr id="29" name="TextBox 28"/>
          <p:cNvSpPr txBox="1"/>
          <p:nvPr/>
        </p:nvSpPr>
        <p:spPr>
          <a:xfrm>
            <a:off x="12637008" y="4206240"/>
            <a:ext cx="5394960" cy="502920"/>
          </a:xfrm>
          <a:prstGeom prst="rect">
            <a:avLst/>
          </a:prstGeom>
          <a:noFill/>
        </p:spPr>
        <p:txBody>
          <a:bodyPr wrap="none">
            <a:spAutoFit/>
          </a:bodyPr>
          <a:lstStyle/>
          <a:p>
            <a:r>
              <a:rPr sz="3300">
                <a:solidFill>
                  <a:srgbClr val="F4F3EE"/>
                </a:solidFill>
                <a:latin typeface="Georgia"/>
              </a:rPr>
              <a:t>59%</a:t>
            </a:r>
          </a:p>
        </p:txBody>
      </p:sp>
      <p:sp>
        <p:nvSpPr>
          <p:cNvPr id="30" name="TextBox 29"/>
          <p:cNvSpPr txBox="1"/>
          <p:nvPr/>
        </p:nvSpPr>
        <p:spPr>
          <a:xfrm>
            <a:off x="12637008" y="4736592"/>
            <a:ext cx="5394960" cy="502920"/>
          </a:xfrm>
          <a:prstGeom prst="rect">
            <a:avLst/>
          </a:prstGeom>
          <a:noFill/>
        </p:spPr>
        <p:txBody>
          <a:bodyPr wrap="square">
            <a:spAutoFit/>
          </a:bodyPr>
          <a:lstStyle/>
          <a:p>
            <a:r>
              <a:rPr sz="1500">
                <a:solidFill>
                  <a:srgbClr val="A8B4B8"/>
                </a:solidFill>
                <a:latin typeface="Arial"/>
              </a:rPr>
              <a:t>of revenue goes to labor — $170.3K/yr</a:t>
            </a:r>
          </a:p>
        </p:txBody>
      </p:sp>
      <p:sp>
        <p:nvSpPr>
          <p:cNvPr id="31" name="TextBox 30"/>
          <p:cNvSpPr txBox="1"/>
          <p:nvPr/>
        </p:nvSpPr>
        <p:spPr>
          <a:xfrm>
            <a:off x="1024128" y="5897879"/>
            <a:ext cx="5394960" cy="502920"/>
          </a:xfrm>
          <a:prstGeom prst="rect">
            <a:avLst/>
          </a:prstGeom>
          <a:noFill/>
        </p:spPr>
        <p:txBody>
          <a:bodyPr wrap="none">
            <a:spAutoFit/>
          </a:bodyPr>
          <a:lstStyle/>
          <a:p>
            <a:r>
              <a:rPr sz="3300">
                <a:solidFill>
                  <a:srgbClr val="F4F3EE"/>
                </a:solidFill>
                <a:latin typeface="Georgia"/>
              </a:rPr>
              <a:t>95.2%</a:t>
            </a:r>
          </a:p>
        </p:txBody>
      </p:sp>
      <p:sp>
        <p:nvSpPr>
          <p:cNvPr id="32" name="TextBox 31"/>
          <p:cNvSpPr txBox="1"/>
          <p:nvPr/>
        </p:nvSpPr>
        <p:spPr>
          <a:xfrm>
            <a:off x="1024128" y="6428231"/>
            <a:ext cx="5394960" cy="502920"/>
          </a:xfrm>
          <a:prstGeom prst="rect">
            <a:avLst/>
          </a:prstGeom>
          <a:noFill/>
        </p:spPr>
        <p:txBody>
          <a:bodyPr wrap="square">
            <a:spAutoFit/>
          </a:bodyPr>
          <a:lstStyle/>
          <a:p>
            <a:r>
              <a:rPr sz="1500">
                <a:solidFill>
                  <a:srgbClr val="A8B4B8"/>
                </a:solidFill>
                <a:latin typeface="Arial"/>
              </a:rPr>
              <a:t>prime cost (COGS + labor) · healthy runs 60–65%</a:t>
            </a:r>
          </a:p>
        </p:txBody>
      </p:sp>
      <p:sp>
        <p:nvSpPr>
          <p:cNvPr id="33" name="TextBox 32"/>
          <p:cNvSpPr txBox="1"/>
          <p:nvPr/>
        </p:nvSpPr>
        <p:spPr>
          <a:xfrm>
            <a:off x="6830568" y="5897879"/>
            <a:ext cx="5394960" cy="502920"/>
          </a:xfrm>
          <a:prstGeom prst="rect">
            <a:avLst/>
          </a:prstGeom>
          <a:noFill/>
        </p:spPr>
        <p:txBody>
          <a:bodyPr wrap="none">
            <a:spAutoFit/>
          </a:bodyPr>
          <a:lstStyle/>
          <a:p>
            <a:r>
              <a:rPr sz="3300">
                <a:solidFill>
                  <a:srgbClr val="F4F3EE"/>
                </a:solidFill>
                <a:latin typeface="Georgia"/>
              </a:rPr>
              <a:t>$65.4K</a:t>
            </a:r>
          </a:p>
        </p:txBody>
      </p:sp>
      <p:sp>
        <p:nvSpPr>
          <p:cNvPr id="34" name="TextBox 33"/>
          <p:cNvSpPr txBox="1"/>
          <p:nvPr/>
        </p:nvSpPr>
        <p:spPr>
          <a:xfrm>
            <a:off x="6830568" y="6428231"/>
            <a:ext cx="5394960" cy="502920"/>
          </a:xfrm>
          <a:prstGeom prst="rect">
            <a:avLst/>
          </a:prstGeom>
          <a:noFill/>
        </p:spPr>
        <p:txBody>
          <a:bodyPr wrap="square">
            <a:spAutoFit/>
          </a:bodyPr>
          <a:lstStyle/>
          <a:p>
            <a:r>
              <a:rPr sz="1500">
                <a:solidFill>
                  <a:srgbClr val="A8B4B8"/>
                </a:solidFill>
                <a:latin typeface="Arial"/>
              </a:rPr>
              <a:t>flat management fee + rent charged today</a:t>
            </a:r>
          </a:p>
        </p:txBody>
      </p:sp>
      <p:sp>
        <p:nvSpPr>
          <p:cNvPr id="35" name="TextBox 34"/>
          <p:cNvSpPr txBox="1"/>
          <p:nvPr/>
        </p:nvSpPr>
        <p:spPr>
          <a:xfrm>
            <a:off x="12637008" y="5897879"/>
            <a:ext cx="5394960" cy="502920"/>
          </a:xfrm>
          <a:prstGeom prst="rect">
            <a:avLst/>
          </a:prstGeom>
          <a:noFill/>
        </p:spPr>
        <p:txBody>
          <a:bodyPr wrap="none">
            <a:spAutoFit/>
          </a:bodyPr>
          <a:lstStyle/>
          <a:p>
            <a:r>
              <a:rPr sz="3300">
                <a:solidFill>
                  <a:srgbClr val="F4F3EE"/>
                </a:solidFill>
                <a:latin typeface="Georgia"/>
              </a:rPr>
              <a:t>($18.6K)</a:t>
            </a:r>
          </a:p>
        </p:txBody>
      </p:sp>
      <p:sp>
        <p:nvSpPr>
          <p:cNvPr id="36" name="TextBox 35"/>
          <p:cNvSpPr txBox="1"/>
          <p:nvPr/>
        </p:nvSpPr>
        <p:spPr>
          <a:xfrm>
            <a:off x="12637008" y="6428231"/>
            <a:ext cx="5394960" cy="502920"/>
          </a:xfrm>
          <a:prstGeom prst="rect">
            <a:avLst/>
          </a:prstGeom>
          <a:noFill/>
        </p:spPr>
        <p:txBody>
          <a:bodyPr wrap="square">
            <a:spAutoFit/>
          </a:bodyPr>
          <a:lstStyle/>
          <a:p>
            <a:r>
              <a:rPr sz="1500">
                <a:solidFill>
                  <a:srgbClr val="A8B4B8"/>
                </a:solidFill>
                <a:latin typeface="Arial"/>
              </a:rPr>
              <a:t>discounts &amp; comps given away · −6.4% of sales</a:t>
            </a:r>
          </a:p>
        </p:txBody>
      </p:sp>
      <p:sp>
        <p:nvSpPr>
          <p:cNvPr id="37" name="TextBox 36"/>
          <p:cNvSpPr txBox="1"/>
          <p:nvPr/>
        </p:nvSpPr>
        <p:spPr>
          <a:xfrm>
            <a:off x="1024128" y="7863840"/>
            <a:ext cx="16002000" cy="457200"/>
          </a:xfrm>
          <a:prstGeom prst="rect">
            <a:avLst/>
          </a:prstGeom>
          <a:noFill/>
        </p:spPr>
        <p:txBody>
          <a:bodyPr wrap="none">
            <a:spAutoFit/>
          </a:bodyPr>
          <a:lstStyle/>
          <a:p>
            <a:r>
              <a:rPr sz="1300">
                <a:solidFill>
                  <a:srgbClr val="A8B4B8"/>
                </a:solidFill>
                <a:latin typeface="Arial"/>
              </a:rPr>
              <a:t>Source: 2026 Act/For P&amp;L (June close). The concept works — the cost structure doesn’t: labor, owner charges and giveaways absorb the entire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B430A1-C825-5712-418E-E064E27B795B}"/>
              </a:ext>
            </a:extLst>
          </p:cNvPr>
          <p:cNvPicPr>
            <a:picLocks noChangeAspect="1"/>
          </p:cNvPicPr>
          <p:nvPr/>
        </p:nvPicPr>
        <p:blipFill>
          <a:blip r:embed="rId2"/>
          <a:srcRect l="4899" t="6054" r="4899"/>
          <a:stretch>
            <a:fillRect/>
          </a:stretch>
        </p:blipFill>
        <p:spPr>
          <a:xfrm>
            <a:off x="0" y="38100"/>
            <a:ext cx="7460770" cy="10248900"/>
          </a:xfrm>
          <a:prstGeom prst="rect">
            <a:avLst/>
          </a:prstGeom>
        </p:spPr>
      </p:pic>
      <p:sp>
        <p:nvSpPr>
          <p:cNvPr id="3" name="Text 0">
            <a:extLst>
              <a:ext uri="{FF2B5EF4-FFF2-40B4-BE49-F238E27FC236}">
                <a16:creationId xmlns:a16="http://schemas.microsoft.com/office/drawing/2014/main" id="{3E8D2534-B6A9-D46E-878A-71057C9D2F47}"/>
              </a:ext>
            </a:extLst>
          </p:cNvPr>
          <p:cNvSpPr/>
          <p:nvPr/>
        </p:nvSpPr>
        <p:spPr>
          <a:xfrm>
            <a:off x="7835205" y="2238375"/>
            <a:ext cx="106179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THE OPPORTUNITY</a:t>
            </a:r>
            <a:endParaRPr lang="en-US" sz="1650" dirty="0"/>
          </a:p>
        </p:txBody>
      </p:sp>
      <p:sp>
        <p:nvSpPr>
          <p:cNvPr id="4" name="Text 1">
            <a:extLst>
              <a:ext uri="{FF2B5EF4-FFF2-40B4-BE49-F238E27FC236}">
                <a16:creationId xmlns:a16="http://schemas.microsoft.com/office/drawing/2014/main" id="{48FA2FA8-269F-2CFF-D4C9-E68489188A3E}"/>
              </a:ext>
            </a:extLst>
          </p:cNvPr>
          <p:cNvSpPr/>
          <p:nvPr/>
        </p:nvSpPr>
        <p:spPr>
          <a:xfrm>
            <a:off x="7835205" y="2657475"/>
            <a:ext cx="10617964" cy="6477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650" kern="0" spc="-37" dirty="0">
                <a:solidFill>
                  <a:srgbClr val="22424B"/>
                </a:solidFill>
                <a:latin typeface="Georgia" pitchFamily="34" charset="0"/>
                <a:ea typeface="Georgia" pitchFamily="34" charset="-122"/>
                <a:cs typeface="Georgia" pitchFamily="34" charset="-120"/>
              </a:rPr>
              <a:t>The peninsula has no corner store</a:t>
            </a:r>
            <a:endParaRPr lang="en-US" sz="4650" dirty="0"/>
          </a:p>
        </p:txBody>
      </p:sp>
      <p:sp>
        <p:nvSpPr>
          <p:cNvPr id="5" name="Text 2">
            <a:extLst>
              <a:ext uri="{FF2B5EF4-FFF2-40B4-BE49-F238E27FC236}">
                <a16:creationId xmlns:a16="http://schemas.microsoft.com/office/drawing/2014/main" id="{B57DC3B8-4B3E-95A3-2AB9-13A964D79411}"/>
              </a:ext>
            </a:extLst>
          </p:cNvPr>
          <p:cNvSpPr/>
          <p:nvPr/>
        </p:nvSpPr>
        <p:spPr>
          <a:xfrm>
            <a:off x="7835205" y="3476625"/>
            <a:ext cx="8044815" cy="11239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F4A4E"/>
                </a:solidFill>
                <a:latin typeface="Arial" pitchFamily="34" charset="0"/>
                <a:ea typeface="Arial" pitchFamily="34" charset="-122"/>
                <a:cs typeface="Arial" pitchFamily="34" charset="-120"/>
              </a:rPr>
              <a:t>I-95 and the rail lines cut the peninsula off from Federal Hill — no way to buy milk, a bottle of wine, or other everyday essentials. Four customer groups already come in for coffee:</a:t>
            </a:r>
            <a:endParaRPr lang="en-US" sz="1950" dirty="0"/>
          </a:p>
        </p:txBody>
      </p:sp>
      <p:sp>
        <p:nvSpPr>
          <p:cNvPr id="6" name="Shape 3">
            <a:extLst>
              <a:ext uri="{FF2B5EF4-FFF2-40B4-BE49-F238E27FC236}">
                <a16:creationId xmlns:a16="http://schemas.microsoft.com/office/drawing/2014/main" id="{AE0C12A9-9E41-D3B8-F370-9375F868B128}"/>
              </a:ext>
            </a:extLst>
          </p:cNvPr>
          <p:cNvSpPr/>
          <p:nvPr/>
        </p:nvSpPr>
        <p:spPr>
          <a:xfrm>
            <a:off x="7835205" y="4886325"/>
            <a:ext cx="4616648" cy="19050"/>
          </a:xfrm>
          <a:prstGeom prst="rect">
            <a:avLst/>
          </a:prstGeom>
          <a:solidFill>
            <a:srgbClr val="1E7E8C"/>
          </a:solidFill>
          <a:ln/>
        </p:spPr>
        <p:txBody>
          <a:bodyPr/>
          <a:lstStyle/>
          <a:p>
            <a:endParaRPr lang="en-US"/>
          </a:p>
        </p:txBody>
      </p:sp>
      <p:sp>
        <p:nvSpPr>
          <p:cNvPr id="7" name="Text 4">
            <a:extLst>
              <a:ext uri="{FF2B5EF4-FFF2-40B4-BE49-F238E27FC236}">
                <a16:creationId xmlns:a16="http://schemas.microsoft.com/office/drawing/2014/main" id="{6AD6BBFF-A3AC-6DF3-1EEF-468D03C323B2}"/>
              </a:ext>
            </a:extLst>
          </p:cNvPr>
          <p:cNvSpPr/>
          <p:nvPr/>
        </p:nvSpPr>
        <p:spPr>
          <a:xfrm>
            <a:off x="7835205" y="50387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1,000+</a:t>
            </a:r>
            <a:endParaRPr lang="en-US" sz="3300" dirty="0"/>
          </a:p>
        </p:txBody>
      </p:sp>
      <p:sp>
        <p:nvSpPr>
          <p:cNvPr id="8" name="Text 5">
            <a:extLst>
              <a:ext uri="{FF2B5EF4-FFF2-40B4-BE49-F238E27FC236}">
                <a16:creationId xmlns:a16="http://schemas.microsoft.com/office/drawing/2014/main" id="{31B9D51B-1BCB-201A-1B8E-34699254CA4A}"/>
              </a:ext>
            </a:extLst>
          </p:cNvPr>
          <p:cNvSpPr/>
          <p:nvPr/>
        </p:nvSpPr>
        <p:spPr>
          <a:xfrm>
            <a:off x="7835205" y="55149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residential units nearby</a:t>
            </a:r>
            <a:endParaRPr lang="en-US" sz="1650" dirty="0"/>
          </a:p>
        </p:txBody>
      </p:sp>
      <p:sp>
        <p:nvSpPr>
          <p:cNvPr id="9" name="Shape 6">
            <a:extLst>
              <a:ext uri="{FF2B5EF4-FFF2-40B4-BE49-F238E27FC236}">
                <a16:creationId xmlns:a16="http://schemas.microsoft.com/office/drawing/2014/main" id="{BD2AF02A-76C8-1981-ABA4-6775542960AA}"/>
              </a:ext>
            </a:extLst>
          </p:cNvPr>
          <p:cNvSpPr/>
          <p:nvPr/>
        </p:nvSpPr>
        <p:spPr>
          <a:xfrm>
            <a:off x="12870954" y="4886325"/>
            <a:ext cx="4616946" cy="19050"/>
          </a:xfrm>
          <a:prstGeom prst="rect">
            <a:avLst/>
          </a:prstGeom>
          <a:solidFill>
            <a:srgbClr val="1E7E8C"/>
          </a:solidFill>
          <a:ln/>
        </p:spPr>
        <p:txBody>
          <a:bodyPr/>
          <a:lstStyle/>
          <a:p>
            <a:endParaRPr lang="en-US"/>
          </a:p>
        </p:txBody>
      </p:sp>
      <p:sp>
        <p:nvSpPr>
          <p:cNvPr id="10" name="Text 7">
            <a:extLst>
              <a:ext uri="{FF2B5EF4-FFF2-40B4-BE49-F238E27FC236}">
                <a16:creationId xmlns:a16="http://schemas.microsoft.com/office/drawing/2014/main" id="{51CEB188-885F-F3AE-A5F8-965C5522574A}"/>
              </a:ext>
            </a:extLst>
          </p:cNvPr>
          <p:cNvSpPr/>
          <p:nvPr/>
        </p:nvSpPr>
        <p:spPr>
          <a:xfrm>
            <a:off x="12870954" y="50387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80 keys</a:t>
            </a:r>
            <a:endParaRPr lang="en-US" sz="3300" dirty="0"/>
          </a:p>
        </p:txBody>
      </p:sp>
      <p:sp>
        <p:nvSpPr>
          <p:cNvPr id="11" name="Text 8">
            <a:extLst>
              <a:ext uri="{FF2B5EF4-FFF2-40B4-BE49-F238E27FC236}">
                <a16:creationId xmlns:a16="http://schemas.microsoft.com/office/drawing/2014/main" id="{EF153671-4D1A-C052-2F00-47BF625BD83A}"/>
              </a:ext>
            </a:extLst>
          </p:cNvPr>
          <p:cNvSpPr/>
          <p:nvPr/>
        </p:nvSpPr>
        <p:spPr>
          <a:xfrm>
            <a:off x="12870954" y="55149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furnished ROOST stays upstairs</a:t>
            </a:r>
            <a:endParaRPr lang="en-US" sz="1650" dirty="0"/>
          </a:p>
        </p:txBody>
      </p:sp>
      <p:sp>
        <p:nvSpPr>
          <p:cNvPr id="12" name="Shape 9">
            <a:extLst>
              <a:ext uri="{FF2B5EF4-FFF2-40B4-BE49-F238E27FC236}">
                <a16:creationId xmlns:a16="http://schemas.microsoft.com/office/drawing/2014/main" id="{2E61CEB8-0A7C-5B86-3A41-4373E5982F46}"/>
              </a:ext>
            </a:extLst>
          </p:cNvPr>
          <p:cNvSpPr/>
          <p:nvPr/>
        </p:nvSpPr>
        <p:spPr>
          <a:xfrm>
            <a:off x="7835205" y="5991225"/>
            <a:ext cx="4616648" cy="19050"/>
          </a:xfrm>
          <a:prstGeom prst="rect">
            <a:avLst/>
          </a:prstGeom>
          <a:solidFill>
            <a:srgbClr val="1E7E8C"/>
          </a:solidFill>
          <a:ln/>
        </p:spPr>
        <p:txBody>
          <a:bodyPr/>
          <a:lstStyle/>
          <a:p>
            <a:endParaRPr lang="en-US"/>
          </a:p>
        </p:txBody>
      </p:sp>
      <p:sp>
        <p:nvSpPr>
          <p:cNvPr id="13" name="Text 10">
            <a:extLst>
              <a:ext uri="{FF2B5EF4-FFF2-40B4-BE49-F238E27FC236}">
                <a16:creationId xmlns:a16="http://schemas.microsoft.com/office/drawing/2014/main" id="{8370B349-84A2-0F70-36D0-0B005C15AD55}"/>
              </a:ext>
            </a:extLst>
          </p:cNvPr>
          <p:cNvSpPr/>
          <p:nvPr/>
        </p:nvSpPr>
        <p:spPr>
          <a:xfrm>
            <a:off x="7835205" y="61436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75%</a:t>
            </a:r>
            <a:endParaRPr lang="en-US" sz="3300" dirty="0"/>
          </a:p>
        </p:txBody>
      </p:sp>
      <p:sp>
        <p:nvSpPr>
          <p:cNvPr id="14" name="Text 11">
            <a:extLst>
              <a:ext uri="{FF2B5EF4-FFF2-40B4-BE49-F238E27FC236}">
                <a16:creationId xmlns:a16="http://schemas.microsoft.com/office/drawing/2014/main" id="{19C0AE78-1F75-4AA6-ECD5-90BCED384738}"/>
              </a:ext>
            </a:extLst>
          </p:cNvPr>
          <p:cNvSpPr/>
          <p:nvPr/>
        </p:nvSpPr>
        <p:spPr>
          <a:xfrm>
            <a:off x="7835205" y="66198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440K SF of office leased</a:t>
            </a:r>
            <a:endParaRPr lang="en-US" sz="1650" dirty="0"/>
          </a:p>
        </p:txBody>
      </p:sp>
      <p:sp>
        <p:nvSpPr>
          <p:cNvPr id="15" name="Shape 12">
            <a:extLst>
              <a:ext uri="{FF2B5EF4-FFF2-40B4-BE49-F238E27FC236}">
                <a16:creationId xmlns:a16="http://schemas.microsoft.com/office/drawing/2014/main" id="{3DBA199D-E60A-6600-9929-FE0F3DFD9309}"/>
              </a:ext>
            </a:extLst>
          </p:cNvPr>
          <p:cNvSpPr/>
          <p:nvPr/>
        </p:nvSpPr>
        <p:spPr>
          <a:xfrm>
            <a:off x="12870954" y="5991225"/>
            <a:ext cx="4616946" cy="19050"/>
          </a:xfrm>
          <a:prstGeom prst="rect">
            <a:avLst/>
          </a:prstGeom>
          <a:solidFill>
            <a:srgbClr val="1E7E8C"/>
          </a:solidFill>
          <a:ln/>
        </p:spPr>
        <p:txBody>
          <a:bodyPr/>
          <a:lstStyle/>
          <a:p>
            <a:endParaRPr lang="en-US"/>
          </a:p>
        </p:txBody>
      </p:sp>
      <p:sp>
        <p:nvSpPr>
          <p:cNvPr id="16" name="Text 13">
            <a:extLst>
              <a:ext uri="{FF2B5EF4-FFF2-40B4-BE49-F238E27FC236}">
                <a16:creationId xmlns:a16="http://schemas.microsoft.com/office/drawing/2014/main" id="{790C5DED-825A-3401-358A-2968B70A3DA2}"/>
              </a:ext>
            </a:extLst>
          </p:cNvPr>
          <p:cNvSpPr/>
          <p:nvPr/>
        </p:nvSpPr>
        <p:spPr>
          <a:xfrm>
            <a:off x="12870954" y="61436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40 acres</a:t>
            </a:r>
            <a:endParaRPr lang="en-US" sz="3300" dirty="0"/>
          </a:p>
        </p:txBody>
      </p:sp>
      <p:sp>
        <p:nvSpPr>
          <p:cNvPr id="17" name="Text 14">
            <a:extLst>
              <a:ext uri="{FF2B5EF4-FFF2-40B4-BE49-F238E27FC236}">
                <a16:creationId xmlns:a16="http://schemas.microsoft.com/office/drawing/2014/main" id="{783DBC69-A275-75B0-8B9D-BF7DB3246BE6}"/>
              </a:ext>
            </a:extLst>
          </p:cNvPr>
          <p:cNvSpPr/>
          <p:nvPr/>
        </p:nvSpPr>
        <p:spPr>
          <a:xfrm>
            <a:off x="12870954" y="66198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parks &amp; waterfront foot traffic</a:t>
            </a:r>
            <a:endParaRPr lang="en-US" sz="1650" dirty="0"/>
          </a:p>
        </p:txBody>
      </p:sp>
      <p:sp>
        <p:nvSpPr>
          <p:cNvPr id="18" name="Shape 15">
            <a:extLst>
              <a:ext uri="{FF2B5EF4-FFF2-40B4-BE49-F238E27FC236}">
                <a16:creationId xmlns:a16="http://schemas.microsoft.com/office/drawing/2014/main" id="{31140856-A071-799B-B08A-AF640C28BDC3}"/>
              </a:ext>
            </a:extLst>
          </p:cNvPr>
          <p:cNvSpPr/>
          <p:nvPr/>
        </p:nvSpPr>
        <p:spPr>
          <a:xfrm>
            <a:off x="7835205" y="7172325"/>
            <a:ext cx="9652695" cy="19050"/>
          </a:xfrm>
          <a:prstGeom prst="rect">
            <a:avLst/>
          </a:prstGeom>
          <a:solidFill>
            <a:srgbClr val="DADCD6"/>
          </a:solidFill>
          <a:ln/>
        </p:spPr>
        <p:txBody>
          <a:bodyPr/>
          <a:lstStyle/>
          <a:p>
            <a:endParaRPr lang="en-US"/>
          </a:p>
        </p:txBody>
      </p:sp>
    </p:spTree>
    <p:extLst>
      <p:ext uri="{BB962C8B-B14F-4D97-AF65-F5344CB8AC3E}">
        <p14:creationId xmlns:p14="http://schemas.microsoft.com/office/powerpoint/2010/main" val="77626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3" name="Text 1"/>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4" name="Image 0" descr="preencoded.png"/>
          <p:cNvPicPr>
            <a:picLocks noChangeAspect="1"/>
          </p:cNvPicPr>
          <p:nvPr/>
        </p:nvPicPr>
        <p:blipFill>
          <a:blip r:embed="rId3"/>
          <a:stretch>
            <a:fillRect/>
          </a:stretch>
        </p:blipFill>
        <p:spPr>
          <a:xfrm>
            <a:off x="952500" y="3076575"/>
            <a:ext cx="4000500" cy="4000500"/>
          </a:xfrm>
          <a:prstGeom prst="rect">
            <a:avLst/>
          </a:prstGeom>
        </p:spPr>
      </p:pic>
      <p:sp>
        <p:nvSpPr>
          <p:cNvPr id="5" name="Shape 2"/>
          <p:cNvSpPr/>
          <p:nvPr/>
        </p:nvSpPr>
        <p:spPr>
          <a:xfrm>
            <a:off x="5676900" y="3048000"/>
            <a:ext cx="190500" cy="190500"/>
          </a:xfrm>
          <a:prstGeom prst="roundRect">
            <a:avLst>
              <a:gd name="adj" fmla="val 20000"/>
            </a:avLst>
          </a:prstGeom>
          <a:solidFill>
            <a:srgbClr val="1B3A44"/>
          </a:solidFill>
          <a:ln/>
        </p:spPr>
        <p:txBody>
          <a:bodyPr/>
          <a:lstStyle/>
          <a:p>
            <a:endParaRPr lang="en-US"/>
          </a:p>
        </p:txBody>
      </p:sp>
      <p:sp>
        <p:nvSpPr>
          <p:cNvPr id="6" name="Text 3"/>
          <p:cNvSpPr/>
          <p:nvPr/>
        </p:nvSpPr>
        <p:spPr>
          <a:xfrm>
            <a:off x="6038850" y="30099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Coffee &amp; tea drinks</a:t>
            </a:r>
            <a:endParaRPr lang="en-US" sz="1800" dirty="0"/>
          </a:p>
        </p:txBody>
      </p:sp>
      <p:sp>
        <p:nvSpPr>
          <p:cNvPr id="7" name="Text 4"/>
          <p:cNvSpPr/>
          <p:nvPr/>
        </p:nvSpPr>
        <p:spPr>
          <a:xfrm>
            <a:off x="15182850" y="30289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$100.6K</a:t>
            </a:r>
            <a:endParaRPr lang="en-US" sz="1650" dirty="0"/>
          </a:p>
        </p:txBody>
      </p:sp>
      <p:sp>
        <p:nvSpPr>
          <p:cNvPr id="8" name="Text 5"/>
          <p:cNvSpPr/>
          <p:nvPr/>
        </p:nvSpPr>
        <p:spPr>
          <a:xfrm>
            <a:off x="16402050" y="29813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40%</a:t>
            </a:r>
            <a:endParaRPr lang="en-US" sz="2250" dirty="0"/>
          </a:p>
        </p:txBody>
      </p:sp>
      <p:sp>
        <p:nvSpPr>
          <p:cNvPr id="9" name="Shape 6"/>
          <p:cNvSpPr/>
          <p:nvPr/>
        </p:nvSpPr>
        <p:spPr>
          <a:xfrm>
            <a:off x="5676900" y="3409950"/>
            <a:ext cx="11658600" cy="19050"/>
          </a:xfrm>
          <a:prstGeom prst="rect">
            <a:avLst/>
          </a:prstGeom>
          <a:solidFill>
            <a:srgbClr val="DEE0DA"/>
          </a:solidFill>
          <a:ln/>
        </p:spPr>
        <p:txBody>
          <a:bodyPr/>
          <a:lstStyle/>
          <a:p>
            <a:endParaRPr lang="en-US"/>
          </a:p>
        </p:txBody>
      </p:sp>
      <p:sp>
        <p:nvSpPr>
          <p:cNvPr id="10" name="Shape 7"/>
          <p:cNvSpPr/>
          <p:nvPr/>
        </p:nvSpPr>
        <p:spPr>
          <a:xfrm>
            <a:off x="5676900" y="3600450"/>
            <a:ext cx="190500" cy="190500"/>
          </a:xfrm>
          <a:prstGeom prst="roundRect">
            <a:avLst>
              <a:gd name="adj" fmla="val 20000"/>
            </a:avLst>
          </a:prstGeom>
          <a:solidFill>
            <a:srgbClr val="1E7E8C"/>
          </a:solidFill>
          <a:ln/>
        </p:spPr>
        <p:txBody>
          <a:bodyPr/>
          <a:lstStyle/>
          <a:p>
            <a:endParaRPr lang="en-US"/>
          </a:p>
        </p:txBody>
      </p:sp>
      <p:sp>
        <p:nvSpPr>
          <p:cNvPr id="11" name="Text 8"/>
          <p:cNvSpPr/>
          <p:nvPr/>
        </p:nvSpPr>
        <p:spPr>
          <a:xfrm>
            <a:off x="6038850" y="35623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Sandwiches</a:t>
            </a:r>
            <a:endParaRPr lang="en-US" sz="1800" dirty="0"/>
          </a:p>
        </p:txBody>
      </p:sp>
      <p:sp>
        <p:nvSpPr>
          <p:cNvPr id="12" name="Text 9"/>
          <p:cNvSpPr/>
          <p:nvPr/>
        </p:nvSpPr>
        <p:spPr>
          <a:xfrm>
            <a:off x="15182850" y="35814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$43.1K</a:t>
            </a:r>
            <a:endParaRPr lang="en-US" sz="1650" dirty="0"/>
          </a:p>
        </p:txBody>
      </p:sp>
      <p:sp>
        <p:nvSpPr>
          <p:cNvPr id="13" name="Text 10"/>
          <p:cNvSpPr/>
          <p:nvPr/>
        </p:nvSpPr>
        <p:spPr>
          <a:xfrm>
            <a:off x="16402050" y="35337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4" name="Shape 11"/>
          <p:cNvSpPr/>
          <p:nvPr/>
        </p:nvSpPr>
        <p:spPr>
          <a:xfrm>
            <a:off x="5676900" y="3962400"/>
            <a:ext cx="11658600" cy="19050"/>
          </a:xfrm>
          <a:prstGeom prst="rect">
            <a:avLst/>
          </a:prstGeom>
          <a:solidFill>
            <a:srgbClr val="DEE0DA"/>
          </a:solidFill>
          <a:ln/>
        </p:spPr>
        <p:txBody>
          <a:bodyPr/>
          <a:lstStyle/>
          <a:p>
            <a:endParaRPr lang="en-US"/>
          </a:p>
        </p:txBody>
      </p:sp>
      <p:sp>
        <p:nvSpPr>
          <p:cNvPr id="15" name="Shape 12"/>
          <p:cNvSpPr/>
          <p:nvPr/>
        </p:nvSpPr>
        <p:spPr>
          <a:xfrm>
            <a:off x="5676900" y="4152900"/>
            <a:ext cx="190500" cy="190500"/>
          </a:xfrm>
          <a:prstGeom prst="roundRect">
            <a:avLst>
              <a:gd name="adj" fmla="val 20000"/>
            </a:avLst>
          </a:prstGeom>
          <a:solidFill>
            <a:srgbClr val="4FA3B0"/>
          </a:solidFill>
          <a:ln/>
        </p:spPr>
        <p:txBody>
          <a:bodyPr/>
          <a:lstStyle/>
          <a:p>
            <a:endParaRPr lang="en-US"/>
          </a:p>
        </p:txBody>
      </p:sp>
      <p:sp>
        <p:nvSpPr>
          <p:cNvPr id="16" name="Text 13"/>
          <p:cNvSpPr/>
          <p:nvPr/>
        </p:nvSpPr>
        <p:spPr>
          <a:xfrm>
            <a:off x="6038850" y="41148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Retail beverages</a:t>
            </a:r>
            <a:endParaRPr lang="en-US" sz="1800" dirty="0"/>
          </a:p>
        </p:txBody>
      </p:sp>
      <p:sp>
        <p:nvSpPr>
          <p:cNvPr id="17" name="Text 14"/>
          <p:cNvSpPr/>
          <p:nvPr/>
        </p:nvSpPr>
        <p:spPr>
          <a:xfrm>
            <a:off x="15182850" y="41338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$42.7K</a:t>
            </a:r>
            <a:endParaRPr lang="en-US" sz="1650" dirty="0"/>
          </a:p>
        </p:txBody>
      </p:sp>
      <p:sp>
        <p:nvSpPr>
          <p:cNvPr id="18" name="Text 15"/>
          <p:cNvSpPr/>
          <p:nvPr/>
        </p:nvSpPr>
        <p:spPr>
          <a:xfrm>
            <a:off x="16402050" y="40862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9" name="Shape 16"/>
          <p:cNvSpPr/>
          <p:nvPr/>
        </p:nvSpPr>
        <p:spPr>
          <a:xfrm>
            <a:off x="5676900" y="4514850"/>
            <a:ext cx="11658600" cy="19050"/>
          </a:xfrm>
          <a:prstGeom prst="rect">
            <a:avLst/>
          </a:prstGeom>
          <a:solidFill>
            <a:srgbClr val="DEE0DA"/>
          </a:solidFill>
          <a:ln/>
        </p:spPr>
        <p:txBody>
          <a:bodyPr/>
          <a:lstStyle/>
          <a:p>
            <a:endParaRPr lang="en-US"/>
          </a:p>
        </p:txBody>
      </p:sp>
      <p:sp>
        <p:nvSpPr>
          <p:cNvPr id="20" name="Shape 17"/>
          <p:cNvSpPr/>
          <p:nvPr/>
        </p:nvSpPr>
        <p:spPr>
          <a:xfrm>
            <a:off x="5676900" y="4705350"/>
            <a:ext cx="190500" cy="190500"/>
          </a:xfrm>
          <a:prstGeom prst="roundRect">
            <a:avLst>
              <a:gd name="adj" fmla="val 20000"/>
            </a:avLst>
          </a:prstGeom>
          <a:solidFill>
            <a:srgbClr val="7FC0C7"/>
          </a:solidFill>
          <a:ln/>
        </p:spPr>
        <p:txBody>
          <a:bodyPr/>
          <a:lstStyle/>
          <a:p>
            <a:endParaRPr lang="en-US"/>
          </a:p>
        </p:txBody>
      </p:sp>
      <p:sp>
        <p:nvSpPr>
          <p:cNvPr id="21" name="Text 18"/>
          <p:cNvSpPr/>
          <p:nvPr/>
        </p:nvSpPr>
        <p:spPr>
          <a:xfrm>
            <a:off x="6038850" y="46672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Pastries</a:t>
            </a:r>
            <a:endParaRPr lang="en-US" sz="1800" dirty="0"/>
          </a:p>
        </p:txBody>
      </p:sp>
      <p:sp>
        <p:nvSpPr>
          <p:cNvPr id="22" name="Text 19"/>
          <p:cNvSpPr/>
          <p:nvPr/>
        </p:nvSpPr>
        <p:spPr>
          <a:xfrm>
            <a:off x="15182850" y="46863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$20.6K</a:t>
            </a:r>
            <a:endParaRPr lang="en-US" sz="1650" dirty="0"/>
          </a:p>
        </p:txBody>
      </p:sp>
      <p:sp>
        <p:nvSpPr>
          <p:cNvPr id="23" name="Text 20"/>
          <p:cNvSpPr/>
          <p:nvPr/>
        </p:nvSpPr>
        <p:spPr>
          <a:xfrm>
            <a:off x="16402050" y="46386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8%</a:t>
            </a:r>
            <a:endParaRPr lang="en-US" sz="2250" dirty="0"/>
          </a:p>
        </p:txBody>
      </p:sp>
      <p:sp>
        <p:nvSpPr>
          <p:cNvPr id="24" name="Shape 21"/>
          <p:cNvSpPr/>
          <p:nvPr/>
        </p:nvSpPr>
        <p:spPr>
          <a:xfrm>
            <a:off x="5676900" y="5067300"/>
            <a:ext cx="11658600" cy="19050"/>
          </a:xfrm>
          <a:prstGeom prst="rect">
            <a:avLst/>
          </a:prstGeom>
          <a:solidFill>
            <a:srgbClr val="DEE0DA"/>
          </a:solidFill>
          <a:ln/>
        </p:spPr>
        <p:txBody>
          <a:bodyPr/>
          <a:lstStyle/>
          <a:p>
            <a:endParaRPr lang="en-US"/>
          </a:p>
        </p:txBody>
      </p:sp>
      <p:sp>
        <p:nvSpPr>
          <p:cNvPr id="25" name="Shape 22"/>
          <p:cNvSpPr/>
          <p:nvPr/>
        </p:nvSpPr>
        <p:spPr>
          <a:xfrm>
            <a:off x="5676900" y="5257800"/>
            <a:ext cx="190500" cy="190500"/>
          </a:xfrm>
          <a:prstGeom prst="roundRect">
            <a:avLst>
              <a:gd name="adj" fmla="val 20000"/>
            </a:avLst>
          </a:prstGeom>
          <a:solidFill>
            <a:srgbClr val="2E6B50"/>
          </a:solidFill>
          <a:ln/>
        </p:spPr>
        <p:txBody>
          <a:bodyPr/>
          <a:lstStyle/>
          <a:p>
            <a:endParaRPr lang="en-US"/>
          </a:p>
        </p:txBody>
      </p:sp>
      <p:sp>
        <p:nvSpPr>
          <p:cNvPr id="26" name="Text 23"/>
          <p:cNvSpPr/>
          <p:nvPr/>
        </p:nvSpPr>
        <p:spPr>
          <a:xfrm>
            <a:off x="6038850" y="52197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Grocery, snacks &amp; goods</a:t>
            </a:r>
            <a:endParaRPr lang="en-US" sz="1800" dirty="0"/>
          </a:p>
        </p:txBody>
      </p:sp>
      <p:sp>
        <p:nvSpPr>
          <p:cNvPr id="27" name="Text 24"/>
          <p:cNvSpPr/>
          <p:nvPr/>
        </p:nvSpPr>
        <p:spPr>
          <a:xfrm>
            <a:off x="15182850" y="52387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$18.3K</a:t>
            </a:r>
            <a:endParaRPr lang="en-US" sz="1650" dirty="0"/>
          </a:p>
        </p:txBody>
      </p:sp>
      <p:sp>
        <p:nvSpPr>
          <p:cNvPr id="28" name="Text 25"/>
          <p:cNvSpPr/>
          <p:nvPr/>
        </p:nvSpPr>
        <p:spPr>
          <a:xfrm>
            <a:off x="16402050" y="51911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7%</a:t>
            </a:r>
            <a:endParaRPr lang="en-US" sz="2250" dirty="0"/>
          </a:p>
        </p:txBody>
      </p:sp>
      <p:sp>
        <p:nvSpPr>
          <p:cNvPr id="29" name="Shape 26"/>
          <p:cNvSpPr/>
          <p:nvPr/>
        </p:nvSpPr>
        <p:spPr>
          <a:xfrm>
            <a:off x="5676900" y="5619750"/>
            <a:ext cx="11658600" cy="19050"/>
          </a:xfrm>
          <a:prstGeom prst="rect">
            <a:avLst/>
          </a:prstGeom>
          <a:solidFill>
            <a:srgbClr val="DEE0DA"/>
          </a:solidFill>
          <a:ln/>
        </p:spPr>
        <p:txBody>
          <a:bodyPr/>
          <a:lstStyle/>
          <a:p>
            <a:endParaRPr lang="en-US"/>
          </a:p>
        </p:txBody>
      </p:sp>
      <p:sp>
        <p:nvSpPr>
          <p:cNvPr id="30" name="Shape 27"/>
          <p:cNvSpPr/>
          <p:nvPr/>
        </p:nvSpPr>
        <p:spPr>
          <a:xfrm>
            <a:off x="5676900" y="5810250"/>
            <a:ext cx="190500" cy="190500"/>
          </a:xfrm>
          <a:prstGeom prst="roundRect">
            <a:avLst>
              <a:gd name="adj" fmla="val 20000"/>
            </a:avLst>
          </a:prstGeom>
          <a:solidFill>
            <a:srgbClr val="5F9068"/>
          </a:solidFill>
          <a:ln/>
        </p:spPr>
        <p:txBody>
          <a:bodyPr/>
          <a:lstStyle/>
          <a:p>
            <a:endParaRPr lang="en-US"/>
          </a:p>
        </p:txBody>
      </p:sp>
      <p:sp>
        <p:nvSpPr>
          <p:cNvPr id="31" name="Text 28"/>
          <p:cNvSpPr/>
          <p:nvPr/>
        </p:nvSpPr>
        <p:spPr>
          <a:xfrm>
            <a:off x="6038850" y="57721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Grab &amp; Go</a:t>
            </a:r>
            <a:endParaRPr lang="en-US" sz="1800" dirty="0"/>
          </a:p>
        </p:txBody>
      </p:sp>
      <p:sp>
        <p:nvSpPr>
          <p:cNvPr id="32" name="Text 29"/>
          <p:cNvSpPr/>
          <p:nvPr/>
        </p:nvSpPr>
        <p:spPr>
          <a:xfrm>
            <a:off x="15182850" y="57912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$11.4K</a:t>
            </a:r>
            <a:endParaRPr lang="en-US" sz="1650" dirty="0"/>
          </a:p>
        </p:txBody>
      </p:sp>
      <p:sp>
        <p:nvSpPr>
          <p:cNvPr id="33" name="Text 30"/>
          <p:cNvSpPr/>
          <p:nvPr/>
        </p:nvSpPr>
        <p:spPr>
          <a:xfrm>
            <a:off x="16402050" y="57435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5%</a:t>
            </a:r>
            <a:endParaRPr lang="en-US" sz="2250" dirty="0"/>
          </a:p>
        </p:txBody>
      </p:sp>
      <p:sp>
        <p:nvSpPr>
          <p:cNvPr id="34" name="Shape 31"/>
          <p:cNvSpPr/>
          <p:nvPr/>
        </p:nvSpPr>
        <p:spPr>
          <a:xfrm>
            <a:off x="5676900" y="6172200"/>
            <a:ext cx="11658600" cy="19050"/>
          </a:xfrm>
          <a:prstGeom prst="rect">
            <a:avLst/>
          </a:prstGeom>
          <a:solidFill>
            <a:srgbClr val="DEE0DA"/>
          </a:solidFill>
          <a:ln/>
        </p:spPr>
        <p:txBody>
          <a:bodyPr/>
          <a:lstStyle/>
          <a:p>
            <a:endParaRPr lang="en-US"/>
          </a:p>
        </p:txBody>
      </p:sp>
      <p:sp>
        <p:nvSpPr>
          <p:cNvPr id="35" name="Shape 32"/>
          <p:cNvSpPr/>
          <p:nvPr/>
        </p:nvSpPr>
        <p:spPr>
          <a:xfrm>
            <a:off x="5676900" y="6362700"/>
            <a:ext cx="190500" cy="190500"/>
          </a:xfrm>
          <a:prstGeom prst="roundRect">
            <a:avLst>
              <a:gd name="adj" fmla="val 20000"/>
            </a:avLst>
          </a:prstGeom>
          <a:solidFill>
            <a:srgbClr val="9DBE93"/>
          </a:solidFill>
          <a:ln/>
        </p:spPr>
        <p:txBody>
          <a:bodyPr/>
          <a:lstStyle/>
          <a:p>
            <a:endParaRPr lang="en-US"/>
          </a:p>
        </p:txBody>
      </p:sp>
      <p:sp>
        <p:nvSpPr>
          <p:cNvPr id="36" name="Text 33"/>
          <p:cNvSpPr/>
          <p:nvPr/>
        </p:nvSpPr>
        <p:spPr>
          <a:xfrm>
            <a:off x="6038850" y="63246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Deals, specials &amp; toasts</a:t>
            </a:r>
            <a:endParaRPr lang="en-US" sz="1800" dirty="0"/>
          </a:p>
        </p:txBody>
      </p:sp>
      <p:sp>
        <p:nvSpPr>
          <p:cNvPr id="37" name="Text 34"/>
          <p:cNvSpPr/>
          <p:nvPr/>
        </p:nvSpPr>
        <p:spPr>
          <a:xfrm>
            <a:off x="15182850" y="63436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$9.3K</a:t>
            </a:r>
            <a:endParaRPr lang="en-US" sz="1650" dirty="0"/>
          </a:p>
        </p:txBody>
      </p:sp>
      <p:sp>
        <p:nvSpPr>
          <p:cNvPr id="38" name="Text 35"/>
          <p:cNvSpPr/>
          <p:nvPr/>
        </p:nvSpPr>
        <p:spPr>
          <a:xfrm>
            <a:off x="16402050" y="62960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a:t>
            </a:r>
            <a:endParaRPr lang="en-US" sz="2250" dirty="0"/>
          </a:p>
        </p:txBody>
      </p:sp>
      <p:sp>
        <p:nvSpPr>
          <p:cNvPr id="39" name="Shape 36"/>
          <p:cNvSpPr/>
          <p:nvPr/>
        </p:nvSpPr>
        <p:spPr>
          <a:xfrm>
            <a:off x="5676900" y="6724650"/>
            <a:ext cx="11658600" cy="19050"/>
          </a:xfrm>
          <a:prstGeom prst="rect">
            <a:avLst/>
          </a:prstGeom>
          <a:solidFill>
            <a:srgbClr val="DEE0DA"/>
          </a:solidFill>
          <a:ln/>
        </p:spPr>
        <p:txBody>
          <a:bodyPr/>
          <a:lstStyle/>
          <a:p>
            <a:endParaRPr lang="en-US"/>
          </a:p>
        </p:txBody>
      </p:sp>
      <p:sp>
        <p:nvSpPr>
          <p:cNvPr id="40" name="Shape 37"/>
          <p:cNvSpPr/>
          <p:nvPr/>
        </p:nvSpPr>
        <p:spPr>
          <a:xfrm>
            <a:off x="5676900" y="6915150"/>
            <a:ext cx="190500" cy="190500"/>
          </a:xfrm>
          <a:prstGeom prst="roundRect">
            <a:avLst>
              <a:gd name="adj" fmla="val 20000"/>
            </a:avLst>
          </a:prstGeom>
          <a:solidFill>
            <a:srgbClr val="C2CFC0"/>
          </a:solidFill>
          <a:ln/>
        </p:spPr>
        <p:txBody>
          <a:bodyPr/>
          <a:lstStyle/>
          <a:p>
            <a:endParaRPr lang="en-US"/>
          </a:p>
        </p:txBody>
      </p:sp>
      <p:sp>
        <p:nvSpPr>
          <p:cNvPr id="41" name="Text 38"/>
          <p:cNvSpPr/>
          <p:nvPr/>
        </p:nvSpPr>
        <p:spPr>
          <a:xfrm>
            <a:off x="6038850" y="68770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Smoothies</a:t>
            </a:r>
            <a:endParaRPr lang="en-US" sz="1800" dirty="0"/>
          </a:p>
        </p:txBody>
      </p:sp>
      <p:sp>
        <p:nvSpPr>
          <p:cNvPr id="42" name="Text 39"/>
          <p:cNvSpPr/>
          <p:nvPr/>
        </p:nvSpPr>
        <p:spPr>
          <a:xfrm>
            <a:off x="15182850" y="68961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$4.5K</a:t>
            </a:r>
            <a:endParaRPr lang="en-US" sz="1650" dirty="0"/>
          </a:p>
        </p:txBody>
      </p:sp>
      <p:sp>
        <p:nvSpPr>
          <p:cNvPr id="43" name="Text 40"/>
          <p:cNvSpPr/>
          <p:nvPr/>
        </p:nvSpPr>
        <p:spPr>
          <a:xfrm>
            <a:off x="16402050" y="68484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2%</a:t>
            </a:r>
            <a:endParaRPr lang="en-US" sz="2250" dirty="0"/>
          </a:p>
        </p:txBody>
      </p:sp>
      <p:pic>
        <p:nvPicPr>
          <p:cNvPr id="47" name="Picture 46">
            <a:extLst>
              <a:ext uri="{FF2B5EF4-FFF2-40B4-BE49-F238E27FC236}">
                <a16:creationId xmlns:a16="http://schemas.microsoft.com/office/drawing/2014/main" id="{84C7239E-95D7-2684-B453-CE5C3B9ABDE0}"/>
              </a:ext>
            </a:extLst>
          </p:cNvPr>
          <p:cNvPicPr>
            <a:picLocks noChangeAspect="1"/>
          </p:cNvPicPr>
          <p:nvPr/>
        </p:nvPicPr>
        <p:blipFill>
          <a:blip r:embed="rId4"/>
          <a:stretch>
            <a:fillRect/>
          </a:stretch>
        </p:blipFill>
        <p:spPr>
          <a:xfrm>
            <a:off x="17138588" y="9022687"/>
            <a:ext cx="702372" cy="6929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C1E28-BB2A-5926-19D1-B7CAA27D5E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5" name="Text 1">
            <a:extLst>
              <a:ext uri="{FF2B5EF4-FFF2-40B4-BE49-F238E27FC236}">
                <a16:creationId xmlns:a16="http://schemas.microsoft.com/office/drawing/2014/main" id="{A496747F-B576-7D32-90B2-CED7E3CB5E5C}"/>
              </a:ext>
            </a:extLst>
          </p:cNvPr>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6" name="Picture 5">
            <a:extLst>
              <a:ext uri="{FF2B5EF4-FFF2-40B4-BE49-F238E27FC236}">
                <a16:creationId xmlns:a16="http://schemas.microsoft.com/office/drawing/2014/main" id="{2FEB9367-BE56-8E5E-2BC9-120C714B784E}"/>
              </a:ext>
            </a:extLst>
          </p:cNvPr>
          <p:cNvPicPr>
            <a:picLocks noChangeAspect="1"/>
          </p:cNvPicPr>
          <p:nvPr/>
        </p:nvPicPr>
        <p:blipFill>
          <a:blip r:embed="rId2"/>
          <a:stretch>
            <a:fillRect/>
          </a:stretch>
        </p:blipFill>
        <p:spPr>
          <a:xfrm>
            <a:off x="17138588" y="9022687"/>
            <a:ext cx="702372" cy="692953"/>
          </a:xfrm>
          <a:prstGeom prst="rect">
            <a:avLst/>
          </a:prstGeom>
        </p:spPr>
      </p:pic>
      <p:sp>
        <p:nvSpPr>
          <p:cNvPr id="9" name="Text 5">
            <a:extLst>
              <a:ext uri="{FF2B5EF4-FFF2-40B4-BE49-F238E27FC236}">
                <a16:creationId xmlns:a16="http://schemas.microsoft.com/office/drawing/2014/main" id="{2E4EF24A-DB18-7718-741A-336F200AD5DD}"/>
              </a:ext>
            </a:extLst>
          </p:cNvPr>
          <p:cNvSpPr/>
          <p:nvPr/>
        </p:nvSpPr>
        <p:spPr>
          <a:xfrm>
            <a:off x="8979396" y="3190875"/>
            <a:ext cx="3232636"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C1553B"/>
                </a:solidFill>
                <a:latin typeface="Arial" pitchFamily="34" charset="0"/>
                <a:ea typeface="Arial" pitchFamily="34" charset="-122"/>
                <a:cs typeface="Arial" pitchFamily="34" charset="-120"/>
              </a:rPr>
              <a:t>SELF-SERVE WINDOW · 17%</a:t>
            </a:r>
            <a:endParaRPr lang="en-US" sz="1425" dirty="0"/>
          </a:p>
        </p:txBody>
      </p:sp>
      <p:sp>
        <p:nvSpPr>
          <p:cNvPr id="10" name="Shape 6">
            <a:extLst>
              <a:ext uri="{FF2B5EF4-FFF2-40B4-BE49-F238E27FC236}">
                <a16:creationId xmlns:a16="http://schemas.microsoft.com/office/drawing/2014/main" id="{8CEBEAA0-43E9-36AB-7EBD-08394BEC026A}"/>
              </a:ext>
            </a:extLst>
          </p:cNvPr>
          <p:cNvSpPr/>
          <p:nvPr/>
        </p:nvSpPr>
        <p:spPr>
          <a:xfrm>
            <a:off x="8904982" y="3533775"/>
            <a:ext cx="3013174" cy="3219450"/>
          </a:xfrm>
          <a:prstGeom prst="rect">
            <a:avLst/>
          </a:prstGeom>
          <a:solidFill>
            <a:srgbClr val="C1553B">
              <a:alpha val="6000"/>
            </a:srgbClr>
          </a:solidFill>
          <a:ln/>
        </p:spPr>
        <p:txBody>
          <a:bodyPr/>
          <a:lstStyle/>
          <a:p>
            <a:endParaRPr lang="en-US"/>
          </a:p>
        </p:txBody>
      </p:sp>
      <p:sp>
        <p:nvSpPr>
          <p:cNvPr id="11" name="Shape 7">
            <a:extLst>
              <a:ext uri="{FF2B5EF4-FFF2-40B4-BE49-F238E27FC236}">
                <a16:creationId xmlns:a16="http://schemas.microsoft.com/office/drawing/2014/main" id="{DC9B7904-C189-AD31-9312-A7D2EEDD0CC1}"/>
              </a:ext>
            </a:extLst>
          </p:cNvPr>
          <p:cNvSpPr/>
          <p:nvPr/>
        </p:nvSpPr>
        <p:spPr>
          <a:xfrm>
            <a:off x="8904982" y="3533775"/>
            <a:ext cx="19050" cy="3219450"/>
          </a:xfrm>
          <a:prstGeom prst="rect">
            <a:avLst/>
          </a:prstGeom>
          <a:solidFill>
            <a:srgbClr val="C1553B">
              <a:alpha val="50000"/>
            </a:srgbClr>
          </a:solidFill>
          <a:ln/>
        </p:spPr>
        <p:txBody>
          <a:bodyPr/>
          <a:lstStyle/>
          <a:p>
            <a:endParaRPr lang="en-US"/>
          </a:p>
        </p:txBody>
      </p:sp>
      <p:sp>
        <p:nvSpPr>
          <p:cNvPr id="12" name="Shape 8">
            <a:extLst>
              <a:ext uri="{FF2B5EF4-FFF2-40B4-BE49-F238E27FC236}">
                <a16:creationId xmlns:a16="http://schemas.microsoft.com/office/drawing/2014/main" id="{83E137E8-E3BE-15AD-9DB6-782F96E79236}"/>
              </a:ext>
            </a:extLst>
          </p:cNvPr>
          <p:cNvSpPr/>
          <p:nvPr/>
        </p:nvSpPr>
        <p:spPr>
          <a:xfrm>
            <a:off x="1371600" y="6962775"/>
            <a:ext cx="10546556" cy="19050"/>
          </a:xfrm>
          <a:prstGeom prst="rect">
            <a:avLst/>
          </a:prstGeom>
          <a:solidFill>
            <a:srgbClr val="C6C9C3"/>
          </a:solidFill>
          <a:ln/>
        </p:spPr>
        <p:txBody>
          <a:bodyPr/>
          <a:lstStyle/>
          <a:p>
            <a:endParaRPr lang="en-US"/>
          </a:p>
        </p:txBody>
      </p:sp>
      <p:sp>
        <p:nvSpPr>
          <p:cNvPr id="13" name="Text 9">
            <a:extLst>
              <a:ext uri="{FF2B5EF4-FFF2-40B4-BE49-F238E27FC236}">
                <a16:creationId xmlns:a16="http://schemas.microsoft.com/office/drawing/2014/main" id="{E9A34F3E-EC77-64B7-6595-2E3728D94054}"/>
              </a:ext>
            </a:extLst>
          </p:cNvPr>
          <p:cNvSpPr/>
          <p:nvPr/>
        </p:nvSpPr>
        <p:spPr>
          <a:xfrm>
            <a:off x="685800" y="6838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$0</a:t>
            </a:r>
            <a:endParaRPr lang="en-US" sz="1350" dirty="0"/>
          </a:p>
        </p:txBody>
      </p:sp>
      <p:sp>
        <p:nvSpPr>
          <p:cNvPr id="14" name="Shape 10">
            <a:extLst>
              <a:ext uri="{FF2B5EF4-FFF2-40B4-BE49-F238E27FC236}">
                <a16:creationId xmlns:a16="http://schemas.microsoft.com/office/drawing/2014/main" id="{808547BE-7E9F-5634-8B8C-6FA3FDC301AC}"/>
              </a:ext>
            </a:extLst>
          </p:cNvPr>
          <p:cNvSpPr/>
          <p:nvPr/>
        </p:nvSpPr>
        <p:spPr>
          <a:xfrm>
            <a:off x="1371600" y="6391275"/>
            <a:ext cx="10546556" cy="19050"/>
          </a:xfrm>
          <a:prstGeom prst="rect">
            <a:avLst/>
          </a:prstGeom>
          <a:solidFill>
            <a:srgbClr val="E3E1D8"/>
          </a:solidFill>
          <a:ln/>
        </p:spPr>
        <p:txBody>
          <a:bodyPr/>
          <a:lstStyle/>
          <a:p>
            <a:endParaRPr lang="en-US"/>
          </a:p>
        </p:txBody>
      </p:sp>
      <p:sp>
        <p:nvSpPr>
          <p:cNvPr id="15" name="Text 11">
            <a:extLst>
              <a:ext uri="{FF2B5EF4-FFF2-40B4-BE49-F238E27FC236}">
                <a16:creationId xmlns:a16="http://schemas.microsoft.com/office/drawing/2014/main" id="{C04C19F4-09CF-5DA3-E713-0CA05FDA2598}"/>
              </a:ext>
            </a:extLst>
          </p:cNvPr>
          <p:cNvSpPr/>
          <p:nvPr/>
        </p:nvSpPr>
        <p:spPr>
          <a:xfrm>
            <a:off x="685800" y="6267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$100</a:t>
            </a:r>
            <a:endParaRPr lang="en-US" sz="1350" dirty="0"/>
          </a:p>
        </p:txBody>
      </p:sp>
      <p:sp>
        <p:nvSpPr>
          <p:cNvPr id="16" name="Shape 12">
            <a:extLst>
              <a:ext uri="{FF2B5EF4-FFF2-40B4-BE49-F238E27FC236}">
                <a16:creationId xmlns:a16="http://schemas.microsoft.com/office/drawing/2014/main" id="{9916B2F9-96C0-F215-AA7F-FE224FDF2618}"/>
              </a:ext>
            </a:extLst>
          </p:cNvPr>
          <p:cNvSpPr/>
          <p:nvPr/>
        </p:nvSpPr>
        <p:spPr>
          <a:xfrm>
            <a:off x="1371600" y="5819775"/>
            <a:ext cx="10546556" cy="19050"/>
          </a:xfrm>
          <a:prstGeom prst="rect">
            <a:avLst/>
          </a:prstGeom>
          <a:solidFill>
            <a:srgbClr val="E3E1D8"/>
          </a:solidFill>
          <a:ln/>
        </p:spPr>
        <p:txBody>
          <a:bodyPr/>
          <a:lstStyle/>
          <a:p>
            <a:endParaRPr lang="en-US"/>
          </a:p>
        </p:txBody>
      </p:sp>
      <p:sp>
        <p:nvSpPr>
          <p:cNvPr id="17" name="Text 13">
            <a:extLst>
              <a:ext uri="{FF2B5EF4-FFF2-40B4-BE49-F238E27FC236}">
                <a16:creationId xmlns:a16="http://schemas.microsoft.com/office/drawing/2014/main" id="{5120FDB1-AEE1-F451-7E6A-9F40F458CF2F}"/>
              </a:ext>
            </a:extLst>
          </p:cNvPr>
          <p:cNvSpPr/>
          <p:nvPr/>
        </p:nvSpPr>
        <p:spPr>
          <a:xfrm>
            <a:off x="685800" y="5695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$200</a:t>
            </a:r>
            <a:endParaRPr lang="en-US" sz="1350" dirty="0"/>
          </a:p>
        </p:txBody>
      </p:sp>
      <p:sp>
        <p:nvSpPr>
          <p:cNvPr id="18" name="Shape 14">
            <a:extLst>
              <a:ext uri="{FF2B5EF4-FFF2-40B4-BE49-F238E27FC236}">
                <a16:creationId xmlns:a16="http://schemas.microsoft.com/office/drawing/2014/main" id="{0BB24D94-ED2C-637A-DDC4-3974F1BF2D40}"/>
              </a:ext>
            </a:extLst>
          </p:cNvPr>
          <p:cNvSpPr/>
          <p:nvPr/>
        </p:nvSpPr>
        <p:spPr>
          <a:xfrm>
            <a:off x="1371600" y="5248275"/>
            <a:ext cx="10546556" cy="19050"/>
          </a:xfrm>
          <a:prstGeom prst="rect">
            <a:avLst/>
          </a:prstGeom>
          <a:solidFill>
            <a:srgbClr val="E3E1D8"/>
          </a:solidFill>
          <a:ln/>
        </p:spPr>
        <p:txBody>
          <a:bodyPr/>
          <a:lstStyle/>
          <a:p>
            <a:endParaRPr lang="en-US"/>
          </a:p>
        </p:txBody>
      </p:sp>
      <p:sp>
        <p:nvSpPr>
          <p:cNvPr id="19" name="Text 15">
            <a:extLst>
              <a:ext uri="{FF2B5EF4-FFF2-40B4-BE49-F238E27FC236}">
                <a16:creationId xmlns:a16="http://schemas.microsoft.com/office/drawing/2014/main" id="{22AE3368-B857-7DF8-FDCE-A24697B799F1}"/>
              </a:ext>
            </a:extLst>
          </p:cNvPr>
          <p:cNvSpPr/>
          <p:nvPr/>
        </p:nvSpPr>
        <p:spPr>
          <a:xfrm>
            <a:off x="685800" y="5124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$300</a:t>
            </a:r>
            <a:endParaRPr lang="en-US" sz="1350" dirty="0"/>
          </a:p>
        </p:txBody>
      </p:sp>
      <p:sp>
        <p:nvSpPr>
          <p:cNvPr id="20" name="Shape 16">
            <a:extLst>
              <a:ext uri="{FF2B5EF4-FFF2-40B4-BE49-F238E27FC236}">
                <a16:creationId xmlns:a16="http://schemas.microsoft.com/office/drawing/2014/main" id="{93E4E78F-1EB7-7813-FFC7-3914A372D3BD}"/>
              </a:ext>
            </a:extLst>
          </p:cNvPr>
          <p:cNvSpPr/>
          <p:nvPr/>
        </p:nvSpPr>
        <p:spPr>
          <a:xfrm>
            <a:off x="1371600" y="4676775"/>
            <a:ext cx="10546556" cy="19050"/>
          </a:xfrm>
          <a:prstGeom prst="rect">
            <a:avLst/>
          </a:prstGeom>
          <a:solidFill>
            <a:srgbClr val="E3E1D8"/>
          </a:solidFill>
          <a:ln/>
        </p:spPr>
        <p:txBody>
          <a:bodyPr/>
          <a:lstStyle/>
          <a:p>
            <a:endParaRPr lang="en-US"/>
          </a:p>
        </p:txBody>
      </p:sp>
      <p:sp>
        <p:nvSpPr>
          <p:cNvPr id="21" name="Text 17">
            <a:extLst>
              <a:ext uri="{FF2B5EF4-FFF2-40B4-BE49-F238E27FC236}">
                <a16:creationId xmlns:a16="http://schemas.microsoft.com/office/drawing/2014/main" id="{A7E913A0-1740-8816-0AEF-1098F866DDDC}"/>
              </a:ext>
            </a:extLst>
          </p:cNvPr>
          <p:cNvSpPr/>
          <p:nvPr/>
        </p:nvSpPr>
        <p:spPr>
          <a:xfrm>
            <a:off x="685800" y="4552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$400</a:t>
            </a:r>
            <a:endParaRPr lang="en-US" sz="1350" dirty="0"/>
          </a:p>
        </p:txBody>
      </p:sp>
      <p:sp>
        <p:nvSpPr>
          <p:cNvPr id="22" name="Shape 18">
            <a:extLst>
              <a:ext uri="{FF2B5EF4-FFF2-40B4-BE49-F238E27FC236}">
                <a16:creationId xmlns:a16="http://schemas.microsoft.com/office/drawing/2014/main" id="{5081B33B-44FE-DC62-23D7-B07530248C28}"/>
              </a:ext>
            </a:extLst>
          </p:cNvPr>
          <p:cNvSpPr/>
          <p:nvPr/>
        </p:nvSpPr>
        <p:spPr>
          <a:xfrm>
            <a:off x="1371600" y="4105275"/>
            <a:ext cx="10546556" cy="19050"/>
          </a:xfrm>
          <a:prstGeom prst="rect">
            <a:avLst/>
          </a:prstGeom>
          <a:solidFill>
            <a:srgbClr val="E3E1D8"/>
          </a:solidFill>
          <a:ln/>
        </p:spPr>
        <p:txBody>
          <a:bodyPr/>
          <a:lstStyle/>
          <a:p>
            <a:endParaRPr lang="en-US"/>
          </a:p>
        </p:txBody>
      </p:sp>
      <p:sp>
        <p:nvSpPr>
          <p:cNvPr id="23" name="Text 19">
            <a:extLst>
              <a:ext uri="{FF2B5EF4-FFF2-40B4-BE49-F238E27FC236}">
                <a16:creationId xmlns:a16="http://schemas.microsoft.com/office/drawing/2014/main" id="{145BCCF7-3CCB-4A80-2F93-59FFA5799889}"/>
              </a:ext>
            </a:extLst>
          </p:cNvPr>
          <p:cNvSpPr/>
          <p:nvPr/>
        </p:nvSpPr>
        <p:spPr>
          <a:xfrm>
            <a:off x="685800" y="3981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$500</a:t>
            </a:r>
            <a:endParaRPr lang="en-US" sz="1350" dirty="0"/>
          </a:p>
        </p:txBody>
      </p:sp>
      <p:sp>
        <p:nvSpPr>
          <p:cNvPr id="24" name="Shape 20">
            <a:extLst>
              <a:ext uri="{FF2B5EF4-FFF2-40B4-BE49-F238E27FC236}">
                <a16:creationId xmlns:a16="http://schemas.microsoft.com/office/drawing/2014/main" id="{F034DBE5-A404-D26F-9CED-5F7BAC1C79A9}"/>
              </a:ext>
            </a:extLst>
          </p:cNvPr>
          <p:cNvSpPr/>
          <p:nvPr/>
        </p:nvSpPr>
        <p:spPr>
          <a:xfrm>
            <a:off x="1371600" y="3533775"/>
            <a:ext cx="10546556" cy="19050"/>
          </a:xfrm>
          <a:prstGeom prst="rect">
            <a:avLst/>
          </a:prstGeom>
          <a:solidFill>
            <a:srgbClr val="E3E1D8"/>
          </a:solidFill>
          <a:ln/>
        </p:spPr>
        <p:txBody>
          <a:bodyPr/>
          <a:lstStyle/>
          <a:p>
            <a:endParaRPr lang="en-US"/>
          </a:p>
        </p:txBody>
      </p:sp>
      <p:sp>
        <p:nvSpPr>
          <p:cNvPr id="25" name="Text 21">
            <a:extLst>
              <a:ext uri="{FF2B5EF4-FFF2-40B4-BE49-F238E27FC236}">
                <a16:creationId xmlns:a16="http://schemas.microsoft.com/office/drawing/2014/main" id="{B1403E8C-E048-3910-C440-14325319ED1F}"/>
              </a:ext>
            </a:extLst>
          </p:cNvPr>
          <p:cNvSpPr/>
          <p:nvPr/>
        </p:nvSpPr>
        <p:spPr>
          <a:xfrm>
            <a:off x="685800" y="3409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$600</a:t>
            </a:r>
            <a:endParaRPr lang="en-US" sz="1350" dirty="0"/>
          </a:p>
        </p:txBody>
      </p:sp>
      <p:sp>
        <p:nvSpPr>
          <p:cNvPr id="26" name="Shape 22">
            <a:extLst>
              <a:ext uri="{FF2B5EF4-FFF2-40B4-BE49-F238E27FC236}">
                <a16:creationId xmlns:a16="http://schemas.microsoft.com/office/drawing/2014/main" id="{D384262B-9B6F-570B-ABCC-22A7791883C9}"/>
              </a:ext>
            </a:extLst>
          </p:cNvPr>
          <p:cNvSpPr/>
          <p:nvPr/>
        </p:nvSpPr>
        <p:spPr>
          <a:xfrm>
            <a:off x="1490663" y="6343650"/>
            <a:ext cx="461963" cy="352425"/>
          </a:xfrm>
          <a:prstGeom prst="rect">
            <a:avLst/>
          </a:prstGeom>
          <a:solidFill>
            <a:srgbClr val="1B3A44"/>
          </a:solidFill>
          <a:ln/>
        </p:spPr>
        <p:txBody>
          <a:bodyPr/>
          <a:lstStyle/>
          <a:p>
            <a:endParaRPr lang="en-US"/>
          </a:p>
        </p:txBody>
      </p:sp>
      <p:sp>
        <p:nvSpPr>
          <p:cNvPr id="27" name="Shape 23">
            <a:extLst>
              <a:ext uri="{FF2B5EF4-FFF2-40B4-BE49-F238E27FC236}">
                <a16:creationId xmlns:a16="http://schemas.microsoft.com/office/drawing/2014/main" id="{7FBB28B2-5EBF-A3D0-F6A9-B53537C7485D}"/>
              </a:ext>
            </a:extLst>
          </p:cNvPr>
          <p:cNvSpPr/>
          <p:nvPr/>
        </p:nvSpPr>
        <p:spPr>
          <a:xfrm>
            <a:off x="1490663" y="6257925"/>
            <a:ext cx="461963" cy="85725"/>
          </a:xfrm>
          <a:prstGeom prst="rect">
            <a:avLst/>
          </a:prstGeom>
          <a:solidFill>
            <a:srgbClr val="35707A"/>
          </a:solidFill>
          <a:ln/>
        </p:spPr>
        <p:txBody>
          <a:bodyPr/>
          <a:lstStyle/>
          <a:p>
            <a:endParaRPr lang="en-US"/>
          </a:p>
        </p:txBody>
      </p:sp>
      <p:sp>
        <p:nvSpPr>
          <p:cNvPr id="28" name="Shape 24">
            <a:extLst>
              <a:ext uri="{FF2B5EF4-FFF2-40B4-BE49-F238E27FC236}">
                <a16:creationId xmlns:a16="http://schemas.microsoft.com/office/drawing/2014/main" id="{15CA5820-C6EE-41B3-9834-DC2C6D94AA25}"/>
              </a:ext>
            </a:extLst>
          </p:cNvPr>
          <p:cNvSpPr/>
          <p:nvPr/>
        </p:nvSpPr>
        <p:spPr>
          <a:xfrm>
            <a:off x="1490663" y="6210300"/>
            <a:ext cx="461963" cy="47625"/>
          </a:xfrm>
          <a:prstGeom prst="rect">
            <a:avLst/>
          </a:prstGeom>
          <a:solidFill>
            <a:srgbClr val="8FB9AD"/>
          </a:solidFill>
          <a:ln/>
        </p:spPr>
        <p:txBody>
          <a:bodyPr/>
          <a:lstStyle/>
          <a:p>
            <a:endParaRPr lang="en-US"/>
          </a:p>
        </p:txBody>
      </p:sp>
      <p:sp>
        <p:nvSpPr>
          <p:cNvPr id="29" name="Shape 25">
            <a:extLst>
              <a:ext uri="{FF2B5EF4-FFF2-40B4-BE49-F238E27FC236}">
                <a16:creationId xmlns:a16="http://schemas.microsoft.com/office/drawing/2014/main" id="{9F85C3DF-D028-380B-7421-4AC6A017F479}"/>
              </a:ext>
            </a:extLst>
          </p:cNvPr>
          <p:cNvSpPr/>
          <p:nvPr/>
        </p:nvSpPr>
        <p:spPr>
          <a:xfrm>
            <a:off x="1490663" y="6162675"/>
            <a:ext cx="461963" cy="47625"/>
          </a:xfrm>
          <a:prstGeom prst="rect">
            <a:avLst/>
          </a:prstGeom>
          <a:solidFill>
            <a:srgbClr val="CBDAC0"/>
          </a:solidFill>
          <a:ln/>
        </p:spPr>
        <p:txBody>
          <a:bodyPr/>
          <a:lstStyle/>
          <a:p>
            <a:endParaRPr lang="en-US"/>
          </a:p>
        </p:txBody>
      </p:sp>
      <p:sp>
        <p:nvSpPr>
          <p:cNvPr id="30" name="Shape 26">
            <a:extLst>
              <a:ext uri="{FF2B5EF4-FFF2-40B4-BE49-F238E27FC236}">
                <a16:creationId xmlns:a16="http://schemas.microsoft.com/office/drawing/2014/main" id="{66860C7E-0833-574C-0C30-261CBB90694B}"/>
              </a:ext>
            </a:extLst>
          </p:cNvPr>
          <p:cNvSpPr/>
          <p:nvPr/>
        </p:nvSpPr>
        <p:spPr>
          <a:xfrm>
            <a:off x="1490663" y="6086475"/>
            <a:ext cx="461963" cy="76200"/>
          </a:xfrm>
          <a:prstGeom prst="rect">
            <a:avLst/>
          </a:prstGeom>
          <a:solidFill>
            <a:srgbClr val="E0894F"/>
          </a:solidFill>
          <a:ln/>
        </p:spPr>
        <p:txBody>
          <a:bodyPr/>
          <a:lstStyle/>
          <a:p>
            <a:endParaRPr lang="en-US"/>
          </a:p>
        </p:txBody>
      </p:sp>
      <p:sp>
        <p:nvSpPr>
          <p:cNvPr id="31" name="Text 27">
            <a:extLst>
              <a:ext uri="{FF2B5EF4-FFF2-40B4-BE49-F238E27FC236}">
                <a16:creationId xmlns:a16="http://schemas.microsoft.com/office/drawing/2014/main" id="{4A5CE8DD-90F9-D7BE-663A-D54272FE2EC7}"/>
              </a:ext>
            </a:extLst>
          </p:cNvPr>
          <p:cNvSpPr/>
          <p:nvPr/>
        </p:nvSpPr>
        <p:spPr>
          <a:xfrm>
            <a:off x="162639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6a</a:t>
            </a:r>
            <a:endParaRPr lang="en-US" sz="1350" dirty="0"/>
          </a:p>
        </p:txBody>
      </p:sp>
      <p:sp>
        <p:nvSpPr>
          <p:cNvPr id="32" name="Shape 28">
            <a:extLst>
              <a:ext uri="{FF2B5EF4-FFF2-40B4-BE49-F238E27FC236}">
                <a16:creationId xmlns:a16="http://schemas.microsoft.com/office/drawing/2014/main" id="{8F9CDFF6-5B4D-8E7C-4098-609B7F5EA58C}"/>
              </a:ext>
            </a:extLst>
          </p:cNvPr>
          <p:cNvSpPr/>
          <p:nvPr/>
        </p:nvSpPr>
        <p:spPr>
          <a:xfrm>
            <a:off x="2248198" y="5181600"/>
            <a:ext cx="461963" cy="1514475"/>
          </a:xfrm>
          <a:prstGeom prst="rect">
            <a:avLst/>
          </a:prstGeom>
          <a:solidFill>
            <a:srgbClr val="1B3A44"/>
          </a:solidFill>
          <a:ln/>
        </p:spPr>
        <p:txBody>
          <a:bodyPr/>
          <a:lstStyle/>
          <a:p>
            <a:endParaRPr lang="en-US"/>
          </a:p>
        </p:txBody>
      </p:sp>
      <p:sp>
        <p:nvSpPr>
          <p:cNvPr id="33" name="Shape 29">
            <a:extLst>
              <a:ext uri="{FF2B5EF4-FFF2-40B4-BE49-F238E27FC236}">
                <a16:creationId xmlns:a16="http://schemas.microsoft.com/office/drawing/2014/main" id="{B451A976-B17D-2C74-4472-D5D975574D81}"/>
              </a:ext>
            </a:extLst>
          </p:cNvPr>
          <p:cNvSpPr/>
          <p:nvPr/>
        </p:nvSpPr>
        <p:spPr>
          <a:xfrm>
            <a:off x="2248198" y="4791075"/>
            <a:ext cx="461963" cy="390525"/>
          </a:xfrm>
          <a:prstGeom prst="rect">
            <a:avLst/>
          </a:prstGeom>
          <a:solidFill>
            <a:srgbClr val="35707A"/>
          </a:solidFill>
          <a:ln/>
        </p:spPr>
        <p:txBody>
          <a:bodyPr/>
          <a:lstStyle/>
          <a:p>
            <a:endParaRPr lang="en-US"/>
          </a:p>
        </p:txBody>
      </p:sp>
      <p:sp>
        <p:nvSpPr>
          <p:cNvPr id="34" name="Shape 30">
            <a:extLst>
              <a:ext uri="{FF2B5EF4-FFF2-40B4-BE49-F238E27FC236}">
                <a16:creationId xmlns:a16="http://schemas.microsoft.com/office/drawing/2014/main" id="{D4A101D1-788A-AA50-EAF1-8FB54EF24B51}"/>
              </a:ext>
            </a:extLst>
          </p:cNvPr>
          <p:cNvSpPr/>
          <p:nvPr/>
        </p:nvSpPr>
        <p:spPr>
          <a:xfrm>
            <a:off x="2248198" y="4429125"/>
            <a:ext cx="461963" cy="361950"/>
          </a:xfrm>
          <a:prstGeom prst="rect">
            <a:avLst/>
          </a:prstGeom>
          <a:solidFill>
            <a:srgbClr val="8FB9AD"/>
          </a:solidFill>
          <a:ln/>
        </p:spPr>
        <p:txBody>
          <a:bodyPr/>
          <a:lstStyle/>
          <a:p>
            <a:endParaRPr lang="en-US"/>
          </a:p>
        </p:txBody>
      </p:sp>
      <p:sp>
        <p:nvSpPr>
          <p:cNvPr id="35" name="Shape 31">
            <a:extLst>
              <a:ext uri="{FF2B5EF4-FFF2-40B4-BE49-F238E27FC236}">
                <a16:creationId xmlns:a16="http://schemas.microsoft.com/office/drawing/2014/main" id="{1444E369-6169-DA70-1C04-C9DA9888E799}"/>
              </a:ext>
            </a:extLst>
          </p:cNvPr>
          <p:cNvSpPr/>
          <p:nvPr/>
        </p:nvSpPr>
        <p:spPr>
          <a:xfrm>
            <a:off x="2248198" y="4248150"/>
            <a:ext cx="461963" cy="180975"/>
          </a:xfrm>
          <a:prstGeom prst="rect">
            <a:avLst/>
          </a:prstGeom>
          <a:solidFill>
            <a:srgbClr val="CBDAC0"/>
          </a:solidFill>
          <a:ln/>
        </p:spPr>
        <p:txBody>
          <a:bodyPr/>
          <a:lstStyle/>
          <a:p>
            <a:endParaRPr lang="en-US"/>
          </a:p>
        </p:txBody>
      </p:sp>
      <p:sp>
        <p:nvSpPr>
          <p:cNvPr id="36" name="Shape 32">
            <a:extLst>
              <a:ext uri="{FF2B5EF4-FFF2-40B4-BE49-F238E27FC236}">
                <a16:creationId xmlns:a16="http://schemas.microsoft.com/office/drawing/2014/main" id="{88D8127D-8234-FBA7-04F0-7FDC5F8BDB8A}"/>
              </a:ext>
            </a:extLst>
          </p:cNvPr>
          <p:cNvSpPr/>
          <p:nvPr/>
        </p:nvSpPr>
        <p:spPr>
          <a:xfrm>
            <a:off x="2248198" y="4010025"/>
            <a:ext cx="461963" cy="238125"/>
          </a:xfrm>
          <a:prstGeom prst="rect">
            <a:avLst/>
          </a:prstGeom>
          <a:solidFill>
            <a:srgbClr val="E0894F"/>
          </a:solidFill>
          <a:ln/>
        </p:spPr>
        <p:txBody>
          <a:bodyPr/>
          <a:lstStyle/>
          <a:p>
            <a:endParaRPr lang="en-US"/>
          </a:p>
        </p:txBody>
      </p:sp>
      <p:sp>
        <p:nvSpPr>
          <p:cNvPr id="37" name="Shape 33">
            <a:extLst>
              <a:ext uri="{FF2B5EF4-FFF2-40B4-BE49-F238E27FC236}">
                <a16:creationId xmlns:a16="http://schemas.microsoft.com/office/drawing/2014/main" id="{ED0F1275-655E-A444-2016-4F2E18FDDD12}"/>
              </a:ext>
            </a:extLst>
          </p:cNvPr>
          <p:cNvSpPr/>
          <p:nvPr/>
        </p:nvSpPr>
        <p:spPr>
          <a:xfrm>
            <a:off x="2248198" y="3971925"/>
            <a:ext cx="461963" cy="38100"/>
          </a:xfrm>
          <a:prstGeom prst="rect">
            <a:avLst/>
          </a:prstGeom>
          <a:solidFill>
            <a:srgbClr val="B4472F"/>
          </a:solidFill>
          <a:ln/>
        </p:spPr>
        <p:txBody>
          <a:bodyPr/>
          <a:lstStyle/>
          <a:p>
            <a:endParaRPr lang="en-US"/>
          </a:p>
        </p:txBody>
      </p:sp>
      <p:sp>
        <p:nvSpPr>
          <p:cNvPr id="38" name="Text 34">
            <a:extLst>
              <a:ext uri="{FF2B5EF4-FFF2-40B4-BE49-F238E27FC236}">
                <a16:creationId xmlns:a16="http://schemas.microsoft.com/office/drawing/2014/main" id="{92B89109-98C4-0185-3A4F-B685647237BF}"/>
              </a:ext>
            </a:extLst>
          </p:cNvPr>
          <p:cNvSpPr/>
          <p:nvPr/>
        </p:nvSpPr>
        <p:spPr>
          <a:xfrm>
            <a:off x="238392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7a</a:t>
            </a:r>
            <a:endParaRPr lang="en-US" sz="1350" dirty="0"/>
          </a:p>
        </p:txBody>
      </p:sp>
      <p:sp>
        <p:nvSpPr>
          <p:cNvPr id="39" name="Shape 35">
            <a:extLst>
              <a:ext uri="{FF2B5EF4-FFF2-40B4-BE49-F238E27FC236}">
                <a16:creationId xmlns:a16="http://schemas.microsoft.com/office/drawing/2014/main" id="{B01D3093-A687-FC15-846E-7960426D567B}"/>
              </a:ext>
            </a:extLst>
          </p:cNvPr>
          <p:cNvSpPr/>
          <p:nvPr/>
        </p:nvSpPr>
        <p:spPr>
          <a:xfrm>
            <a:off x="3005733" y="5076825"/>
            <a:ext cx="461963" cy="1619250"/>
          </a:xfrm>
          <a:prstGeom prst="rect">
            <a:avLst/>
          </a:prstGeom>
          <a:solidFill>
            <a:srgbClr val="1B3A44"/>
          </a:solidFill>
          <a:ln/>
        </p:spPr>
        <p:txBody>
          <a:bodyPr/>
          <a:lstStyle/>
          <a:p>
            <a:endParaRPr lang="en-US"/>
          </a:p>
        </p:txBody>
      </p:sp>
      <p:sp>
        <p:nvSpPr>
          <p:cNvPr id="40" name="Shape 36">
            <a:extLst>
              <a:ext uri="{FF2B5EF4-FFF2-40B4-BE49-F238E27FC236}">
                <a16:creationId xmlns:a16="http://schemas.microsoft.com/office/drawing/2014/main" id="{57A80E0A-D8B6-A6AB-A22E-173074DF836A}"/>
              </a:ext>
            </a:extLst>
          </p:cNvPr>
          <p:cNvSpPr/>
          <p:nvPr/>
        </p:nvSpPr>
        <p:spPr>
          <a:xfrm>
            <a:off x="3005733" y="4429125"/>
            <a:ext cx="461963" cy="647700"/>
          </a:xfrm>
          <a:prstGeom prst="rect">
            <a:avLst/>
          </a:prstGeom>
          <a:solidFill>
            <a:srgbClr val="35707A"/>
          </a:solidFill>
          <a:ln/>
        </p:spPr>
        <p:txBody>
          <a:bodyPr/>
          <a:lstStyle/>
          <a:p>
            <a:endParaRPr lang="en-US"/>
          </a:p>
        </p:txBody>
      </p:sp>
      <p:sp>
        <p:nvSpPr>
          <p:cNvPr id="41" name="Shape 37">
            <a:extLst>
              <a:ext uri="{FF2B5EF4-FFF2-40B4-BE49-F238E27FC236}">
                <a16:creationId xmlns:a16="http://schemas.microsoft.com/office/drawing/2014/main" id="{A91CAD80-58D6-D57A-A17E-8C14ACB288C0}"/>
              </a:ext>
            </a:extLst>
          </p:cNvPr>
          <p:cNvSpPr/>
          <p:nvPr/>
        </p:nvSpPr>
        <p:spPr>
          <a:xfrm>
            <a:off x="3005733" y="4038600"/>
            <a:ext cx="461963" cy="390525"/>
          </a:xfrm>
          <a:prstGeom prst="rect">
            <a:avLst/>
          </a:prstGeom>
          <a:solidFill>
            <a:srgbClr val="8FB9AD"/>
          </a:solidFill>
          <a:ln/>
        </p:spPr>
        <p:txBody>
          <a:bodyPr/>
          <a:lstStyle/>
          <a:p>
            <a:endParaRPr lang="en-US"/>
          </a:p>
        </p:txBody>
      </p:sp>
      <p:sp>
        <p:nvSpPr>
          <p:cNvPr id="42" name="Shape 38">
            <a:extLst>
              <a:ext uri="{FF2B5EF4-FFF2-40B4-BE49-F238E27FC236}">
                <a16:creationId xmlns:a16="http://schemas.microsoft.com/office/drawing/2014/main" id="{02A022E9-DF3F-F6F8-363B-A5569BA102EE}"/>
              </a:ext>
            </a:extLst>
          </p:cNvPr>
          <p:cNvSpPr/>
          <p:nvPr/>
        </p:nvSpPr>
        <p:spPr>
          <a:xfrm>
            <a:off x="3005733" y="3838575"/>
            <a:ext cx="461963" cy="200025"/>
          </a:xfrm>
          <a:prstGeom prst="rect">
            <a:avLst/>
          </a:prstGeom>
          <a:solidFill>
            <a:srgbClr val="CBDAC0"/>
          </a:solidFill>
          <a:ln/>
        </p:spPr>
        <p:txBody>
          <a:bodyPr/>
          <a:lstStyle/>
          <a:p>
            <a:endParaRPr lang="en-US"/>
          </a:p>
        </p:txBody>
      </p:sp>
      <p:sp>
        <p:nvSpPr>
          <p:cNvPr id="43" name="Shape 39">
            <a:extLst>
              <a:ext uri="{FF2B5EF4-FFF2-40B4-BE49-F238E27FC236}">
                <a16:creationId xmlns:a16="http://schemas.microsoft.com/office/drawing/2014/main" id="{D754D2BA-0B4A-F7F9-FDC5-B1311AD8903E}"/>
              </a:ext>
            </a:extLst>
          </p:cNvPr>
          <p:cNvSpPr/>
          <p:nvPr/>
        </p:nvSpPr>
        <p:spPr>
          <a:xfrm>
            <a:off x="3005733" y="3524250"/>
            <a:ext cx="461963" cy="314325"/>
          </a:xfrm>
          <a:prstGeom prst="rect">
            <a:avLst/>
          </a:prstGeom>
          <a:solidFill>
            <a:srgbClr val="E0894F"/>
          </a:solidFill>
          <a:ln/>
        </p:spPr>
        <p:txBody>
          <a:bodyPr/>
          <a:lstStyle/>
          <a:p>
            <a:endParaRPr lang="en-US"/>
          </a:p>
        </p:txBody>
      </p:sp>
      <p:sp>
        <p:nvSpPr>
          <p:cNvPr id="44" name="Shape 40">
            <a:extLst>
              <a:ext uri="{FF2B5EF4-FFF2-40B4-BE49-F238E27FC236}">
                <a16:creationId xmlns:a16="http://schemas.microsoft.com/office/drawing/2014/main" id="{B33075C5-07DD-6303-F690-F4DDC9BC5BCC}"/>
              </a:ext>
            </a:extLst>
          </p:cNvPr>
          <p:cNvSpPr/>
          <p:nvPr/>
        </p:nvSpPr>
        <p:spPr>
          <a:xfrm>
            <a:off x="3005733" y="3505200"/>
            <a:ext cx="461963" cy="19050"/>
          </a:xfrm>
          <a:prstGeom prst="rect">
            <a:avLst/>
          </a:prstGeom>
          <a:solidFill>
            <a:srgbClr val="B4472F"/>
          </a:solidFill>
          <a:ln/>
        </p:spPr>
        <p:txBody>
          <a:bodyPr/>
          <a:lstStyle/>
          <a:p>
            <a:endParaRPr lang="en-US"/>
          </a:p>
        </p:txBody>
      </p:sp>
      <p:sp>
        <p:nvSpPr>
          <p:cNvPr id="45" name="Text 41">
            <a:extLst>
              <a:ext uri="{FF2B5EF4-FFF2-40B4-BE49-F238E27FC236}">
                <a16:creationId xmlns:a16="http://schemas.microsoft.com/office/drawing/2014/main" id="{3883CBEB-B13E-1408-0B3A-222AEE5A8FA3}"/>
              </a:ext>
            </a:extLst>
          </p:cNvPr>
          <p:cNvSpPr/>
          <p:nvPr/>
        </p:nvSpPr>
        <p:spPr>
          <a:xfrm>
            <a:off x="314146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8a</a:t>
            </a:r>
            <a:endParaRPr lang="en-US" sz="1350" dirty="0"/>
          </a:p>
        </p:txBody>
      </p:sp>
      <p:sp>
        <p:nvSpPr>
          <p:cNvPr id="46" name="Shape 42">
            <a:extLst>
              <a:ext uri="{FF2B5EF4-FFF2-40B4-BE49-F238E27FC236}">
                <a16:creationId xmlns:a16="http://schemas.microsoft.com/office/drawing/2014/main" id="{40985E24-9CE5-E1E9-4B65-5AECED61837F}"/>
              </a:ext>
            </a:extLst>
          </p:cNvPr>
          <p:cNvSpPr/>
          <p:nvPr/>
        </p:nvSpPr>
        <p:spPr>
          <a:xfrm>
            <a:off x="3763268" y="5172075"/>
            <a:ext cx="461963" cy="1524000"/>
          </a:xfrm>
          <a:prstGeom prst="rect">
            <a:avLst/>
          </a:prstGeom>
          <a:solidFill>
            <a:srgbClr val="1B3A44"/>
          </a:solidFill>
          <a:ln/>
        </p:spPr>
        <p:txBody>
          <a:bodyPr/>
          <a:lstStyle/>
          <a:p>
            <a:endParaRPr lang="en-US"/>
          </a:p>
        </p:txBody>
      </p:sp>
      <p:sp>
        <p:nvSpPr>
          <p:cNvPr id="47" name="Shape 43">
            <a:extLst>
              <a:ext uri="{FF2B5EF4-FFF2-40B4-BE49-F238E27FC236}">
                <a16:creationId xmlns:a16="http://schemas.microsoft.com/office/drawing/2014/main" id="{8BBFC4F7-D744-F7D8-16D5-097843BA123D}"/>
              </a:ext>
            </a:extLst>
          </p:cNvPr>
          <p:cNvSpPr/>
          <p:nvPr/>
        </p:nvSpPr>
        <p:spPr>
          <a:xfrm>
            <a:off x="3763268" y="4533900"/>
            <a:ext cx="461963" cy="638175"/>
          </a:xfrm>
          <a:prstGeom prst="rect">
            <a:avLst/>
          </a:prstGeom>
          <a:solidFill>
            <a:srgbClr val="35707A"/>
          </a:solidFill>
          <a:ln/>
        </p:spPr>
        <p:txBody>
          <a:bodyPr/>
          <a:lstStyle/>
          <a:p>
            <a:endParaRPr lang="en-US"/>
          </a:p>
        </p:txBody>
      </p:sp>
      <p:sp>
        <p:nvSpPr>
          <p:cNvPr id="48" name="Shape 44">
            <a:extLst>
              <a:ext uri="{FF2B5EF4-FFF2-40B4-BE49-F238E27FC236}">
                <a16:creationId xmlns:a16="http://schemas.microsoft.com/office/drawing/2014/main" id="{CA59BBA0-5B43-5F51-C410-1F0B0AA37C78}"/>
              </a:ext>
            </a:extLst>
          </p:cNvPr>
          <p:cNvSpPr/>
          <p:nvPr/>
        </p:nvSpPr>
        <p:spPr>
          <a:xfrm>
            <a:off x="3763268" y="4171950"/>
            <a:ext cx="461963" cy="361950"/>
          </a:xfrm>
          <a:prstGeom prst="rect">
            <a:avLst/>
          </a:prstGeom>
          <a:solidFill>
            <a:srgbClr val="8FB9AD"/>
          </a:solidFill>
          <a:ln/>
        </p:spPr>
        <p:txBody>
          <a:bodyPr/>
          <a:lstStyle/>
          <a:p>
            <a:endParaRPr lang="en-US"/>
          </a:p>
        </p:txBody>
      </p:sp>
      <p:sp>
        <p:nvSpPr>
          <p:cNvPr id="49" name="Shape 45">
            <a:extLst>
              <a:ext uri="{FF2B5EF4-FFF2-40B4-BE49-F238E27FC236}">
                <a16:creationId xmlns:a16="http://schemas.microsoft.com/office/drawing/2014/main" id="{61620162-236B-0ADA-3512-B7583C8A9EB3}"/>
              </a:ext>
            </a:extLst>
          </p:cNvPr>
          <p:cNvSpPr/>
          <p:nvPr/>
        </p:nvSpPr>
        <p:spPr>
          <a:xfrm>
            <a:off x="3763268" y="3943350"/>
            <a:ext cx="461963" cy="228600"/>
          </a:xfrm>
          <a:prstGeom prst="rect">
            <a:avLst/>
          </a:prstGeom>
          <a:solidFill>
            <a:srgbClr val="CBDAC0"/>
          </a:solidFill>
          <a:ln/>
        </p:spPr>
        <p:txBody>
          <a:bodyPr/>
          <a:lstStyle/>
          <a:p>
            <a:endParaRPr lang="en-US"/>
          </a:p>
        </p:txBody>
      </p:sp>
      <p:sp>
        <p:nvSpPr>
          <p:cNvPr id="50" name="Shape 46">
            <a:extLst>
              <a:ext uri="{FF2B5EF4-FFF2-40B4-BE49-F238E27FC236}">
                <a16:creationId xmlns:a16="http://schemas.microsoft.com/office/drawing/2014/main" id="{4DFFBD95-E68B-983B-1DFC-3D95D00276D1}"/>
              </a:ext>
            </a:extLst>
          </p:cNvPr>
          <p:cNvSpPr/>
          <p:nvPr/>
        </p:nvSpPr>
        <p:spPr>
          <a:xfrm>
            <a:off x="3763268" y="3619500"/>
            <a:ext cx="461963" cy="323850"/>
          </a:xfrm>
          <a:prstGeom prst="rect">
            <a:avLst/>
          </a:prstGeom>
          <a:solidFill>
            <a:srgbClr val="E0894F"/>
          </a:solidFill>
          <a:ln/>
        </p:spPr>
        <p:txBody>
          <a:bodyPr/>
          <a:lstStyle/>
          <a:p>
            <a:endParaRPr lang="en-US"/>
          </a:p>
        </p:txBody>
      </p:sp>
      <p:sp>
        <p:nvSpPr>
          <p:cNvPr id="51" name="Shape 47">
            <a:extLst>
              <a:ext uri="{FF2B5EF4-FFF2-40B4-BE49-F238E27FC236}">
                <a16:creationId xmlns:a16="http://schemas.microsoft.com/office/drawing/2014/main" id="{8A666DFE-B99B-C535-B360-49E285D1E4D4}"/>
              </a:ext>
            </a:extLst>
          </p:cNvPr>
          <p:cNvSpPr/>
          <p:nvPr/>
        </p:nvSpPr>
        <p:spPr>
          <a:xfrm>
            <a:off x="3763268" y="3571875"/>
            <a:ext cx="461963" cy="47625"/>
          </a:xfrm>
          <a:prstGeom prst="rect">
            <a:avLst/>
          </a:prstGeom>
          <a:solidFill>
            <a:srgbClr val="B4472F"/>
          </a:solidFill>
          <a:ln/>
        </p:spPr>
        <p:txBody>
          <a:bodyPr/>
          <a:lstStyle/>
          <a:p>
            <a:endParaRPr lang="en-US"/>
          </a:p>
        </p:txBody>
      </p:sp>
      <p:sp>
        <p:nvSpPr>
          <p:cNvPr id="52" name="Text 48">
            <a:extLst>
              <a:ext uri="{FF2B5EF4-FFF2-40B4-BE49-F238E27FC236}">
                <a16:creationId xmlns:a16="http://schemas.microsoft.com/office/drawing/2014/main" id="{E3AF5ED5-AE50-40B1-DBCD-9D95FF966EBB}"/>
              </a:ext>
            </a:extLst>
          </p:cNvPr>
          <p:cNvSpPr/>
          <p:nvPr/>
        </p:nvSpPr>
        <p:spPr>
          <a:xfrm>
            <a:off x="389899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9a</a:t>
            </a:r>
            <a:endParaRPr lang="en-US" sz="1350" dirty="0"/>
          </a:p>
        </p:txBody>
      </p:sp>
      <p:sp>
        <p:nvSpPr>
          <p:cNvPr id="53" name="Shape 49">
            <a:extLst>
              <a:ext uri="{FF2B5EF4-FFF2-40B4-BE49-F238E27FC236}">
                <a16:creationId xmlns:a16="http://schemas.microsoft.com/office/drawing/2014/main" id="{2773DFF9-2136-1D40-742E-39F4545C0DFC}"/>
              </a:ext>
            </a:extLst>
          </p:cNvPr>
          <p:cNvSpPr/>
          <p:nvPr/>
        </p:nvSpPr>
        <p:spPr>
          <a:xfrm>
            <a:off x="4520803" y="5334000"/>
            <a:ext cx="461963" cy="1362075"/>
          </a:xfrm>
          <a:prstGeom prst="rect">
            <a:avLst/>
          </a:prstGeom>
          <a:solidFill>
            <a:srgbClr val="1B3A44"/>
          </a:solidFill>
          <a:ln/>
        </p:spPr>
        <p:txBody>
          <a:bodyPr/>
          <a:lstStyle/>
          <a:p>
            <a:endParaRPr lang="en-US"/>
          </a:p>
        </p:txBody>
      </p:sp>
      <p:sp>
        <p:nvSpPr>
          <p:cNvPr id="54" name="Shape 50">
            <a:extLst>
              <a:ext uri="{FF2B5EF4-FFF2-40B4-BE49-F238E27FC236}">
                <a16:creationId xmlns:a16="http://schemas.microsoft.com/office/drawing/2014/main" id="{F7DA68D7-3540-E899-4338-58FE0CBD7006}"/>
              </a:ext>
            </a:extLst>
          </p:cNvPr>
          <p:cNvSpPr/>
          <p:nvPr/>
        </p:nvSpPr>
        <p:spPr>
          <a:xfrm>
            <a:off x="4520803" y="4714875"/>
            <a:ext cx="461963" cy="619125"/>
          </a:xfrm>
          <a:prstGeom prst="rect">
            <a:avLst/>
          </a:prstGeom>
          <a:solidFill>
            <a:srgbClr val="35707A"/>
          </a:solidFill>
          <a:ln/>
        </p:spPr>
        <p:txBody>
          <a:bodyPr/>
          <a:lstStyle/>
          <a:p>
            <a:endParaRPr lang="en-US"/>
          </a:p>
        </p:txBody>
      </p:sp>
      <p:sp>
        <p:nvSpPr>
          <p:cNvPr id="55" name="Shape 51">
            <a:extLst>
              <a:ext uri="{FF2B5EF4-FFF2-40B4-BE49-F238E27FC236}">
                <a16:creationId xmlns:a16="http://schemas.microsoft.com/office/drawing/2014/main" id="{0C81AE3C-BA79-62C8-31DF-E3D578CB3CD4}"/>
              </a:ext>
            </a:extLst>
          </p:cNvPr>
          <p:cNvSpPr/>
          <p:nvPr/>
        </p:nvSpPr>
        <p:spPr>
          <a:xfrm>
            <a:off x="4520803" y="4448175"/>
            <a:ext cx="461963" cy="266700"/>
          </a:xfrm>
          <a:prstGeom prst="rect">
            <a:avLst/>
          </a:prstGeom>
          <a:solidFill>
            <a:srgbClr val="8FB9AD"/>
          </a:solidFill>
          <a:ln/>
        </p:spPr>
        <p:txBody>
          <a:bodyPr/>
          <a:lstStyle/>
          <a:p>
            <a:endParaRPr lang="en-US"/>
          </a:p>
        </p:txBody>
      </p:sp>
      <p:sp>
        <p:nvSpPr>
          <p:cNvPr id="56" name="Shape 52">
            <a:extLst>
              <a:ext uri="{FF2B5EF4-FFF2-40B4-BE49-F238E27FC236}">
                <a16:creationId xmlns:a16="http://schemas.microsoft.com/office/drawing/2014/main" id="{D6039694-E96E-A9EF-63F1-66E2E1345DAB}"/>
              </a:ext>
            </a:extLst>
          </p:cNvPr>
          <p:cNvSpPr/>
          <p:nvPr/>
        </p:nvSpPr>
        <p:spPr>
          <a:xfrm>
            <a:off x="4520803" y="4257675"/>
            <a:ext cx="461963" cy="190500"/>
          </a:xfrm>
          <a:prstGeom prst="rect">
            <a:avLst/>
          </a:prstGeom>
          <a:solidFill>
            <a:srgbClr val="CBDAC0"/>
          </a:solidFill>
          <a:ln/>
        </p:spPr>
        <p:txBody>
          <a:bodyPr/>
          <a:lstStyle/>
          <a:p>
            <a:endParaRPr lang="en-US"/>
          </a:p>
        </p:txBody>
      </p:sp>
      <p:sp>
        <p:nvSpPr>
          <p:cNvPr id="57" name="Shape 53">
            <a:extLst>
              <a:ext uri="{FF2B5EF4-FFF2-40B4-BE49-F238E27FC236}">
                <a16:creationId xmlns:a16="http://schemas.microsoft.com/office/drawing/2014/main" id="{756D09AF-4392-29CC-9904-07AD5E19855C}"/>
              </a:ext>
            </a:extLst>
          </p:cNvPr>
          <p:cNvSpPr/>
          <p:nvPr/>
        </p:nvSpPr>
        <p:spPr>
          <a:xfrm>
            <a:off x="4520803" y="3981450"/>
            <a:ext cx="461963" cy="276225"/>
          </a:xfrm>
          <a:prstGeom prst="rect">
            <a:avLst/>
          </a:prstGeom>
          <a:solidFill>
            <a:srgbClr val="E0894F"/>
          </a:solidFill>
          <a:ln/>
        </p:spPr>
        <p:txBody>
          <a:bodyPr/>
          <a:lstStyle/>
          <a:p>
            <a:endParaRPr lang="en-US"/>
          </a:p>
        </p:txBody>
      </p:sp>
      <p:sp>
        <p:nvSpPr>
          <p:cNvPr id="58" name="Shape 54">
            <a:extLst>
              <a:ext uri="{FF2B5EF4-FFF2-40B4-BE49-F238E27FC236}">
                <a16:creationId xmlns:a16="http://schemas.microsoft.com/office/drawing/2014/main" id="{9202C6A0-4790-68C7-89BE-2BAE21BFFC80}"/>
              </a:ext>
            </a:extLst>
          </p:cNvPr>
          <p:cNvSpPr/>
          <p:nvPr/>
        </p:nvSpPr>
        <p:spPr>
          <a:xfrm>
            <a:off x="4520803" y="3971925"/>
            <a:ext cx="461963" cy="9525"/>
          </a:xfrm>
          <a:prstGeom prst="rect">
            <a:avLst/>
          </a:prstGeom>
          <a:solidFill>
            <a:srgbClr val="B4472F"/>
          </a:solidFill>
          <a:ln/>
        </p:spPr>
        <p:txBody>
          <a:bodyPr/>
          <a:lstStyle/>
          <a:p>
            <a:endParaRPr lang="en-US"/>
          </a:p>
        </p:txBody>
      </p:sp>
      <p:sp>
        <p:nvSpPr>
          <p:cNvPr id="59" name="Text 55">
            <a:extLst>
              <a:ext uri="{FF2B5EF4-FFF2-40B4-BE49-F238E27FC236}">
                <a16:creationId xmlns:a16="http://schemas.microsoft.com/office/drawing/2014/main" id="{64369A2D-AFD2-8901-771C-BA294BF056A0}"/>
              </a:ext>
            </a:extLst>
          </p:cNvPr>
          <p:cNvSpPr/>
          <p:nvPr/>
        </p:nvSpPr>
        <p:spPr>
          <a:xfrm>
            <a:off x="460861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10a</a:t>
            </a:r>
            <a:endParaRPr lang="en-US" sz="1350" dirty="0"/>
          </a:p>
        </p:txBody>
      </p:sp>
      <p:sp>
        <p:nvSpPr>
          <p:cNvPr id="60" name="Shape 56">
            <a:extLst>
              <a:ext uri="{FF2B5EF4-FFF2-40B4-BE49-F238E27FC236}">
                <a16:creationId xmlns:a16="http://schemas.microsoft.com/office/drawing/2014/main" id="{91F827BA-BE31-86AA-51B1-DB588D50EF50}"/>
              </a:ext>
            </a:extLst>
          </p:cNvPr>
          <p:cNvSpPr/>
          <p:nvPr/>
        </p:nvSpPr>
        <p:spPr>
          <a:xfrm>
            <a:off x="5278338" y="5676900"/>
            <a:ext cx="461963" cy="1019175"/>
          </a:xfrm>
          <a:prstGeom prst="rect">
            <a:avLst/>
          </a:prstGeom>
          <a:solidFill>
            <a:srgbClr val="1B3A44"/>
          </a:solidFill>
          <a:ln/>
        </p:spPr>
        <p:txBody>
          <a:bodyPr/>
          <a:lstStyle/>
          <a:p>
            <a:endParaRPr lang="en-US"/>
          </a:p>
        </p:txBody>
      </p:sp>
      <p:sp>
        <p:nvSpPr>
          <p:cNvPr id="61" name="Shape 57">
            <a:extLst>
              <a:ext uri="{FF2B5EF4-FFF2-40B4-BE49-F238E27FC236}">
                <a16:creationId xmlns:a16="http://schemas.microsoft.com/office/drawing/2014/main" id="{FC0EAF3F-26EA-BCCD-C7EC-132CD0F9894D}"/>
              </a:ext>
            </a:extLst>
          </p:cNvPr>
          <p:cNvSpPr/>
          <p:nvPr/>
        </p:nvSpPr>
        <p:spPr>
          <a:xfrm>
            <a:off x="5278338" y="5086350"/>
            <a:ext cx="461963" cy="590550"/>
          </a:xfrm>
          <a:prstGeom prst="rect">
            <a:avLst/>
          </a:prstGeom>
          <a:solidFill>
            <a:srgbClr val="35707A"/>
          </a:solidFill>
          <a:ln/>
        </p:spPr>
        <p:txBody>
          <a:bodyPr/>
          <a:lstStyle/>
          <a:p>
            <a:endParaRPr lang="en-US"/>
          </a:p>
        </p:txBody>
      </p:sp>
      <p:sp>
        <p:nvSpPr>
          <p:cNvPr id="62" name="Shape 58">
            <a:extLst>
              <a:ext uri="{FF2B5EF4-FFF2-40B4-BE49-F238E27FC236}">
                <a16:creationId xmlns:a16="http://schemas.microsoft.com/office/drawing/2014/main" id="{0E3C645E-3868-2193-110D-BC3886E158A9}"/>
              </a:ext>
            </a:extLst>
          </p:cNvPr>
          <p:cNvSpPr/>
          <p:nvPr/>
        </p:nvSpPr>
        <p:spPr>
          <a:xfrm>
            <a:off x="5278338" y="4905375"/>
            <a:ext cx="461963" cy="180975"/>
          </a:xfrm>
          <a:prstGeom prst="rect">
            <a:avLst/>
          </a:prstGeom>
          <a:solidFill>
            <a:srgbClr val="8FB9AD"/>
          </a:solidFill>
          <a:ln/>
        </p:spPr>
        <p:txBody>
          <a:bodyPr/>
          <a:lstStyle/>
          <a:p>
            <a:endParaRPr lang="en-US"/>
          </a:p>
        </p:txBody>
      </p:sp>
      <p:sp>
        <p:nvSpPr>
          <p:cNvPr id="63" name="Shape 59">
            <a:extLst>
              <a:ext uri="{FF2B5EF4-FFF2-40B4-BE49-F238E27FC236}">
                <a16:creationId xmlns:a16="http://schemas.microsoft.com/office/drawing/2014/main" id="{95DD5CBA-610D-C963-6266-BDF077CDA90F}"/>
              </a:ext>
            </a:extLst>
          </p:cNvPr>
          <p:cNvSpPr/>
          <p:nvPr/>
        </p:nvSpPr>
        <p:spPr>
          <a:xfrm>
            <a:off x="5278338" y="4724400"/>
            <a:ext cx="461963" cy="180975"/>
          </a:xfrm>
          <a:prstGeom prst="rect">
            <a:avLst/>
          </a:prstGeom>
          <a:solidFill>
            <a:srgbClr val="CBDAC0"/>
          </a:solidFill>
          <a:ln/>
        </p:spPr>
        <p:txBody>
          <a:bodyPr/>
          <a:lstStyle/>
          <a:p>
            <a:endParaRPr lang="en-US"/>
          </a:p>
        </p:txBody>
      </p:sp>
      <p:sp>
        <p:nvSpPr>
          <p:cNvPr id="64" name="Shape 60">
            <a:extLst>
              <a:ext uri="{FF2B5EF4-FFF2-40B4-BE49-F238E27FC236}">
                <a16:creationId xmlns:a16="http://schemas.microsoft.com/office/drawing/2014/main" id="{776A4BCF-3941-F5EF-8534-8B3FD7887216}"/>
              </a:ext>
            </a:extLst>
          </p:cNvPr>
          <p:cNvSpPr/>
          <p:nvPr/>
        </p:nvSpPr>
        <p:spPr>
          <a:xfrm>
            <a:off x="5278338" y="4467225"/>
            <a:ext cx="461963" cy="257175"/>
          </a:xfrm>
          <a:prstGeom prst="rect">
            <a:avLst/>
          </a:prstGeom>
          <a:solidFill>
            <a:srgbClr val="E0894F"/>
          </a:solidFill>
          <a:ln/>
        </p:spPr>
        <p:txBody>
          <a:bodyPr/>
          <a:lstStyle/>
          <a:p>
            <a:endParaRPr lang="en-US"/>
          </a:p>
        </p:txBody>
      </p:sp>
      <p:sp>
        <p:nvSpPr>
          <p:cNvPr id="65" name="Shape 61">
            <a:extLst>
              <a:ext uri="{FF2B5EF4-FFF2-40B4-BE49-F238E27FC236}">
                <a16:creationId xmlns:a16="http://schemas.microsoft.com/office/drawing/2014/main" id="{03273153-3D59-3CA8-676B-6A9BF73249B2}"/>
              </a:ext>
            </a:extLst>
          </p:cNvPr>
          <p:cNvSpPr/>
          <p:nvPr/>
        </p:nvSpPr>
        <p:spPr>
          <a:xfrm>
            <a:off x="5278338" y="4429125"/>
            <a:ext cx="461963" cy="38100"/>
          </a:xfrm>
          <a:prstGeom prst="rect">
            <a:avLst/>
          </a:prstGeom>
          <a:solidFill>
            <a:srgbClr val="B4472F"/>
          </a:solidFill>
          <a:ln/>
        </p:spPr>
        <p:txBody>
          <a:bodyPr/>
          <a:lstStyle/>
          <a:p>
            <a:endParaRPr lang="en-US"/>
          </a:p>
        </p:txBody>
      </p:sp>
      <p:sp>
        <p:nvSpPr>
          <p:cNvPr id="66" name="Text 62">
            <a:extLst>
              <a:ext uri="{FF2B5EF4-FFF2-40B4-BE49-F238E27FC236}">
                <a16:creationId xmlns:a16="http://schemas.microsoft.com/office/drawing/2014/main" id="{D2301035-1F33-DFA0-ECA2-5595D3E7264B}"/>
              </a:ext>
            </a:extLst>
          </p:cNvPr>
          <p:cNvSpPr/>
          <p:nvPr/>
        </p:nvSpPr>
        <p:spPr>
          <a:xfrm>
            <a:off x="5372695" y="6772275"/>
            <a:ext cx="34974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11a</a:t>
            </a:r>
            <a:endParaRPr lang="en-US" sz="1350" dirty="0"/>
          </a:p>
        </p:txBody>
      </p:sp>
      <p:sp>
        <p:nvSpPr>
          <p:cNvPr id="67" name="Shape 63">
            <a:extLst>
              <a:ext uri="{FF2B5EF4-FFF2-40B4-BE49-F238E27FC236}">
                <a16:creationId xmlns:a16="http://schemas.microsoft.com/office/drawing/2014/main" id="{03BBF753-A990-A9EC-7FB6-59E4D22752DB}"/>
              </a:ext>
            </a:extLst>
          </p:cNvPr>
          <p:cNvSpPr/>
          <p:nvPr/>
        </p:nvSpPr>
        <p:spPr>
          <a:xfrm>
            <a:off x="6035873" y="5848350"/>
            <a:ext cx="461963" cy="847725"/>
          </a:xfrm>
          <a:prstGeom prst="rect">
            <a:avLst/>
          </a:prstGeom>
          <a:solidFill>
            <a:srgbClr val="1B3A44"/>
          </a:solidFill>
          <a:ln/>
        </p:spPr>
        <p:txBody>
          <a:bodyPr/>
          <a:lstStyle/>
          <a:p>
            <a:endParaRPr lang="en-US"/>
          </a:p>
        </p:txBody>
      </p:sp>
      <p:sp>
        <p:nvSpPr>
          <p:cNvPr id="68" name="Shape 64">
            <a:extLst>
              <a:ext uri="{FF2B5EF4-FFF2-40B4-BE49-F238E27FC236}">
                <a16:creationId xmlns:a16="http://schemas.microsoft.com/office/drawing/2014/main" id="{61AFF2A6-6E74-0DFB-ED2D-96A229A2447C}"/>
              </a:ext>
            </a:extLst>
          </p:cNvPr>
          <p:cNvSpPr/>
          <p:nvPr/>
        </p:nvSpPr>
        <p:spPr>
          <a:xfrm>
            <a:off x="6035873" y="5210175"/>
            <a:ext cx="461963" cy="638175"/>
          </a:xfrm>
          <a:prstGeom prst="rect">
            <a:avLst/>
          </a:prstGeom>
          <a:solidFill>
            <a:srgbClr val="35707A"/>
          </a:solidFill>
          <a:ln/>
        </p:spPr>
        <p:txBody>
          <a:bodyPr/>
          <a:lstStyle/>
          <a:p>
            <a:endParaRPr lang="en-US"/>
          </a:p>
        </p:txBody>
      </p:sp>
      <p:sp>
        <p:nvSpPr>
          <p:cNvPr id="69" name="Shape 65">
            <a:extLst>
              <a:ext uri="{FF2B5EF4-FFF2-40B4-BE49-F238E27FC236}">
                <a16:creationId xmlns:a16="http://schemas.microsoft.com/office/drawing/2014/main" id="{71201562-4574-2CD1-B0E3-84452D7CAD26}"/>
              </a:ext>
            </a:extLst>
          </p:cNvPr>
          <p:cNvSpPr/>
          <p:nvPr/>
        </p:nvSpPr>
        <p:spPr>
          <a:xfrm>
            <a:off x="6035873" y="5067300"/>
            <a:ext cx="461963" cy="142875"/>
          </a:xfrm>
          <a:prstGeom prst="rect">
            <a:avLst/>
          </a:prstGeom>
          <a:solidFill>
            <a:srgbClr val="8FB9AD"/>
          </a:solidFill>
          <a:ln/>
        </p:spPr>
        <p:txBody>
          <a:bodyPr/>
          <a:lstStyle/>
          <a:p>
            <a:endParaRPr lang="en-US"/>
          </a:p>
        </p:txBody>
      </p:sp>
      <p:sp>
        <p:nvSpPr>
          <p:cNvPr id="70" name="Shape 66">
            <a:extLst>
              <a:ext uri="{FF2B5EF4-FFF2-40B4-BE49-F238E27FC236}">
                <a16:creationId xmlns:a16="http://schemas.microsoft.com/office/drawing/2014/main" id="{69FBF8DD-D7E5-4E87-E8E1-091E209E6A9F}"/>
              </a:ext>
            </a:extLst>
          </p:cNvPr>
          <p:cNvSpPr/>
          <p:nvPr/>
        </p:nvSpPr>
        <p:spPr>
          <a:xfrm>
            <a:off x="6035873" y="4895850"/>
            <a:ext cx="461963" cy="171450"/>
          </a:xfrm>
          <a:prstGeom prst="rect">
            <a:avLst/>
          </a:prstGeom>
          <a:solidFill>
            <a:srgbClr val="CBDAC0"/>
          </a:solidFill>
          <a:ln/>
        </p:spPr>
        <p:txBody>
          <a:bodyPr/>
          <a:lstStyle/>
          <a:p>
            <a:endParaRPr lang="en-US"/>
          </a:p>
        </p:txBody>
      </p:sp>
      <p:sp>
        <p:nvSpPr>
          <p:cNvPr id="71" name="Shape 67">
            <a:extLst>
              <a:ext uri="{FF2B5EF4-FFF2-40B4-BE49-F238E27FC236}">
                <a16:creationId xmlns:a16="http://schemas.microsoft.com/office/drawing/2014/main" id="{C127A077-7D6A-817F-6B49-9ACD98FB04C6}"/>
              </a:ext>
            </a:extLst>
          </p:cNvPr>
          <p:cNvSpPr/>
          <p:nvPr/>
        </p:nvSpPr>
        <p:spPr>
          <a:xfrm>
            <a:off x="6035873" y="4629150"/>
            <a:ext cx="461963" cy="266700"/>
          </a:xfrm>
          <a:prstGeom prst="rect">
            <a:avLst/>
          </a:prstGeom>
          <a:solidFill>
            <a:srgbClr val="E0894F"/>
          </a:solidFill>
          <a:ln/>
        </p:spPr>
        <p:txBody>
          <a:bodyPr/>
          <a:lstStyle/>
          <a:p>
            <a:endParaRPr lang="en-US"/>
          </a:p>
        </p:txBody>
      </p:sp>
      <p:sp>
        <p:nvSpPr>
          <p:cNvPr id="72" name="Shape 68">
            <a:extLst>
              <a:ext uri="{FF2B5EF4-FFF2-40B4-BE49-F238E27FC236}">
                <a16:creationId xmlns:a16="http://schemas.microsoft.com/office/drawing/2014/main" id="{32FBE9E1-0903-37FB-F0B5-69E3B3CE230C}"/>
              </a:ext>
            </a:extLst>
          </p:cNvPr>
          <p:cNvSpPr/>
          <p:nvPr/>
        </p:nvSpPr>
        <p:spPr>
          <a:xfrm>
            <a:off x="6035873" y="4600575"/>
            <a:ext cx="461963" cy="28575"/>
          </a:xfrm>
          <a:prstGeom prst="rect">
            <a:avLst/>
          </a:prstGeom>
          <a:solidFill>
            <a:srgbClr val="B4472F"/>
          </a:solidFill>
          <a:ln/>
        </p:spPr>
        <p:txBody>
          <a:bodyPr/>
          <a:lstStyle/>
          <a:p>
            <a:endParaRPr lang="en-US"/>
          </a:p>
        </p:txBody>
      </p:sp>
      <p:sp>
        <p:nvSpPr>
          <p:cNvPr id="73" name="Text 69">
            <a:extLst>
              <a:ext uri="{FF2B5EF4-FFF2-40B4-BE49-F238E27FC236}">
                <a16:creationId xmlns:a16="http://schemas.microsoft.com/office/drawing/2014/main" id="{B7CD4B77-5CDA-EBE0-9D06-64C54DAC1510}"/>
              </a:ext>
            </a:extLst>
          </p:cNvPr>
          <p:cNvSpPr/>
          <p:nvPr/>
        </p:nvSpPr>
        <p:spPr>
          <a:xfrm>
            <a:off x="612368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12p</a:t>
            </a:r>
            <a:endParaRPr lang="en-US" sz="1350" dirty="0"/>
          </a:p>
        </p:txBody>
      </p:sp>
      <p:sp>
        <p:nvSpPr>
          <p:cNvPr id="74" name="Shape 70">
            <a:extLst>
              <a:ext uri="{FF2B5EF4-FFF2-40B4-BE49-F238E27FC236}">
                <a16:creationId xmlns:a16="http://schemas.microsoft.com/office/drawing/2014/main" id="{D118BECA-7A48-30C3-D8F8-B65FFC78E08D}"/>
              </a:ext>
            </a:extLst>
          </p:cNvPr>
          <p:cNvSpPr/>
          <p:nvPr/>
        </p:nvSpPr>
        <p:spPr>
          <a:xfrm>
            <a:off x="6793409" y="6076950"/>
            <a:ext cx="461963" cy="619125"/>
          </a:xfrm>
          <a:prstGeom prst="rect">
            <a:avLst/>
          </a:prstGeom>
          <a:solidFill>
            <a:srgbClr val="1B3A44"/>
          </a:solidFill>
          <a:ln/>
        </p:spPr>
        <p:txBody>
          <a:bodyPr/>
          <a:lstStyle/>
          <a:p>
            <a:endParaRPr lang="en-US"/>
          </a:p>
        </p:txBody>
      </p:sp>
      <p:sp>
        <p:nvSpPr>
          <p:cNvPr id="75" name="Shape 71">
            <a:extLst>
              <a:ext uri="{FF2B5EF4-FFF2-40B4-BE49-F238E27FC236}">
                <a16:creationId xmlns:a16="http://schemas.microsoft.com/office/drawing/2014/main" id="{853F1316-8A99-EA15-7EBE-DC2736253F9A}"/>
              </a:ext>
            </a:extLst>
          </p:cNvPr>
          <p:cNvSpPr/>
          <p:nvPr/>
        </p:nvSpPr>
        <p:spPr>
          <a:xfrm>
            <a:off x="6793409" y="5657850"/>
            <a:ext cx="461963" cy="419100"/>
          </a:xfrm>
          <a:prstGeom prst="rect">
            <a:avLst/>
          </a:prstGeom>
          <a:solidFill>
            <a:srgbClr val="35707A"/>
          </a:solidFill>
          <a:ln/>
        </p:spPr>
        <p:txBody>
          <a:bodyPr/>
          <a:lstStyle/>
          <a:p>
            <a:endParaRPr lang="en-US"/>
          </a:p>
        </p:txBody>
      </p:sp>
      <p:sp>
        <p:nvSpPr>
          <p:cNvPr id="76" name="Shape 72">
            <a:extLst>
              <a:ext uri="{FF2B5EF4-FFF2-40B4-BE49-F238E27FC236}">
                <a16:creationId xmlns:a16="http://schemas.microsoft.com/office/drawing/2014/main" id="{8E095E24-43B2-5666-CF8B-3D71690C5722}"/>
              </a:ext>
            </a:extLst>
          </p:cNvPr>
          <p:cNvSpPr/>
          <p:nvPr/>
        </p:nvSpPr>
        <p:spPr>
          <a:xfrm>
            <a:off x="6793409" y="5572125"/>
            <a:ext cx="461963" cy="85725"/>
          </a:xfrm>
          <a:prstGeom prst="rect">
            <a:avLst/>
          </a:prstGeom>
          <a:solidFill>
            <a:srgbClr val="8FB9AD"/>
          </a:solidFill>
          <a:ln/>
        </p:spPr>
        <p:txBody>
          <a:bodyPr/>
          <a:lstStyle/>
          <a:p>
            <a:endParaRPr lang="en-US"/>
          </a:p>
        </p:txBody>
      </p:sp>
      <p:sp>
        <p:nvSpPr>
          <p:cNvPr id="77" name="Shape 73">
            <a:extLst>
              <a:ext uri="{FF2B5EF4-FFF2-40B4-BE49-F238E27FC236}">
                <a16:creationId xmlns:a16="http://schemas.microsoft.com/office/drawing/2014/main" id="{7EBE71B0-4A5F-7933-BC82-B20562247C81}"/>
              </a:ext>
            </a:extLst>
          </p:cNvPr>
          <p:cNvSpPr/>
          <p:nvPr/>
        </p:nvSpPr>
        <p:spPr>
          <a:xfrm>
            <a:off x="6793409" y="5438775"/>
            <a:ext cx="461963" cy="133350"/>
          </a:xfrm>
          <a:prstGeom prst="rect">
            <a:avLst/>
          </a:prstGeom>
          <a:solidFill>
            <a:srgbClr val="CBDAC0"/>
          </a:solidFill>
          <a:ln/>
        </p:spPr>
        <p:txBody>
          <a:bodyPr/>
          <a:lstStyle/>
          <a:p>
            <a:endParaRPr lang="en-US"/>
          </a:p>
        </p:txBody>
      </p:sp>
      <p:sp>
        <p:nvSpPr>
          <p:cNvPr id="78" name="Shape 74">
            <a:extLst>
              <a:ext uri="{FF2B5EF4-FFF2-40B4-BE49-F238E27FC236}">
                <a16:creationId xmlns:a16="http://schemas.microsoft.com/office/drawing/2014/main" id="{4A538C69-FF43-67CD-6D8C-FCD584E5A8B5}"/>
              </a:ext>
            </a:extLst>
          </p:cNvPr>
          <p:cNvSpPr/>
          <p:nvPr/>
        </p:nvSpPr>
        <p:spPr>
          <a:xfrm>
            <a:off x="6793409" y="5181600"/>
            <a:ext cx="461963" cy="257175"/>
          </a:xfrm>
          <a:prstGeom prst="rect">
            <a:avLst/>
          </a:prstGeom>
          <a:solidFill>
            <a:srgbClr val="E0894F"/>
          </a:solidFill>
          <a:ln/>
        </p:spPr>
        <p:txBody>
          <a:bodyPr/>
          <a:lstStyle/>
          <a:p>
            <a:endParaRPr lang="en-US"/>
          </a:p>
        </p:txBody>
      </p:sp>
      <p:sp>
        <p:nvSpPr>
          <p:cNvPr id="79" name="Shape 75">
            <a:extLst>
              <a:ext uri="{FF2B5EF4-FFF2-40B4-BE49-F238E27FC236}">
                <a16:creationId xmlns:a16="http://schemas.microsoft.com/office/drawing/2014/main" id="{74975725-83D2-3090-F7BC-90D5C32242FA}"/>
              </a:ext>
            </a:extLst>
          </p:cNvPr>
          <p:cNvSpPr/>
          <p:nvPr/>
        </p:nvSpPr>
        <p:spPr>
          <a:xfrm>
            <a:off x="6793409" y="5133975"/>
            <a:ext cx="461963" cy="47625"/>
          </a:xfrm>
          <a:prstGeom prst="rect">
            <a:avLst/>
          </a:prstGeom>
          <a:solidFill>
            <a:srgbClr val="B4472F"/>
          </a:solidFill>
          <a:ln/>
        </p:spPr>
        <p:txBody>
          <a:bodyPr/>
          <a:lstStyle/>
          <a:p>
            <a:endParaRPr lang="en-US"/>
          </a:p>
        </p:txBody>
      </p:sp>
      <p:sp>
        <p:nvSpPr>
          <p:cNvPr id="80" name="Text 76">
            <a:extLst>
              <a:ext uri="{FF2B5EF4-FFF2-40B4-BE49-F238E27FC236}">
                <a16:creationId xmlns:a16="http://schemas.microsoft.com/office/drawing/2014/main" id="{B3D90868-6F5B-142D-15CD-4BCA2262D461}"/>
              </a:ext>
            </a:extLst>
          </p:cNvPr>
          <p:cNvSpPr/>
          <p:nvPr/>
        </p:nvSpPr>
        <p:spPr>
          <a:xfrm>
            <a:off x="692914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1p</a:t>
            </a:r>
            <a:endParaRPr lang="en-US" sz="1350" dirty="0"/>
          </a:p>
        </p:txBody>
      </p:sp>
      <p:sp>
        <p:nvSpPr>
          <p:cNvPr id="81" name="Shape 77">
            <a:extLst>
              <a:ext uri="{FF2B5EF4-FFF2-40B4-BE49-F238E27FC236}">
                <a16:creationId xmlns:a16="http://schemas.microsoft.com/office/drawing/2014/main" id="{67C7F21B-BDAB-6AFA-148D-048DDF0437D3}"/>
              </a:ext>
            </a:extLst>
          </p:cNvPr>
          <p:cNvSpPr/>
          <p:nvPr/>
        </p:nvSpPr>
        <p:spPr>
          <a:xfrm>
            <a:off x="7550944" y="6143625"/>
            <a:ext cx="461963" cy="552450"/>
          </a:xfrm>
          <a:prstGeom prst="rect">
            <a:avLst/>
          </a:prstGeom>
          <a:solidFill>
            <a:srgbClr val="1B3A44"/>
          </a:solidFill>
          <a:ln/>
        </p:spPr>
        <p:txBody>
          <a:bodyPr/>
          <a:lstStyle/>
          <a:p>
            <a:endParaRPr lang="en-US"/>
          </a:p>
        </p:txBody>
      </p:sp>
      <p:sp>
        <p:nvSpPr>
          <p:cNvPr id="82" name="Shape 78">
            <a:extLst>
              <a:ext uri="{FF2B5EF4-FFF2-40B4-BE49-F238E27FC236}">
                <a16:creationId xmlns:a16="http://schemas.microsoft.com/office/drawing/2014/main" id="{B55C8E8F-ABFB-4DE5-4602-BC02B49340B1}"/>
              </a:ext>
            </a:extLst>
          </p:cNvPr>
          <p:cNvSpPr/>
          <p:nvPr/>
        </p:nvSpPr>
        <p:spPr>
          <a:xfrm>
            <a:off x="7550944" y="5924550"/>
            <a:ext cx="461963" cy="219075"/>
          </a:xfrm>
          <a:prstGeom prst="rect">
            <a:avLst/>
          </a:prstGeom>
          <a:solidFill>
            <a:srgbClr val="35707A"/>
          </a:solidFill>
          <a:ln/>
        </p:spPr>
        <p:txBody>
          <a:bodyPr/>
          <a:lstStyle/>
          <a:p>
            <a:endParaRPr lang="en-US"/>
          </a:p>
        </p:txBody>
      </p:sp>
      <p:sp>
        <p:nvSpPr>
          <p:cNvPr id="83" name="Shape 79">
            <a:extLst>
              <a:ext uri="{FF2B5EF4-FFF2-40B4-BE49-F238E27FC236}">
                <a16:creationId xmlns:a16="http://schemas.microsoft.com/office/drawing/2014/main" id="{4EB82AB1-7A7F-DE07-D07A-67C57BA7811F}"/>
              </a:ext>
            </a:extLst>
          </p:cNvPr>
          <p:cNvSpPr/>
          <p:nvPr/>
        </p:nvSpPr>
        <p:spPr>
          <a:xfrm>
            <a:off x="7550944" y="5848350"/>
            <a:ext cx="461963" cy="76200"/>
          </a:xfrm>
          <a:prstGeom prst="rect">
            <a:avLst/>
          </a:prstGeom>
          <a:solidFill>
            <a:srgbClr val="8FB9AD"/>
          </a:solidFill>
          <a:ln/>
        </p:spPr>
        <p:txBody>
          <a:bodyPr/>
          <a:lstStyle/>
          <a:p>
            <a:endParaRPr lang="en-US"/>
          </a:p>
        </p:txBody>
      </p:sp>
      <p:sp>
        <p:nvSpPr>
          <p:cNvPr id="84" name="Shape 80">
            <a:extLst>
              <a:ext uri="{FF2B5EF4-FFF2-40B4-BE49-F238E27FC236}">
                <a16:creationId xmlns:a16="http://schemas.microsoft.com/office/drawing/2014/main" id="{D2400BDA-75C5-3BA6-C84E-0A8E5C9D9D48}"/>
              </a:ext>
            </a:extLst>
          </p:cNvPr>
          <p:cNvSpPr/>
          <p:nvPr/>
        </p:nvSpPr>
        <p:spPr>
          <a:xfrm>
            <a:off x="7550944" y="5695950"/>
            <a:ext cx="461963" cy="152400"/>
          </a:xfrm>
          <a:prstGeom prst="rect">
            <a:avLst/>
          </a:prstGeom>
          <a:solidFill>
            <a:srgbClr val="CBDAC0"/>
          </a:solidFill>
          <a:ln/>
        </p:spPr>
        <p:txBody>
          <a:bodyPr/>
          <a:lstStyle/>
          <a:p>
            <a:endParaRPr lang="en-US"/>
          </a:p>
        </p:txBody>
      </p:sp>
      <p:sp>
        <p:nvSpPr>
          <p:cNvPr id="85" name="Shape 81">
            <a:extLst>
              <a:ext uri="{FF2B5EF4-FFF2-40B4-BE49-F238E27FC236}">
                <a16:creationId xmlns:a16="http://schemas.microsoft.com/office/drawing/2014/main" id="{8C6BA2A8-2524-ED65-330E-F460FDA5C55B}"/>
              </a:ext>
            </a:extLst>
          </p:cNvPr>
          <p:cNvSpPr/>
          <p:nvPr/>
        </p:nvSpPr>
        <p:spPr>
          <a:xfrm>
            <a:off x="7550944" y="5486400"/>
            <a:ext cx="461963" cy="209550"/>
          </a:xfrm>
          <a:prstGeom prst="rect">
            <a:avLst/>
          </a:prstGeom>
          <a:solidFill>
            <a:srgbClr val="E0894F"/>
          </a:solidFill>
          <a:ln/>
        </p:spPr>
        <p:txBody>
          <a:bodyPr/>
          <a:lstStyle/>
          <a:p>
            <a:endParaRPr lang="en-US"/>
          </a:p>
        </p:txBody>
      </p:sp>
      <p:sp>
        <p:nvSpPr>
          <p:cNvPr id="86" name="Shape 82">
            <a:extLst>
              <a:ext uri="{FF2B5EF4-FFF2-40B4-BE49-F238E27FC236}">
                <a16:creationId xmlns:a16="http://schemas.microsoft.com/office/drawing/2014/main" id="{6DBE8575-ABEF-4C13-5546-0E40A25C2153}"/>
              </a:ext>
            </a:extLst>
          </p:cNvPr>
          <p:cNvSpPr/>
          <p:nvPr/>
        </p:nvSpPr>
        <p:spPr>
          <a:xfrm>
            <a:off x="7550944" y="5400675"/>
            <a:ext cx="461963" cy="85725"/>
          </a:xfrm>
          <a:prstGeom prst="rect">
            <a:avLst/>
          </a:prstGeom>
          <a:solidFill>
            <a:srgbClr val="B4472F"/>
          </a:solidFill>
          <a:ln/>
        </p:spPr>
        <p:txBody>
          <a:bodyPr/>
          <a:lstStyle/>
          <a:p>
            <a:endParaRPr lang="en-US"/>
          </a:p>
        </p:txBody>
      </p:sp>
      <p:sp>
        <p:nvSpPr>
          <p:cNvPr id="87" name="Text 83">
            <a:extLst>
              <a:ext uri="{FF2B5EF4-FFF2-40B4-BE49-F238E27FC236}">
                <a16:creationId xmlns:a16="http://schemas.microsoft.com/office/drawing/2014/main" id="{23E787E6-B8E3-5B95-FE22-1EC6C9193E55}"/>
              </a:ext>
            </a:extLst>
          </p:cNvPr>
          <p:cNvSpPr/>
          <p:nvPr/>
        </p:nvSpPr>
        <p:spPr>
          <a:xfrm>
            <a:off x="768667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2p</a:t>
            </a:r>
            <a:endParaRPr lang="en-US" sz="1350" dirty="0"/>
          </a:p>
        </p:txBody>
      </p:sp>
      <p:sp>
        <p:nvSpPr>
          <p:cNvPr id="88" name="Shape 84">
            <a:extLst>
              <a:ext uri="{FF2B5EF4-FFF2-40B4-BE49-F238E27FC236}">
                <a16:creationId xmlns:a16="http://schemas.microsoft.com/office/drawing/2014/main" id="{9D05CA3A-F031-CB08-5118-EA058D37236C}"/>
              </a:ext>
            </a:extLst>
          </p:cNvPr>
          <p:cNvSpPr/>
          <p:nvPr/>
        </p:nvSpPr>
        <p:spPr>
          <a:xfrm>
            <a:off x="8308479" y="6219825"/>
            <a:ext cx="461963" cy="476250"/>
          </a:xfrm>
          <a:prstGeom prst="rect">
            <a:avLst/>
          </a:prstGeom>
          <a:solidFill>
            <a:srgbClr val="1B3A44"/>
          </a:solidFill>
          <a:ln/>
        </p:spPr>
        <p:txBody>
          <a:bodyPr/>
          <a:lstStyle/>
          <a:p>
            <a:endParaRPr lang="en-US"/>
          </a:p>
        </p:txBody>
      </p:sp>
      <p:sp>
        <p:nvSpPr>
          <p:cNvPr id="89" name="Shape 85">
            <a:extLst>
              <a:ext uri="{FF2B5EF4-FFF2-40B4-BE49-F238E27FC236}">
                <a16:creationId xmlns:a16="http://schemas.microsoft.com/office/drawing/2014/main" id="{7BFAE88B-824D-99EB-1E24-D61379609D85}"/>
              </a:ext>
            </a:extLst>
          </p:cNvPr>
          <p:cNvSpPr/>
          <p:nvPr/>
        </p:nvSpPr>
        <p:spPr>
          <a:xfrm>
            <a:off x="8308479" y="6105525"/>
            <a:ext cx="461963" cy="114300"/>
          </a:xfrm>
          <a:prstGeom prst="rect">
            <a:avLst/>
          </a:prstGeom>
          <a:solidFill>
            <a:srgbClr val="35707A"/>
          </a:solidFill>
          <a:ln/>
        </p:spPr>
        <p:txBody>
          <a:bodyPr/>
          <a:lstStyle/>
          <a:p>
            <a:endParaRPr lang="en-US"/>
          </a:p>
        </p:txBody>
      </p:sp>
      <p:sp>
        <p:nvSpPr>
          <p:cNvPr id="90" name="Shape 86">
            <a:extLst>
              <a:ext uri="{FF2B5EF4-FFF2-40B4-BE49-F238E27FC236}">
                <a16:creationId xmlns:a16="http://schemas.microsoft.com/office/drawing/2014/main" id="{F516ED42-2DCD-73C9-12A7-52D2F36703F1}"/>
              </a:ext>
            </a:extLst>
          </p:cNvPr>
          <p:cNvSpPr/>
          <p:nvPr/>
        </p:nvSpPr>
        <p:spPr>
          <a:xfrm>
            <a:off x="8308479" y="6038850"/>
            <a:ext cx="461963" cy="66675"/>
          </a:xfrm>
          <a:prstGeom prst="rect">
            <a:avLst/>
          </a:prstGeom>
          <a:solidFill>
            <a:srgbClr val="8FB9AD"/>
          </a:solidFill>
          <a:ln/>
        </p:spPr>
        <p:txBody>
          <a:bodyPr/>
          <a:lstStyle/>
          <a:p>
            <a:endParaRPr lang="en-US"/>
          </a:p>
        </p:txBody>
      </p:sp>
      <p:sp>
        <p:nvSpPr>
          <p:cNvPr id="91" name="Shape 87">
            <a:extLst>
              <a:ext uri="{FF2B5EF4-FFF2-40B4-BE49-F238E27FC236}">
                <a16:creationId xmlns:a16="http://schemas.microsoft.com/office/drawing/2014/main" id="{2736CCE3-7892-01A6-3E59-8B32E7FA2E03}"/>
              </a:ext>
            </a:extLst>
          </p:cNvPr>
          <p:cNvSpPr/>
          <p:nvPr/>
        </p:nvSpPr>
        <p:spPr>
          <a:xfrm>
            <a:off x="8308479" y="5886450"/>
            <a:ext cx="461963" cy="152400"/>
          </a:xfrm>
          <a:prstGeom prst="rect">
            <a:avLst/>
          </a:prstGeom>
          <a:solidFill>
            <a:srgbClr val="CBDAC0"/>
          </a:solidFill>
          <a:ln/>
        </p:spPr>
        <p:txBody>
          <a:bodyPr/>
          <a:lstStyle/>
          <a:p>
            <a:endParaRPr lang="en-US"/>
          </a:p>
        </p:txBody>
      </p:sp>
      <p:sp>
        <p:nvSpPr>
          <p:cNvPr id="92" name="Shape 88">
            <a:extLst>
              <a:ext uri="{FF2B5EF4-FFF2-40B4-BE49-F238E27FC236}">
                <a16:creationId xmlns:a16="http://schemas.microsoft.com/office/drawing/2014/main" id="{595A43EF-1C59-0856-0495-11714BF60543}"/>
              </a:ext>
            </a:extLst>
          </p:cNvPr>
          <p:cNvSpPr/>
          <p:nvPr/>
        </p:nvSpPr>
        <p:spPr>
          <a:xfrm>
            <a:off x="8308479" y="5667375"/>
            <a:ext cx="461963" cy="219075"/>
          </a:xfrm>
          <a:prstGeom prst="rect">
            <a:avLst/>
          </a:prstGeom>
          <a:solidFill>
            <a:srgbClr val="E0894F"/>
          </a:solidFill>
          <a:ln/>
        </p:spPr>
        <p:txBody>
          <a:bodyPr/>
          <a:lstStyle/>
          <a:p>
            <a:endParaRPr lang="en-US"/>
          </a:p>
        </p:txBody>
      </p:sp>
      <p:sp>
        <p:nvSpPr>
          <p:cNvPr id="93" name="Shape 89">
            <a:extLst>
              <a:ext uri="{FF2B5EF4-FFF2-40B4-BE49-F238E27FC236}">
                <a16:creationId xmlns:a16="http://schemas.microsoft.com/office/drawing/2014/main" id="{58A06436-89DE-1A6C-7E1F-993560EEFA34}"/>
              </a:ext>
            </a:extLst>
          </p:cNvPr>
          <p:cNvSpPr/>
          <p:nvPr/>
        </p:nvSpPr>
        <p:spPr>
          <a:xfrm>
            <a:off x="8308479" y="5591175"/>
            <a:ext cx="461963" cy="76200"/>
          </a:xfrm>
          <a:prstGeom prst="rect">
            <a:avLst/>
          </a:prstGeom>
          <a:solidFill>
            <a:srgbClr val="B4472F"/>
          </a:solidFill>
          <a:ln/>
        </p:spPr>
        <p:txBody>
          <a:bodyPr/>
          <a:lstStyle/>
          <a:p>
            <a:endParaRPr lang="en-US"/>
          </a:p>
        </p:txBody>
      </p:sp>
      <p:sp>
        <p:nvSpPr>
          <p:cNvPr id="94" name="Text 90">
            <a:extLst>
              <a:ext uri="{FF2B5EF4-FFF2-40B4-BE49-F238E27FC236}">
                <a16:creationId xmlns:a16="http://schemas.microsoft.com/office/drawing/2014/main" id="{131C86B5-2944-B2E9-EA5B-9E20602A39D8}"/>
              </a:ext>
            </a:extLst>
          </p:cNvPr>
          <p:cNvSpPr/>
          <p:nvPr/>
        </p:nvSpPr>
        <p:spPr>
          <a:xfrm>
            <a:off x="844421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3p</a:t>
            </a:r>
            <a:endParaRPr lang="en-US" sz="1350" dirty="0"/>
          </a:p>
        </p:txBody>
      </p:sp>
      <p:sp>
        <p:nvSpPr>
          <p:cNvPr id="95" name="Shape 91">
            <a:extLst>
              <a:ext uri="{FF2B5EF4-FFF2-40B4-BE49-F238E27FC236}">
                <a16:creationId xmlns:a16="http://schemas.microsoft.com/office/drawing/2014/main" id="{AE8BB598-2121-9EA8-AAA1-C698DB46D2DC}"/>
              </a:ext>
            </a:extLst>
          </p:cNvPr>
          <p:cNvSpPr/>
          <p:nvPr/>
        </p:nvSpPr>
        <p:spPr>
          <a:xfrm>
            <a:off x="9066014" y="6457950"/>
            <a:ext cx="461963" cy="238125"/>
          </a:xfrm>
          <a:prstGeom prst="rect">
            <a:avLst/>
          </a:prstGeom>
          <a:solidFill>
            <a:srgbClr val="1B3A44"/>
          </a:solidFill>
          <a:ln/>
        </p:spPr>
        <p:txBody>
          <a:bodyPr/>
          <a:lstStyle/>
          <a:p>
            <a:endParaRPr lang="en-US"/>
          </a:p>
        </p:txBody>
      </p:sp>
      <p:sp>
        <p:nvSpPr>
          <p:cNvPr id="96" name="Shape 92">
            <a:extLst>
              <a:ext uri="{FF2B5EF4-FFF2-40B4-BE49-F238E27FC236}">
                <a16:creationId xmlns:a16="http://schemas.microsoft.com/office/drawing/2014/main" id="{3B32F213-AC73-6EAB-86A1-4FD1D65B6016}"/>
              </a:ext>
            </a:extLst>
          </p:cNvPr>
          <p:cNvSpPr/>
          <p:nvPr/>
        </p:nvSpPr>
        <p:spPr>
          <a:xfrm>
            <a:off x="9066014" y="6400800"/>
            <a:ext cx="461963" cy="57150"/>
          </a:xfrm>
          <a:prstGeom prst="rect">
            <a:avLst/>
          </a:prstGeom>
          <a:solidFill>
            <a:srgbClr val="35707A"/>
          </a:solidFill>
          <a:ln/>
        </p:spPr>
        <p:txBody>
          <a:bodyPr/>
          <a:lstStyle/>
          <a:p>
            <a:endParaRPr lang="en-US"/>
          </a:p>
        </p:txBody>
      </p:sp>
      <p:sp>
        <p:nvSpPr>
          <p:cNvPr id="97" name="Shape 93">
            <a:extLst>
              <a:ext uri="{FF2B5EF4-FFF2-40B4-BE49-F238E27FC236}">
                <a16:creationId xmlns:a16="http://schemas.microsoft.com/office/drawing/2014/main" id="{644564F7-E53C-0E05-E54B-A62FC4F6103B}"/>
              </a:ext>
            </a:extLst>
          </p:cNvPr>
          <p:cNvSpPr/>
          <p:nvPr/>
        </p:nvSpPr>
        <p:spPr>
          <a:xfrm>
            <a:off x="9066014" y="6362700"/>
            <a:ext cx="461963" cy="38100"/>
          </a:xfrm>
          <a:prstGeom prst="rect">
            <a:avLst/>
          </a:prstGeom>
          <a:solidFill>
            <a:srgbClr val="8FB9AD"/>
          </a:solidFill>
          <a:ln/>
        </p:spPr>
        <p:txBody>
          <a:bodyPr/>
          <a:lstStyle/>
          <a:p>
            <a:endParaRPr lang="en-US"/>
          </a:p>
        </p:txBody>
      </p:sp>
      <p:sp>
        <p:nvSpPr>
          <p:cNvPr id="98" name="Shape 94">
            <a:extLst>
              <a:ext uri="{FF2B5EF4-FFF2-40B4-BE49-F238E27FC236}">
                <a16:creationId xmlns:a16="http://schemas.microsoft.com/office/drawing/2014/main" id="{B3952022-FDF8-BC81-6584-564FCE6DCD85}"/>
              </a:ext>
            </a:extLst>
          </p:cNvPr>
          <p:cNvSpPr/>
          <p:nvPr/>
        </p:nvSpPr>
        <p:spPr>
          <a:xfrm>
            <a:off x="9066014" y="6229350"/>
            <a:ext cx="461963" cy="133350"/>
          </a:xfrm>
          <a:prstGeom prst="rect">
            <a:avLst/>
          </a:prstGeom>
          <a:solidFill>
            <a:srgbClr val="CBDAC0"/>
          </a:solidFill>
          <a:ln/>
        </p:spPr>
        <p:txBody>
          <a:bodyPr/>
          <a:lstStyle/>
          <a:p>
            <a:endParaRPr lang="en-US"/>
          </a:p>
        </p:txBody>
      </p:sp>
      <p:sp>
        <p:nvSpPr>
          <p:cNvPr id="99" name="Shape 95">
            <a:extLst>
              <a:ext uri="{FF2B5EF4-FFF2-40B4-BE49-F238E27FC236}">
                <a16:creationId xmlns:a16="http://schemas.microsoft.com/office/drawing/2014/main" id="{017580C5-0BE2-E93E-1623-DE742FD4E20D}"/>
              </a:ext>
            </a:extLst>
          </p:cNvPr>
          <p:cNvSpPr/>
          <p:nvPr/>
        </p:nvSpPr>
        <p:spPr>
          <a:xfrm>
            <a:off x="9066014" y="6057900"/>
            <a:ext cx="461963" cy="171450"/>
          </a:xfrm>
          <a:prstGeom prst="rect">
            <a:avLst/>
          </a:prstGeom>
          <a:solidFill>
            <a:srgbClr val="E0894F"/>
          </a:solidFill>
          <a:ln/>
        </p:spPr>
        <p:txBody>
          <a:bodyPr/>
          <a:lstStyle/>
          <a:p>
            <a:endParaRPr lang="en-US"/>
          </a:p>
        </p:txBody>
      </p:sp>
      <p:sp>
        <p:nvSpPr>
          <p:cNvPr id="100" name="Shape 96">
            <a:extLst>
              <a:ext uri="{FF2B5EF4-FFF2-40B4-BE49-F238E27FC236}">
                <a16:creationId xmlns:a16="http://schemas.microsoft.com/office/drawing/2014/main" id="{61600286-803E-8B22-2147-21BC4C71DCF2}"/>
              </a:ext>
            </a:extLst>
          </p:cNvPr>
          <p:cNvSpPr/>
          <p:nvPr/>
        </p:nvSpPr>
        <p:spPr>
          <a:xfrm>
            <a:off x="9066014" y="5895975"/>
            <a:ext cx="461963" cy="161925"/>
          </a:xfrm>
          <a:prstGeom prst="rect">
            <a:avLst/>
          </a:prstGeom>
          <a:solidFill>
            <a:srgbClr val="B4472F"/>
          </a:solidFill>
          <a:ln/>
        </p:spPr>
        <p:txBody>
          <a:bodyPr/>
          <a:lstStyle/>
          <a:p>
            <a:endParaRPr lang="en-US"/>
          </a:p>
        </p:txBody>
      </p:sp>
      <p:sp>
        <p:nvSpPr>
          <p:cNvPr id="101" name="Text 97">
            <a:extLst>
              <a:ext uri="{FF2B5EF4-FFF2-40B4-BE49-F238E27FC236}">
                <a16:creationId xmlns:a16="http://schemas.microsoft.com/office/drawing/2014/main" id="{E4F79CCD-F724-DD5A-3D4E-E7713B49B51B}"/>
              </a:ext>
            </a:extLst>
          </p:cNvPr>
          <p:cNvSpPr/>
          <p:nvPr/>
        </p:nvSpPr>
        <p:spPr>
          <a:xfrm>
            <a:off x="920174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4p</a:t>
            </a:r>
            <a:endParaRPr lang="en-US" sz="1350" dirty="0"/>
          </a:p>
        </p:txBody>
      </p:sp>
      <p:sp>
        <p:nvSpPr>
          <p:cNvPr id="102" name="Shape 98">
            <a:extLst>
              <a:ext uri="{FF2B5EF4-FFF2-40B4-BE49-F238E27FC236}">
                <a16:creationId xmlns:a16="http://schemas.microsoft.com/office/drawing/2014/main" id="{F430C51A-3411-022F-D5BF-5389C160B5E2}"/>
              </a:ext>
            </a:extLst>
          </p:cNvPr>
          <p:cNvSpPr/>
          <p:nvPr/>
        </p:nvSpPr>
        <p:spPr>
          <a:xfrm>
            <a:off x="9823549" y="6467475"/>
            <a:ext cx="461963" cy="228600"/>
          </a:xfrm>
          <a:prstGeom prst="rect">
            <a:avLst/>
          </a:prstGeom>
          <a:solidFill>
            <a:srgbClr val="1B3A44"/>
          </a:solidFill>
          <a:ln/>
        </p:spPr>
        <p:txBody>
          <a:bodyPr/>
          <a:lstStyle/>
          <a:p>
            <a:endParaRPr lang="en-US"/>
          </a:p>
        </p:txBody>
      </p:sp>
      <p:sp>
        <p:nvSpPr>
          <p:cNvPr id="103" name="Shape 99">
            <a:extLst>
              <a:ext uri="{FF2B5EF4-FFF2-40B4-BE49-F238E27FC236}">
                <a16:creationId xmlns:a16="http://schemas.microsoft.com/office/drawing/2014/main" id="{6CBEC8AD-8DE3-805F-F467-7E298C621E81}"/>
              </a:ext>
            </a:extLst>
          </p:cNvPr>
          <p:cNvSpPr/>
          <p:nvPr/>
        </p:nvSpPr>
        <p:spPr>
          <a:xfrm>
            <a:off x="9823549" y="6429375"/>
            <a:ext cx="461963" cy="38100"/>
          </a:xfrm>
          <a:prstGeom prst="rect">
            <a:avLst/>
          </a:prstGeom>
          <a:solidFill>
            <a:srgbClr val="35707A"/>
          </a:solidFill>
          <a:ln/>
        </p:spPr>
        <p:txBody>
          <a:bodyPr/>
          <a:lstStyle/>
          <a:p>
            <a:endParaRPr lang="en-US"/>
          </a:p>
        </p:txBody>
      </p:sp>
      <p:sp>
        <p:nvSpPr>
          <p:cNvPr id="104" name="Shape 100">
            <a:extLst>
              <a:ext uri="{FF2B5EF4-FFF2-40B4-BE49-F238E27FC236}">
                <a16:creationId xmlns:a16="http://schemas.microsoft.com/office/drawing/2014/main" id="{38B0B626-7ECF-9053-3601-116BE041EF56}"/>
              </a:ext>
            </a:extLst>
          </p:cNvPr>
          <p:cNvSpPr/>
          <p:nvPr/>
        </p:nvSpPr>
        <p:spPr>
          <a:xfrm>
            <a:off x="9823549" y="6400800"/>
            <a:ext cx="461963" cy="28575"/>
          </a:xfrm>
          <a:prstGeom prst="rect">
            <a:avLst/>
          </a:prstGeom>
          <a:solidFill>
            <a:srgbClr val="8FB9AD"/>
          </a:solidFill>
          <a:ln/>
        </p:spPr>
        <p:txBody>
          <a:bodyPr/>
          <a:lstStyle/>
          <a:p>
            <a:endParaRPr lang="en-US"/>
          </a:p>
        </p:txBody>
      </p:sp>
      <p:sp>
        <p:nvSpPr>
          <p:cNvPr id="105" name="Shape 101">
            <a:extLst>
              <a:ext uri="{FF2B5EF4-FFF2-40B4-BE49-F238E27FC236}">
                <a16:creationId xmlns:a16="http://schemas.microsoft.com/office/drawing/2014/main" id="{75672E39-85EA-82ED-7913-60256A15CA79}"/>
              </a:ext>
            </a:extLst>
          </p:cNvPr>
          <p:cNvSpPr/>
          <p:nvPr/>
        </p:nvSpPr>
        <p:spPr>
          <a:xfrm>
            <a:off x="9823549" y="6219825"/>
            <a:ext cx="461963" cy="180975"/>
          </a:xfrm>
          <a:prstGeom prst="rect">
            <a:avLst/>
          </a:prstGeom>
          <a:solidFill>
            <a:srgbClr val="CBDAC0"/>
          </a:solidFill>
          <a:ln/>
        </p:spPr>
        <p:txBody>
          <a:bodyPr/>
          <a:lstStyle/>
          <a:p>
            <a:endParaRPr lang="en-US"/>
          </a:p>
        </p:txBody>
      </p:sp>
      <p:sp>
        <p:nvSpPr>
          <p:cNvPr id="106" name="Shape 102">
            <a:extLst>
              <a:ext uri="{FF2B5EF4-FFF2-40B4-BE49-F238E27FC236}">
                <a16:creationId xmlns:a16="http://schemas.microsoft.com/office/drawing/2014/main" id="{4A8049B6-C131-ECCF-C6F4-326ED735B90E}"/>
              </a:ext>
            </a:extLst>
          </p:cNvPr>
          <p:cNvSpPr/>
          <p:nvPr/>
        </p:nvSpPr>
        <p:spPr>
          <a:xfrm>
            <a:off x="9823549" y="6019800"/>
            <a:ext cx="461963" cy="200025"/>
          </a:xfrm>
          <a:prstGeom prst="rect">
            <a:avLst/>
          </a:prstGeom>
          <a:solidFill>
            <a:srgbClr val="E0894F"/>
          </a:solidFill>
          <a:ln/>
        </p:spPr>
        <p:txBody>
          <a:bodyPr/>
          <a:lstStyle/>
          <a:p>
            <a:endParaRPr lang="en-US"/>
          </a:p>
        </p:txBody>
      </p:sp>
      <p:sp>
        <p:nvSpPr>
          <p:cNvPr id="107" name="Shape 103">
            <a:extLst>
              <a:ext uri="{FF2B5EF4-FFF2-40B4-BE49-F238E27FC236}">
                <a16:creationId xmlns:a16="http://schemas.microsoft.com/office/drawing/2014/main" id="{8D70C861-1BE2-6621-8C66-2DEE4D56602C}"/>
              </a:ext>
            </a:extLst>
          </p:cNvPr>
          <p:cNvSpPr/>
          <p:nvPr/>
        </p:nvSpPr>
        <p:spPr>
          <a:xfrm>
            <a:off x="9823549" y="5895975"/>
            <a:ext cx="461963" cy="123825"/>
          </a:xfrm>
          <a:prstGeom prst="rect">
            <a:avLst/>
          </a:prstGeom>
          <a:solidFill>
            <a:srgbClr val="B4472F"/>
          </a:solidFill>
          <a:ln/>
        </p:spPr>
        <p:txBody>
          <a:bodyPr/>
          <a:lstStyle/>
          <a:p>
            <a:endParaRPr lang="en-US"/>
          </a:p>
        </p:txBody>
      </p:sp>
      <p:sp>
        <p:nvSpPr>
          <p:cNvPr id="108" name="Text 104">
            <a:extLst>
              <a:ext uri="{FF2B5EF4-FFF2-40B4-BE49-F238E27FC236}">
                <a16:creationId xmlns:a16="http://schemas.microsoft.com/office/drawing/2014/main" id="{F4923901-A539-3D02-54F1-2C0192CC27E3}"/>
              </a:ext>
            </a:extLst>
          </p:cNvPr>
          <p:cNvSpPr/>
          <p:nvPr/>
        </p:nvSpPr>
        <p:spPr>
          <a:xfrm>
            <a:off x="995928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5p</a:t>
            </a:r>
            <a:endParaRPr lang="en-US" sz="1350" dirty="0"/>
          </a:p>
        </p:txBody>
      </p:sp>
      <p:sp>
        <p:nvSpPr>
          <p:cNvPr id="109" name="Shape 105">
            <a:extLst>
              <a:ext uri="{FF2B5EF4-FFF2-40B4-BE49-F238E27FC236}">
                <a16:creationId xmlns:a16="http://schemas.microsoft.com/office/drawing/2014/main" id="{87EB07FC-BE65-3D48-705E-478BD8596132}"/>
              </a:ext>
            </a:extLst>
          </p:cNvPr>
          <p:cNvSpPr/>
          <p:nvPr/>
        </p:nvSpPr>
        <p:spPr>
          <a:xfrm>
            <a:off x="10581084" y="6619875"/>
            <a:ext cx="461963" cy="76200"/>
          </a:xfrm>
          <a:prstGeom prst="rect">
            <a:avLst/>
          </a:prstGeom>
          <a:solidFill>
            <a:srgbClr val="1B3A44"/>
          </a:solidFill>
          <a:ln/>
        </p:spPr>
        <p:txBody>
          <a:bodyPr/>
          <a:lstStyle/>
          <a:p>
            <a:endParaRPr lang="en-US"/>
          </a:p>
        </p:txBody>
      </p:sp>
      <p:sp>
        <p:nvSpPr>
          <p:cNvPr id="110" name="Shape 106">
            <a:extLst>
              <a:ext uri="{FF2B5EF4-FFF2-40B4-BE49-F238E27FC236}">
                <a16:creationId xmlns:a16="http://schemas.microsoft.com/office/drawing/2014/main" id="{CA2B2660-084C-0585-769F-D6A02E2F7B20}"/>
              </a:ext>
            </a:extLst>
          </p:cNvPr>
          <p:cNvSpPr/>
          <p:nvPr/>
        </p:nvSpPr>
        <p:spPr>
          <a:xfrm>
            <a:off x="10581084" y="6600825"/>
            <a:ext cx="461963" cy="19050"/>
          </a:xfrm>
          <a:prstGeom prst="rect">
            <a:avLst/>
          </a:prstGeom>
          <a:solidFill>
            <a:srgbClr val="35707A"/>
          </a:solidFill>
          <a:ln/>
        </p:spPr>
        <p:txBody>
          <a:bodyPr/>
          <a:lstStyle/>
          <a:p>
            <a:endParaRPr lang="en-US"/>
          </a:p>
        </p:txBody>
      </p:sp>
      <p:sp>
        <p:nvSpPr>
          <p:cNvPr id="111" name="Shape 107">
            <a:extLst>
              <a:ext uri="{FF2B5EF4-FFF2-40B4-BE49-F238E27FC236}">
                <a16:creationId xmlns:a16="http://schemas.microsoft.com/office/drawing/2014/main" id="{920AEE82-8D7B-B502-EBFF-EEB6C93FEDA6}"/>
              </a:ext>
            </a:extLst>
          </p:cNvPr>
          <p:cNvSpPr/>
          <p:nvPr/>
        </p:nvSpPr>
        <p:spPr>
          <a:xfrm>
            <a:off x="10581084" y="6591300"/>
            <a:ext cx="461963" cy="9525"/>
          </a:xfrm>
          <a:prstGeom prst="rect">
            <a:avLst/>
          </a:prstGeom>
          <a:solidFill>
            <a:srgbClr val="8FB9AD"/>
          </a:solidFill>
          <a:ln/>
        </p:spPr>
        <p:txBody>
          <a:bodyPr/>
          <a:lstStyle/>
          <a:p>
            <a:endParaRPr lang="en-US"/>
          </a:p>
        </p:txBody>
      </p:sp>
      <p:sp>
        <p:nvSpPr>
          <p:cNvPr id="112" name="Shape 108">
            <a:extLst>
              <a:ext uri="{FF2B5EF4-FFF2-40B4-BE49-F238E27FC236}">
                <a16:creationId xmlns:a16="http://schemas.microsoft.com/office/drawing/2014/main" id="{D3DA2A78-DE2B-86B6-9604-7091D268E352}"/>
              </a:ext>
            </a:extLst>
          </p:cNvPr>
          <p:cNvSpPr/>
          <p:nvPr/>
        </p:nvSpPr>
        <p:spPr>
          <a:xfrm>
            <a:off x="10581084" y="6515100"/>
            <a:ext cx="461963" cy="76200"/>
          </a:xfrm>
          <a:prstGeom prst="rect">
            <a:avLst/>
          </a:prstGeom>
          <a:solidFill>
            <a:srgbClr val="CBDAC0"/>
          </a:solidFill>
          <a:ln/>
        </p:spPr>
        <p:txBody>
          <a:bodyPr/>
          <a:lstStyle/>
          <a:p>
            <a:endParaRPr lang="en-US"/>
          </a:p>
        </p:txBody>
      </p:sp>
      <p:sp>
        <p:nvSpPr>
          <p:cNvPr id="113" name="Shape 109">
            <a:extLst>
              <a:ext uri="{FF2B5EF4-FFF2-40B4-BE49-F238E27FC236}">
                <a16:creationId xmlns:a16="http://schemas.microsoft.com/office/drawing/2014/main" id="{BEA5B457-67D3-3086-87EE-4C506CE679E0}"/>
              </a:ext>
            </a:extLst>
          </p:cNvPr>
          <p:cNvSpPr/>
          <p:nvPr/>
        </p:nvSpPr>
        <p:spPr>
          <a:xfrm>
            <a:off x="10581084" y="6410325"/>
            <a:ext cx="461963" cy="104775"/>
          </a:xfrm>
          <a:prstGeom prst="rect">
            <a:avLst/>
          </a:prstGeom>
          <a:solidFill>
            <a:srgbClr val="E0894F"/>
          </a:solidFill>
          <a:ln/>
        </p:spPr>
        <p:txBody>
          <a:bodyPr/>
          <a:lstStyle/>
          <a:p>
            <a:endParaRPr lang="en-US"/>
          </a:p>
        </p:txBody>
      </p:sp>
      <p:sp>
        <p:nvSpPr>
          <p:cNvPr id="114" name="Shape 110">
            <a:extLst>
              <a:ext uri="{FF2B5EF4-FFF2-40B4-BE49-F238E27FC236}">
                <a16:creationId xmlns:a16="http://schemas.microsoft.com/office/drawing/2014/main" id="{BEF899F9-5EFE-C203-16B6-DC1BAA34AE33}"/>
              </a:ext>
            </a:extLst>
          </p:cNvPr>
          <p:cNvSpPr/>
          <p:nvPr/>
        </p:nvSpPr>
        <p:spPr>
          <a:xfrm>
            <a:off x="10581084" y="6305550"/>
            <a:ext cx="461963" cy="104775"/>
          </a:xfrm>
          <a:prstGeom prst="rect">
            <a:avLst/>
          </a:prstGeom>
          <a:solidFill>
            <a:srgbClr val="B4472F"/>
          </a:solidFill>
          <a:ln/>
        </p:spPr>
        <p:txBody>
          <a:bodyPr/>
          <a:lstStyle/>
          <a:p>
            <a:endParaRPr lang="en-US"/>
          </a:p>
        </p:txBody>
      </p:sp>
      <p:sp>
        <p:nvSpPr>
          <p:cNvPr id="115" name="Text 111">
            <a:extLst>
              <a:ext uri="{FF2B5EF4-FFF2-40B4-BE49-F238E27FC236}">
                <a16:creationId xmlns:a16="http://schemas.microsoft.com/office/drawing/2014/main" id="{68E4CF25-0378-7B9C-3FF7-0554BBAE6B03}"/>
              </a:ext>
            </a:extLst>
          </p:cNvPr>
          <p:cNvSpPr/>
          <p:nvPr/>
        </p:nvSpPr>
        <p:spPr>
          <a:xfrm>
            <a:off x="10716816"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6p</a:t>
            </a:r>
            <a:endParaRPr lang="en-US" sz="1350" dirty="0"/>
          </a:p>
        </p:txBody>
      </p:sp>
      <p:sp>
        <p:nvSpPr>
          <p:cNvPr id="116" name="Shape 112">
            <a:extLst>
              <a:ext uri="{FF2B5EF4-FFF2-40B4-BE49-F238E27FC236}">
                <a16:creationId xmlns:a16="http://schemas.microsoft.com/office/drawing/2014/main" id="{8972CDE2-DF15-3530-A261-166F7D48C913}"/>
              </a:ext>
            </a:extLst>
          </p:cNvPr>
          <p:cNvSpPr/>
          <p:nvPr/>
        </p:nvSpPr>
        <p:spPr>
          <a:xfrm>
            <a:off x="11338620" y="6648450"/>
            <a:ext cx="461963" cy="47625"/>
          </a:xfrm>
          <a:prstGeom prst="rect">
            <a:avLst/>
          </a:prstGeom>
          <a:solidFill>
            <a:srgbClr val="1B3A44"/>
          </a:solidFill>
          <a:ln/>
        </p:spPr>
        <p:txBody>
          <a:bodyPr/>
          <a:lstStyle/>
          <a:p>
            <a:endParaRPr lang="en-US"/>
          </a:p>
        </p:txBody>
      </p:sp>
      <p:sp>
        <p:nvSpPr>
          <p:cNvPr id="117" name="Shape 113">
            <a:extLst>
              <a:ext uri="{FF2B5EF4-FFF2-40B4-BE49-F238E27FC236}">
                <a16:creationId xmlns:a16="http://schemas.microsoft.com/office/drawing/2014/main" id="{A9675073-5C0D-C621-E11F-6B9C722020DE}"/>
              </a:ext>
            </a:extLst>
          </p:cNvPr>
          <p:cNvSpPr/>
          <p:nvPr/>
        </p:nvSpPr>
        <p:spPr>
          <a:xfrm>
            <a:off x="11338620" y="6629400"/>
            <a:ext cx="461963" cy="19050"/>
          </a:xfrm>
          <a:prstGeom prst="rect">
            <a:avLst/>
          </a:prstGeom>
          <a:solidFill>
            <a:srgbClr val="35707A"/>
          </a:solidFill>
          <a:ln/>
        </p:spPr>
        <p:txBody>
          <a:bodyPr/>
          <a:lstStyle/>
          <a:p>
            <a:endParaRPr lang="en-US"/>
          </a:p>
        </p:txBody>
      </p:sp>
      <p:sp>
        <p:nvSpPr>
          <p:cNvPr id="118" name="Shape 114">
            <a:extLst>
              <a:ext uri="{FF2B5EF4-FFF2-40B4-BE49-F238E27FC236}">
                <a16:creationId xmlns:a16="http://schemas.microsoft.com/office/drawing/2014/main" id="{582C6BA3-C770-39AF-FCC8-6761C8B5B020}"/>
              </a:ext>
            </a:extLst>
          </p:cNvPr>
          <p:cNvSpPr/>
          <p:nvPr/>
        </p:nvSpPr>
        <p:spPr>
          <a:xfrm>
            <a:off x="11338620" y="6619875"/>
            <a:ext cx="461963" cy="9525"/>
          </a:xfrm>
          <a:prstGeom prst="rect">
            <a:avLst/>
          </a:prstGeom>
          <a:solidFill>
            <a:srgbClr val="8FB9AD"/>
          </a:solidFill>
          <a:ln/>
        </p:spPr>
        <p:txBody>
          <a:bodyPr/>
          <a:lstStyle/>
          <a:p>
            <a:endParaRPr lang="en-US"/>
          </a:p>
        </p:txBody>
      </p:sp>
      <p:sp>
        <p:nvSpPr>
          <p:cNvPr id="119" name="Shape 115">
            <a:extLst>
              <a:ext uri="{FF2B5EF4-FFF2-40B4-BE49-F238E27FC236}">
                <a16:creationId xmlns:a16="http://schemas.microsoft.com/office/drawing/2014/main" id="{2B5410DA-B3AA-5E28-B0AC-B6AB2689BDB6}"/>
              </a:ext>
            </a:extLst>
          </p:cNvPr>
          <p:cNvSpPr/>
          <p:nvPr/>
        </p:nvSpPr>
        <p:spPr>
          <a:xfrm>
            <a:off x="11338620" y="6515100"/>
            <a:ext cx="461963" cy="104775"/>
          </a:xfrm>
          <a:prstGeom prst="rect">
            <a:avLst/>
          </a:prstGeom>
          <a:solidFill>
            <a:srgbClr val="CBDAC0"/>
          </a:solidFill>
          <a:ln/>
        </p:spPr>
        <p:txBody>
          <a:bodyPr/>
          <a:lstStyle/>
          <a:p>
            <a:endParaRPr lang="en-US"/>
          </a:p>
        </p:txBody>
      </p:sp>
      <p:sp>
        <p:nvSpPr>
          <p:cNvPr id="120" name="Shape 116">
            <a:extLst>
              <a:ext uri="{FF2B5EF4-FFF2-40B4-BE49-F238E27FC236}">
                <a16:creationId xmlns:a16="http://schemas.microsoft.com/office/drawing/2014/main" id="{0B1C8A3B-C941-C8F7-61EF-0F6F11503DED}"/>
              </a:ext>
            </a:extLst>
          </p:cNvPr>
          <p:cNvSpPr/>
          <p:nvPr/>
        </p:nvSpPr>
        <p:spPr>
          <a:xfrm>
            <a:off x="11338620" y="6429375"/>
            <a:ext cx="461963" cy="85725"/>
          </a:xfrm>
          <a:prstGeom prst="rect">
            <a:avLst/>
          </a:prstGeom>
          <a:solidFill>
            <a:srgbClr val="E0894F"/>
          </a:solidFill>
          <a:ln/>
        </p:spPr>
        <p:txBody>
          <a:bodyPr/>
          <a:lstStyle/>
          <a:p>
            <a:endParaRPr lang="en-US"/>
          </a:p>
        </p:txBody>
      </p:sp>
      <p:sp>
        <p:nvSpPr>
          <p:cNvPr id="121" name="Shape 117">
            <a:extLst>
              <a:ext uri="{FF2B5EF4-FFF2-40B4-BE49-F238E27FC236}">
                <a16:creationId xmlns:a16="http://schemas.microsoft.com/office/drawing/2014/main" id="{D226BF04-249B-C24B-0F72-BC1C0A1B225C}"/>
              </a:ext>
            </a:extLst>
          </p:cNvPr>
          <p:cNvSpPr/>
          <p:nvPr/>
        </p:nvSpPr>
        <p:spPr>
          <a:xfrm>
            <a:off x="11338620" y="6324600"/>
            <a:ext cx="461963" cy="104775"/>
          </a:xfrm>
          <a:prstGeom prst="rect">
            <a:avLst/>
          </a:prstGeom>
          <a:solidFill>
            <a:srgbClr val="B4472F"/>
          </a:solidFill>
          <a:ln/>
        </p:spPr>
        <p:txBody>
          <a:bodyPr/>
          <a:lstStyle/>
          <a:p>
            <a:endParaRPr lang="en-US"/>
          </a:p>
        </p:txBody>
      </p:sp>
      <p:sp>
        <p:nvSpPr>
          <p:cNvPr id="122" name="Text 118">
            <a:extLst>
              <a:ext uri="{FF2B5EF4-FFF2-40B4-BE49-F238E27FC236}">
                <a16:creationId xmlns:a16="http://schemas.microsoft.com/office/drawing/2014/main" id="{4E0F9B75-01DE-4CC8-5AEE-FC8AE8641A29}"/>
              </a:ext>
            </a:extLst>
          </p:cNvPr>
          <p:cNvSpPr/>
          <p:nvPr/>
        </p:nvSpPr>
        <p:spPr>
          <a:xfrm>
            <a:off x="11474351"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7p</a:t>
            </a:r>
            <a:endParaRPr lang="en-US" sz="1350" dirty="0"/>
          </a:p>
        </p:txBody>
      </p:sp>
      <p:sp>
        <p:nvSpPr>
          <p:cNvPr id="123" name="Shape 119">
            <a:extLst>
              <a:ext uri="{FF2B5EF4-FFF2-40B4-BE49-F238E27FC236}">
                <a16:creationId xmlns:a16="http://schemas.microsoft.com/office/drawing/2014/main" id="{50F0CADB-BC61-F21F-E6FD-1A9C0217F413}"/>
              </a:ext>
            </a:extLst>
          </p:cNvPr>
          <p:cNvSpPr/>
          <p:nvPr/>
        </p:nvSpPr>
        <p:spPr>
          <a:xfrm>
            <a:off x="1371600" y="7191375"/>
            <a:ext cx="171450" cy="171450"/>
          </a:xfrm>
          <a:prstGeom prst="roundRect">
            <a:avLst>
              <a:gd name="adj" fmla="val 22222"/>
            </a:avLst>
          </a:prstGeom>
          <a:solidFill>
            <a:srgbClr val="1B3A44"/>
          </a:solidFill>
          <a:ln/>
        </p:spPr>
        <p:txBody>
          <a:bodyPr/>
          <a:lstStyle/>
          <a:p>
            <a:endParaRPr lang="en-US"/>
          </a:p>
        </p:txBody>
      </p:sp>
      <p:sp>
        <p:nvSpPr>
          <p:cNvPr id="124" name="Text 120">
            <a:extLst>
              <a:ext uri="{FF2B5EF4-FFF2-40B4-BE49-F238E27FC236}">
                <a16:creationId xmlns:a16="http://schemas.microsoft.com/office/drawing/2014/main" id="{9852F73B-67D9-9564-26D4-9E102B71E801}"/>
              </a:ext>
            </a:extLst>
          </p:cNvPr>
          <p:cNvSpPr/>
          <p:nvPr/>
        </p:nvSpPr>
        <p:spPr>
          <a:xfrm>
            <a:off x="1628775" y="7172325"/>
            <a:ext cx="113198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Coffee &amp; tea</a:t>
            </a:r>
            <a:endParaRPr lang="en-US" sz="1500" dirty="0"/>
          </a:p>
        </p:txBody>
      </p:sp>
      <p:sp>
        <p:nvSpPr>
          <p:cNvPr id="125" name="Shape 121">
            <a:extLst>
              <a:ext uri="{FF2B5EF4-FFF2-40B4-BE49-F238E27FC236}">
                <a16:creationId xmlns:a16="http://schemas.microsoft.com/office/drawing/2014/main" id="{FFCEB10A-EA61-A984-19B8-A2EC7314FF0F}"/>
              </a:ext>
            </a:extLst>
          </p:cNvPr>
          <p:cNvSpPr/>
          <p:nvPr/>
        </p:nvSpPr>
        <p:spPr>
          <a:xfrm>
            <a:off x="2932212" y="7191375"/>
            <a:ext cx="171450" cy="171450"/>
          </a:xfrm>
          <a:prstGeom prst="roundRect">
            <a:avLst>
              <a:gd name="adj" fmla="val 22222"/>
            </a:avLst>
          </a:prstGeom>
          <a:solidFill>
            <a:srgbClr val="35707A"/>
          </a:solidFill>
          <a:ln/>
        </p:spPr>
        <p:txBody>
          <a:bodyPr/>
          <a:lstStyle/>
          <a:p>
            <a:endParaRPr lang="en-US"/>
          </a:p>
        </p:txBody>
      </p:sp>
      <p:sp>
        <p:nvSpPr>
          <p:cNvPr id="126" name="Text 122">
            <a:extLst>
              <a:ext uri="{FF2B5EF4-FFF2-40B4-BE49-F238E27FC236}">
                <a16:creationId xmlns:a16="http://schemas.microsoft.com/office/drawing/2014/main" id="{7488D6D3-7BB9-A574-D062-C0C90338D9DB}"/>
              </a:ext>
            </a:extLst>
          </p:cNvPr>
          <p:cNvSpPr/>
          <p:nvPr/>
        </p:nvSpPr>
        <p:spPr>
          <a:xfrm>
            <a:off x="3189387" y="7172325"/>
            <a:ext cx="1103412"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Sandwiches</a:t>
            </a:r>
            <a:endParaRPr lang="en-US" sz="1500" dirty="0"/>
          </a:p>
        </p:txBody>
      </p:sp>
      <p:sp>
        <p:nvSpPr>
          <p:cNvPr id="127" name="Shape 123">
            <a:extLst>
              <a:ext uri="{FF2B5EF4-FFF2-40B4-BE49-F238E27FC236}">
                <a16:creationId xmlns:a16="http://schemas.microsoft.com/office/drawing/2014/main" id="{C1D00DB5-9978-7098-80AE-6810CF0B3A41}"/>
              </a:ext>
            </a:extLst>
          </p:cNvPr>
          <p:cNvSpPr/>
          <p:nvPr/>
        </p:nvSpPr>
        <p:spPr>
          <a:xfrm>
            <a:off x="4464248" y="7191375"/>
            <a:ext cx="171450" cy="171450"/>
          </a:xfrm>
          <a:prstGeom prst="roundRect">
            <a:avLst>
              <a:gd name="adj" fmla="val 22222"/>
            </a:avLst>
          </a:prstGeom>
          <a:solidFill>
            <a:srgbClr val="8FB9AD"/>
          </a:solidFill>
          <a:ln/>
        </p:spPr>
        <p:txBody>
          <a:bodyPr/>
          <a:lstStyle/>
          <a:p>
            <a:endParaRPr lang="en-US"/>
          </a:p>
        </p:txBody>
      </p:sp>
      <p:sp>
        <p:nvSpPr>
          <p:cNvPr id="128" name="Text 124">
            <a:extLst>
              <a:ext uri="{FF2B5EF4-FFF2-40B4-BE49-F238E27FC236}">
                <a16:creationId xmlns:a16="http://schemas.microsoft.com/office/drawing/2014/main" id="{4A73ACC7-56FB-8ADD-6691-372D7A1A85E2}"/>
              </a:ext>
            </a:extLst>
          </p:cNvPr>
          <p:cNvSpPr/>
          <p:nvPr/>
        </p:nvSpPr>
        <p:spPr>
          <a:xfrm>
            <a:off x="4721423" y="7172325"/>
            <a:ext cx="76438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Pastries</a:t>
            </a:r>
            <a:endParaRPr lang="en-US" sz="1500" dirty="0"/>
          </a:p>
        </p:txBody>
      </p:sp>
      <p:sp>
        <p:nvSpPr>
          <p:cNvPr id="129" name="Shape 125">
            <a:extLst>
              <a:ext uri="{FF2B5EF4-FFF2-40B4-BE49-F238E27FC236}">
                <a16:creationId xmlns:a16="http://schemas.microsoft.com/office/drawing/2014/main" id="{39323D98-FE8B-763F-EA23-1899A13D5351}"/>
              </a:ext>
            </a:extLst>
          </p:cNvPr>
          <p:cNvSpPr/>
          <p:nvPr/>
        </p:nvSpPr>
        <p:spPr>
          <a:xfrm>
            <a:off x="5657255" y="7191375"/>
            <a:ext cx="171450" cy="171450"/>
          </a:xfrm>
          <a:prstGeom prst="roundRect">
            <a:avLst>
              <a:gd name="adj" fmla="val 22222"/>
            </a:avLst>
          </a:prstGeom>
          <a:solidFill>
            <a:srgbClr val="CBDAC0"/>
          </a:solidFill>
          <a:ln/>
        </p:spPr>
        <p:txBody>
          <a:bodyPr/>
          <a:lstStyle/>
          <a:p>
            <a:endParaRPr lang="en-US"/>
          </a:p>
        </p:txBody>
      </p:sp>
      <p:sp>
        <p:nvSpPr>
          <p:cNvPr id="130" name="Text 126">
            <a:extLst>
              <a:ext uri="{FF2B5EF4-FFF2-40B4-BE49-F238E27FC236}">
                <a16:creationId xmlns:a16="http://schemas.microsoft.com/office/drawing/2014/main" id="{E941BD8D-C188-17D9-B4D9-A7106B5E396F}"/>
              </a:ext>
            </a:extLst>
          </p:cNvPr>
          <p:cNvSpPr/>
          <p:nvPr/>
        </p:nvSpPr>
        <p:spPr>
          <a:xfrm>
            <a:off x="5914430" y="7172325"/>
            <a:ext cx="92333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Cold case</a:t>
            </a:r>
            <a:endParaRPr lang="en-US" sz="1500" dirty="0"/>
          </a:p>
        </p:txBody>
      </p:sp>
      <p:sp>
        <p:nvSpPr>
          <p:cNvPr id="131" name="Shape 127">
            <a:extLst>
              <a:ext uri="{FF2B5EF4-FFF2-40B4-BE49-F238E27FC236}">
                <a16:creationId xmlns:a16="http://schemas.microsoft.com/office/drawing/2014/main" id="{F8C48D5F-B658-ED5C-3378-6477B03956F4}"/>
              </a:ext>
            </a:extLst>
          </p:cNvPr>
          <p:cNvSpPr/>
          <p:nvPr/>
        </p:nvSpPr>
        <p:spPr>
          <a:xfrm>
            <a:off x="7009209" y="7191375"/>
            <a:ext cx="171450" cy="171450"/>
          </a:xfrm>
          <a:prstGeom prst="roundRect">
            <a:avLst>
              <a:gd name="adj" fmla="val 22222"/>
            </a:avLst>
          </a:prstGeom>
          <a:solidFill>
            <a:srgbClr val="E0894F"/>
          </a:solidFill>
          <a:ln/>
        </p:spPr>
        <p:txBody>
          <a:bodyPr/>
          <a:lstStyle/>
          <a:p>
            <a:endParaRPr lang="en-US"/>
          </a:p>
        </p:txBody>
      </p:sp>
      <p:sp>
        <p:nvSpPr>
          <p:cNvPr id="132" name="Text 128">
            <a:extLst>
              <a:ext uri="{FF2B5EF4-FFF2-40B4-BE49-F238E27FC236}">
                <a16:creationId xmlns:a16="http://schemas.microsoft.com/office/drawing/2014/main" id="{B401ACD3-2FC6-56F0-9613-E43BD2401896}"/>
              </a:ext>
            </a:extLst>
          </p:cNvPr>
          <p:cNvSpPr/>
          <p:nvPr/>
        </p:nvSpPr>
        <p:spPr>
          <a:xfrm>
            <a:off x="7266384" y="7172325"/>
            <a:ext cx="166592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Snacks &amp; grab-go</a:t>
            </a:r>
            <a:endParaRPr lang="en-US" sz="1500" dirty="0"/>
          </a:p>
        </p:txBody>
      </p:sp>
      <p:sp>
        <p:nvSpPr>
          <p:cNvPr id="133" name="Shape 129">
            <a:extLst>
              <a:ext uri="{FF2B5EF4-FFF2-40B4-BE49-F238E27FC236}">
                <a16:creationId xmlns:a16="http://schemas.microsoft.com/office/drawing/2014/main" id="{0EC18342-7E58-A0EA-0CB8-060B64015ECC}"/>
              </a:ext>
            </a:extLst>
          </p:cNvPr>
          <p:cNvSpPr/>
          <p:nvPr/>
        </p:nvSpPr>
        <p:spPr>
          <a:xfrm>
            <a:off x="9028509" y="7191375"/>
            <a:ext cx="171450" cy="171450"/>
          </a:xfrm>
          <a:prstGeom prst="roundRect">
            <a:avLst>
              <a:gd name="adj" fmla="val 22222"/>
            </a:avLst>
          </a:prstGeom>
          <a:solidFill>
            <a:srgbClr val="B4472F"/>
          </a:solidFill>
          <a:ln/>
        </p:spPr>
        <p:txBody>
          <a:bodyPr/>
          <a:lstStyle/>
          <a:p>
            <a:endParaRPr lang="en-US"/>
          </a:p>
        </p:txBody>
      </p:sp>
      <p:sp>
        <p:nvSpPr>
          <p:cNvPr id="134" name="Text 130">
            <a:extLst>
              <a:ext uri="{FF2B5EF4-FFF2-40B4-BE49-F238E27FC236}">
                <a16:creationId xmlns:a16="http://schemas.microsoft.com/office/drawing/2014/main" id="{ED0AE388-87C5-F1C5-A3DF-A4BF5390D9D2}"/>
              </a:ext>
            </a:extLst>
          </p:cNvPr>
          <p:cNvSpPr/>
          <p:nvPr/>
        </p:nvSpPr>
        <p:spPr>
          <a:xfrm>
            <a:off x="9285684" y="7172325"/>
            <a:ext cx="157260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Wine, beer &amp; bar</a:t>
            </a:r>
            <a:endParaRPr lang="en-US" sz="1500" dirty="0"/>
          </a:p>
        </p:txBody>
      </p:sp>
      <p:sp>
        <p:nvSpPr>
          <p:cNvPr id="135" name="Shape 131">
            <a:extLst>
              <a:ext uri="{FF2B5EF4-FFF2-40B4-BE49-F238E27FC236}">
                <a16:creationId xmlns:a16="http://schemas.microsoft.com/office/drawing/2014/main" id="{BA55F2E9-1690-8A12-BD76-1D6B6040FC08}"/>
              </a:ext>
            </a:extLst>
          </p:cNvPr>
          <p:cNvSpPr/>
          <p:nvPr/>
        </p:nvSpPr>
        <p:spPr>
          <a:xfrm>
            <a:off x="12337256" y="3190875"/>
            <a:ext cx="5188744" cy="1504950"/>
          </a:xfrm>
          <a:prstGeom prst="roundRect">
            <a:avLst>
              <a:gd name="adj" fmla="val 7595"/>
            </a:avLst>
          </a:prstGeom>
          <a:solidFill>
            <a:srgbClr val="F0EEE6"/>
          </a:solidFill>
          <a:ln/>
        </p:spPr>
        <p:txBody>
          <a:bodyPr/>
          <a:lstStyle/>
          <a:p>
            <a:endParaRPr lang="en-US"/>
          </a:p>
        </p:txBody>
      </p:sp>
      <p:sp>
        <p:nvSpPr>
          <p:cNvPr id="136" name="Text 133">
            <a:extLst>
              <a:ext uri="{FF2B5EF4-FFF2-40B4-BE49-F238E27FC236}">
                <a16:creationId xmlns:a16="http://schemas.microsoft.com/office/drawing/2014/main" id="{45E20762-296B-B209-73FE-10E82FCC03E7}"/>
              </a:ext>
            </a:extLst>
          </p:cNvPr>
          <p:cNvSpPr/>
          <p:nvPr/>
        </p:nvSpPr>
        <p:spPr>
          <a:xfrm>
            <a:off x="12603956" y="3895725"/>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peak — the three biggest hours are ~34% of the day. One barista covers all of it under the plan.</a:t>
            </a:r>
            <a:endParaRPr lang="en-US" sz="1575" dirty="0"/>
          </a:p>
        </p:txBody>
      </p:sp>
      <p:sp>
        <p:nvSpPr>
          <p:cNvPr id="137" name="Shape 134">
            <a:extLst>
              <a:ext uri="{FF2B5EF4-FFF2-40B4-BE49-F238E27FC236}">
                <a16:creationId xmlns:a16="http://schemas.microsoft.com/office/drawing/2014/main" id="{A017F76A-2056-7881-BEE3-3C9A70A4EA5F}"/>
              </a:ext>
            </a:extLst>
          </p:cNvPr>
          <p:cNvSpPr/>
          <p:nvPr/>
        </p:nvSpPr>
        <p:spPr>
          <a:xfrm>
            <a:off x="12337256" y="4819650"/>
            <a:ext cx="5188744" cy="1504950"/>
          </a:xfrm>
          <a:prstGeom prst="roundRect">
            <a:avLst>
              <a:gd name="adj" fmla="val 7595"/>
            </a:avLst>
          </a:prstGeom>
          <a:solidFill>
            <a:srgbClr val="F0EEE6"/>
          </a:solidFill>
          <a:ln/>
        </p:spPr>
        <p:txBody>
          <a:bodyPr/>
          <a:lstStyle/>
          <a:p>
            <a:endParaRPr lang="en-US"/>
          </a:p>
        </p:txBody>
      </p:sp>
      <p:sp>
        <p:nvSpPr>
          <p:cNvPr id="138" name="Text 136">
            <a:extLst>
              <a:ext uri="{FF2B5EF4-FFF2-40B4-BE49-F238E27FC236}">
                <a16:creationId xmlns:a16="http://schemas.microsoft.com/office/drawing/2014/main" id="{0655A5A3-6393-6A40-D318-312693BC17E7}"/>
              </a:ext>
            </a:extLst>
          </p:cNvPr>
          <p:cNvSpPr/>
          <p:nvPr/>
        </p:nvSpPr>
        <p:spPr>
          <a:xfrm>
            <a:off x="12603956" y="5524500"/>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Lunch runs food-led — sandwiches top the mix through midday, then taper hard after 2p.</a:t>
            </a:r>
            <a:endParaRPr lang="en-US" sz="1575" dirty="0"/>
          </a:p>
        </p:txBody>
      </p:sp>
      <p:sp>
        <p:nvSpPr>
          <p:cNvPr id="140" name="Shape 134">
            <a:extLst>
              <a:ext uri="{FF2B5EF4-FFF2-40B4-BE49-F238E27FC236}">
                <a16:creationId xmlns:a16="http://schemas.microsoft.com/office/drawing/2014/main" id="{B4D79CFD-AFE9-5DB1-7361-035DDD9389B0}"/>
              </a:ext>
            </a:extLst>
          </p:cNvPr>
          <p:cNvSpPr/>
          <p:nvPr/>
        </p:nvSpPr>
        <p:spPr>
          <a:xfrm>
            <a:off x="12337256" y="6602557"/>
            <a:ext cx="5188744" cy="1504950"/>
          </a:xfrm>
          <a:prstGeom prst="roundRect">
            <a:avLst>
              <a:gd name="adj" fmla="val 7595"/>
            </a:avLst>
          </a:prstGeom>
          <a:solidFill>
            <a:srgbClr val="F0EEE6"/>
          </a:solidFill>
          <a:ln/>
        </p:spPr>
        <p:txBody>
          <a:bodyPr/>
          <a:lstStyle/>
          <a:p>
            <a:endParaRPr lang="en-US"/>
          </a:p>
        </p:txBody>
      </p:sp>
      <p:sp>
        <p:nvSpPr>
          <p:cNvPr id="139" name="Text 139">
            <a:extLst>
              <a:ext uri="{FF2B5EF4-FFF2-40B4-BE49-F238E27FC236}">
                <a16:creationId xmlns:a16="http://schemas.microsoft.com/office/drawing/2014/main" id="{33CDB73C-A9D2-6642-6C5F-20968D862A50}"/>
              </a:ext>
            </a:extLst>
          </p:cNvPr>
          <p:cNvSpPr/>
          <p:nvPr/>
        </p:nvSpPr>
        <p:spPr>
          <a:xfrm>
            <a:off x="12603956" y="7011406"/>
            <a:ext cx="4795004" cy="89535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tail skews beverage — coffee fades while the cold case, snacks, wine, beer &amp; canned cocktails carry the window. It sells itself.</a:t>
            </a:r>
            <a:endParaRPr lang="en-US" sz="1575" dirty="0"/>
          </a:p>
        </p:txBody>
      </p:sp>
      <p:sp>
        <p:nvSpPr>
          <p:cNvPr id="141" name="Text 132">
            <a:extLst>
              <a:ext uri="{FF2B5EF4-FFF2-40B4-BE49-F238E27FC236}">
                <a16:creationId xmlns:a16="http://schemas.microsoft.com/office/drawing/2014/main" id="{32C7F0D1-BD37-5630-CCC6-8ED21DEE7709}"/>
              </a:ext>
            </a:extLst>
          </p:cNvPr>
          <p:cNvSpPr/>
          <p:nvPr/>
        </p:nvSpPr>
        <p:spPr>
          <a:xfrm>
            <a:off x="12558414" y="329565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7–9am</a:t>
            </a:r>
            <a:endParaRPr lang="en-US" sz="2550" dirty="0"/>
          </a:p>
        </p:txBody>
      </p:sp>
      <p:sp>
        <p:nvSpPr>
          <p:cNvPr id="142" name="Text 135">
            <a:extLst>
              <a:ext uri="{FF2B5EF4-FFF2-40B4-BE49-F238E27FC236}">
                <a16:creationId xmlns:a16="http://schemas.microsoft.com/office/drawing/2014/main" id="{0D3A4C1C-2CB8-9AE4-53F8-C5187D7F6FAF}"/>
              </a:ext>
            </a:extLst>
          </p:cNvPr>
          <p:cNvSpPr/>
          <p:nvPr/>
        </p:nvSpPr>
        <p:spPr>
          <a:xfrm>
            <a:off x="12603956" y="5057775"/>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11am–1pm</a:t>
            </a:r>
            <a:endParaRPr lang="en-US" sz="2550" dirty="0"/>
          </a:p>
        </p:txBody>
      </p:sp>
      <p:sp>
        <p:nvSpPr>
          <p:cNvPr id="143" name="Text 138">
            <a:extLst>
              <a:ext uri="{FF2B5EF4-FFF2-40B4-BE49-F238E27FC236}">
                <a16:creationId xmlns:a16="http://schemas.microsoft.com/office/drawing/2014/main" id="{5F364150-E8D8-10F4-6AB9-672CE5FED334}"/>
              </a:ext>
            </a:extLst>
          </p:cNvPr>
          <p:cNvSpPr/>
          <p:nvPr/>
        </p:nvSpPr>
        <p:spPr>
          <a:xfrm>
            <a:off x="12603956" y="662940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C1553B"/>
                </a:solidFill>
                <a:latin typeface="Georgia" pitchFamily="34" charset="0"/>
                <a:ea typeface="Georgia" pitchFamily="34" charset="-122"/>
                <a:cs typeface="Georgia" pitchFamily="34" charset="-120"/>
              </a:rPr>
              <a:t>4pm+</a:t>
            </a:r>
            <a:endParaRPr lang="en-US" sz="2550" dirty="0"/>
          </a:p>
        </p:txBody>
      </p:sp>
    </p:spTree>
    <p:extLst>
      <p:ext uri="{BB962C8B-B14F-4D97-AF65-F5344CB8AC3E}">
        <p14:creationId xmlns:p14="http://schemas.microsoft.com/office/powerpoint/2010/main" val="329668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THE PLAYBOOK</a:t>
            </a:r>
            <a:endParaRPr lang="en-US" sz="1650" spc="300" dirty="0">
              <a:solidFill>
                <a:srgbClr val="1E7E8C"/>
              </a:solidFill>
            </a:endParaRPr>
          </a:p>
        </p:txBody>
      </p:sp>
      <p:sp>
        <p:nvSpPr>
          <p:cNvPr id="3" name="Text 1"/>
          <p:cNvSpPr/>
          <p:nvPr/>
        </p:nvSpPr>
        <p:spPr>
          <a:xfrm>
            <a:off x="952500" y="1200150"/>
            <a:ext cx="18021300" cy="6667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950" kern="0" spc="-37" dirty="0">
                <a:solidFill>
                  <a:srgbClr val="22424B"/>
                </a:solidFill>
                <a:latin typeface="Georgia" pitchFamily="34" charset="0"/>
                <a:ea typeface="Georgia" pitchFamily="34" charset="-122"/>
                <a:cs typeface="Georgia" pitchFamily="34" charset="-120"/>
              </a:rPr>
              <a:t>Structural levers to improve profitability </a:t>
            </a:r>
            <a:endParaRPr lang="en-US" sz="4950" dirty="0"/>
          </a:p>
        </p:txBody>
      </p:sp>
      <p:sp>
        <p:nvSpPr>
          <p:cNvPr id="5" name="Text 3"/>
          <p:cNvSpPr/>
          <p:nvPr/>
        </p:nvSpPr>
        <p:spPr>
          <a:xfrm>
            <a:off x="487768"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6" name="Text 4"/>
          <p:cNvSpPr/>
          <p:nvPr/>
        </p:nvSpPr>
        <p:spPr>
          <a:xfrm>
            <a:off x="487768"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Labor model</a:t>
            </a:r>
            <a:endParaRPr lang="en-US" sz="2175" dirty="0"/>
          </a:p>
        </p:txBody>
      </p:sp>
      <p:sp>
        <p:nvSpPr>
          <p:cNvPr id="7" name="Text 5"/>
          <p:cNvSpPr/>
          <p:nvPr/>
        </p:nvSpPr>
        <p:spPr>
          <a:xfrm>
            <a:off x="487768"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Single shift</a:t>
            </a:r>
            <a:endParaRPr lang="en-US" sz="3750" dirty="0"/>
          </a:p>
        </p:txBody>
      </p:sp>
      <p:sp>
        <p:nvSpPr>
          <p:cNvPr id="9" name="Shape 7"/>
          <p:cNvSpPr/>
          <p:nvPr/>
        </p:nvSpPr>
        <p:spPr>
          <a:xfrm>
            <a:off x="487768" y="6161333"/>
            <a:ext cx="2794649" cy="45719"/>
          </a:xfrm>
          <a:prstGeom prst="rect">
            <a:avLst/>
          </a:prstGeom>
          <a:solidFill>
            <a:srgbClr val="D2D3CD"/>
          </a:solidFill>
          <a:ln/>
        </p:spPr>
        <p:txBody>
          <a:bodyPr/>
          <a:lstStyle/>
          <a:p>
            <a:endParaRPr lang="en-US"/>
          </a:p>
        </p:txBody>
      </p:sp>
      <p:sp>
        <p:nvSpPr>
          <p:cNvPr id="10" name="Text 8"/>
          <p:cNvSpPr/>
          <p:nvPr/>
        </p:nvSpPr>
        <p:spPr>
          <a:xfrm>
            <a:off x="531583" y="6561384"/>
            <a:ext cx="2949918"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Shift 6:00a–4:00p · doors open 6:30a</a:t>
            </a:r>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Single barista shift</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Self-serve, cold case &amp; shelves after 4pm</a:t>
            </a:r>
            <a:endParaRPr lang="en-US" sz="1400" dirty="0"/>
          </a:p>
        </p:txBody>
      </p:sp>
      <p:sp>
        <p:nvSpPr>
          <p:cNvPr id="11" name="Shape 9"/>
          <p:cNvSpPr/>
          <p:nvPr/>
        </p:nvSpPr>
        <p:spPr>
          <a:xfrm>
            <a:off x="3701516" y="3162300"/>
            <a:ext cx="19050" cy="5486400"/>
          </a:xfrm>
          <a:prstGeom prst="rect">
            <a:avLst/>
          </a:prstGeom>
          <a:solidFill>
            <a:srgbClr val="D2D3CD"/>
          </a:solidFill>
          <a:ln/>
        </p:spPr>
        <p:txBody>
          <a:bodyPr/>
          <a:lstStyle/>
          <a:p>
            <a:endParaRPr lang="en-US"/>
          </a:p>
        </p:txBody>
      </p:sp>
      <p:sp>
        <p:nvSpPr>
          <p:cNvPr id="12" name="Text 10"/>
          <p:cNvSpPr/>
          <p:nvPr/>
        </p:nvSpPr>
        <p:spPr>
          <a:xfrm>
            <a:off x="4139665"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3" name="Text 11"/>
          <p:cNvSpPr/>
          <p:nvPr/>
        </p:nvSpPr>
        <p:spPr>
          <a:xfrm>
            <a:off x="4139665"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Increase pricing</a:t>
            </a:r>
            <a:endParaRPr lang="en-US" sz="2175" dirty="0"/>
          </a:p>
        </p:txBody>
      </p:sp>
      <p:sp>
        <p:nvSpPr>
          <p:cNvPr id="14" name="Text 12"/>
          <p:cNvSpPr/>
          <p:nvPr/>
        </p:nvSpPr>
        <p:spPr>
          <a:xfrm>
            <a:off x="4139665"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+$0.10–$1.00</a:t>
            </a:r>
            <a:endParaRPr lang="en-US" sz="3750" dirty="0"/>
          </a:p>
        </p:txBody>
      </p:sp>
      <p:sp>
        <p:nvSpPr>
          <p:cNvPr id="17" name="Text 15"/>
          <p:cNvSpPr/>
          <p:nvPr/>
        </p:nvSpPr>
        <p:spPr>
          <a:xfrm>
            <a:off x="4183481" y="6486970"/>
            <a:ext cx="2750834"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drink pricing $0.10–$0.50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sandwiches &amp; smoothies +$0.75–$1.00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Adjust the top-selling latte $0.50 to hold volume</a:t>
            </a:r>
            <a:endParaRPr lang="en-US" sz="1400" dirty="0"/>
          </a:p>
        </p:txBody>
      </p:sp>
      <p:sp>
        <p:nvSpPr>
          <p:cNvPr id="18" name="Shape 16"/>
          <p:cNvSpPr/>
          <p:nvPr/>
        </p:nvSpPr>
        <p:spPr>
          <a:xfrm>
            <a:off x="7343572" y="3162300"/>
            <a:ext cx="19050" cy="5486400"/>
          </a:xfrm>
          <a:prstGeom prst="rect">
            <a:avLst/>
          </a:prstGeom>
          <a:solidFill>
            <a:srgbClr val="D2D3CD"/>
          </a:solidFill>
          <a:ln/>
        </p:spPr>
        <p:txBody>
          <a:bodyPr/>
          <a:lstStyle/>
          <a:p>
            <a:endParaRPr lang="en-US"/>
          </a:p>
        </p:txBody>
      </p:sp>
      <p:sp>
        <p:nvSpPr>
          <p:cNvPr id="19" name="Text 17"/>
          <p:cNvSpPr/>
          <p:nvPr/>
        </p:nvSpPr>
        <p:spPr>
          <a:xfrm>
            <a:off x="11279567"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0" name="Text 18"/>
          <p:cNvSpPr/>
          <p:nvPr/>
        </p:nvSpPr>
        <p:spPr>
          <a:xfrm>
            <a:off x="11279567"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Programming</a:t>
            </a:r>
            <a:endParaRPr lang="en-US" sz="2175" dirty="0"/>
          </a:p>
        </p:txBody>
      </p:sp>
      <p:sp>
        <p:nvSpPr>
          <p:cNvPr id="21" name="Text 19"/>
          <p:cNvSpPr/>
          <p:nvPr/>
        </p:nvSpPr>
        <p:spPr>
          <a:xfrm>
            <a:off x="11279567"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a:t>
            </a:r>
            <a:r>
              <a:rPr lang="en-US" sz="3750" kern="0" spc="-75" dirty="0" err="1">
                <a:solidFill>
                  <a:srgbClr val="22424B"/>
                </a:solidFill>
                <a:latin typeface="Georgia" pitchFamily="34" charset="0"/>
                <a:ea typeface="Georgia" pitchFamily="34" charset="-122"/>
                <a:cs typeface="Georgia" pitchFamily="34" charset="-120"/>
              </a:rPr>
              <a:t>xxK</a:t>
            </a:r>
            <a:r>
              <a:rPr lang="en-US" sz="3750" kern="0" spc="-75" dirty="0">
                <a:solidFill>
                  <a:srgbClr val="22424B"/>
                </a:solidFill>
                <a:latin typeface="Georgia" pitchFamily="34" charset="0"/>
                <a:ea typeface="Georgia" pitchFamily="34" charset="-122"/>
                <a:cs typeface="Georgia" pitchFamily="34" charset="-120"/>
              </a:rPr>
              <a:t> → $</a:t>
            </a:r>
            <a:r>
              <a:rPr lang="en-US" sz="3750" kern="0" spc="-75" dirty="0" err="1">
                <a:solidFill>
                  <a:srgbClr val="22424B"/>
                </a:solidFill>
                <a:latin typeface="Georgia" pitchFamily="34" charset="0"/>
                <a:ea typeface="Georgia" pitchFamily="34" charset="-122"/>
                <a:cs typeface="Georgia" pitchFamily="34" charset="-120"/>
              </a:rPr>
              <a:t>xxK</a:t>
            </a:r>
            <a:endParaRPr lang="en-US" sz="3750" dirty="0"/>
          </a:p>
        </p:txBody>
      </p:sp>
      <p:sp>
        <p:nvSpPr>
          <p:cNvPr id="24" name="Text 22"/>
          <p:cNvSpPr/>
          <p:nvPr/>
        </p:nvSpPr>
        <p:spPr>
          <a:xfrm>
            <a:off x="11323382" y="6486970"/>
            <a:ext cx="2944761" cy="1691878"/>
          </a:xfrm>
          <a:prstGeom prst="rect">
            <a:avLst/>
          </a:prstGeom>
          <a:noFill/>
          <a:ln/>
        </p:spPr>
        <p:txBody>
          <a:bodyPr wrap="square" lIns="25400" tIns="25400" rIns="25400" bIns="25400" rtlCol="0" anchor="t">
            <a:no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Replace nightly/weekly programming with intentional 2x/month activations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Focus on low-cost, high-impact events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Use brand/vendor partnerships to offset costs and drive traffic</a:t>
            </a:r>
          </a:p>
        </p:txBody>
      </p:sp>
      <p:sp>
        <p:nvSpPr>
          <p:cNvPr id="25" name="Shape 23"/>
          <p:cNvSpPr/>
          <p:nvPr/>
        </p:nvSpPr>
        <p:spPr>
          <a:xfrm>
            <a:off x="11010486" y="3162300"/>
            <a:ext cx="19050" cy="5486400"/>
          </a:xfrm>
          <a:prstGeom prst="rect">
            <a:avLst/>
          </a:prstGeom>
          <a:solidFill>
            <a:srgbClr val="D2D3CD"/>
          </a:solidFill>
          <a:ln/>
        </p:spPr>
        <p:txBody>
          <a:bodyPr/>
          <a:lstStyle/>
          <a:p>
            <a:endParaRPr lang="en-US"/>
          </a:p>
        </p:txBody>
      </p:sp>
      <p:sp>
        <p:nvSpPr>
          <p:cNvPr id="26" name="Text 24"/>
          <p:cNvSpPr/>
          <p:nvPr/>
        </p:nvSpPr>
        <p:spPr>
          <a:xfrm>
            <a:off x="777187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27" name="Text 25"/>
          <p:cNvSpPr/>
          <p:nvPr/>
        </p:nvSpPr>
        <p:spPr>
          <a:xfrm>
            <a:off x="777187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Remerchandise</a:t>
            </a:r>
            <a:endParaRPr lang="en-US" sz="2175" dirty="0"/>
          </a:p>
        </p:txBody>
      </p:sp>
      <p:sp>
        <p:nvSpPr>
          <p:cNvPr id="28" name="Text 26"/>
          <p:cNvSpPr/>
          <p:nvPr/>
        </p:nvSpPr>
        <p:spPr>
          <a:xfrm>
            <a:off x="777187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+$24K GP</a:t>
            </a:r>
            <a:endParaRPr lang="en-US" sz="3750" dirty="0"/>
          </a:p>
        </p:txBody>
      </p:sp>
      <p:sp>
        <p:nvSpPr>
          <p:cNvPr id="31" name="Text 29"/>
          <p:cNvSpPr/>
          <p:nvPr/>
        </p:nvSpPr>
        <p:spPr>
          <a:xfrm>
            <a:off x="7771879" y="6486970"/>
            <a:ext cx="2775599"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More convenience items</a:t>
            </a:r>
          </a:p>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Add travel category</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Add zero-labor everyday staples</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Frees ~200 barista hours a year</a:t>
            </a:r>
            <a:endParaRPr lang="en-US" sz="1400" dirty="0"/>
          </a:p>
        </p:txBody>
      </p:sp>
      <p:pic>
        <p:nvPicPr>
          <p:cNvPr id="34" name="Picture 33">
            <a:extLst>
              <a:ext uri="{FF2B5EF4-FFF2-40B4-BE49-F238E27FC236}">
                <a16:creationId xmlns:a16="http://schemas.microsoft.com/office/drawing/2014/main" id="{7CAADA67-AB8A-AB84-2F5F-3215ACD09D6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5" name="Text 7">
            <a:extLst>
              <a:ext uri="{FF2B5EF4-FFF2-40B4-BE49-F238E27FC236}">
                <a16:creationId xmlns:a16="http://schemas.microsoft.com/office/drawing/2014/main" id="{5B5C99FB-6EDE-A593-9DDA-21B420EE8A7D}"/>
              </a:ext>
            </a:extLst>
          </p:cNvPr>
          <p:cNvSpPr/>
          <p:nvPr/>
        </p:nvSpPr>
        <p:spPr>
          <a:xfrm>
            <a:off x="640168"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+$39K / yr</a:t>
            </a:r>
            <a:endParaRPr lang="en-US" sz="2000" i="1" dirty="0">
              <a:solidFill>
                <a:srgbClr val="1E7E8C"/>
              </a:solidFill>
            </a:endParaRPr>
          </a:p>
        </p:txBody>
      </p:sp>
      <p:sp>
        <p:nvSpPr>
          <p:cNvPr id="36" name="Text 7">
            <a:extLst>
              <a:ext uri="{FF2B5EF4-FFF2-40B4-BE49-F238E27FC236}">
                <a16:creationId xmlns:a16="http://schemas.microsoft.com/office/drawing/2014/main" id="{DC6DA773-7FB3-DD6E-DAC0-E113A296116B}"/>
              </a:ext>
            </a:extLst>
          </p:cNvPr>
          <p:cNvSpPr/>
          <p:nvPr/>
        </p:nvSpPr>
        <p:spPr>
          <a:xfrm>
            <a:off x="4249202"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+$24K / yr</a:t>
            </a:r>
            <a:endParaRPr lang="en-US" sz="2000" i="1" dirty="0">
              <a:solidFill>
                <a:srgbClr val="1E7E8C"/>
              </a:solidFill>
            </a:endParaRPr>
          </a:p>
        </p:txBody>
      </p:sp>
      <p:sp>
        <p:nvSpPr>
          <p:cNvPr id="37" name="Text 7">
            <a:extLst>
              <a:ext uri="{FF2B5EF4-FFF2-40B4-BE49-F238E27FC236}">
                <a16:creationId xmlns:a16="http://schemas.microsoft.com/office/drawing/2014/main" id="{FEC611F7-3921-CCAD-6BE6-822BF9784555}"/>
              </a:ext>
            </a:extLst>
          </p:cNvPr>
          <p:cNvSpPr/>
          <p:nvPr/>
        </p:nvSpPr>
        <p:spPr>
          <a:xfrm>
            <a:off x="11506663"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38" name="Text 7">
            <a:extLst>
              <a:ext uri="{FF2B5EF4-FFF2-40B4-BE49-F238E27FC236}">
                <a16:creationId xmlns:a16="http://schemas.microsoft.com/office/drawing/2014/main" id="{5DD2A855-B15B-1807-2D0D-8C6025F6F28A}"/>
              </a:ext>
            </a:extLst>
          </p:cNvPr>
          <p:cNvSpPr/>
          <p:nvPr/>
        </p:nvSpPr>
        <p:spPr>
          <a:xfrm>
            <a:off x="7907986"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+$9K / yr</a:t>
            </a:r>
            <a:endParaRPr lang="en-US" sz="2000" i="1" dirty="0">
              <a:solidFill>
                <a:srgbClr val="FF0000"/>
              </a:solidFill>
            </a:endParaRPr>
          </a:p>
        </p:txBody>
      </p:sp>
      <p:sp>
        <p:nvSpPr>
          <p:cNvPr id="41" name="Shape 7">
            <a:extLst>
              <a:ext uri="{FF2B5EF4-FFF2-40B4-BE49-F238E27FC236}">
                <a16:creationId xmlns:a16="http://schemas.microsoft.com/office/drawing/2014/main" id="{A16BC08D-F2FC-D51A-447B-6D9878D813AD}"/>
              </a:ext>
            </a:extLst>
          </p:cNvPr>
          <p:cNvSpPr/>
          <p:nvPr/>
        </p:nvSpPr>
        <p:spPr>
          <a:xfrm>
            <a:off x="4145368" y="6161333"/>
            <a:ext cx="2794649" cy="45719"/>
          </a:xfrm>
          <a:prstGeom prst="rect">
            <a:avLst/>
          </a:prstGeom>
          <a:solidFill>
            <a:srgbClr val="D2D3CD"/>
          </a:solidFill>
          <a:ln/>
        </p:spPr>
        <p:txBody>
          <a:bodyPr/>
          <a:lstStyle/>
          <a:p>
            <a:endParaRPr lang="en-US"/>
          </a:p>
        </p:txBody>
      </p:sp>
      <p:sp>
        <p:nvSpPr>
          <p:cNvPr id="42" name="Shape 7">
            <a:extLst>
              <a:ext uri="{FF2B5EF4-FFF2-40B4-BE49-F238E27FC236}">
                <a16:creationId xmlns:a16="http://schemas.microsoft.com/office/drawing/2014/main" id="{B7621963-42E8-3E3E-1DB6-F145708CEABA}"/>
              </a:ext>
            </a:extLst>
          </p:cNvPr>
          <p:cNvSpPr/>
          <p:nvPr/>
        </p:nvSpPr>
        <p:spPr>
          <a:xfrm>
            <a:off x="7763212" y="6161333"/>
            <a:ext cx="2794649" cy="45719"/>
          </a:xfrm>
          <a:prstGeom prst="rect">
            <a:avLst/>
          </a:prstGeom>
          <a:solidFill>
            <a:srgbClr val="D2D3CD"/>
          </a:solidFill>
          <a:ln/>
        </p:spPr>
        <p:txBody>
          <a:bodyPr/>
          <a:lstStyle/>
          <a:p>
            <a:endParaRPr lang="en-US"/>
          </a:p>
        </p:txBody>
      </p:sp>
      <p:sp>
        <p:nvSpPr>
          <p:cNvPr id="44" name="Text 17">
            <a:extLst>
              <a:ext uri="{FF2B5EF4-FFF2-40B4-BE49-F238E27FC236}">
                <a16:creationId xmlns:a16="http://schemas.microsoft.com/office/drawing/2014/main" id="{5499EB33-00FF-1509-4EB0-99B59F7B5507}"/>
              </a:ext>
            </a:extLst>
          </p:cNvPr>
          <p:cNvSpPr/>
          <p:nvPr/>
        </p:nvSpPr>
        <p:spPr>
          <a:xfrm>
            <a:off x="149172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05</a:t>
            </a:r>
            <a:endParaRPr lang="en-US" sz="2850" dirty="0"/>
          </a:p>
        </p:txBody>
      </p:sp>
      <p:sp>
        <p:nvSpPr>
          <p:cNvPr id="45" name="Text 18">
            <a:extLst>
              <a:ext uri="{FF2B5EF4-FFF2-40B4-BE49-F238E27FC236}">
                <a16:creationId xmlns:a16="http://schemas.microsoft.com/office/drawing/2014/main" id="{21EC8912-30A2-7C54-EACA-9F76D1BF264A}"/>
              </a:ext>
            </a:extLst>
          </p:cNvPr>
          <p:cNvSpPr/>
          <p:nvPr/>
        </p:nvSpPr>
        <p:spPr>
          <a:xfrm>
            <a:off x="149172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Operating Expenses</a:t>
            </a:r>
            <a:endParaRPr lang="en-US" sz="2175" dirty="0"/>
          </a:p>
        </p:txBody>
      </p:sp>
      <p:sp>
        <p:nvSpPr>
          <p:cNvPr id="46" name="Text 19">
            <a:extLst>
              <a:ext uri="{FF2B5EF4-FFF2-40B4-BE49-F238E27FC236}">
                <a16:creationId xmlns:a16="http://schemas.microsoft.com/office/drawing/2014/main" id="{DBFA6686-0E4A-5F17-4D96-1522628E5215}"/>
              </a:ext>
            </a:extLst>
          </p:cNvPr>
          <p:cNvSpPr/>
          <p:nvPr/>
        </p:nvSpPr>
        <p:spPr>
          <a:xfrm>
            <a:off x="1491728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$65.4K → $14.5K</a:t>
            </a:r>
            <a:endParaRPr lang="en-US" sz="3750" dirty="0"/>
          </a:p>
        </p:txBody>
      </p:sp>
      <p:sp>
        <p:nvSpPr>
          <p:cNvPr id="48" name="Text 22">
            <a:extLst>
              <a:ext uri="{FF2B5EF4-FFF2-40B4-BE49-F238E27FC236}">
                <a16:creationId xmlns:a16="http://schemas.microsoft.com/office/drawing/2014/main" id="{8C6D8B4F-0520-CFEF-7AE6-A5E57C1A2D98}"/>
              </a:ext>
            </a:extLst>
          </p:cNvPr>
          <p:cNvSpPr/>
          <p:nvPr/>
        </p:nvSpPr>
        <p:spPr>
          <a:xfrm>
            <a:off x="14961104" y="6486970"/>
            <a:ext cx="3030980"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4% management fee replaces the $48K flat fee</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Rent waived</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Owner charges drop from 22.6% to 4.0% of revenue</a:t>
            </a:r>
            <a:endParaRPr lang="en-US" sz="1400" dirty="0"/>
          </a:p>
        </p:txBody>
      </p:sp>
      <p:sp>
        <p:nvSpPr>
          <p:cNvPr id="49" name="Shape 23">
            <a:extLst>
              <a:ext uri="{FF2B5EF4-FFF2-40B4-BE49-F238E27FC236}">
                <a16:creationId xmlns:a16="http://schemas.microsoft.com/office/drawing/2014/main" id="{A0260980-BFF0-371E-0E61-561C3F1E61D7}"/>
              </a:ext>
            </a:extLst>
          </p:cNvPr>
          <p:cNvSpPr/>
          <p:nvPr/>
        </p:nvSpPr>
        <p:spPr>
          <a:xfrm>
            <a:off x="14648208" y="3162300"/>
            <a:ext cx="19050" cy="5486400"/>
          </a:xfrm>
          <a:prstGeom prst="rect">
            <a:avLst/>
          </a:prstGeom>
          <a:solidFill>
            <a:srgbClr val="D2D3CD"/>
          </a:solidFill>
          <a:ln/>
        </p:spPr>
        <p:txBody>
          <a:bodyPr/>
          <a:lstStyle/>
          <a:p>
            <a:endParaRPr lang="en-US"/>
          </a:p>
        </p:txBody>
      </p:sp>
      <p:sp>
        <p:nvSpPr>
          <p:cNvPr id="50" name="Text 7">
            <a:extLst>
              <a:ext uri="{FF2B5EF4-FFF2-40B4-BE49-F238E27FC236}">
                <a16:creationId xmlns:a16="http://schemas.microsoft.com/office/drawing/2014/main" id="{F50723BC-EDF5-C456-116E-EFF1B5443156}"/>
              </a:ext>
            </a:extLst>
          </p:cNvPr>
          <p:cNvSpPr/>
          <p:nvPr/>
        </p:nvSpPr>
        <p:spPr>
          <a:xfrm>
            <a:off x="15144385"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51" name="Shape 7">
            <a:extLst>
              <a:ext uri="{FF2B5EF4-FFF2-40B4-BE49-F238E27FC236}">
                <a16:creationId xmlns:a16="http://schemas.microsoft.com/office/drawing/2014/main" id="{86EC74DA-255C-FA4C-09A5-660413409B65}"/>
              </a:ext>
            </a:extLst>
          </p:cNvPr>
          <p:cNvSpPr/>
          <p:nvPr/>
        </p:nvSpPr>
        <p:spPr>
          <a:xfrm>
            <a:off x="11361177" y="6161333"/>
            <a:ext cx="2794649" cy="45719"/>
          </a:xfrm>
          <a:prstGeom prst="rect">
            <a:avLst/>
          </a:prstGeom>
          <a:solidFill>
            <a:srgbClr val="D2D3CD"/>
          </a:solidFill>
          <a:ln/>
        </p:spPr>
        <p:txBody>
          <a:bodyPr/>
          <a:lstStyle/>
          <a:p>
            <a:endParaRPr lang="en-US"/>
          </a:p>
        </p:txBody>
      </p:sp>
      <p:sp>
        <p:nvSpPr>
          <p:cNvPr id="52" name="Shape 7">
            <a:extLst>
              <a:ext uri="{FF2B5EF4-FFF2-40B4-BE49-F238E27FC236}">
                <a16:creationId xmlns:a16="http://schemas.microsoft.com/office/drawing/2014/main" id="{B00907AA-21B9-2E56-B96D-460C578402F7}"/>
              </a:ext>
            </a:extLst>
          </p:cNvPr>
          <p:cNvSpPr/>
          <p:nvPr/>
        </p:nvSpPr>
        <p:spPr>
          <a:xfrm>
            <a:off x="15078412" y="6161333"/>
            <a:ext cx="2794649" cy="45719"/>
          </a:xfrm>
          <a:prstGeom prst="rect">
            <a:avLst/>
          </a:prstGeom>
          <a:solidFill>
            <a:srgbClr val="D2D3CD"/>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84DAB189-489B-9296-C14A-E244BD758C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F9610-671B-688E-1A1B-7FFABCBEC2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a:extLst>
              <a:ext uri="{FF2B5EF4-FFF2-40B4-BE49-F238E27FC236}">
                <a16:creationId xmlns:a16="http://schemas.microsoft.com/office/drawing/2014/main" id="{20227806-3710-9466-9028-9F2BC1C7AEA6}"/>
              </a:ext>
            </a:extLst>
          </p:cNvPr>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Close staffed service at 4pm — keep the register open</a:t>
            </a:r>
            <a:endParaRPr lang="en-US" sz="4500" dirty="0"/>
          </a:p>
        </p:txBody>
      </p:sp>
      <p:sp>
        <p:nvSpPr>
          <p:cNvPr id="4" name="Shape 2">
            <a:extLst>
              <a:ext uri="{FF2B5EF4-FFF2-40B4-BE49-F238E27FC236}">
                <a16:creationId xmlns:a16="http://schemas.microsoft.com/office/drawing/2014/main" id="{BB25870D-5941-1B42-D0AF-F0A088180A11}"/>
              </a:ext>
            </a:extLst>
          </p:cNvPr>
          <p:cNvSpPr/>
          <p:nvPr/>
        </p:nvSpPr>
        <p:spPr>
          <a:xfrm>
            <a:off x="952500" y="2019300"/>
            <a:ext cx="10157222" cy="990600"/>
          </a:xfrm>
          <a:prstGeom prst="rect">
            <a:avLst/>
          </a:prstGeom>
          <a:solidFill>
            <a:srgbClr val="22424B"/>
          </a:solidFill>
          <a:ln/>
        </p:spPr>
        <p:txBody>
          <a:bodyPr/>
          <a:lstStyle/>
          <a:p>
            <a:endParaRPr lang="en-US"/>
          </a:p>
        </p:txBody>
      </p:sp>
      <p:sp>
        <p:nvSpPr>
          <p:cNvPr id="5" name="Text 3">
            <a:extLst>
              <a:ext uri="{FF2B5EF4-FFF2-40B4-BE49-F238E27FC236}">
                <a16:creationId xmlns:a16="http://schemas.microsoft.com/office/drawing/2014/main" id="{6484E12A-2CBA-5BDB-A789-26AA74A165DA}"/>
              </a:ext>
            </a:extLst>
          </p:cNvPr>
          <p:cNvSpPr/>
          <p:nvPr/>
        </p:nvSpPr>
        <p:spPr>
          <a:xfrm>
            <a:off x="1295400" y="2171700"/>
            <a:ext cx="10418564"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EDF1F1"/>
                </a:solidFill>
                <a:latin typeface="Georgia" pitchFamily="34" charset="0"/>
                <a:ea typeface="Georgia" pitchFamily="34" charset="-122"/>
                <a:cs typeface="Georgia" pitchFamily="34" charset="-120"/>
              </a:rPr>
              <a:t>6:00a – 4:00p</a:t>
            </a:r>
            <a:endParaRPr lang="en-US" sz="3000" dirty="0"/>
          </a:p>
        </p:txBody>
      </p:sp>
      <p:sp>
        <p:nvSpPr>
          <p:cNvPr id="6" name="Text 4">
            <a:extLst>
              <a:ext uri="{FF2B5EF4-FFF2-40B4-BE49-F238E27FC236}">
                <a16:creationId xmlns:a16="http://schemas.microsoft.com/office/drawing/2014/main" id="{83123B94-8988-819F-C6AC-FE1B56D02DEF}"/>
              </a:ext>
            </a:extLst>
          </p:cNvPr>
          <p:cNvSpPr/>
          <p:nvPr/>
        </p:nvSpPr>
        <p:spPr>
          <a:xfrm>
            <a:off x="1295400" y="2628900"/>
            <a:ext cx="104185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C2C8C8"/>
                </a:solidFill>
                <a:latin typeface="Arial" pitchFamily="34" charset="0"/>
                <a:ea typeface="Arial" pitchFamily="34" charset="-122"/>
                <a:cs typeface="Arial" pitchFamily="34" charset="-120"/>
              </a:rPr>
              <a:t>one barista · single 10-hour shift · doors 6:30a</a:t>
            </a:r>
            <a:endParaRPr lang="en-US" sz="1575" dirty="0"/>
          </a:p>
        </p:txBody>
      </p:sp>
      <p:sp>
        <p:nvSpPr>
          <p:cNvPr id="7" name="Shape 5">
            <a:extLst>
              <a:ext uri="{FF2B5EF4-FFF2-40B4-BE49-F238E27FC236}">
                <a16:creationId xmlns:a16="http://schemas.microsoft.com/office/drawing/2014/main" id="{E6DF4144-4394-3BB6-C73B-90E3A379DB6F}"/>
              </a:ext>
            </a:extLst>
          </p:cNvPr>
          <p:cNvSpPr/>
          <p:nvPr/>
        </p:nvSpPr>
        <p:spPr>
          <a:xfrm>
            <a:off x="11109722" y="2019300"/>
            <a:ext cx="6225778" cy="990600"/>
          </a:xfrm>
          <a:prstGeom prst="rect">
            <a:avLst/>
          </a:prstGeom>
          <a:solidFill>
            <a:srgbClr val="E4E9E5"/>
          </a:solidFill>
          <a:ln/>
        </p:spPr>
        <p:txBody>
          <a:bodyPr/>
          <a:lstStyle/>
          <a:p>
            <a:endParaRPr lang="en-US"/>
          </a:p>
        </p:txBody>
      </p:sp>
      <p:sp>
        <p:nvSpPr>
          <p:cNvPr id="8" name="Text 6">
            <a:extLst>
              <a:ext uri="{FF2B5EF4-FFF2-40B4-BE49-F238E27FC236}">
                <a16:creationId xmlns:a16="http://schemas.microsoft.com/office/drawing/2014/main" id="{81557D21-39F1-A132-A7DD-284C202C65FF}"/>
              </a:ext>
            </a:extLst>
          </p:cNvPr>
          <p:cNvSpPr/>
          <p:nvPr/>
        </p:nvSpPr>
        <p:spPr>
          <a:xfrm>
            <a:off x="11452622" y="2171700"/>
            <a:ext cx="609397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22424B"/>
                </a:solidFill>
                <a:latin typeface="Georgia" pitchFamily="34" charset="0"/>
                <a:ea typeface="Georgia" pitchFamily="34" charset="-122"/>
                <a:cs typeface="Georgia" pitchFamily="34" charset="-120"/>
              </a:rPr>
              <a:t>4:00p – close</a:t>
            </a:r>
            <a:endParaRPr lang="en-US" sz="3000" dirty="0"/>
          </a:p>
        </p:txBody>
      </p:sp>
      <p:sp>
        <p:nvSpPr>
          <p:cNvPr id="9" name="Text 7">
            <a:extLst>
              <a:ext uri="{FF2B5EF4-FFF2-40B4-BE49-F238E27FC236}">
                <a16:creationId xmlns:a16="http://schemas.microsoft.com/office/drawing/2014/main" id="{C2E37A80-5965-863A-8B1F-FE55D63808C3}"/>
              </a:ext>
            </a:extLst>
          </p:cNvPr>
          <p:cNvSpPr/>
          <p:nvPr/>
        </p:nvSpPr>
        <p:spPr>
          <a:xfrm>
            <a:off x="11452622" y="2628900"/>
            <a:ext cx="609397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5E6B70"/>
                </a:solidFill>
                <a:latin typeface="Arial" pitchFamily="34" charset="0"/>
                <a:ea typeface="Arial" pitchFamily="34" charset="-122"/>
                <a:cs typeface="Arial" pitchFamily="34" charset="-120"/>
              </a:rPr>
              <a:t>Self-serve · no added labor</a:t>
            </a:r>
            <a:endParaRPr lang="en-US" sz="1575" dirty="0"/>
          </a:p>
        </p:txBody>
      </p:sp>
      <p:sp>
        <p:nvSpPr>
          <p:cNvPr id="10" name="Text 8">
            <a:extLst>
              <a:ext uri="{FF2B5EF4-FFF2-40B4-BE49-F238E27FC236}">
                <a16:creationId xmlns:a16="http://schemas.microsoft.com/office/drawing/2014/main" id="{8AC1B988-50AB-3707-7191-92D8F7823A19}"/>
              </a:ext>
            </a:extLst>
          </p:cNvPr>
          <p:cNvSpPr/>
          <p:nvPr/>
        </p:nvSpPr>
        <p:spPr>
          <a:xfrm>
            <a:off x="952500" y="4023360"/>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WHAT WE'D GIVE UP AFTER 4PM</a:t>
            </a:r>
            <a:endParaRPr lang="en-US" sz="1425" dirty="0"/>
          </a:p>
        </p:txBody>
      </p:sp>
      <p:sp>
        <p:nvSpPr>
          <p:cNvPr id="11" name="Text 9">
            <a:extLst>
              <a:ext uri="{FF2B5EF4-FFF2-40B4-BE49-F238E27FC236}">
                <a16:creationId xmlns:a16="http://schemas.microsoft.com/office/drawing/2014/main" id="{EE93917A-7829-5A02-9617-D39E0A775185}"/>
              </a:ext>
            </a:extLst>
          </p:cNvPr>
          <p:cNvSpPr/>
          <p:nvPr/>
        </p:nvSpPr>
        <p:spPr>
          <a:xfrm>
            <a:off x="952500" y="4404360"/>
            <a:ext cx="2646293" cy="8382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5700" kern="0" spc="-150" dirty="0">
                <a:solidFill>
                  <a:srgbClr val="1E7E8C"/>
                </a:solidFill>
                <a:latin typeface="Georgia" pitchFamily="34" charset="0"/>
                <a:ea typeface="Georgia" pitchFamily="34" charset="-122"/>
                <a:cs typeface="Georgia" pitchFamily="34" charset="-120"/>
              </a:rPr>
              <a:t>~3.7%</a:t>
            </a:r>
            <a:endParaRPr lang="en-US" sz="5700" dirty="0">
              <a:solidFill>
                <a:srgbClr val="1E7E8C"/>
              </a:solidFill>
            </a:endParaRPr>
          </a:p>
        </p:txBody>
      </p:sp>
      <p:sp>
        <p:nvSpPr>
          <p:cNvPr id="14" name="Text 12">
            <a:extLst>
              <a:ext uri="{FF2B5EF4-FFF2-40B4-BE49-F238E27FC236}">
                <a16:creationId xmlns:a16="http://schemas.microsoft.com/office/drawing/2014/main" id="{BF0BEEF3-0BA9-4D91-3D81-DF08623B2D37}"/>
              </a:ext>
            </a:extLst>
          </p:cNvPr>
          <p:cNvSpPr/>
          <p:nvPr/>
        </p:nvSpPr>
        <p:spPr>
          <a:xfrm>
            <a:off x="952500" y="5242560"/>
            <a:ext cx="720852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E7E8C"/>
                </a:solidFill>
                <a:latin typeface="Arial" pitchFamily="34" charset="0"/>
                <a:ea typeface="Arial" pitchFamily="34" charset="-122"/>
                <a:cs typeface="Arial" pitchFamily="34" charset="-120"/>
              </a:rPr>
              <a:t>of daily sales</a:t>
            </a:r>
            <a:endParaRPr lang="en-US" sz="1800" dirty="0">
              <a:solidFill>
                <a:srgbClr val="1E7E8C"/>
              </a:solidFill>
            </a:endParaRPr>
          </a:p>
        </p:txBody>
      </p:sp>
      <p:sp>
        <p:nvSpPr>
          <p:cNvPr id="15" name="Text 13">
            <a:extLst>
              <a:ext uri="{FF2B5EF4-FFF2-40B4-BE49-F238E27FC236}">
                <a16:creationId xmlns:a16="http://schemas.microsoft.com/office/drawing/2014/main" id="{224BFA3C-726D-B76C-8661-217B2DB21086}"/>
              </a:ext>
            </a:extLst>
          </p:cNvPr>
          <p:cNvSpPr/>
          <p:nvPr/>
        </p:nvSpPr>
        <p:spPr>
          <a:xfrm>
            <a:off x="952500" y="5756910"/>
            <a:ext cx="6749796" cy="2745406"/>
          </a:xfrm>
          <a:prstGeom prst="rect">
            <a:avLst/>
          </a:prstGeom>
          <a:noFill/>
          <a:ln/>
        </p:spPr>
        <p:txBody>
          <a:bodyPr wrap="square" lIns="25400" tIns="25400" rIns="25400" bIns="25400" rtlCol="0" anchor="t">
            <a:normAutofit/>
          </a:bodyPr>
          <a:lstStyle/>
          <a:p>
            <a:pPr>
              <a:lnSpc>
                <a:spcPct val="150000"/>
              </a:lnSpc>
            </a:pPr>
            <a:r>
              <a:rPr lang="en-US" sz="1650" dirty="0">
                <a:solidFill>
                  <a:srgbClr val="5E6B70"/>
                </a:solidFill>
                <a:latin typeface="Arial" pitchFamily="34" charset="0"/>
                <a:cs typeface="Arial" pitchFamily="34" charset="-120"/>
              </a:rPr>
              <a:t>Post-4pm sales = 17.3% of total sales (trailing 12 mo)</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Only 21.5% of those sales require a barista</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Net sales at risk = 3.7% of total revenue</a:t>
            </a:r>
          </a:p>
        </p:txBody>
      </p:sp>
      <p:sp>
        <p:nvSpPr>
          <p:cNvPr id="16" name="Shape 14">
            <a:extLst>
              <a:ext uri="{FF2B5EF4-FFF2-40B4-BE49-F238E27FC236}">
                <a16:creationId xmlns:a16="http://schemas.microsoft.com/office/drawing/2014/main" id="{6A581461-3C1E-825E-6FA7-D1637795EF60}"/>
              </a:ext>
            </a:extLst>
          </p:cNvPr>
          <p:cNvSpPr/>
          <p:nvPr/>
        </p:nvSpPr>
        <p:spPr>
          <a:xfrm>
            <a:off x="6157007" y="3442335"/>
            <a:ext cx="19050" cy="5276850"/>
          </a:xfrm>
          <a:prstGeom prst="rect">
            <a:avLst/>
          </a:prstGeom>
          <a:solidFill>
            <a:srgbClr val="D6D8D2"/>
          </a:solidFill>
          <a:ln/>
        </p:spPr>
        <p:txBody>
          <a:bodyPr/>
          <a:lstStyle/>
          <a:p>
            <a:endParaRPr lang="en-US"/>
          </a:p>
        </p:txBody>
      </p:sp>
      <p:sp>
        <p:nvSpPr>
          <p:cNvPr id="17" name="Text 15">
            <a:extLst>
              <a:ext uri="{FF2B5EF4-FFF2-40B4-BE49-F238E27FC236}">
                <a16:creationId xmlns:a16="http://schemas.microsoft.com/office/drawing/2014/main" id="{B1EE85F8-F64C-D529-0E92-9D20A1A4DE89}"/>
              </a:ext>
            </a:extLst>
          </p:cNvPr>
          <p:cNvSpPr/>
          <p:nvPr/>
        </p:nvSpPr>
        <p:spPr>
          <a:xfrm>
            <a:off x="7463952" y="4023360"/>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RECAPTURED WITH ZERO LABOR</a:t>
            </a:r>
            <a:endParaRPr lang="en-US" sz="1425" dirty="0">
              <a:solidFill>
                <a:srgbClr val="1E7E8C"/>
              </a:solidFill>
            </a:endParaRPr>
          </a:p>
        </p:txBody>
      </p:sp>
      <p:sp>
        <p:nvSpPr>
          <p:cNvPr id="18" name="Text 16">
            <a:extLst>
              <a:ext uri="{FF2B5EF4-FFF2-40B4-BE49-F238E27FC236}">
                <a16:creationId xmlns:a16="http://schemas.microsoft.com/office/drawing/2014/main" id="{91144212-1D63-0E04-D465-DB8F288BC264}"/>
              </a:ext>
            </a:extLst>
          </p:cNvPr>
          <p:cNvSpPr/>
          <p:nvPr/>
        </p:nvSpPr>
        <p:spPr>
          <a:xfrm>
            <a:off x="7463952" y="442341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1</a:t>
            </a:r>
            <a:endParaRPr lang="en-US" sz="2550" dirty="0"/>
          </a:p>
        </p:txBody>
      </p:sp>
      <p:sp>
        <p:nvSpPr>
          <p:cNvPr id="19" name="Text 17">
            <a:extLst>
              <a:ext uri="{FF2B5EF4-FFF2-40B4-BE49-F238E27FC236}">
                <a16:creationId xmlns:a16="http://schemas.microsoft.com/office/drawing/2014/main" id="{E493D465-EF08-2413-D2C1-54DDBB94F86F}"/>
              </a:ext>
            </a:extLst>
          </p:cNvPr>
          <p:cNvSpPr/>
          <p:nvPr/>
        </p:nvSpPr>
        <p:spPr>
          <a:xfrm>
            <a:off x="8073552" y="442341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Toast self-serve kiosk</a:t>
            </a:r>
            <a:endParaRPr lang="en-US" sz="2025" dirty="0"/>
          </a:p>
        </p:txBody>
      </p:sp>
      <p:sp>
        <p:nvSpPr>
          <p:cNvPr id="20" name="Text 18">
            <a:extLst>
              <a:ext uri="{FF2B5EF4-FFF2-40B4-BE49-F238E27FC236}">
                <a16:creationId xmlns:a16="http://schemas.microsoft.com/office/drawing/2014/main" id="{15DBA68F-6299-B358-7C45-00F7B6E908BD}"/>
              </a:ext>
            </a:extLst>
          </p:cNvPr>
          <p:cNvSpPr/>
          <p:nvPr/>
        </p:nvSpPr>
        <p:spPr>
          <a:xfrm>
            <a:off x="8073552" y="476631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Guests ring up cooler drinks, grab-and-go, cans &amp; retail themselves — no one behind the counter.</a:t>
            </a:r>
            <a:endParaRPr lang="en-US" sz="1650" dirty="0"/>
          </a:p>
        </p:txBody>
      </p:sp>
      <p:sp>
        <p:nvSpPr>
          <p:cNvPr id="21" name="Shape 19">
            <a:extLst>
              <a:ext uri="{FF2B5EF4-FFF2-40B4-BE49-F238E27FC236}">
                <a16:creationId xmlns:a16="http://schemas.microsoft.com/office/drawing/2014/main" id="{27965B7E-FD11-0279-7176-1D1A005D3BEB}"/>
              </a:ext>
            </a:extLst>
          </p:cNvPr>
          <p:cNvSpPr/>
          <p:nvPr/>
        </p:nvSpPr>
        <p:spPr>
          <a:xfrm>
            <a:off x="7463952" y="5528310"/>
            <a:ext cx="8667750" cy="19050"/>
          </a:xfrm>
          <a:prstGeom prst="rect">
            <a:avLst/>
          </a:prstGeom>
          <a:solidFill>
            <a:srgbClr val="DEE0DA"/>
          </a:solidFill>
          <a:ln/>
        </p:spPr>
        <p:txBody>
          <a:bodyPr/>
          <a:lstStyle/>
          <a:p>
            <a:endParaRPr lang="en-US"/>
          </a:p>
        </p:txBody>
      </p:sp>
      <p:sp>
        <p:nvSpPr>
          <p:cNvPr id="22" name="Text 20">
            <a:extLst>
              <a:ext uri="{FF2B5EF4-FFF2-40B4-BE49-F238E27FC236}">
                <a16:creationId xmlns:a16="http://schemas.microsoft.com/office/drawing/2014/main" id="{6949D15E-D31C-0472-9DF1-521BF4368397}"/>
              </a:ext>
            </a:extLst>
          </p:cNvPr>
          <p:cNvSpPr/>
          <p:nvPr/>
        </p:nvSpPr>
        <p:spPr>
          <a:xfrm>
            <a:off x="7463952" y="573786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2</a:t>
            </a:r>
            <a:endParaRPr lang="en-US" sz="2550" dirty="0"/>
          </a:p>
        </p:txBody>
      </p:sp>
      <p:sp>
        <p:nvSpPr>
          <p:cNvPr id="23" name="Text 21">
            <a:extLst>
              <a:ext uri="{FF2B5EF4-FFF2-40B4-BE49-F238E27FC236}">
                <a16:creationId xmlns:a16="http://schemas.microsoft.com/office/drawing/2014/main" id="{1C0A3350-C3E0-2ABE-9604-27A06075FF14}"/>
              </a:ext>
            </a:extLst>
          </p:cNvPr>
          <p:cNvSpPr/>
          <p:nvPr/>
        </p:nvSpPr>
        <p:spPr>
          <a:xfrm>
            <a:off x="8073552" y="573786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ROOST front-desk checkout</a:t>
            </a:r>
            <a:endParaRPr lang="en-US" sz="2025" dirty="0"/>
          </a:p>
        </p:txBody>
      </p:sp>
      <p:sp>
        <p:nvSpPr>
          <p:cNvPr id="24" name="Text 22">
            <a:extLst>
              <a:ext uri="{FF2B5EF4-FFF2-40B4-BE49-F238E27FC236}">
                <a16:creationId xmlns:a16="http://schemas.microsoft.com/office/drawing/2014/main" id="{4F8F8FCE-C825-4627-0FE0-E05C6FC410D3}"/>
              </a:ext>
            </a:extLst>
          </p:cNvPr>
          <p:cNvSpPr/>
          <p:nvPr/>
        </p:nvSpPr>
        <p:spPr>
          <a:xfrm>
            <a:off x="8073552" y="608076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The hotel desk is staffed 24/7 anyway — it rings the sale or charges it straight to the room.</a:t>
            </a:r>
            <a:endParaRPr lang="en-US" sz="1650" dirty="0"/>
          </a:p>
        </p:txBody>
      </p:sp>
      <p:pic>
        <p:nvPicPr>
          <p:cNvPr id="27" name="Picture 26">
            <a:extLst>
              <a:ext uri="{FF2B5EF4-FFF2-40B4-BE49-F238E27FC236}">
                <a16:creationId xmlns:a16="http://schemas.microsoft.com/office/drawing/2014/main" id="{D23723BF-9A9E-48A5-98D3-14E14F66A7E9}"/>
              </a:ext>
            </a:extLst>
          </p:cNvPr>
          <p:cNvPicPr>
            <a:picLocks noChangeAspect="1"/>
          </p:cNvPicPr>
          <p:nvPr/>
        </p:nvPicPr>
        <p:blipFill>
          <a:blip r:embed="rId3"/>
          <a:stretch>
            <a:fillRect/>
          </a:stretch>
        </p:blipFill>
        <p:spPr>
          <a:xfrm>
            <a:off x="17138588" y="9022687"/>
            <a:ext cx="702372" cy="692953"/>
          </a:xfrm>
          <a:prstGeom prst="rect">
            <a:avLst/>
          </a:prstGeom>
        </p:spPr>
      </p:pic>
    </p:spTree>
    <p:extLst>
      <p:ext uri="{BB962C8B-B14F-4D97-AF65-F5344CB8AC3E}">
        <p14:creationId xmlns:p14="http://schemas.microsoft.com/office/powerpoint/2010/main" val="254381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Impact of transitioning to a single shift</a:t>
            </a:r>
            <a:endParaRPr lang="en-US" sz="4500" dirty="0"/>
          </a:p>
        </p:txBody>
      </p:sp>
      <p:pic>
        <p:nvPicPr>
          <p:cNvPr id="27" name="Picture 26">
            <a:extLst>
              <a:ext uri="{FF2B5EF4-FFF2-40B4-BE49-F238E27FC236}">
                <a16:creationId xmlns:a16="http://schemas.microsoft.com/office/drawing/2014/main" id="{A5BE38D2-58FE-CE4A-40F1-C68F69EAF42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Shape 7">
            <a:extLst>
              <a:ext uri="{FF2B5EF4-FFF2-40B4-BE49-F238E27FC236}">
                <a16:creationId xmlns:a16="http://schemas.microsoft.com/office/drawing/2014/main" id="{7A0170E0-E74E-E021-ED74-786AEC1BFC96}"/>
              </a:ext>
            </a:extLst>
          </p:cNvPr>
          <p:cNvSpPr/>
          <p:nvPr/>
        </p:nvSpPr>
        <p:spPr>
          <a:xfrm>
            <a:off x="952500" y="2828925"/>
            <a:ext cx="9298186" cy="19050"/>
          </a:xfrm>
          <a:prstGeom prst="rect">
            <a:avLst/>
          </a:prstGeom>
          <a:solidFill>
            <a:srgbClr val="DEE0DA"/>
          </a:solidFill>
          <a:ln/>
        </p:spPr>
        <p:txBody>
          <a:bodyPr/>
          <a:lstStyle/>
          <a:p>
            <a:endParaRPr lang="en-US"/>
          </a:p>
        </p:txBody>
      </p:sp>
      <p:sp>
        <p:nvSpPr>
          <p:cNvPr id="35" name="Text 8">
            <a:extLst>
              <a:ext uri="{FF2B5EF4-FFF2-40B4-BE49-F238E27FC236}">
                <a16:creationId xmlns:a16="http://schemas.microsoft.com/office/drawing/2014/main" id="{365DA748-A21C-C5AD-60B5-FA7BC4893AC7}"/>
              </a:ext>
            </a:extLst>
          </p:cNvPr>
          <p:cNvSpPr/>
          <p:nvPr/>
        </p:nvSpPr>
        <p:spPr>
          <a:xfrm>
            <a:off x="990600" y="29146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coverage hours / day</a:t>
            </a:r>
            <a:endParaRPr lang="en-US" sz="1725" dirty="0"/>
          </a:p>
        </p:txBody>
      </p:sp>
      <p:sp>
        <p:nvSpPr>
          <p:cNvPr id="36" name="Text 9">
            <a:extLst>
              <a:ext uri="{FF2B5EF4-FFF2-40B4-BE49-F238E27FC236}">
                <a16:creationId xmlns:a16="http://schemas.microsoft.com/office/drawing/2014/main" id="{DED7099B-D822-B7D6-D4BF-17E85BA0FF8B}"/>
              </a:ext>
            </a:extLst>
          </p:cNvPr>
          <p:cNvSpPr/>
          <p:nvPr/>
        </p:nvSpPr>
        <p:spPr>
          <a:xfrm>
            <a:off x="4839322" y="29146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~16 </a:t>
            </a:r>
            <a:r>
              <a:rPr lang="en-US" sz="1350" dirty="0">
                <a:solidFill>
                  <a:srgbClr val="93999B"/>
                </a:solidFill>
                <a:latin typeface="Arial" pitchFamily="34" charset="0"/>
                <a:ea typeface="Arial" pitchFamily="34" charset="-122"/>
                <a:cs typeface="Arial" pitchFamily="34" charset="-120"/>
              </a:rPr>
              <a:t>(2 shifts)</a:t>
            </a:r>
            <a:endParaRPr lang="en-US" sz="1725" dirty="0"/>
          </a:p>
        </p:txBody>
      </p:sp>
      <p:sp>
        <p:nvSpPr>
          <p:cNvPr id="37" name="Text 10">
            <a:extLst>
              <a:ext uri="{FF2B5EF4-FFF2-40B4-BE49-F238E27FC236}">
                <a16:creationId xmlns:a16="http://schemas.microsoft.com/office/drawing/2014/main" id="{F7460ABA-CDE8-09DF-7E33-6B4460368215}"/>
              </a:ext>
            </a:extLst>
          </p:cNvPr>
          <p:cNvSpPr/>
          <p:nvPr/>
        </p:nvSpPr>
        <p:spPr>
          <a:xfrm>
            <a:off x="8809360" y="29146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a:t>
            </a:r>
            <a:endParaRPr lang="en-US" sz="1725" dirty="0"/>
          </a:p>
        </p:txBody>
      </p:sp>
      <p:sp>
        <p:nvSpPr>
          <p:cNvPr id="38" name="Shape 11">
            <a:extLst>
              <a:ext uri="{FF2B5EF4-FFF2-40B4-BE49-F238E27FC236}">
                <a16:creationId xmlns:a16="http://schemas.microsoft.com/office/drawing/2014/main" id="{533684A8-06AA-78E4-4845-4957ED97E56C}"/>
              </a:ext>
            </a:extLst>
          </p:cNvPr>
          <p:cNvSpPr/>
          <p:nvPr/>
        </p:nvSpPr>
        <p:spPr>
          <a:xfrm>
            <a:off x="952500" y="3248025"/>
            <a:ext cx="9298186" cy="19050"/>
          </a:xfrm>
          <a:prstGeom prst="rect">
            <a:avLst/>
          </a:prstGeom>
          <a:solidFill>
            <a:srgbClr val="DEE0DA"/>
          </a:solidFill>
          <a:ln/>
        </p:spPr>
        <p:txBody>
          <a:bodyPr/>
          <a:lstStyle/>
          <a:p>
            <a:endParaRPr lang="en-US"/>
          </a:p>
        </p:txBody>
      </p:sp>
      <p:sp>
        <p:nvSpPr>
          <p:cNvPr id="39" name="Text 12">
            <a:extLst>
              <a:ext uri="{FF2B5EF4-FFF2-40B4-BE49-F238E27FC236}">
                <a16:creationId xmlns:a16="http://schemas.microsoft.com/office/drawing/2014/main" id="{F6F74368-6DC1-5C1C-A7BF-A73053839100}"/>
              </a:ext>
            </a:extLst>
          </p:cNvPr>
          <p:cNvSpPr/>
          <p:nvPr/>
        </p:nvSpPr>
        <p:spPr>
          <a:xfrm>
            <a:off x="990600" y="3333750"/>
            <a:ext cx="404623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Days open / week</a:t>
            </a:r>
            <a:endParaRPr lang="en-US" sz="1725" dirty="0"/>
          </a:p>
        </p:txBody>
      </p:sp>
      <p:sp>
        <p:nvSpPr>
          <p:cNvPr id="40" name="Text 13">
            <a:extLst>
              <a:ext uri="{FF2B5EF4-FFF2-40B4-BE49-F238E27FC236}">
                <a16:creationId xmlns:a16="http://schemas.microsoft.com/office/drawing/2014/main" id="{1C5363A3-EB28-41E2-6DFE-D0E47EAB1476}"/>
              </a:ext>
            </a:extLst>
          </p:cNvPr>
          <p:cNvSpPr/>
          <p:nvPr/>
        </p:nvSpPr>
        <p:spPr>
          <a:xfrm>
            <a:off x="4839322" y="3333750"/>
            <a:ext cx="2697036"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1" name="Text 14">
            <a:extLst>
              <a:ext uri="{FF2B5EF4-FFF2-40B4-BE49-F238E27FC236}">
                <a16:creationId xmlns:a16="http://schemas.microsoft.com/office/drawing/2014/main" id="{43B655AD-E76C-ED7D-5392-ADE642D3E7DB}"/>
              </a:ext>
            </a:extLst>
          </p:cNvPr>
          <p:cNvSpPr/>
          <p:nvPr/>
        </p:nvSpPr>
        <p:spPr>
          <a:xfrm>
            <a:off x="8809360" y="3333750"/>
            <a:ext cx="131445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2" name="Shape 16">
            <a:extLst>
              <a:ext uri="{FF2B5EF4-FFF2-40B4-BE49-F238E27FC236}">
                <a16:creationId xmlns:a16="http://schemas.microsoft.com/office/drawing/2014/main" id="{BA724402-AC5B-73FD-F056-2BB7E018789E}"/>
              </a:ext>
            </a:extLst>
          </p:cNvPr>
          <p:cNvSpPr/>
          <p:nvPr/>
        </p:nvSpPr>
        <p:spPr>
          <a:xfrm>
            <a:off x="952500" y="4124325"/>
            <a:ext cx="9298186" cy="19050"/>
          </a:xfrm>
          <a:prstGeom prst="rect">
            <a:avLst/>
          </a:prstGeom>
          <a:solidFill>
            <a:srgbClr val="DEE0DA"/>
          </a:solidFill>
          <a:ln/>
        </p:spPr>
        <p:txBody>
          <a:bodyPr/>
          <a:lstStyle/>
          <a:p>
            <a:endParaRPr lang="en-US"/>
          </a:p>
        </p:txBody>
      </p:sp>
      <p:sp>
        <p:nvSpPr>
          <p:cNvPr id="43" name="Text 17">
            <a:extLst>
              <a:ext uri="{FF2B5EF4-FFF2-40B4-BE49-F238E27FC236}">
                <a16:creationId xmlns:a16="http://schemas.microsoft.com/office/drawing/2014/main" id="{8828D155-D856-90FF-FD99-4AB9033B2A90}"/>
              </a:ext>
            </a:extLst>
          </p:cNvPr>
          <p:cNvSpPr/>
          <p:nvPr/>
        </p:nvSpPr>
        <p:spPr>
          <a:xfrm>
            <a:off x="990600" y="42100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counter + supervisor</a:t>
            </a:r>
            <a:endParaRPr lang="en-US" sz="1725" dirty="0"/>
          </a:p>
        </p:txBody>
      </p:sp>
      <p:sp>
        <p:nvSpPr>
          <p:cNvPr id="44" name="Text 18">
            <a:extLst>
              <a:ext uri="{FF2B5EF4-FFF2-40B4-BE49-F238E27FC236}">
                <a16:creationId xmlns:a16="http://schemas.microsoft.com/office/drawing/2014/main" id="{4C71A5BC-C9AB-2751-4BFB-110932060DE1}"/>
              </a:ext>
            </a:extLst>
          </p:cNvPr>
          <p:cNvSpPr/>
          <p:nvPr/>
        </p:nvSpPr>
        <p:spPr>
          <a:xfrm>
            <a:off x="4839322" y="42100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111.8</a:t>
            </a:r>
            <a:endParaRPr lang="en-US" sz="1725" dirty="0"/>
          </a:p>
        </p:txBody>
      </p:sp>
      <p:sp>
        <p:nvSpPr>
          <p:cNvPr id="45" name="Text 19">
            <a:extLst>
              <a:ext uri="{FF2B5EF4-FFF2-40B4-BE49-F238E27FC236}">
                <a16:creationId xmlns:a16="http://schemas.microsoft.com/office/drawing/2014/main" id="{1B885EC4-B192-26E1-D6A2-0B55F1FDA1A5}"/>
              </a:ext>
            </a:extLst>
          </p:cNvPr>
          <p:cNvSpPr/>
          <p:nvPr/>
        </p:nvSpPr>
        <p:spPr>
          <a:xfrm>
            <a:off x="8809360" y="42100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78.0</a:t>
            </a:r>
            <a:endParaRPr lang="en-US" sz="1725" dirty="0"/>
          </a:p>
        </p:txBody>
      </p:sp>
      <p:sp>
        <p:nvSpPr>
          <p:cNvPr id="46" name="Shape 20">
            <a:extLst>
              <a:ext uri="{FF2B5EF4-FFF2-40B4-BE49-F238E27FC236}">
                <a16:creationId xmlns:a16="http://schemas.microsoft.com/office/drawing/2014/main" id="{DFB302C1-7092-4E81-DBD5-0718A7C817CC}"/>
              </a:ext>
            </a:extLst>
          </p:cNvPr>
          <p:cNvSpPr/>
          <p:nvPr/>
        </p:nvSpPr>
        <p:spPr>
          <a:xfrm>
            <a:off x="952500" y="4543425"/>
            <a:ext cx="9298186" cy="19050"/>
          </a:xfrm>
          <a:prstGeom prst="rect">
            <a:avLst/>
          </a:prstGeom>
          <a:solidFill>
            <a:srgbClr val="DEE0DA"/>
          </a:solidFill>
          <a:ln/>
        </p:spPr>
        <p:txBody>
          <a:bodyPr/>
          <a:lstStyle/>
          <a:p>
            <a:endParaRPr lang="en-US"/>
          </a:p>
        </p:txBody>
      </p:sp>
      <p:sp>
        <p:nvSpPr>
          <p:cNvPr id="47" name="Text 21">
            <a:extLst>
              <a:ext uri="{FF2B5EF4-FFF2-40B4-BE49-F238E27FC236}">
                <a16:creationId xmlns:a16="http://schemas.microsoft.com/office/drawing/2014/main" id="{42DCE0D4-C17D-716A-063A-258AD003A205}"/>
              </a:ext>
            </a:extLst>
          </p:cNvPr>
          <p:cNvSpPr/>
          <p:nvPr/>
        </p:nvSpPr>
        <p:spPr>
          <a:xfrm>
            <a:off x="990600" y="4629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cook</a:t>
            </a:r>
            <a:endParaRPr lang="en-US" sz="1725" dirty="0"/>
          </a:p>
        </p:txBody>
      </p:sp>
      <p:sp>
        <p:nvSpPr>
          <p:cNvPr id="48" name="Text 22">
            <a:extLst>
              <a:ext uri="{FF2B5EF4-FFF2-40B4-BE49-F238E27FC236}">
                <a16:creationId xmlns:a16="http://schemas.microsoft.com/office/drawing/2014/main" id="{CBB974CD-F35D-5BE8-57CF-DE6B4780B3E8}"/>
              </a:ext>
            </a:extLst>
          </p:cNvPr>
          <p:cNvSpPr/>
          <p:nvPr/>
        </p:nvSpPr>
        <p:spPr>
          <a:xfrm>
            <a:off x="4839322" y="4629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49" name="Text 23">
            <a:extLst>
              <a:ext uri="{FF2B5EF4-FFF2-40B4-BE49-F238E27FC236}">
                <a16:creationId xmlns:a16="http://schemas.microsoft.com/office/drawing/2014/main" id="{F66D515E-D39B-8152-DF1F-26AB71A88455}"/>
              </a:ext>
            </a:extLst>
          </p:cNvPr>
          <p:cNvSpPr/>
          <p:nvPr/>
        </p:nvSpPr>
        <p:spPr>
          <a:xfrm>
            <a:off x="8809360" y="4629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50" name="Shape 24">
            <a:extLst>
              <a:ext uri="{FF2B5EF4-FFF2-40B4-BE49-F238E27FC236}">
                <a16:creationId xmlns:a16="http://schemas.microsoft.com/office/drawing/2014/main" id="{A2BC2841-8049-83A4-0537-B0ED3F752B91}"/>
              </a:ext>
            </a:extLst>
          </p:cNvPr>
          <p:cNvSpPr/>
          <p:nvPr/>
        </p:nvSpPr>
        <p:spPr>
          <a:xfrm>
            <a:off x="952500" y="4962525"/>
            <a:ext cx="9298186" cy="485775"/>
          </a:xfrm>
          <a:prstGeom prst="rect">
            <a:avLst/>
          </a:prstGeom>
          <a:solidFill>
            <a:srgbClr val="EAECE6"/>
          </a:solidFill>
          <a:ln/>
        </p:spPr>
        <p:txBody>
          <a:bodyPr/>
          <a:lstStyle/>
          <a:p>
            <a:endParaRPr lang="en-US"/>
          </a:p>
        </p:txBody>
      </p:sp>
      <p:sp>
        <p:nvSpPr>
          <p:cNvPr id="51" name="Shape 25">
            <a:extLst>
              <a:ext uri="{FF2B5EF4-FFF2-40B4-BE49-F238E27FC236}">
                <a16:creationId xmlns:a16="http://schemas.microsoft.com/office/drawing/2014/main" id="{93689EBC-55A8-9B9A-51AD-4ADE45B73378}"/>
              </a:ext>
            </a:extLst>
          </p:cNvPr>
          <p:cNvSpPr/>
          <p:nvPr/>
        </p:nvSpPr>
        <p:spPr>
          <a:xfrm>
            <a:off x="952500" y="4962525"/>
            <a:ext cx="9298186" cy="19050"/>
          </a:xfrm>
          <a:prstGeom prst="rect">
            <a:avLst/>
          </a:prstGeom>
          <a:solidFill>
            <a:srgbClr val="C6C9C3"/>
          </a:solidFill>
          <a:ln/>
        </p:spPr>
        <p:txBody>
          <a:bodyPr/>
          <a:lstStyle/>
          <a:p>
            <a:endParaRPr lang="en-US"/>
          </a:p>
        </p:txBody>
      </p:sp>
      <p:sp>
        <p:nvSpPr>
          <p:cNvPr id="52" name="Text 26">
            <a:extLst>
              <a:ext uri="{FF2B5EF4-FFF2-40B4-BE49-F238E27FC236}">
                <a16:creationId xmlns:a16="http://schemas.microsoft.com/office/drawing/2014/main" id="{37129FE8-C29B-66DD-E53B-6F87D5749833}"/>
              </a:ext>
            </a:extLst>
          </p:cNvPr>
          <p:cNvSpPr/>
          <p:nvPr/>
        </p:nvSpPr>
        <p:spPr>
          <a:xfrm>
            <a:off x="1028700" y="50673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hourly staff-hours</a:t>
            </a:r>
            <a:endParaRPr lang="en-US" sz="1725" dirty="0"/>
          </a:p>
        </p:txBody>
      </p:sp>
      <p:sp>
        <p:nvSpPr>
          <p:cNvPr id="53" name="Text 27">
            <a:extLst>
              <a:ext uri="{FF2B5EF4-FFF2-40B4-BE49-F238E27FC236}">
                <a16:creationId xmlns:a16="http://schemas.microsoft.com/office/drawing/2014/main" id="{E8F77547-F379-9F97-F940-70C226F17DEC}"/>
              </a:ext>
            </a:extLst>
          </p:cNvPr>
          <p:cNvSpPr/>
          <p:nvPr/>
        </p:nvSpPr>
        <p:spPr>
          <a:xfrm>
            <a:off x="4915522" y="50673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125.1</a:t>
            </a:r>
            <a:endParaRPr lang="en-US" sz="1725" dirty="0"/>
          </a:p>
        </p:txBody>
      </p:sp>
      <p:sp>
        <p:nvSpPr>
          <p:cNvPr id="54" name="Text 28">
            <a:extLst>
              <a:ext uri="{FF2B5EF4-FFF2-40B4-BE49-F238E27FC236}">
                <a16:creationId xmlns:a16="http://schemas.microsoft.com/office/drawing/2014/main" id="{685E7804-9BFB-B700-18E8-8C0FDB408122}"/>
              </a:ext>
            </a:extLst>
          </p:cNvPr>
          <p:cNvSpPr/>
          <p:nvPr/>
        </p:nvSpPr>
        <p:spPr>
          <a:xfrm>
            <a:off x="8885560" y="50673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91.3</a:t>
            </a:r>
            <a:endParaRPr lang="en-US" sz="1725" dirty="0"/>
          </a:p>
        </p:txBody>
      </p:sp>
      <p:sp>
        <p:nvSpPr>
          <p:cNvPr id="55" name="Text 29">
            <a:extLst>
              <a:ext uri="{FF2B5EF4-FFF2-40B4-BE49-F238E27FC236}">
                <a16:creationId xmlns:a16="http://schemas.microsoft.com/office/drawing/2014/main" id="{B7341CDE-0B7A-B365-FAE5-9B63F2D42D12}"/>
              </a:ext>
            </a:extLst>
          </p:cNvPr>
          <p:cNvSpPr/>
          <p:nvPr/>
        </p:nvSpPr>
        <p:spPr>
          <a:xfrm>
            <a:off x="10123810" y="50673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−33.8 hrs</a:t>
            </a:r>
            <a:endParaRPr lang="en-US" sz="1800" dirty="0"/>
          </a:p>
        </p:txBody>
      </p:sp>
      <p:sp>
        <p:nvSpPr>
          <p:cNvPr id="56" name="Shape 31">
            <a:extLst>
              <a:ext uri="{FF2B5EF4-FFF2-40B4-BE49-F238E27FC236}">
                <a16:creationId xmlns:a16="http://schemas.microsoft.com/office/drawing/2014/main" id="{9E3C6240-16F3-D8CD-DD4A-23EA0557FC70}"/>
              </a:ext>
            </a:extLst>
          </p:cNvPr>
          <p:cNvSpPr/>
          <p:nvPr/>
        </p:nvSpPr>
        <p:spPr>
          <a:xfrm>
            <a:off x="952500" y="5915025"/>
            <a:ext cx="9298186" cy="19050"/>
          </a:xfrm>
          <a:prstGeom prst="rect">
            <a:avLst/>
          </a:prstGeom>
          <a:solidFill>
            <a:srgbClr val="DEE0DA"/>
          </a:solidFill>
          <a:ln/>
        </p:spPr>
        <p:txBody>
          <a:bodyPr/>
          <a:lstStyle/>
          <a:p>
            <a:endParaRPr lang="en-US"/>
          </a:p>
        </p:txBody>
      </p:sp>
      <p:sp>
        <p:nvSpPr>
          <p:cNvPr id="57" name="Text 32">
            <a:extLst>
              <a:ext uri="{FF2B5EF4-FFF2-40B4-BE49-F238E27FC236}">
                <a16:creationId xmlns:a16="http://schemas.microsoft.com/office/drawing/2014/main" id="{6A93693D-D770-1BD4-A1E8-4D14365C15AD}"/>
              </a:ext>
            </a:extLst>
          </p:cNvPr>
          <p:cNvSpPr/>
          <p:nvPr/>
        </p:nvSpPr>
        <p:spPr>
          <a:xfrm>
            <a:off x="990600" y="60007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hourly (counter + supervisor)</a:t>
            </a:r>
            <a:endParaRPr lang="en-US" sz="1725" dirty="0"/>
          </a:p>
        </p:txBody>
      </p:sp>
      <p:sp>
        <p:nvSpPr>
          <p:cNvPr id="58" name="Text 33">
            <a:extLst>
              <a:ext uri="{FF2B5EF4-FFF2-40B4-BE49-F238E27FC236}">
                <a16:creationId xmlns:a16="http://schemas.microsoft.com/office/drawing/2014/main" id="{B14F91C3-A486-18B5-83C3-E44C287D933F}"/>
              </a:ext>
            </a:extLst>
          </p:cNvPr>
          <p:cNvSpPr/>
          <p:nvPr/>
        </p:nvSpPr>
        <p:spPr>
          <a:xfrm>
            <a:off x="4839322" y="60007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$2,207</a:t>
            </a:r>
            <a:endParaRPr lang="en-US" sz="1725" dirty="0"/>
          </a:p>
        </p:txBody>
      </p:sp>
      <p:sp>
        <p:nvSpPr>
          <p:cNvPr id="59" name="Text 34">
            <a:extLst>
              <a:ext uri="{FF2B5EF4-FFF2-40B4-BE49-F238E27FC236}">
                <a16:creationId xmlns:a16="http://schemas.microsoft.com/office/drawing/2014/main" id="{CE843FB7-2299-1A67-992F-3F9FD848CBEF}"/>
              </a:ext>
            </a:extLst>
          </p:cNvPr>
          <p:cNvSpPr/>
          <p:nvPr/>
        </p:nvSpPr>
        <p:spPr>
          <a:xfrm>
            <a:off x="8809360" y="60007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$1,560</a:t>
            </a:r>
            <a:endParaRPr lang="en-US" sz="1725" dirty="0"/>
          </a:p>
        </p:txBody>
      </p:sp>
      <p:sp>
        <p:nvSpPr>
          <p:cNvPr id="60" name="Shape 35">
            <a:extLst>
              <a:ext uri="{FF2B5EF4-FFF2-40B4-BE49-F238E27FC236}">
                <a16:creationId xmlns:a16="http://schemas.microsoft.com/office/drawing/2014/main" id="{7E6FC44C-0BF2-DCEC-7752-C3C7F71865BB}"/>
              </a:ext>
            </a:extLst>
          </p:cNvPr>
          <p:cNvSpPr/>
          <p:nvPr/>
        </p:nvSpPr>
        <p:spPr>
          <a:xfrm>
            <a:off x="952500" y="6334125"/>
            <a:ext cx="9298186" cy="19050"/>
          </a:xfrm>
          <a:prstGeom prst="rect">
            <a:avLst/>
          </a:prstGeom>
          <a:solidFill>
            <a:srgbClr val="DEE0DA"/>
          </a:solidFill>
          <a:ln/>
        </p:spPr>
        <p:txBody>
          <a:bodyPr/>
          <a:lstStyle/>
          <a:p>
            <a:endParaRPr lang="en-US"/>
          </a:p>
        </p:txBody>
      </p:sp>
      <p:sp>
        <p:nvSpPr>
          <p:cNvPr id="61" name="Text 36">
            <a:extLst>
              <a:ext uri="{FF2B5EF4-FFF2-40B4-BE49-F238E27FC236}">
                <a16:creationId xmlns:a16="http://schemas.microsoft.com/office/drawing/2014/main" id="{BC1E8590-2C5B-0894-AD94-A54192600861}"/>
              </a:ext>
            </a:extLst>
          </p:cNvPr>
          <p:cNvSpPr/>
          <p:nvPr/>
        </p:nvSpPr>
        <p:spPr>
          <a:xfrm>
            <a:off x="990600" y="64198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hourly (cook)</a:t>
            </a:r>
            <a:endParaRPr lang="en-US" sz="1725" dirty="0"/>
          </a:p>
        </p:txBody>
      </p:sp>
      <p:sp>
        <p:nvSpPr>
          <p:cNvPr id="62" name="Text 37">
            <a:extLst>
              <a:ext uri="{FF2B5EF4-FFF2-40B4-BE49-F238E27FC236}">
                <a16:creationId xmlns:a16="http://schemas.microsoft.com/office/drawing/2014/main" id="{FD03C78D-4248-2F87-B32E-A043B6B159C8}"/>
              </a:ext>
            </a:extLst>
          </p:cNvPr>
          <p:cNvSpPr/>
          <p:nvPr/>
        </p:nvSpPr>
        <p:spPr>
          <a:xfrm>
            <a:off x="4839322" y="64198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3" name="Text 38">
            <a:extLst>
              <a:ext uri="{FF2B5EF4-FFF2-40B4-BE49-F238E27FC236}">
                <a16:creationId xmlns:a16="http://schemas.microsoft.com/office/drawing/2014/main" id="{1A717E3A-B98D-51EE-BD7D-3A95159091EE}"/>
              </a:ext>
            </a:extLst>
          </p:cNvPr>
          <p:cNvSpPr/>
          <p:nvPr/>
        </p:nvSpPr>
        <p:spPr>
          <a:xfrm>
            <a:off x="8809360" y="64198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4" name="Shape 39">
            <a:extLst>
              <a:ext uri="{FF2B5EF4-FFF2-40B4-BE49-F238E27FC236}">
                <a16:creationId xmlns:a16="http://schemas.microsoft.com/office/drawing/2014/main" id="{45056DC8-1FD2-94C9-7EBA-41FB2C10186E}"/>
              </a:ext>
            </a:extLst>
          </p:cNvPr>
          <p:cNvSpPr/>
          <p:nvPr/>
        </p:nvSpPr>
        <p:spPr>
          <a:xfrm>
            <a:off x="952500" y="6753225"/>
            <a:ext cx="9298186" cy="19050"/>
          </a:xfrm>
          <a:prstGeom prst="rect">
            <a:avLst/>
          </a:prstGeom>
          <a:solidFill>
            <a:srgbClr val="DEE0DA"/>
          </a:solidFill>
          <a:ln/>
        </p:spPr>
        <p:txBody>
          <a:bodyPr/>
          <a:lstStyle/>
          <a:p>
            <a:endParaRPr lang="en-US"/>
          </a:p>
        </p:txBody>
      </p:sp>
      <p:sp>
        <p:nvSpPr>
          <p:cNvPr id="65" name="Text 40">
            <a:extLst>
              <a:ext uri="{FF2B5EF4-FFF2-40B4-BE49-F238E27FC236}">
                <a16:creationId xmlns:a16="http://schemas.microsoft.com/office/drawing/2014/main" id="{3C609C15-F7E2-364E-EAB0-51E6459FE648}"/>
              </a:ext>
            </a:extLst>
          </p:cNvPr>
          <p:cNvSpPr/>
          <p:nvPr/>
        </p:nvSpPr>
        <p:spPr>
          <a:xfrm>
            <a:off x="952500" y="6838950"/>
            <a:ext cx="4084338" cy="323850"/>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Hourly labor subtotal</a:t>
            </a:r>
            <a:endParaRPr lang="en-US" sz="1725" dirty="0"/>
          </a:p>
        </p:txBody>
      </p:sp>
      <p:sp>
        <p:nvSpPr>
          <p:cNvPr id="66" name="Text 41">
            <a:extLst>
              <a:ext uri="{FF2B5EF4-FFF2-40B4-BE49-F238E27FC236}">
                <a16:creationId xmlns:a16="http://schemas.microsoft.com/office/drawing/2014/main" id="{8E47CF2A-52AF-2015-9C0E-61631BEE44D6}"/>
              </a:ext>
            </a:extLst>
          </p:cNvPr>
          <p:cNvSpPr/>
          <p:nvPr/>
        </p:nvSpPr>
        <p:spPr>
          <a:xfrm>
            <a:off x="4839322" y="6838950"/>
            <a:ext cx="2697036"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$2,503</a:t>
            </a:r>
            <a:endParaRPr lang="en-US" sz="1725" dirty="0"/>
          </a:p>
        </p:txBody>
      </p:sp>
      <p:sp>
        <p:nvSpPr>
          <p:cNvPr id="67" name="Text 42">
            <a:extLst>
              <a:ext uri="{FF2B5EF4-FFF2-40B4-BE49-F238E27FC236}">
                <a16:creationId xmlns:a16="http://schemas.microsoft.com/office/drawing/2014/main" id="{377BB319-EFFC-ED9F-4FD7-F350E9F5993D}"/>
              </a:ext>
            </a:extLst>
          </p:cNvPr>
          <p:cNvSpPr/>
          <p:nvPr/>
        </p:nvSpPr>
        <p:spPr>
          <a:xfrm>
            <a:off x="8809360" y="6838950"/>
            <a:ext cx="1314450"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$1,856</a:t>
            </a:r>
            <a:endParaRPr lang="en-US" sz="1725" dirty="0"/>
          </a:p>
        </p:txBody>
      </p:sp>
      <p:sp>
        <p:nvSpPr>
          <p:cNvPr id="68" name="Text 43">
            <a:extLst>
              <a:ext uri="{FF2B5EF4-FFF2-40B4-BE49-F238E27FC236}">
                <a16:creationId xmlns:a16="http://schemas.microsoft.com/office/drawing/2014/main" id="{A8CC4ADA-1AF5-0A37-5414-86048C695053}"/>
              </a:ext>
            </a:extLst>
          </p:cNvPr>
          <p:cNvSpPr/>
          <p:nvPr/>
        </p:nvSpPr>
        <p:spPr>
          <a:xfrm>
            <a:off x="10047610" y="6838950"/>
            <a:ext cx="1552873" cy="323850"/>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−$647</a:t>
            </a:r>
            <a:endParaRPr lang="en-US" sz="1800" dirty="0"/>
          </a:p>
        </p:txBody>
      </p:sp>
      <p:sp>
        <p:nvSpPr>
          <p:cNvPr id="69" name="Shape 44">
            <a:extLst>
              <a:ext uri="{FF2B5EF4-FFF2-40B4-BE49-F238E27FC236}">
                <a16:creationId xmlns:a16="http://schemas.microsoft.com/office/drawing/2014/main" id="{4672E77B-7C95-BF00-2DB2-C4A7A8CFF6E8}"/>
              </a:ext>
            </a:extLst>
          </p:cNvPr>
          <p:cNvSpPr/>
          <p:nvPr/>
        </p:nvSpPr>
        <p:spPr>
          <a:xfrm>
            <a:off x="952500" y="7210425"/>
            <a:ext cx="9298186" cy="19050"/>
          </a:xfrm>
          <a:prstGeom prst="rect">
            <a:avLst/>
          </a:prstGeom>
          <a:solidFill>
            <a:srgbClr val="DEE0DA"/>
          </a:solidFill>
          <a:ln/>
        </p:spPr>
        <p:txBody>
          <a:bodyPr/>
          <a:lstStyle/>
          <a:p>
            <a:endParaRPr lang="en-US"/>
          </a:p>
        </p:txBody>
      </p:sp>
      <p:sp>
        <p:nvSpPr>
          <p:cNvPr id="70" name="Text 45">
            <a:extLst>
              <a:ext uri="{FF2B5EF4-FFF2-40B4-BE49-F238E27FC236}">
                <a16:creationId xmlns:a16="http://schemas.microsoft.com/office/drawing/2014/main" id="{347EDE03-FEBE-252F-9854-43743C3B1EA2}"/>
              </a:ext>
            </a:extLst>
          </p:cNvPr>
          <p:cNvSpPr/>
          <p:nvPr/>
        </p:nvSpPr>
        <p:spPr>
          <a:xfrm>
            <a:off x="990600" y="7296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Management labor</a:t>
            </a:r>
            <a:endParaRPr lang="en-US" sz="1725" dirty="0"/>
          </a:p>
        </p:txBody>
      </p:sp>
      <p:sp>
        <p:nvSpPr>
          <p:cNvPr id="71" name="Text 46">
            <a:extLst>
              <a:ext uri="{FF2B5EF4-FFF2-40B4-BE49-F238E27FC236}">
                <a16:creationId xmlns:a16="http://schemas.microsoft.com/office/drawing/2014/main" id="{79A17114-128A-862E-1268-95BC26413239}"/>
              </a:ext>
            </a:extLst>
          </p:cNvPr>
          <p:cNvSpPr/>
          <p:nvPr/>
        </p:nvSpPr>
        <p:spPr>
          <a:xfrm>
            <a:off x="4839322" y="7296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2" name="Text 47">
            <a:extLst>
              <a:ext uri="{FF2B5EF4-FFF2-40B4-BE49-F238E27FC236}">
                <a16:creationId xmlns:a16="http://schemas.microsoft.com/office/drawing/2014/main" id="{0D4AF447-24AA-7CB2-7F82-DCD91676007F}"/>
              </a:ext>
            </a:extLst>
          </p:cNvPr>
          <p:cNvSpPr/>
          <p:nvPr/>
        </p:nvSpPr>
        <p:spPr>
          <a:xfrm>
            <a:off x="8809360" y="7296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3" name="Shape 48">
            <a:extLst>
              <a:ext uri="{FF2B5EF4-FFF2-40B4-BE49-F238E27FC236}">
                <a16:creationId xmlns:a16="http://schemas.microsoft.com/office/drawing/2014/main" id="{19A3A70D-1C88-6B25-8248-E9ED158EBF69}"/>
              </a:ext>
            </a:extLst>
          </p:cNvPr>
          <p:cNvSpPr/>
          <p:nvPr/>
        </p:nvSpPr>
        <p:spPr>
          <a:xfrm>
            <a:off x="952500" y="7629525"/>
            <a:ext cx="9298186" cy="19050"/>
          </a:xfrm>
          <a:prstGeom prst="rect">
            <a:avLst/>
          </a:prstGeom>
          <a:solidFill>
            <a:srgbClr val="DEE0DA"/>
          </a:solidFill>
          <a:ln/>
        </p:spPr>
        <p:txBody>
          <a:bodyPr/>
          <a:lstStyle/>
          <a:p>
            <a:endParaRPr lang="en-US"/>
          </a:p>
        </p:txBody>
      </p:sp>
      <p:sp>
        <p:nvSpPr>
          <p:cNvPr id="74" name="Text 49">
            <a:extLst>
              <a:ext uri="{FF2B5EF4-FFF2-40B4-BE49-F238E27FC236}">
                <a16:creationId xmlns:a16="http://schemas.microsoft.com/office/drawing/2014/main" id="{4775D588-FB82-D1CB-5287-D160BE378FC1}"/>
              </a:ext>
            </a:extLst>
          </p:cNvPr>
          <p:cNvSpPr/>
          <p:nvPr/>
        </p:nvSpPr>
        <p:spPr>
          <a:xfrm>
            <a:off x="990600" y="77152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Payroll taxes &amp; benefits (16%)</a:t>
            </a:r>
            <a:endParaRPr lang="en-US" sz="1725" dirty="0"/>
          </a:p>
        </p:txBody>
      </p:sp>
      <p:sp>
        <p:nvSpPr>
          <p:cNvPr id="75" name="Text 50">
            <a:extLst>
              <a:ext uri="{FF2B5EF4-FFF2-40B4-BE49-F238E27FC236}">
                <a16:creationId xmlns:a16="http://schemas.microsoft.com/office/drawing/2014/main" id="{03DB701E-3CA1-FC6B-0D25-E6F0946D6DFC}"/>
              </a:ext>
            </a:extLst>
          </p:cNvPr>
          <p:cNvSpPr/>
          <p:nvPr/>
        </p:nvSpPr>
        <p:spPr>
          <a:xfrm>
            <a:off x="4839322" y="77152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$440</a:t>
            </a:r>
            <a:endParaRPr lang="en-US" sz="1725" dirty="0"/>
          </a:p>
        </p:txBody>
      </p:sp>
      <p:sp>
        <p:nvSpPr>
          <p:cNvPr id="76" name="Text 51">
            <a:extLst>
              <a:ext uri="{FF2B5EF4-FFF2-40B4-BE49-F238E27FC236}">
                <a16:creationId xmlns:a16="http://schemas.microsoft.com/office/drawing/2014/main" id="{574B1A15-6E08-B2EE-5AC0-8E362421AF8A}"/>
              </a:ext>
            </a:extLst>
          </p:cNvPr>
          <p:cNvSpPr/>
          <p:nvPr/>
        </p:nvSpPr>
        <p:spPr>
          <a:xfrm>
            <a:off x="8809360" y="77152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$337</a:t>
            </a:r>
            <a:endParaRPr lang="en-US" sz="1725" dirty="0"/>
          </a:p>
        </p:txBody>
      </p:sp>
      <p:sp>
        <p:nvSpPr>
          <p:cNvPr id="77" name="Shape 52">
            <a:extLst>
              <a:ext uri="{FF2B5EF4-FFF2-40B4-BE49-F238E27FC236}">
                <a16:creationId xmlns:a16="http://schemas.microsoft.com/office/drawing/2014/main" id="{D479713B-CBDE-52FC-4D91-13E4AA038AE2}"/>
              </a:ext>
            </a:extLst>
          </p:cNvPr>
          <p:cNvSpPr/>
          <p:nvPr/>
        </p:nvSpPr>
        <p:spPr>
          <a:xfrm>
            <a:off x="952500" y="8048625"/>
            <a:ext cx="9298186" cy="485775"/>
          </a:xfrm>
          <a:prstGeom prst="rect">
            <a:avLst/>
          </a:prstGeom>
          <a:solidFill>
            <a:srgbClr val="EAECE6"/>
          </a:solidFill>
          <a:ln/>
        </p:spPr>
        <p:txBody>
          <a:bodyPr/>
          <a:lstStyle/>
          <a:p>
            <a:endParaRPr lang="en-US"/>
          </a:p>
        </p:txBody>
      </p:sp>
      <p:sp>
        <p:nvSpPr>
          <p:cNvPr id="78" name="Shape 53">
            <a:extLst>
              <a:ext uri="{FF2B5EF4-FFF2-40B4-BE49-F238E27FC236}">
                <a16:creationId xmlns:a16="http://schemas.microsoft.com/office/drawing/2014/main" id="{2A7DFACF-B9D0-D88E-2FAE-031FF4D9B3E7}"/>
              </a:ext>
            </a:extLst>
          </p:cNvPr>
          <p:cNvSpPr/>
          <p:nvPr/>
        </p:nvSpPr>
        <p:spPr>
          <a:xfrm>
            <a:off x="952500" y="8048625"/>
            <a:ext cx="9298186" cy="19050"/>
          </a:xfrm>
          <a:prstGeom prst="rect">
            <a:avLst/>
          </a:prstGeom>
          <a:solidFill>
            <a:srgbClr val="C6C9C3"/>
          </a:solidFill>
          <a:ln/>
        </p:spPr>
        <p:txBody>
          <a:bodyPr/>
          <a:lstStyle/>
          <a:p>
            <a:endParaRPr lang="en-US"/>
          </a:p>
        </p:txBody>
      </p:sp>
      <p:sp>
        <p:nvSpPr>
          <p:cNvPr id="79" name="Text 54">
            <a:extLst>
              <a:ext uri="{FF2B5EF4-FFF2-40B4-BE49-F238E27FC236}">
                <a16:creationId xmlns:a16="http://schemas.microsoft.com/office/drawing/2014/main" id="{E8D8FFB5-2E8D-B9AD-6E64-52A70A6F6E0D}"/>
              </a:ext>
            </a:extLst>
          </p:cNvPr>
          <p:cNvSpPr/>
          <p:nvPr/>
        </p:nvSpPr>
        <p:spPr>
          <a:xfrm>
            <a:off x="1028700" y="81534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loaded labor / week</a:t>
            </a:r>
            <a:endParaRPr lang="en-US" sz="1725" dirty="0"/>
          </a:p>
        </p:txBody>
      </p:sp>
      <p:sp>
        <p:nvSpPr>
          <p:cNvPr id="80" name="Text 55">
            <a:extLst>
              <a:ext uri="{FF2B5EF4-FFF2-40B4-BE49-F238E27FC236}">
                <a16:creationId xmlns:a16="http://schemas.microsoft.com/office/drawing/2014/main" id="{8B117E00-1ECB-1987-6BD6-05DCC846825E}"/>
              </a:ext>
            </a:extLst>
          </p:cNvPr>
          <p:cNvSpPr/>
          <p:nvPr/>
        </p:nvSpPr>
        <p:spPr>
          <a:xfrm>
            <a:off x="4915522" y="81534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$3,191</a:t>
            </a:r>
            <a:endParaRPr lang="en-US" sz="1725" dirty="0"/>
          </a:p>
        </p:txBody>
      </p:sp>
      <p:sp>
        <p:nvSpPr>
          <p:cNvPr id="81" name="Text 56">
            <a:extLst>
              <a:ext uri="{FF2B5EF4-FFF2-40B4-BE49-F238E27FC236}">
                <a16:creationId xmlns:a16="http://schemas.microsoft.com/office/drawing/2014/main" id="{0D2EAB14-1BFF-4489-123A-2025B3D18B41}"/>
              </a:ext>
            </a:extLst>
          </p:cNvPr>
          <p:cNvSpPr/>
          <p:nvPr/>
        </p:nvSpPr>
        <p:spPr>
          <a:xfrm>
            <a:off x="8885560" y="81534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$2,441</a:t>
            </a:r>
            <a:endParaRPr lang="en-US" sz="1725" dirty="0"/>
          </a:p>
        </p:txBody>
      </p:sp>
      <p:sp>
        <p:nvSpPr>
          <p:cNvPr id="82" name="Text 57">
            <a:extLst>
              <a:ext uri="{FF2B5EF4-FFF2-40B4-BE49-F238E27FC236}">
                <a16:creationId xmlns:a16="http://schemas.microsoft.com/office/drawing/2014/main" id="{AF18F7E4-14DE-2808-232E-1CA53F4DA36C}"/>
              </a:ext>
            </a:extLst>
          </p:cNvPr>
          <p:cNvSpPr/>
          <p:nvPr/>
        </p:nvSpPr>
        <p:spPr>
          <a:xfrm>
            <a:off x="10123810" y="81534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−$750</a:t>
            </a:r>
            <a:endParaRPr lang="en-US" sz="1800" dirty="0"/>
          </a:p>
        </p:txBody>
      </p:sp>
      <p:sp>
        <p:nvSpPr>
          <p:cNvPr id="83" name="Text 3">
            <a:extLst>
              <a:ext uri="{FF2B5EF4-FFF2-40B4-BE49-F238E27FC236}">
                <a16:creationId xmlns:a16="http://schemas.microsoft.com/office/drawing/2014/main" id="{34C8EDA3-FE1B-1121-C909-3870176AF6F4}"/>
              </a:ext>
            </a:extLst>
          </p:cNvPr>
          <p:cNvSpPr/>
          <p:nvPr/>
        </p:nvSpPr>
        <p:spPr>
          <a:xfrm>
            <a:off x="4839322" y="2452688"/>
            <a:ext cx="2697036"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CURRENT (ACTUAL WK)</a:t>
            </a:r>
            <a:endParaRPr lang="en-US" sz="1350" dirty="0"/>
          </a:p>
        </p:txBody>
      </p:sp>
      <p:sp>
        <p:nvSpPr>
          <p:cNvPr id="84" name="Text 4">
            <a:extLst>
              <a:ext uri="{FF2B5EF4-FFF2-40B4-BE49-F238E27FC236}">
                <a16:creationId xmlns:a16="http://schemas.microsoft.com/office/drawing/2014/main" id="{8726287D-E9F3-4BEE-98B4-1353A1C1E4C5}"/>
              </a:ext>
            </a:extLst>
          </p:cNvPr>
          <p:cNvSpPr/>
          <p:nvPr/>
        </p:nvSpPr>
        <p:spPr>
          <a:xfrm>
            <a:off x="8809360" y="2452688"/>
            <a:ext cx="1314450"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PROPOSED</a:t>
            </a:r>
            <a:endParaRPr lang="en-US" sz="1350" dirty="0"/>
          </a:p>
        </p:txBody>
      </p:sp>
      <p:sp>
        <p:nvSpPr>
          <p:cNvPr id="85" name="Shape 23">
            <a:extLst>
              <a:ext uri="{FF2B5EF4-FFF2-40B4-BE49-F238E27FC236}">
                <a16:creationId xmlns:a16="http://schemas.microsoft.com/office/drawing/2014/main" id="{71C3B286-7092-8EDC-8B98-F715A0FF2EAC}"/>
              </a:ext>
            </a:extLst>
          </p:cNvPr>
          <p:cNvSpPr/>
          <p:nvPr/>
        </p:nvSpPr>
        <p:spPr>
          <a:xfrm flipH="1">
            <a:off x="12217096" y="1847850"/>
            <a:ext cx="60068" cy="7258049"/>
          </a:xfrm>
          <a:prstGeom prst="rect">
            <a:avLst/>
          </a:prstGeom>
          <a:solidFill>
            <a:srgbClr val="D2D3CD"/>
          </a:solidFill>
          <a:ln/>
        </p:spPr>
        <p:txBody>
          <a:bodyPr/>
          <a:lstStyle/>
          <a:p>
            <a:endParaRPr lang="en-US"/>
          </a:p>
        </p:txBody>
      </p:sp>
      <p:sp>
        <p:nvSpPr>
          <p:cNvPr id="86" name="Text 9">
            <a:extLst>
              <a:ext uri="{FF2B5EF4-FFF2-40B4-BE49-F238E27FC236}">
                <a16:creationId xmlns:a16="http://schemas.microsoft.com/office/drawing/2014/main" id="{61771A62-073D-86AB-28C8-8EEB8D8B691C}"/>
              </a:ext>
            </a:extLst>
          </p:cNvPr>
          <p:cNvSpPr/>
          <p:nvPr/>
        </p:nvSpPr>
        <p:spPr>
          <a:xfrm>
            <a:off x="13393469" y="3568976"/>
            <a:ext cx="3204879" cy="815837"/>
          </a:xfrm>
          <a:prstGeom prst="rect">
            <a:avLst/>
          </a:prstGeom>
          <a:noFill/>
          <a:ln/>
        </p:spPr>
        <p:txBody>
          <a:bodyPr wrap="square" lIns="25400" tIns="25400" rIns="25400" bIns="25400" rtlCol="0" anchor="t">
            <a:noAutofit/>
          </a:bodyPr>
          <a:lstStyle/>
          <a:p>
            <a:pPr marL="0" indent="0" algn="l">
              <a:lnSpc>
                <a:spcPct val="100000"/>
              </a:lnSpc>
              <a:buNone/>
            </a:pPr>
            <a:r>
              <a:rPr lang="en-US" sz="6000" kern="0" spc="-150" dirty="0">
                <a:solidFill>
                  <a:srgbClr val="1E7E8C"/>
                </a:solidFill>
                <a:latin typeface="Georgia" pitchFamily="34" charset="0"/>
                <a:ea typeface="Georgia" pitchFamily="34" charset="-122"/>
                <a:cs typeface="Georgia" pitchFamily="34" charset="-120"/>
              </a:rPr>
              <a:t>~$39.0k</a:t>
            </a:r>
            <a:endParaRPr lang="en-US" sz="6000" dirty="0">
              <a:solidFill>
                <a:srgbClr val="1E7E8C"/>
              </a:solidFill>
            </a:endParaRPr>
          </a:p>
        </p:txBody>
      </p:sp>
      <p:sp>
        <p:nvSpPr>
          <p:cNvPr id="87" name="Text 12">
            <a:extLst>
              <a:ext uri="{FF2B5EF4-FFF2-40B4-BE49-F238E27FC236}">
                <a16:creationId xmlns:a16="http://schemas.microsoft.com/office/drawing/2014/main" id="{C43E9CD0-2F04-5E2E-2189-A2BF965189F4}"/>
              </a:ext>
            </a:extLst>
          </p:cNvPr>
          <p:cNvSpPr/>
          <p:nvPr/>
        </p:nvSpPr>
        <p:spPr>
          <a:xfrm>
            <a:off x="13393469" y="4667250"/>
            <a:ext cx="7208520" cy="304800"/>
          </a:xfrm>
          <a:prstGeom prst="rect">
            <a:avLst/>
          </a:prstGeom>
          <a:noFill/>
          <a:ln/>
        </p:spPr>
        <p:txBody>
          <a:bodyPr wrap="square" lIns="25400" tIns="25400" rIns="25400" bIns="25400" rtlCol="0" anchor="t">
            <a:normAutofit fontScale="92500" lnSpcReduction="20000"/>
          </a:bodyPr>
          <a:lstStyle/>
          <a:p>
            <a:pPr marL="0" indent="0" algn="l">
              <a:buNone/>
            </a:pPr>
            <a:r>
              <a:rPr lang="en-US" sz="2000" dirty="0">
                <a:solidFill>
                  <a:srgbClr val="1E7E8C"/>
                </a:solidFill>
                <a:latin typeface="Arial" pitchFamily="34" charset="0"/>
                <a:ea typeface="Arial" pitchFamily="34" charset="-122"/>
                <a:cs typeface="Arial" pitchFamily="34" charset="-120"/>
              </a:rPr>
              <a:t>Loaded labor / year</a:t>
            </a:r>
            <a:endParaRPr lang="en-US" sz="2000" dirty="0">
              <a:solidFill>
                <a:srgbClr val="1E7E8C"/>
              </a:solidFill>
            </a:endParaRPr>
          </a:p>
        </p:txBody>
      </p:sp>
      <p:sp>
        <p:nvSpPr>
          <p:cNvPr id="88" name="Text 29">
            <a:extLst>
              <a:ext uri="{FF2B5EF4-FFF2-40B4-BE49-F238E27FC236}">
                <a16:creationId xmlns:a16="http://schemas.microsoft.com/office/drawing/2014/main" id="{7E722185-9BCE-F203-D51C-5841D1055FAF}"/>
              </a:ext>
            </a:extLst>
          </p:cNvPr>
          <p:cNvSpPr/>
          <p:nvPr/>
        </p:nvSpPr>
        <p:spPr>
          <a:xfrm>
            <a:off x="13313008" y="5254487"/>
            <a:ext cx="3644894" cy="3768199"/>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Eliminate duplicate opening and closing FOH shifts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Maintain kitchen support for specialty menu items and prep</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Improve labor efficiency while preserving guest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02 | PRICING ADJUSTMENTS</a:t>
            </a:r>
            <a:endParaRPr lang="en-US" sz="1650" spc="300" dirty="0"/>
          </a:p>
        </p:txBody>
      </p:sp>
      <p:sp>
        <p:nvSpPr>
          <p:cNvPr id="3" name="Text 1"/>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Reprice top sellers &amp; lean into premium</a:t>
            </a:r>
            <a:endParaRPr lang="en-US" sz="4200" dirty="0"/>
          </a:p>
        </p:txBody>
      </p:sp>
      <p:sp>
        <p:nvSpPr>
          <p:cNvPr id="6" name="Text 4"/>
          <p:cNvSpPr/>
          <p:nvPr/>
        </p:nvSpPr>
        <p:spPr>
          <a:xfrm>
            <a:off x="952500" y="1924050"/>
            <a:ext cx="3694667" cy="238125"/>
          </a:xfrm>
          <a:prstGeom prst="rect">
            <a:avLst/>
          </a:prstGeom>
          <a:noFill/>
          <a:ln/>
        </p:spPr>
        <p:txBody>
          <a:bodyPr wrap="square" lIns="25400" tIns="25400" rIns="25400" bIns="25400" rtlCol="0" anchor="ctr">
            <a:normAutofit lnSpcReduction="10000"/>
          </a:bodyPr>
          <a:lstStyle/>
          <a:p>
            <a:pPr marL="0" indent="0" algn="l">
              <a:buNone/>
            </a:pPr>
            <a:r>
              <a:rPr lang="en-US" sz="1350" b="1" kern="0" spc="90" dirty="0">
                <a:solidFill>
                  <a:srgbClr val="93999B"/>
                </a:solidFill>
                <a:latin typeface="Arial" pitchFamily="34" charset="0"/>
                <a:ea typeface="Arial" pitchFamily="34" charset="-122"/>
                <a:cs typeface="Arial" pitchFamily="34" charset="-120"/>
              </a:rPr>
              <a:t>HIGH-VOLUME ITEM</a:t>
            </a:r>
            <a:endParaRPr lang="en-US" sz="1350" dirty="0"/>
          </a:p>
        </p:txBody>
      </p:sp>
      <p:sp>
        <p:nvSpPr>
          <p:cNvPr id="7" name="Text 5"/>
          <p:cNvSpPr/>
          <p:nvPr/>
        </p:nvSpPr>
        <p:spPr>
          <a:xfrm>
            <a:off x="3564195" y="1924050"/>
            <a:ext cx="250983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UNITS / 12MO</a:t>
            </a:r>
            <a:endParaRPr lang="en-US" sz="1350" dirty="0"/>
          </a:p>
        </p:txBody>
      </p:sp>
      <p:sp>
        <p:nvSpPr>
          <p:cNvPr id="8" name="Text 6"/>
          <p:cNvSpPr/>
          <p:nvPr/>
        </p:nvSpPr>
        <p:spPr>
          <a:xfrm>
            <a:off x="5994719" y="1924050"/>
            <a:ext cx="2723096"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CURRENT</a:t>
            </a:r>
            <a:endParaRPr lang="en-US" sz="1350" dirty="0"/>
          </a:p>
        </p:txBody>
      </p:sp>
      <p:sp>
        <p:nvSpPr>
          <p:cNvPr id="9" name="Text 7"/>
          <p:cNvSpPr/>
          <p:nvPr/>
        </p:nvSpPr>
        <p:spPr>
          <a:xfrm>
            <a:off x="8641616" y="1924050"/>
            <a:ext cx="1642170"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CHANGE</a:t>
            </a:r>
            <a:endParaRPr lang="en-US" sz="1350" dirty="0"/>
          </a:p>
        </p:txBody>
      </p:sp>
      <p:sp>
        <p:nvSpPr>
          <p:cNvPr id="10" name="Text 8"/>
          <p:cNvSpPr/>
          <p:nvPr/>
        </p:nvSpPr>
        <p:spPr>
          <a:xfrm>
            <a:off x="9804753" y="1924050"/>
            <a:ext cx="214907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NEW PRICE</a:t>
            </a:r>
            <a:endParaRPr lang="en-US" sz="1350" dirty="0"/>
          </a:p>
        </p:txBody>
      </p:sp>
      <p:sp>
        <p:nvSpPr>
          <p:cNvPr id="11" name="Text 9"/>
          <p:cNvSpPr/>
          <p:nvPr/>
        </p:nvSpPr>
        <p:spPr>
          <a:xfrm>
            <a:off x="11397764"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STARBUCKS</a:t>
            </a:r>
            <a:endParaRPr lang="en-US" sz="1350" dirty="0"/>
          </a:p>
        </p:txBody>
      </p:sp>
      <p:sp>
        <p:nvSpPr>
          <p:cNvPr id="12" name="Shape 10"/>
          <p:cNvSpPr/>
          <p:nvPr/>
        </p:nvSpPr>
        <p:spPr>
          <a:xfrm>
            <a:off x="952500" y="2228850"/>
            <a:ext cx="16383000" cy="19050"/>
          </a:xfrm>
          <a:prstGeom prst="rect">
            <a:avLst/>
          </a:prstGeom>
          <a:solidFill>
            <a:srgbClr val="DEE0DA"/>
          </a:solidFill>
          <a:ln/>
        </p:spPr>
        <p:txBody>
          <a:bodyPr/>
          <a:lstStyle/>
          <a:p>
            <a:endParaRPr lang="en-US"/>
          </a:p>
        </p:txBody>
      </p:sp>
      <p:sp>
        <p:nvSpPr>
          <p:cNvPr id="13" name="Text 11"/>
          <p:cNvSpPr/>
          <p:nvPr/>
        </p:nvSpPr>
        <p:spPr>
          <a:xfrm>
            <a:off x="952500" y="23336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Latte </a:t>
            </a:r>
            <a:r>
              <a:rPr lang="en-US" sz="1350" dirty="0">
                <a:solidFill>
                  <a:srgbClr val="93999B"/>
                </a:solidFill>
                <a:latin typeface="Arial" pitchFamily="34" charset="0"/>
                <a:ea typeface="Arial" pitchFamily="34" charset="-122"/>
                <a:cs typeface="Arial" pitchFamily="34" charset="-120"/>
              </a:rPr>
              <a:t>· top seller</a:t>
            </a:r>
            <a:endParaRPr lang="en-US" sz="1725" dirty="0"/>
          </a:p>
        </p:txBody>
      </p:sp>
      <p:sp>
        <p:nvSpPr>
          <p:cNvPr id="14" name="Text 12"/>
          <p:cNvSpPr/>
          <p:nvPr/>
        </p:nvSpPr>
        <p:spPr>
          <a:xfrm>
            <a:off x="3573720" y="22383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5,728</a:t>
            </a:r>
            <a:endParaRPr lang="en-US" sz="1725" dirty="0"/>
          </a:p>
        </p:txBody>
      </p:sp>
      <p:sp>
        <p:nvSpPr>
          <p:cNvPr id="15" name="Text 13"/>
          <p:cNvSpPr/>
          <p:nvPr/>
        </p:nvSpPr>
        <p:spPr>
          <a:xfrm>
            <a:off x="6004244" y="22383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16" name="Text 14"/>
          <p:cNvSpPr/>
          <p:nvPr/>
        </p:nvSpPr>
        <p:spPr>
          <a:xfrm>
            <a:off x="8651141" y="22383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17" name="Text 15"/>
          <p:cNvSpPr/>
          <p:nvPr/>
        </p:nvSpPr>
        <p:spPr>
          <a:xfrm>
            <a:off x="9814278" y="22383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cs typeface="Arial" pitchFamily="34" charset="-120"/>
              </a:rPr>
              <a:t>$5.00</a:t>
            </a:r>
            <a:endParaRPr lang="en-US" sz="1725" dirty="0"/>
          </a:p>
        </p:txBody>
      </p:sp>
      <p:sp>
        <p:nvSpPr>
          <p:cNvPr id="18" name="Text 16"/>
          <p:cNvSpPr/>
          <p:nvPr/>
        </p:nvSpPr>
        <p:spPr>
          <a:xfrm>
            <a:off x="11407289"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$5.45</a:t>
            </a:r>
            <a:endParaRPr lang="en-US" sz="1725" dirty="0"/>
          </a:p>
        </p:txBody>
      </p:sp>
      <p:sp>
        <p:nvSpPr>
          <p:cNvPr id="19" name="Shape 17"/>
          <p:cNvSpPr/>
          <p:nvPr/>
        </p:nvSpPr>
        <p:spPr>
          <a:xfrm>
            <a:off x="952500" y="2686050"/>
            <a:ext cx="16383000" cy="19050"/>
          </a:xfrm>
          <a:prstGeom prst="rect">
            <a:avLst/>
          </a:prstGeom>
          <a:solidFill>
            <a:srgbClr val="DEE0DA"/>
          </a:solidFill>
          <a:ln/>
        </p:spPr>
        <p:txBody>
          <a:bodyPr/>
          <a:lstStyle/>
          <a:p>
            <a:endParaRPr lang="en-US"/>
          </a:p>
        </p:txBody>
      </p:sp>
      <p:sp>
        <p:nvSpPr>
          <p:cNvPr id="20" name="Text 18"/>
          <p:cNvSpPr/>
          <p:nvPr/>
        </p:nvSpPr>
        <p:spPr>
          <a:xfrm>
            <a:off x="952500" y="27908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Drip coffee</a:t>
            </a:r>
            <a:endParaRPr lang="en-US" sz="1725" dirty="0"/>
          </a:p>
        </p:txBody>
      </p:sp>
      <p:sp>
        <p:nvSpPr>
          <p:cNvPr id="21" name="Text 19"/>
          <p:cNvSpPr/>
          <p:nvPr/>
        </p:nvSpPr>
        <p:spPr>
          <a:xfrm>
            <a:off x="3573720" y="26955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3,537</a:t>
            </a:r>
            <a:endParaRPr lang="en-US" sz="1725" dirty="0"/>
          </a:p>
        </p:txBody>
      </p:sp>
      <p:sp>
        <p:nvSpPr>
          <p:cNvPr id="22" name="Text 20"/>
          <p:cNvSpPr/>
          <p:nvPr/>
        </p:nvSpPr>
        <p:spPr>
          <a:xfrm>
            <a:off x="6004244" y="26955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$3.00</a:t>
            </a:r>
            <a:endParaRPr lang="en-US" sz="1725" dirty="0"/>
          </a:p>
        </p:txBody>
      </p:sp>
      <p:sp>
        <p:nvSpPr>
          <p:cNvPr id="23" name="Text 21"/>
          <p:cNvSpPr/>
          <p:nvPr/>
        </p:nvSpPr>
        <p:spPr>
          <a:xfrm>
            <a:off x="8651141" y="26955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24" name="Text 22"/>
          <p:cNvSpPr/>
          <p:nvPr/>
        </p:nvSpPr>
        <p:spPr>
          <a:xfrm>
            <a:off x="9814278" y="26955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$3.50</a:t>
            </a:r>
            <a:endParaRPr lang="en-US" sz="1725" dirty="0"/>
          </a:p>
        </p:txBody>
      </p:sp>
      <p:sp>
        <p:nvSpPr>
          <p:cNvPr id="25" name="Text 23"/>
          <p:cNvSpPr/>
          <p:nvPr/>
        </p:nvSpPr>
        <p:spPr>
          <a:xfrm>
            <a:off x="11407289"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$3.45</a:t>
            </a:r>
            <a:endParaRPr lang="en-US" sz="1725" dirty="0"/>
          </a:p>
        </p:txBody>
      </p:sp>
      <p:sp>
        <p:nvSpPr>
          <p:cNvPr id="26" name="Shape 24"/>
          <p:cNvSpPr/>
          <p:nvPr/>
        </p:nvSpPr>
        <p:spPr>
          <a:xfrm>
            <a:off x="952500" y="3143250"/>
            <a:ext cx="16383000" cy="19050"/>
          </a:xfrm>
          <a:prstGeom prst="rect">
            <a:avLst/>
          </a:prstGeom>
          <a:solidFill>
            <a:srgbClr val="DEE0DA"/>
          </a:solidFill>
          <a:ln/>
        </p:spPr>
        <p:txBody>
          <a:bodyPr/>
          <a:lstStyle/>
          <a:p>
            <a:endParaRPr lang="en-US"/>
          </a:p>
        </p:txBody>
      </p:sp>
      <p:sp>
        <p:nvSpPr>
          <p:cNvPr id="27" name="Text 25"/>
          <p:cNvSpPr/>
          <p:nvPr/>
        </p:nvSpPr>
        <p:spPr>
          <a:xfrm>
            <a:off x="952500" y="32480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Cold brew</a:t>
            </a:r>
            <a:endParaRPr lang="en-US" sz="1725" dirty="0"/>
          </a:p>
        </p:txBody>
      </p:sp>
      <p:sp>
        <p:nvSpPr>
          <p:cNvPr id="28" name="Text 26"/>
          <p:cNvSpPr/>
          <p:nvPr/>
        </p:nvSpPr>
        <p:spPr>
          <a:xfrm>
            <a:off x="3573720" y="31527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1,869</a:t>
            </a:r>
            <a:endParaRPr lang="en-US" sz="1725" dirty="0"/>
          </a:p>
        </p:txBody>
      </p:sp>
      <p:sp>
        <p:nvSpPr>
          <p:cNvPr id="29" name="Text 27"/>
          <p:cNvSpPr/>
          <p:nvPr/>
        </p:nvSpPr>
        <p:spPr>
          <a:xfrm>
            <a:off x="6004244" y="31527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30" name="Text 28"/>
          <p:cNvSpPr/>
          <p:nvPr/>
        </p:nvSpPr>
        <p:spPr>
          <a:xfrm>
            <a:off x="8651141" y="31527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+$0.45</a:t>
            </a:r>
            <a:endParaRPr lang="en-US" sz="1725" dirty="0"/>
          </a:p>
        </p:txBody>
      </p:sp>
      <p:sp>
        <p:nvSpPr>
          <p:cNvPr id="31" name="Text 29"/>
          <p:cNvSpPr/>
          <p:nvPr/>
        </p:nvSpPr>
        <p:spPr>
          <a:xfrm>
            <a:off x="9814278" y="31527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$4.95</a:t>
            </a:r>
            <a:endParaRPr lang="en-US" sz="1725" dirty="0"/>
          </a:p>
        </p:txBody>
      </p:sp>
      <p:sp>
        <p:nvSpPr>
          <p:cNvPr id="32" name="Text 30"/>
          <p:cNvSpPr/>
          <p:nvPr/>
        </p:nvSpPr>
        <p:spPr>
          <a:xfrm>
            <a:off x="11407289"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33" name="Shape 31"/>
          <p:cNvSpPr/>
          <p:nvPr/>
        </p:nvSpPr>
        <p:spPr>
          <a:xfrm>
            <a:off x="952500" y="3977943"/>
            <a:ext cx="16383000" cy="19050"/>
          </a:xfrm>
          <a:prstGeom prst="rect">
            <a:avLst/>
          </a:prstGeom>
          <a:solidFill>
            <a:srgbClr val="DEE0DA"/>
          </a:solidFill>
          <a:ln/>
        </p:spPr>
        <p:txBody>
          <a:bodyPr/>
          <a:lstStyle/>
          <a:p>
            <a:endParaRPr lang="en-US"/>
          </a:p>
        </p:txBody>
      </p:sp>
      <p:sp>
        <p:nvSpPr>
          <p:cNvPr id="34" name="Text 32"/>
          <p:cNvSpPr/>
          <p:nvPr/>
        </p:nvSpPr>
        <p:spPr>
          <a:xfrm>
            <a:off x="952500" y="40827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Cappuccino</a:t>
            </a:r>
            <a:endParaRPr lang="en-US" sz="1725" dirty="0"/>
          </a:p>
        </p:txBody>
      </p:sp>
      <p:sp>
        <p:nvSpPr>
          <p:cNvPr id="35" name="Text 33"/>
          <p:cNvSpPr/>
          <p:nvPr/>
        </p:nvSpPr>
        <p:spPr>
          <a:xfrm>
            <a:off x="3573720" y="39874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1,305</a:t>
            </a:r>
            <a:endParaRPr lang="en-US" sz="1725" dirty="0"/>
          </a:p>
        </p:txBody>
      </p:sp>
      <p:sp>
        <p:nvSpPr>
          <p:cNvPr id="36" name="Text 34"/>
          <p:cNvSpPr/>
          <p:nvPr/>
        </p:nvSpPr>
        <p:spPr>
          <a:xfrm>
            <a:off x="6004244" y="39874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$4.75</a:t>
            </a:r>
            <a:endParaRPr lang="en-US" sz="1725" dirty="0"/>
          </a:p>
        </p:txBody>
      </p:sp>
      <p:sp>
        <p:nvSpPr>
          <p:cNvPr id="37" name="Text 35"/>
          <p:cNvSpPr/>
          <p:nvPr/>
        </p:nvSpPr>
        <p:spPr>
          <a:xfrm>
            <a:off x="8651141" y="39874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38" name="Text 36"/>
          <p:cNvSpPr/>
          <p:nvPr/>
        </p:nvSpPr>
        <p:spPr>
          <a:xfrm>
            <a:off x="9814278" y="39874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$4.75</a:t>
            </a:r>
            <a:endParaRPr lang="en-US" sz="1725" dirty="0"/>
          </a:p>
        </p:txBody>
      </p:sp>
      <p:sp>
        <p:nvSpPr>
          <p:cNvPr id="39" name="Text 37"/>
          <p:cNvSpPr/>
          <p:nvPr/>
        </p:nvSpPr>
        <p:spPr>
          <a:xfrm>
            <a:off x="11407289"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40" name="Shape 38"/>
          <p:cNvSpPr/>
          <p:nvPr/>
        </p:nvSpPr>
        <p:spPr>
          <a:xfrm>
            <a:off x="952500" y="4435143"/>
            <a:ext cx="16383000" cy="19050"/>
          </a:xfrm>
          <a:prstGeom prst="rect">
            <a:avLst/>
          </a:prstGeom>
          <a:solidFill>
            <a:srgbClr val="DEE0DA"/>
          </a:solidFill>
          <a:ln/>
        </p:spPr>
        <p:txBody>
          <a:bodyPr/>
          <a:lstStyle/>
          <a:p>
            <a:endParaRPr lang="en-US"/>
          </a:p>
        </p:txBody>
      </p:sp>
      <p:sp>
        <p:nvSpPr>
          <p:cNvPr id="41" name="Text 39"/>
          <p:cNvSpPr/>
          <p:nvPr/>
        </p:nvSpPr>
        <p:spPr>
          <a:xfrm>
            <a:off x="952500" y="45399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Americano</a:t>
            </a:r>
            <a:endParaRPr lang="en-US" sz="1725" dirty="0"/>
          </a:p>
        </p:txBody>
      </p:sp>
      <p:sp>
        <p:nvSpPr>
          <p:cNvPr id="42" name="Text 40"/>
          <p:cNvSpPr/>
          <p:nvPr/>
        </p:nvSpPr>
        <p:spPr>
          <a:xfrm>
            <a:off x="3573720" y="44446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1,212</a:t>
            </a:r>
            <a:endParaRPr lang="en-US" sz="1725" dirty="0"/>
          </a:p>
        </p:txBody>
      </p:sp>
      <p:sp>
        <p:nvSpPr>
          <p:cNvPr id="43" name="Text 41"/>
          <p:cNvSpPr/>
          <p:nvPr/>
        </p:nvSpPr>
        <p:spPr>
          <a:xfrm>
            <a:off x="6004244" y="44446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$4.00</a:t>
            </a:r>
            <a:endParaRPr lang="en-US" sz="1725" dirty="0"/>
          </a:p>
        </p:txBody>
      </p:sp>
      <p:sp>
        <p:nvSpPr>
          <p:cNvPr id="44" name="Text 42"/>
          <p:cNvSpPr/>
          <p:nvPr/>
        </p:nvSpPr>
        <p:spPr>
          <a:xfrm>
            <a:off x="8651141" y="44446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45" name="Text 43"/>
          <p:cNvSpPr/>
          <p:nvPr/>
        </p:nvSpPr>
        <p:spPr>
          <a:xfrm>
            <a:off x="9814278" y="44446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$4.25</a:t>
            </a:r>
            <a:endParaRPr lang="en-US" sz="1725" dirty="0"/>
          </a:p>
        </p:txBody>
      </p:sp>
      <p:sp>
        <p:nvSpPr>
          <p:cNvPr id="46" name="Text 44"/>
          <p:cNvSpPr/>
          <p:nvPr/>
        </p:nvSpPr>
        <p:spPr>
          <a:xfrm>
            <a:off x="11407289"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$4.45</a:t>
            </a:r>
            <a:endParaRPr lang="en-US" sz="1725" dirty="0"/>
          </a:p>
        </p:txBody>
      </p:sp>
      <p:sp>
        <p:nvSpPr>
          <p:cNvPr id="47" name="Shape 45"/>
          <p:cNvSpPr/>
          <p:nvPr/>
        </p:nvSpPr>
        <p:spPr>
          <a:xfrm>
            <a:off x="952500" y="4892343"/>
            <a:ext cx="16383000" cy="19050"/>
          </a:xfrm>
          <a:prstGeom prst="rect">
            <a:avLst/>
          </a:prstGeom>
          <a:solidFill>
            <a:srgbClr val="DEE0DA"/>
          </a:solidFill>
          <a:ln/>
        </p:spPr>
        <p:txBody>
          <a:bodyPr/>
          <a:lstStyle/>
          <a:p>
            <a:endParaRPr lang="en-US"/>
          </a:p>
        </p:txBody>
      </p:sp>
      <p:sp>
        <p:nvSpPr>
          <p:cNvPr id="48" name="Text 46"/>
          <p:cNvSpPr/>
          <p:nvPr/>
        </p:nvSpPr>
        <p:spPr>
          <a:xfrm>
            <a:off x="952500" y="49971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Matcha latte</a:t>
            </a:r>
            <a:endParaRPr lang="en-US" sz="1725" dirty="0"/>
          </a:p>
        </p:txBody>
      </p:sp>
      <p:sp>
        <p:nvSpPr>
          <p:cNvPr id="49" name="Text 47"/>
          <p:cNvSpPr/>
          <p:nvPr/>
        </p:nvSpPr>
        <p:spPr>
          <a:xfrm>
            <a:off x="3573720" y="49018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888</a:t>
            </a:r>
            <a:endParaRPr lang="en-US" sz="1725" dirty="0"/>
          </a:p>
        </p:txBody>
      </p:sp>
      <p:sp>
        <p:nvSpPr>
          <p:cNvPr id="50" name="Text 48"/>
          <p:cNvSpPr/>
          <p:nvPr/>
        </p:nvSpPr>
        <p:spPr>
          <a:xfrm>
            <a:off x="6004244" y="49018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51" name="Text 49"/>
          <p:cNvSpPr/>
          <p:nvPr/>
        </p:nvSpPr>
        <p:spPr>
          <a:xfrm>
            <a:off x="8651141" y="49018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52" name="Text 50"/>
          <p:cNvSpPr/>
          <p:nvPr/>
        </p:nvSpPr>
        <p:spPr>
          <a:xfrm>
            <a:off x="9814278" y="49018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53" name="Text 51"/>
          <p:cNvSpPr/>
          <p:nvPr/>
        </p:nvSpPr>
        <p:spPr>
          <a:xfrm>
            <a:off x="11407289"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54" name="Shape 52"/>
          <p:cNvSpPr/>
          <p:nvPr/>
        </p:nvSpPr>
        <p:spPr>
          <a:xfrm>
            <a:off x="952500" y="5379384"/>
            <a:ext cx="16383000" cy="19050"/>
          </a:xfrm>
          <a:prstGeom prst="rect">
            <a:avLst/>
          </a:prstGeom>
          <a:solidFill>
            <a:srgbClr val="DEE0DA"/>
          </a:solidFill>
          <a:ln/>
        </p:spPr>
        <p:txBody>
          <a:bodyPr/>
          <a:lstStyle/>
          <a:p>
            <a:endParaRPr lang="en-US"/>
          </a:p>
        </p:txBody>
      </p:sp>
      <p:sp>
        <p:nvSpPr>
          <p:cNvPr id="55" name="Text 53"/>
          <p:cNvSpPr/>
          <p:nvPr/>
        </p:nvSpPr>
        <p:spPr>
          <a:xfrm>
            <a:off x="952500" y="54841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Egg &amp; Cheese</a:t>
            </a:r>
            <a:endParaRPr lang="en-US" sz="1725" dirty="0"/>
          </a:p>
        </p:txBody>
      </p:sp>
      <p:sp>
        <p:nvSpPr>
          <p:cNvPr id="56" name="Text 54"/>
          <p:cNvSpPr/>
          <p:nvPr/>
        </p:nvSpPr>
        <p:spPr>
          <a:xfrm>
            <a:off x="3573720" y="53889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cs typeface="Arial" pitchFamily="34" charset="-120"/>
              </a:rPr>
              <a:t>2,352</a:t>
            </a:r>
            <a:endParaRPr lang="en-US" sz="1725" dirty="0"/>
          </a:p>
        </p:txBody>
      </p:sp>
      <p:sp>
        <p:nvSpPr>
          <p:cNvPr id="57" name="Text 55"/>
          <p:cNvSpPr/>
          <p:nvPr/>
        </p:nvSpPr>
        <p:spPr>
          <a:xfrm>
            <a:off x="6004244" y="53889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$10.00</a:t>
            </a:r>
            <a:endParaRPr lang="en-US" sz="1725" dirty="0"/>
          </a:p>
        </p:txBody>
      </p:sp>
      <p:sp>
        <p:nvSpPr>
          <p:cNvPr id="58" name="Text 56"/>
          <p:cNvSpPr/>
          <p:nvPr/>
        </p:nvSpPr>
        <p:spPr>
          <a:xfrm>
            <a:off x="8651141" y="53889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59" name="Text 57"/>
          <p:cNvSpPr/>
          <p:nvPr/>
        </p:nvSpPr>
        <p:spPr>
          <a:xfrm>
            <a:off x="9814278" y="53889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$11.00</a:t>
            </a:r>
            <a:endParaRPr lang="en-US" sz="1725" dirty="0"/>
          </a:p>
        </p:txBody>
      </p:sp>
      <p:sp>
        <p:nvSpPr>
          <p:cNvPr id="61" name="Shape 59"/>
          <p:cNvSpPr/>
          <p:nvPr/>
        </p:nvSpPr>
        <p:spPr>
          <a:xfrm>
            <a:off x="952500" y="5836584"/>
            <a:ext cx="16383000" cy="19050"/>
          </a:xfrm>
          <a:prstGeom prst="rect">
            <a:avLst/>
          </a:prstGeom>
          <a:solidFill>
            <a:srgbClr val="DEE0DA"/>
          </a:solidFill>
          <a:ln/>
        </p:spPr>
        <p:txBody>
          <a:bodyPr/>
          <a:lstStyle/>
          <a:p>
            <a:endParaRPr lang="en-US"/>
          </a:p>
        </p:txBody>
      </p:sp>
      <p:sp>
        <p:nvSpPr>
          <p:cNvPr id="62" name="Text 60"/>
          <p:cNvSpPr/>
          <p:nvPr/>
        </p:nvSpPr>
        <p:spPr>
          <a:xfrm>
            <a:off x="952500" y="59413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Smoothies</a:t>
            </a:r>
            <a:endParaRPr lang="en-US" sz="1725" dirty="0"/>
          </a:p>
        </p:txBody>
      </p:sp>
      <p:sp>
        <p:nvSpPr>
          <p:cNvPr id="63" name="Text 61"/>
          <p:cNvSpPr/>
          <p:nvPr/>
        </p:nvSpPr>
        <p:spPr>
          <a:xfrm>
            <a:off x="3573720" y="58461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619</a:t>
            </a:r>
            <a:endParaRPr lang="en-US" sz="1725" dirty="0"/>
          </a:p>
        </p:txBody>
      </p:sp>
      <p:sp>
        <p:nvSpPr>
          <p:cNvPr id="64" name="Text 62"/>
          <p:cNvSpPr/>
          <p:nvPr/>
        </p:nvSpPr>
        <p:spPr>
          <a:xfrm>
            <a:off x="6004244" y="58461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$8.00</a:t>
            </a:r>
            <a:endParaRPr lang="en-US" sz="1725" dirty="0"/>
          </a:p>
        </p:txBody>
      </p:sp>
      <p:sp>
        <p:nvSpPr>
          <p:cNvPr id="65" name="Text 63"/>
          <p:cNvSpPr/>
          <p:nvPr/>
        </p:nvSpPr>
        <p:spPr>
          <a:xfrm>
            <a:off x="8651141" y="58461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66" name="Text 64"/>
          <p:cNvSpPr/>
          <p:nvPr/>
        </p:nvSpPr>
        <p:spPr>
          <a:xfrm>
            <a:off x="9967846" y="58461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$9.00+</a:t>
            </a:r>
            <a:endParaRPr lang="en-US" sz="1725" dirty="0"/>
          </a:p>
        </p:txBody>
      </p:sp>
      <p:sp>
        <p:nvSpPr>
          <p:cNvPr id="67" name="Text 65"/>
          <p:cNvSpPr/>
          <p:nvPr/>
        </p:nvSpPr>
        <p:spPr>
          <a:xfrm>
            <a:off x="11407289"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68" name="Shape 66"/>
          <p:cNvSpPr/>
          <p:nvPr/>
        </p:nvSpPr>
        <p:spPr>
          <a:xfrm>
            <a:off x="952500" y="6293784"/>
            <a:ext cx="16383000" cy="19050"/>
          </a:xfrm>
          <a:prstGeom prst="rect">
            <a:avLst/>
          </a:prstGeom>
          <a:solidFill>
            <a:srgbClr val="DEE0DA"/>
          </a:solidFill>
          <a:ln/>
        </p:spPr>
        <p:txBody>
          <a:bodyPr/>
          <a:lstStyle/>
          <a:p>
            <a:endParaRPr lang="en-US"/>
          </a:p>
        </p:txBody>
      </p:sp>
      <p:sp>
        <p:nvSpPr>
          <p:cNvPr id="69" name="Text 67"/>
          <p:cNvSpPr/>
          <p:nvPr/>
        </p:nvSpPr>
        <p:spPr>
          <a:xfrm>
            <a:off x="952500" y="6398559"/>
            <a:ext cx="3694667"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Daily specials</a:t>
            </a:r>
            <a:endParaRPr lang="en-US" sz="1725" dirty="0"/>
          </a:p>
        </p:txBody>
      </p:sp>
      <p:sp>
        <p:nvSpPr>
          <p:cNvPr id="70" name="Text 68"/>
          <p:cNvSpPr/>
          <p:nvPr/>
        </p:nvSpPr>
        <p:spPr>
          <a:xfrm>
            <a:off x="3573720" y="6303309"/>
            <a:ext cx="249078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510</a:t>
            </a:r>
            <a:endParaRPr lang="en-US" sz="1725" dirty="0"/>
          </a:p>
        </p:txBody>
      </p:sp>
      <p:sp>
        <p:nvSpPr>
          <p:cNvPr id="71" name="Text 69"/>
          <p:cNvSpPr/>
          <p:nvPr/>
        </p:nvSpPr>
        <p:spPr>
          <a:xfrm>
            <a:off x="6004244" y="6303309"/>
            <a:ext cx="2704046"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72" name="Text 70"/>
          <p:cNvSpPr/>
          <p:nvPr/>
        </p:nvSpPr>
        <p:spPr>
          <a:xfrm>
            <a:off x="8651141" y="6303309"/>
            <a:ext cx="1623120"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73" name="Text 71"/>
          <p:cNvSpPr/>
          <p:nvPr/>
        </p:nvSpPr>
        <p:spPr>
          <a:xfrm>
            <a:off x="9814278" y="6303309"/>
            <a:ext cx="2130028"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74" name="Text 72"/>
          <p:cNvSpPr/>
          <p:nvPr/>
        </p:nvSpPr>
        <p:spPr>
          <a:xfrm>
            <a:off x="12963736"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75" name="Shape 73"/>
          <p:cNvSpPr/>
          <p:nvPr/>
        </p:nvSpPr>
        <p:spPr>
          <a:xfrm>
            <a:off x="952500" y="6989109"/>
            <a:ext cx="16383000" cy="19050"/>
          </a:xfrm>
          <a:prstGeom prst="rect">
            <a:avLst/>
          </a:prstGeom>
          <a:solidFill>
            <a:srgbClr val="22424B"/>
          </a:solidFill>
          <a:ln/>
        </p:spPr>
        <p:txBody>
          <a:bodyPr/>
          <a:lstStyle/>
          <a:p>
            <a:endParaRPr lang="en-US"/>
          </a:p>
        </p:txBody>
      </p:sp>
      <p:sp>
        <p:nvSpPr>
          <p:cNvPr id="83" name="Text 9">
            <a:extLst>
              <a:ext uri="{FF2B5EF4-FFF2-40B4-BE49-F238E27FC236}">
                <a16:creationId xmlns:a16="http://schemas.microsoft.com/office/drawing/2014/main" id="{7F9B4C33-87A7-B262-24B6-159AA4F4B6C4}"/>
              </a:ext>
            </a:extLst>
          </p:cNvPr>
          <p:cNvSpPr/>
          <p:nvPr/>
        </p:nvSpPr>
        <p:spPr>
          <a:xfrm>
            <a:off x="12962588"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DAILY GRIND</a:t>
            </a:r>
            <a:endParaRPr lang="en-US" sz="1350" dirty="0"/>
          </a:p>
        </p:txBody>
      </p:sp>
      <p:sp>
        <p:nvSpPr>
          <p:cNvPr id="84" name="Text 16">
            <a:extLst>
              <a:ext uri="{FF2B5EF4-FFF2-40B4-BE49-F238E27FC236}">
                <a16:creationId xmlns:a16="http://schemas.microsoft.com/office/drawing/2014/main" id="{0504EA29-ECFD-C455-6CCD-9F3D2C2D181D}"/>
              </a:ext>
            </a:extLst>
          </p:cNvPr>
          <p:cNvSpPr/>
          <p:nvPr/>
        </p:nvSpPr>
        <p:spPr>
          <a:xfrm>
            <a:off x="12972113"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5" name="Text 23">
            <a:extLst>
              <a:ext uri="{FF2B5EF4-FFF2-40B4-BE49-F238E27FC236}">
                <a16:creationId xmlns:a16="http://schemas.microsoft.com/office/drawing/2014/main" id="{C9857176-9188-378C-C450-9E96BBCBED0A}"/>
              </a:ext>
            </a:extLst>
          </p:cNvPr>
          <p:cNvSpPr/>
          <p:nvPr/>
        </p:nvSpPr>
        <p:spPr>
          <a:xfrm>
            <a:off x="12972113"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$2.30</a:t>
            </a:r>
            <a:endParaRPr lang="en-US" sz="1725" dirty="0"/>
          </a:p>
        </p:txBody>
      </p:sp>
      <p:sp>
        <p:nvSpPr>
          <p:cNvPr id="86" name="Text 30">
            <a:extLst>
              <a:ext uri="{FF2B5EF4-FFF2-40B4-BE49-F238E27FC236}">
                <a16:creationId xmlns:a16="http://schemas.microsoft.com/office/drawing/2014/main" id="{2D2CBE9A-B531-95E9-A739-78EF7A5F5561}"/>
              </a:ext>
            </a:extLst>
          </p:cNvPr>
          <p:cNvSpPr/>
          <p:nvPr/>
        </p:nvSpPr>
        <p:spPr>
          <a:xfrm>
            <a:off x="12972113"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7" name="Text 37">
            <a:extLst>
              <a:ext uri="{FF2B5EF4-FFF2-40B4-BE49-F238E27FC236}">
                <a16:creationId xmlns:a16="http://schemas.microsoft.com/office/drawing/2014/main" id="{2CE06CC2-4A52-0DBE-9134-0348338F6925}"/>
              </a:ext>
            </a:extLst>
          </p:cNvPr>
          <p:cNvSpPr/>
          <p:nvPr/>
        </p:nvSpPr>
        <p:spPr>
          <a:xfrm>
            <a:off x="12972113"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8" name="Text 44">
            <a:extLst>
              <a:ext uri="{FF2B5EF4-FFF2-40B4-BE49-F238E27FC236}">
                <a16:creationId xmlns:a16="http://schemas.microsoft.com/office/drawing/2014/main" id="{C91FE509-D9AD-53AB-6FEC-9B1853A8C352}"/>
              </a:ext>
            </a:extLst>
          </p:cNvPr>
          <p:cNvSpPr/>
          <p:nvPr/>
        </p:nvSpPr>
        <p:spPr>
          <a:xfrm>
            <a:off x="12972113"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$3.50</a:t>
            </a:r>
            <a:endParaRPr lang="en-US" sz="1725" dirty="0"/>
          </a:p>
        </p:txBody>
      </p:sp>
      <p:sp>
        <p:nvSpPr>
          <p:cNvPr id="89" name="Text 51">
            <a:extLst>
              <a:ext uri="{FF2B5EF4-FFF2-40B4-BE49-F238E27FC236}">
                <a16:creationId xmlns:a16="http://schemas.microsoft.com/office/drawing/2014/main" id="{D8710B04-469C-EA2A-823A-E23E0F0A5558}"/>
              </a:ext>
            </a:extLst>
          </p:cNvPr>
          <p:cNvSpPr/>
          <p:nvPr/>
        </p:nvSpPr>
        <p:spPr>
          <a:xfrm>
            <a:off x="12972113"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$4.50</a:t>
            </a:r>
            <a:endParaRPr lang="en-US" sz="1725" dirty="0"/>
          </a:p>
        </p:txBody>
      </p:sp>
      <p:sp>
        <p:nvSpPr>
          <p:cNvPr id="90" name="Text 58">
            <a:extLst>
              <a:ext uri="{FF2B5EF4-FFF2-40B4-BE49-F238E27FC236}">
                <a16:creationId xmlns:a16="http://schemas.microsoft.com/office/drawing/2014/main" id="{E60BCB7C-FBCB-313E-7CE5-3635159F9335}"/>
              </a:ext>
            </a:extLst>
          </p:cNvPr>
          <p:cNvSpPr/>
          <p:nvPr/>
        </p:nvSpPr>
        <p:spPr>
          <a:xfrm>
            <a:off x="12972113" y="53889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91" name="Text 65">
            <a:extLst>
              <a:ext uri="{FF2B5EF4-FFF2-40B4-BE49-F238E27FC236}">
                <a16:creationId xmlns:a16="http://schemas.microsoft.com/office/drawing/2014/main" id="{E14196AD-7689-24EC-1B1E-5D6D8C4F715C}"/>
              </a:ext>
            </a:extLst>
          </p:cNvPr>
          <p:cNvSpPr/>
          <p:nvPr/>
        </p:nvSpPr>
        <p:spPr>
          <a:xfrm>
            <a:off x="12972113"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$6.00</a:t>
            </a:r>
            <a:endParaRPr lang="en-US" sz="1725" dirty="0"/>
          </a:p>
        </p:txBody>
      </p:sp>
      <p:pic>
        <p:nvPicPr>
          <p:cNvPr id="92" name="Picture 91">
            <a:extLst>
              <a:ext uri="{FF2B5EF4-FFF2-40B4-BE49-F238E27FC236}">
                <a16:creationId xmlns:a16="http://schemas.microsoft.com/office/drawing/2014/main" id="{CB04771C-9DD1-10E9-9B9C-FAEF738787F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3" name="Text 72">
            <a:extLst>
              <a:ext uri="{FF2B5EF4-FFF2-40B4-BE49-F238E27FC236}">
                <a16:creationId xmlns:a16="http://schemas.microsoft.com/office/drawing/2014/main" id="{5D2BD564-B4ED-C95E-B1CC-04E1957E018B}"/>
              </a:ext>
            </a:extLst>
          </p:cNvPr>
          <p:cNvSpPr/>
          <p:nvPr/>
        </p:nvSpPr>
        <p:spPr>
          <a:xfrm>
            <a:off x="14651683"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94" name="Text 25">
            <a:extLst>
              <a:ext uri="{FF2B5EF4-FFF2-40B4-BE49-F238E27FC236}">
                <a16:creationId xmlns:a16="http://schemas.microsoft.com/office/drawing/2014/main" id="{5E5F55FA-4F73-19CA-446F-FE5184208ECE}"/>
              </a:ext>
            </a:extLst>
          </p:cNvPr>
          <p:cNvSpPr/>
          <p:nvPr/>
        </p:nvSpPr>
        <p:spPr>
          <a:xfrm>
            <a:off x="952500" y="3657600"/>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Draft Latte</a:t>
            </a:r>
            <a:endParaRPr lang="en-US" sz="1725" dirty="0"/>
          </a:p>
        </p:txBody>
      </p:sp>
      <p:sp>
        <p:nvSpPr>
          <p:cNvPr id="95" name="Text 26">
            <a:extLst>
              <a:ext uri="{FF2B5EF4-FFF2-40B4-BE49-F238E27FC236}">
                <a16:creationId xmlns:a16="http://schemas.microsoft.com/office/drawing/2014/main" id="{4F44F7DE-BA8E-74C6-7C52-4E37D943009E}"/>
              </a:ext>
            </a:extLst>
          </p:cNvPr>
          <p:cNvSpPr/>
          <p:nvPr/>
        </p:nvSpPr>
        <p:spPr>
          <a:xfrm>
            <a:off x="3573720" y="3562350"/>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319</a:t>
            </a:r>
            <a:endParaRPr lang="en-US" sz="1725" dirty="0"/>
          </a:p>
        </p:txBody>
      </p:sp>
      <p:sp>
        <p:nvSpPr>
          <p:cNvPr id="96" name="Text 27">
            <a:extLst>
              <a:ext uri="{FF2B5EF4-FFF2-40B4-BE49-F238E27FC236}">
                <a16:creationId xmlns:a16="http://schemas.microsoft.com/office/drawing/2014/main" id="{9638CBEC-A6E2-B069-ABFE-7C3B4C345135}"/>
              </a:ext>
            </a:extLst>
          </p:cNvPr>
          <p:cNvSpPr/>
          <p:nvPr/>
        </p:nvSpPr>
        <p:spPr>
          <a:xfrm>
            <a:off x="6004244" y="3562350"/>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$5.25</a:t>
            </a:r>
            <a:endParaRPr lang="en-US" sz="1725" dirty="0"/>
          </a:p>
        </p:txBody>
      </p:sp>
      <p:sp>
        <p:nvSpPr>
          <p:cNvPr id="97" name="Text 28">
            <a:extLst>
              <a:ext uri="{FF2B5EF4-FFF2-40B4-BE49-F238E27FC236}">
                <a16:creationId xmlns:a16="http://schemas.microsoft.com/office/drawing/2014/main" id="{80CA5FC2-AABA-B233-3DCE-F38D233D6FB9}"/>
              </a:ext>
            </a:extLst>
          </p:cNvPr>
          <p:cNvSpPr/>
          <p:nvPr/>
        </p:nvSpPr>
        <p:spPr>
          <a:xfrm>
            <a:off x="8651141" y="3562350"/>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98" name="Text 29">
            <a:extLst>
              <a:ext uri="{FF2B5EF4-FFF2-40B4-BE49-F238E27FC236}">
                <a16:creationId xmlns:a16="http://schemas.microsoft.com/office/drawing/2014/main" id="{03FF9968-C579-29BF-2F80-E49B0AAA8C18}"/>
              </a:ext>
            </a:extLst>
          </p:cNvPr>
          <p:cNvSpPr/>
          <p:nvPr/>
        </p:nvSpPr>
        <p:spPr>
          <a:xfrm>
            <a:off x="9814278" y="3562350"/>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$5.50</a:t>
            </a:r>
            <a:endParaRPr lang="en-US" sz="1725" dirty="0"/>
          </a:p>
        </p:txBody>
      </p:sp>
      <p:sp>
        <p:nvSpPr>
          <p:cNvPr id="99" name="Text 30">
            <a:extLst>
              <a:ext uri="{FF2B5EF4-FFF2-40B4-BE49-F238E27FC236}">
                <a16:creationId xmlns:a16="http://schemas.microsoft.com/office/drawing/2014/main" id="{2C753C12-5D29-80A8-2E74-9C1CC49D4983}"/>
              </a:ext>
            </a:extLst>
          </p:cNvPr>
          <p:cNvSpPr/>
          <p:nvPr/>
        </p:nvSpPr>
        <p:spPr>
          <a:xfrm>
            <a:off x="11407289"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0" name="Text 30">
            <a:extLst>
              <a:ext uri="{FF2B5EF4-FFF2-40B4-BE49-F238E27FC236}">
                <a16:creationId xmlns:a16="http://schemas.microsoft.com/office/drawing/2014/main" id="{E9DA926C-629C-71CE-C52D-E17B0894DE24}"/>
              </a:ext>
            </a:extLst>
          </p:cNvPr>
          <p:cNvSpPr/>
          <p:nvPr/>
        </p:nvSpPr>
        <p:spPr>
          <a:xfrm>
            <a:off x="12972113"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1" name="Text 9">
            <a:extLst>
              <a:ext uri="{FF2B5EF4-FFF2-40B4-BE49-F238E27FC236}">
                <a16:creationId xmlns:a16="http://schemas.microsoft.com/office/drawing/2014/main" id="{58E894EA-8C1B-72D3-EA81-3AA95DBB02C7}"/>
              </a:ext>
            </a:extLst>
          </p:cNvPr>
          <p:cNvSpPr/>
          <p:nvPr/>
        </p:nvSpPr>
        <p:spPr>
          <a:xfrm>
            <a:off x="9784117"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LA COLOMBE</a:t>
            </a:r>
            <a:endParaRPr lang="en-US" sz="1350" dirty="0"/>
          </a:p>
        </p:txBody>
      </p:sp>
      <p:sp>
        <p:nvSpPr>
          <p:cNvPr id="102" name="Text 16">
            <a:extLst>
              <a:ext uri="{FF2B5EF4-FFF2-40B4-BE49-F238E27FC236}">
                <a16:creationId xmlns:a16="http://schemas.microsoft.com/office/drawing/2014/main" id="{EE78203D-E782-2E1A-41AC-E9CEC7BF645C}"/>
              </a:ext>
            </a:extLst>
          </p:cNvPr>
          <p:cNvSpPr/>
          <p:nvPr/>
        </p:nvSpPr>
        <p:spPr>
          <a:xfrm>
            <a:off x="9793642"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$5.00</a:t>
            </a:r>
            <a:endParaRPr lang="en-US" sz="1725" dirty="0"/>
          </a:p>
        </p:txBody>
      </p:sp>
      <p:sp>
        <p:nvSpPr>
          <p:cNvPr id="103" name="Text 23">
            <a:extLst>
              <a:ext uri="{FF2B5EF4-FFF2-40B4-BE49-F238E27FC236}">
                <a16:creationId xmlns:a16="http://schemas.microsoft.com/office/drawing/2014/main" id="{708FF600-6C4D-D521-1B6B-DC5B07DDA452}"/>
              </a:ext>
            </a:extLst>
          </p:cNvPr>
          <p:cNvSpPr/>
          <p:nvPr/>
        </p:nvSpPr>
        <p:spPr>
          <a:xfrm>
            <a:off x="9793642"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$3.25</a:t>
            </a:r>
            <a:endParaRPr lang="en-US" sz="1725" dirty="0"/>
          </a:p>
        </p:txBody>
      </p:sp>
      <p:sp>
        <p:nvSpPr>
          <p:cNvPr id="104" name="Text 30">
            <a:extLst>
              <a:ext uri="{FF2B5EF4-FFF2-40B4-BE49-F238E27FC236}">
                <a16:creationId xmlns:a16="http://schemas.microsoft.com/office/drawing/2014/main" id="{5B1656EE-246E-A949-713E-5A51859ADA96}"/>
              </a:ext>
            </a:extLst>
          </p:cNvPr>
          <p:cNvSpPr/>
          <p:nvPr/>
        </p:nvSpPr>
        <p:spPr>
          <a:xfrm>
            <a:off x="9793642"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5" name="Text 37">
            <a:extLst>
              <a:ext uri="{FF2B5EF4-FFF2-40B4-BE49-F238E27FC236}">
                <a16:creationId xmlns:a16="http://schemas.microsoft.com/office/drawing/2014/main" id="{5D695FC9-1952-B5C3-AFA5-C275171D4E92}"/>
              </a:ext>
            </a:extLst>
          </p:cNvPr>
          <p:cNvSpPr/>
          <p:nvPr/>
        </p:nvSpPr>
        <p:spPr>
          <a:xfrm>
            <a:off x="9793642"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6" name="Text 44">
            <a:extLst>
              <a:ext uri="{FF2B5EF4-FFF2-40B4-BE49-F238E27FC236}">
                <a16:creationId xmlns:a16="http://schemas.microsoft.com/office/drawing/2014/main" id="{D950D539-A791-64C3-343C-747047D3E44A}"/>
              </a:ext>
            </a:extLst>
          </p:cNvPr>
          <p:cNvSpPr/>
          <p:nvPr/>
        </p:nvSpPr>
        <p:spPr>
          <a:xfrm>
            <a:off x="9793642"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$4.25</a:t>
            </a:r>
            <a:endParaRPr lang="en-US" sz="1725" dirty="0"/>
          </a:p>
        </p:txBody>
      </p:sp>
      <p:sp>
        <p:nvSpPr>
          <p:cNvPr id="107" name="Text 51">
            <a:extLst>
              <a:ext uri="{FF2B5EF4-FFF2-40B4-BE49-F238E27FC236}">
                <a16:creationId xmlns:a16="http://schemas.microsoft.com/office/drawing/2014/main" id="{AC21D1ED-6CE5-9DCB-021E-9E171F3EED43}"/>
              </a:ext>
            </a:extLst>
          </p:cNvPr>
          <p:cNvSpPr/>
          <p:nvPr/>
        </p:nvSpPr>
        <p:spPr>
          <a:xfrm>
            <a:off x="9793642" y="4901868"/>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8" name="Text 65">
            <a:extLst>
              <a:ext uri="{FF2B5EF4-FFF2-40B4-BE49-F238E27FC236}">
                <a16:creationId xmlns:a16="http://schemas.microsoft.com/office/drawing/2014/main" id="{E3BE29AE-D287-98C7-2EF9-82825076718A}"/>
              </a:ext>
            </a:extLst>
          </p:cNvPr>
          <p:cNvSpPr/>
          <p:nvPr/>
        </p:nvSpPr>
        <p:spPr>
          <a:xfrm>
            <a:off x="9793642" y="5846109"/>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9" name="Text 72">
            <a:extLst>
              <a:ext uri="{FF2B5EF4-FFF2-40B4-BE49-F238E27FC236}">
                <a16:creationId xmlns:a16="http://schemas.microsoft.com/office/drawing/2014/main" id="{7F5123DF-1733-F773-2DAD-92616240D2EF}"/>
              </a:ext>
            </a:extLst>
          </p:cNvPr>
          <p:cNvSpPr/>
          <p:nvPr/>
        </p:nvSpPr>
        <p:spPr>
          <a:xfrm>
            <a:off x="11350089" y="6303309"/>
            <a:ext cx="260795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10" name="Text 30">
            <a:extLst>
              <a:ext uri="{FF2B5EF4-FFF2-40B4-BE49-F238E27FC236}">
                <a16:creationId xmlns:a16="http://schemas.microsoft.com/office/drawing/2014/main" id="{2E3EC572-498B-9E04-8731-D1793282336B}"/>
              </a:ext>
            </a:extLst>
          </p:cNvPr>
          <p:cNvSpPr/>
          <p:nvPr/>
        </p:nvSpPr>
        <p:spPr>
          <a:xfrm>
            <a:off x="9793642"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$5.50</a:t>
            </a:r>
            <a:endParaRPr lang="en-US" sz="1725" dirty="0"/>
          </a:p>
        </p:txBody>
      </p:sp>
      <p:sp>
        <p:nvSpPr>
          <p:cNvPr id="113" name="Text 44">
            <a:extLst>
              <a:ext uri="{FF2B5EF4-FFF2-40B4-BE49-F238E27FC236}">
                <a16:creationId xmlns:a16="http://schemas.microsoft.com/office/drawing/2014/main" id="{AE3BBE63-2A03-87B2-AA59-84B6E1AF3BED}"/>
              </a:ext>
            </a:extLst>
          </p:cNvPr>
          <p:cNvSpPr/>
          <p:nvPr/>
        </p:nvSpPr>
        <p:spPr>
          <a:xfrm>
            <a:off x="9793642" y="5402356"/>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$8.95</a:t>
            </a:r>
            <a:endParaRPr lang="en-US" sz="1725" dirty="0"/>
          </a:p>
        </p:txBody>
      </p:sp>
      <p:sp>
        <p:nvSpPr>
          <p:cNvPr id="116" name="Text 6">
            <a:extLst>
              <a:ext uri="{FF2B5EF4-FFF2-40B4-BE49-F238E27FC236}">
                <a16:creationId xmlns:a16="http://schemas.microsoft.com/office/drawing/2014/main" id="{248399E9-360D-50C1-BC6C-A4142A69454E}"/>
              </a:ext>
            </a:extLst>
          </p:cNvPr>
          <p:cNvSpPr/>
          <p:nvPr/>
        </p:nvSpPr>
        <p:spPr>
          <a:xfrm>
            <a:off x="952499"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Lean into La Colombe</a:t>
            </a:r>
            <a:endParaRPr lang="en-US" sz="2800" dirty="0">
              <a:solidFill>
                <a:srgbClr val="1E7E8C"/>
              </a:solidFill>
            </a:endParaRPr>
          </a:p>
        </p:txBody>
      </p:sp>
      <p:sp>
        <p:nvSpPr>
          <p:cNvPr id="117" name="Text 8">
            <a:extLst>
              <a:ext uri="{FF2B5EF4-FFF2-40B4-BE49-F238E27FC236}">
                <a16:creationId xmlns:a16="http://schemas.microsoft.com/office/drawing/2014/main" id="{C1A054C8-DF23-CC54-9C33-E78C72EA7F16}"/>
              </a:ext>
            </a:extLst>
          </p:cNvPr>
          <p:cNvSpPr/>
          <p:nvPr/>
        </p:nvSpPr>
        <p:spPr>
          <a:xfrm>
            <a:off x="952501" y="8079441"/>
            <a:ext cx="7934826"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Match La Colombe pricing &amp; lead with their branding where possible. The customer already knows it’s a premium product and pricing is matched</a:t>
            </a:r>
            <a:endParaRPr lang="en-US" sz="1400" dirty="0"/>
          </a:p>
        </p:txBody>
      </p:sp>
      <p:sp>
        <p:nvSpPr>
          <p:cNvPr id="118" name="Text 6">
            <a:extLst>
              <a:ext uri="{FF2B5EF4-FFF2-40B4-BE49-F238E27FC236}">
                <a16:creationId xmlns:a16="http://schemas.microsoft.com/office/drawing/2014/main" id="{9B2BAB33-ADF7-0A66-6982-7EE10E12B4E1}"/>
              </a:ext>
            </a:extLst>
          </p:cNvPr>
          <p:cNvSpPr/>
          <p:nvPr/>
        </p:nvSpPr>
        <p:spPr>
          <a:xfrm>
            <a:off x="9583152"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Priced for Convenience</a:t>
            </a:r>
            <a:endParaRPr lang="en-US" sz="2800" dirty="0">
              <a:solidFill>
                <a:srgbClr val="1E7E8C"/>
              </a:solidFill>
            </a:endParaRPr>
          </a:p>
        </p:txBody>
      </p:sp>
      <p:sp>
        <p:nvSpPr>
          <p:cNvPr id="119" name="Text 8">
            <a:extLst>
              <a:ext uri="{FF2B5EF4-FFF2-40B4-BE49-F238E27FC236}">
                <a16:creationId xmlns:a16="http://schemas.microsoft.com/office/drawing/2014/main" id="{7C26B9B9-EF66-15D5-83A0-8F02B72C983A}"/>
              </a:ext>
            </a:extLst>
          </p:cNvPr>
          <p:cNvSpPr/>
          <p:nvPr/>
        </p:nvSpPr>
        <p:spPr>
          <a:xfrm>
            <a:off x="9583153" y="8079441"/>
            <a:ext cx="7752347"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Premium reflects paid-for hotel convenience and a customer base that is 60% internal who have no premium nearby alternative. </a:t>
            </a:r>
            <a:endParaRPr lang="en-US" sz="1400" dirty="0"/>
          </a:p>
        </p:txBody>
      </p:sp>
      <p:sp>
        <p:nvSpPr>
          <p:cNvPr id="121" name="Text 3">
            <a:extLst>
              <a:ext uri="{FF2B5EF4-FFF2-40B4-BE49-F238E27FC236}">
                <a16:creationId xmlns:a16="http://schemas.microsoft.com/office/drawing/2014/main" id="{40BE9CB0-FF13-F427-1356-58EE259DCF1F}"/>
              </a:ext>
            </a:extLst>
          </p:cNvPr>
          <p:cNvSpPr/>
          <p:nvPr/>
        </p:nvSpPr>
        <p:spPr>
          <a:xfrm>
            <a:off x="529304" y="9496565"/>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A7DF61E2-2F49-DDAE-D26C-9CBE6064C99D}"/>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C94E8E03-E3A9-4437-1140-7EB401EE61E6}"/>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C2440DC-C389-B242-F215-08F3841D58EE}"/>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3DC00ED5-79D2-63FD-CDCF-F0E8E3C346E5}"/>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sp>
        <p:nvSpPr>
          <p:cNvPr id="27" name="Text 3">
            <a:extLst>
              <a:ext uri="{FF2B5EF4-FFF2-40B4-BE49-F238E27FC236}">
                <a16:creationId xmlns:a16="http://schemas.microsoft.com/office/drawing/2014/main" id="{BEF9F9E1-4C47-7D10-CCC8-96FD20B9967D}"/>
              </a:ext>
            </a:extLst>
          </p:cNvPr>
          <p:cNvSpPr/>
          <p:nvPr/>
        </p:nvSpPr>
        <p:spPr>
          <a:xfrm>
            <a:off x="952500"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28" name="Text 4">
            <a:extLst>
              <a:ext uri="{FF2B5EF4-FFF2-40B4-BE49-F238E27FC236}">
                <a16:creationId xmlns:a16="http://schemas.microsoft.com/office/drawing/2014/main" id="{84AA6886-3766-D308-4DCA-9325C026EED7}"/>
              </a:ext>
            </a:extLst>
          </p:cNvPr>
          <p:cNvSpPr/>
          <p:nvPr/>
        </p:nvSpPr>
        <p:spPr>
          <a:xfrm>
            <a:off x="952500"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More Beverage &amp; Alcohol</a:t>
            </a:r>
            <a:endParaRPr lang="en-US" sz="2175" dirty="0">
              <a:solidFill>
                <a:schemeClr val="bg1"/>
              </a:solidFill>
            </a:endParaRPr>
          </a:p>
        </p:txBody>
      </p:sp>
      <p:sp>
        <p:nvSpPr>
          <p:cNvPr id="30" name="Shape 7">
            <a:extLst>
              <a:ext uri="{FF2B5EF4-FFF2-40B4-BE49-F238E27FC236}">
                <a16:creationId xmlns:a16="http://schemas.microsoft.com/office/drawing/2014/main" id="{238C24BD-8107-FF64-39F8-C60AAA942DF7}"/>
              </a:ext>
            </a:extLst>
          </p:cNvPr>
          <p:cNvSpPr/>
          <p:nvPr/>
        </p:nvSpPr>
        <p:spPr>
          <a:xfrm>
            <a:off x="952500" y="4459238"/>
            <a:ext cx="3452813" cy="19050"/>
          </a:xfrm>
          <a:prstGeom prst="rect">
            <a:avLst/>
          </a:prstGeom>
          <a:solidFill>
            <a:srgbClr val="D2D3CD"/>
          </a:solidFill>
          <a:ln/>
        </p:spPr>
        <p:txBody>
          <a:bodyPr/>
          <a:lstStyle/>
          <a:p>
            <a:endParaRPr lang="en-US"/>
          </a:p>
        </p:txBody>
      </p:sp>
      <p:sp>
        <p:nvSpPr>
          <p:cNvPr id="31" name="Text 8">
            <a:extLst>
              <a:ext uri="{FF2B5EF4-FFF2-40B4-BE49-F238E27FC236}">
                <a16:creationId xmlns:a16="http://schemas.microsoft.com/office/drawing/2014/main" id="{FC569615-201E-7A3B-B3F0-D8B5C2F2BEF4}"/>
              </a:ext>
            </a:extLst>
          </p:cNvPr>
          <p:cNvSpPr/>
          <p:nvPr/>
        </p:nvSpPr>
        <p:spPr>
          <a:xfrm>
            <a:off x="996314" y="4859287"/>
            <a:ext cx="3623811" cy="2849317"/>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Curated wine selection merchandised like a neighborhood market</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Small &amp; large format spirits, RTDs &amp; canned cocktails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6- &amp; 12-pack beer with grab-and-go convenience</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Highest sales and margin per square foot</a:t>
            </a:r>
          </a:p>
        </p:txBody>
      </p:sp>
      <p:sp>
        <p:nvSpPr>
          <p:cNvPr id="32" name="Text 10">
            <a:extLst>
              <a:ext uri="{FF2B5EF4-FFF2-40B4-BE49-F238E27FC236}">
                <a16:creationId xmlns:a16="http://schemas.microsoft.com/office/drawing/2014/main" id="{A9FED521-F38B-4511-0FDB-4256D36F970B}"/>
              </a:ext>
            </a:extLst>
          </p:cNvPr>
          <p:cNvSpPr/>
          <p:nvPr/>
        </p:nvSpPr>
        <p:spPr>
          <a:xfrm>
            <a:off x="5262563"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33" name="Text 11">
            <a:extLst>
              <a:ext uri="{FF2B5EF4-FFF2-40B4-BE49-F238E27FC236}">
                <a16:creationId xmlns:a16="http://schemas.microsoft.com/office/drawing/2014/main" id="{EF1D171E-C71A-597C-62C9-98D1E847C535}"/>
              </a:ext>
            </a:extLst>
          </p:cNvPr>
          <p:cNvSpPr/>
          <p:nvPr/>
        </p:nvSpPr>
        <p:spPr>
          <a:xfrm>
            <a:off x="5262563"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Smarter SKU Mix</a:t>
            </a:r>
            <a:endParaRPr lang="en-US" sz="2175" dirty="0">
              <a:solidFill>
                <a:schemeClr val="bg1"/>
              </a:solidFill>
            </a:endParaRPr>
          </a:p>
        </p:txBody>
      </p:sp>
      <p:sp>
        <p:nvSpPr>
          <p:cNvPr id="35" name="Shape 14">
            <a:extLst>
              <a:ext uri="{FF2B5EF4-FFF2-40B4-BE49-F238E27FC236}">
                <a16:creationId xmlns:a16="http://schemas.microsoft.com/office/drawing/2014/main" id="{A039CF67-4BF8-A558-6AEF-9DA8FDC6054A}"/>
              </a:ext>
            </a:extLst>
          </p:cNvPr>
          <p:cNvSpPr/>
          <p:nvPr/>
        </p:nvSpPr>
        <p:spPr>
          <a:xfrm>
            <a:off x="5262563" y="4468763"/>
            <a:ext cx="3452813" cy="19050"/>
          </a:xfrm>
          <a:prstGeom prst="rect">
            <a:avLst/>
          </a:prstGeom>
          <a:solidFill>
            <a:srgbClr val="D2D3CD"/>
          </a:solidFill>
          <a:ln/>
        </p:spPr>
        <p:txBody>
          <a:bodyPr/>
          <a:lstStyle/>
          <a:p>
            <a:endParaRPr lang="en-US"/>
          </a:p>
        </p:txBody>
      </p:sp>
      <p:sp>
        <p:nvSpPr>
          <p:cNvPr id="36" name="Text 15">
            <a:extLst>
              <a:ext uri="{FF2B5EF4-FFF2-40B4-BE49-F238E27FC236}">
                <a16:creationId xmlns:a16="http://schemas.microsoft.com/office/drawing/2014/main" id="{B8AAC091-EBCF-E049-0827-540C01A2B154}"/>
              </a:ext>
            </a:extLst>
          </p:cNvPr>
          <p:cNvSpPr/>
          <p:nvPr/>
        </p:nvSpPr>
        <p:spPr>
          <a:xfrm>
            <a:off x="5262563" y="4859287"/>
            <a:ext cx="3485198" cy="2495549"/>
          </a:xfrm>
          <a:prstGeom prst="rect">
            <a:avLst/>
          </a:prstGeom>
          <a:noFill/>
          <a:ln/>
        </p:spPr>
        <p:txBody>
          <a:bodyPr wrap="square" lIns="25400" tIns="25400" rIns="25400" bIns="25400" rtlCol="0" anchor="t">
            <a:normAutofit/>
          </a:bodyPr>
          <a:lstStyle/>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Eliminate slow-moving, specialty products</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Expand core everyday essentials with proven demand</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 assortment using sales data and guest behavior</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 turns while simplifying operations</a:t>
            </a:r>
          </a:p>
        </p:txBody>
      </p:sp>
      <p:sp>
        <p:nvSpPr>
          <p:cNvPr id="37" name="Text 17">
            <a:extLst>
              <a:ext uri="{FF2B5EF4-FFF2-40B4-BE49-F238E27FC236}">
                <a16:creationId xmlns:a16="http://schemas.microsoft.com/office/drawing/2014/main" id="{933A9174-0D0E-FEBE-F0E4-6D1C28E3C1EF}"/>
              </a:ext>
            </a:extLst>
          </p:cNvPr>
          <p:cNvSpPr/>
          <p:nvPr/>
        </p:nvSpPr>
        <p:spPr>
          <a:xfrm>
            <a:off x="1401090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38" name="Text 18">
            <a:extLst>
              <a:ext uri="{FF2B5EF4-FFF2-40B4-BE49-F238E27FC236}">
                <a16:creationId xmlns:a16="http://schemas.microsoft.com/office/drawing/2014/main" id="{8F826DF9-B416-94D6-6F7E-D04665F77DE4}"/>
              </a:ext>
            </a:extLst>
          </p:cNvPr>
          <p:cNvSpPr/>
          <p:nvPr/>
        </p:nvSpPr>
        <p:spPr>
          <a:xfrm>
            <a:off x="1401090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cs typeface="Arial" pitchFamily="34" charset="-120"/>
              </a:rPr>
              <a:t>Everyday Essentials</a:t>
            </a:r>
            <a:endParaRPr lang="en-US" sz="2175" dirty="0">
              <a:solidFill>
                <a:schemeClr val="bg1"/>
              </a:solidFill>
            </a:endParaRPr>
          </a:p>
        </p:txBody>
      </p:sp>
      <p:sp>
        <p:nvSpPr>
          <p:cNvPr id="40" name="Shape 21">
            <a:extLst>
              <a:ext uri="{FF2B5EF4-FFF2-40B4-BE49-F238E27FC236}">
                <a16:creationId xmlns:a16="http://schemas.microsoft.com/office/drawing/2014/main" id="{76CC2C7B-B624-258C-1612-0D792A8356BF}"/>
              </a:ext>
            </a:extLst>
          </p:cNvPr>
          <p:cNvSpPr/>
          <p:nvPr/>
        </p:nvSpPr>
        <p:spPr>
          <a:xfrm>
            <a:off x="14010909" y="4459238"/>
            <a:ext cx="3452813" cy="19050"/>
          </a:xfrm>
          <a:prstGeom prst="rect">
            <a:avLst/>
          </a:prstGeom>
          <a:solidFill>
            <a:srgbClr val="D2D3CD"/>
          </a:solidFill>
          <a:ln/>
        </p:spPr>
        <p:txBody>
          <a:bodyPr/>
          <a:lstStyle/>
          <a:p>
            <a:endParaRPr lang="en-US"/>
          </a:p>
        </p:txBody>
      </p:sp>
      <p:sp>
        <p:nvSpPr>
          <p:cNvPr id="41" name="Text 22">
            <a:extLst>
              <a:ext uri="{FF2B5EF4-FFF2-40B4-BE49-F238E27FC236}">
                <a16:creationId xmlns:a16="http://schemas.microsoft.com/office/drawing/2014/main" id="{0640A253-28EE-B3E7-C761-A818DF792A63}"/>
              </a:ext>
            </a:extLst>
          </p:cNvPr>
          <p:cNvSpPr/>
          <p:nvPr/>
        </p:nvSpPr>
        <p:spPr>
          <a:xfrm>
            <a:off x="14054724" y="4784874"/>
            <a:ext cx="3485198" cy="2535716"/>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Grocery essentials that drive repeat neighborhood visits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Pantry, household &amp; personal care basics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Capture convenience spend</a:t>
            </a:r>
          </a:p>
        </p:txBody>
      </p:sp>
      <p:sp>
        <p:nvSpPr>
          <p:cNvPr id="42" name="Text 24">
            <a:extLst>
              <a:ext uri="{FF2B5EF4-FFF2-40B4-BE49-F238E27FC236}">
                <a16:creationId xmlns:a16="http://schemas.microsoft.com/office/drawing/2014/main" id="{ED751131-CE7A-BAAB-44F6-462E76E8B816}"/>
              </a:ext>
            </a:extLst>
          </p:cNvPr>
          <p:cNvSpPr/>
          <p:nvPr/>
        </p:nvSpPr>
        <p:spPr>
          <a:xfrm>
            <a:off x="96300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43" name="Text 25">
            <a:extLst>
              <a:ext uri="{FF2B5EF4-FFF2-40B4-BE49-F238E27FC236}">
                <a16:creationId xmlns:a16="http://schemas.microsoft.com/office/drawing/2014/main" id="{5CB62EE8-6453-53C1-6ECB-E37C0D834AD2}"/>
              </a:ext>
            </a:extLst>
          </p:cNvPr>
          <p:cNvSpPr/>
          <p:nvPr/>
        </p:nvSpPr>
        <p:spPr>
          <a:xfrm>
            <a:off x="96300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Maximize Shelf Productivity</a:t>
            </a:r>
            <a:endParaRPr lang="en-US" sz="2175" dirty="0">
              <a:solidFill>
                <a:schemeClr val="bg1"/>
              </a:solidFill>
            </a:endParaRPr>
          </a:p>
        </p:txBody>
      </p:sp>
      <p:sp>
        <p:nvSpPr>
          <p:cNvPr id="45" name="Shape 28">
            <a:extLst>
              <a:ext uri="{FF2B5EF4-FFF2-40B4-BE49-F238E27FC236}">
                <a16:creationId xmlns:a16="http://schemas.microsoft.com/office/drawing/2014/main" id="{13D1C27A-9164-6A3A-D8A6-84C517F9211A}"/>
              </a:ext>
            </a:extLst>
          </p:cNvPr>
          <p:cNvSpPr/>
          <p:nvPr/>
        </p:nvSpPr>
        <p:spPr>
          <a:xfrm>
            <a:off x="9630089" y="4457333"/>
            <a:ext cx="3452813" cy="19050"/>
          </a:xfrm>
          <a:prstGeom prst="rect">
            <a:avLst/>
          </a:prstGeom>
          <a:solidFill>
            <a:srgbClr val="D2D3CD"/>
          </a:solidFill>
          <a:ln/>
        </p:spPr>
        <p:txBody>
          <a:bodyPr/>
          <a:lstStyle/>
          <a:p>
            <a:endParaRPr lang="en-US"/>
          </a:p>
        </p:txBody>
      </p:sp>
      <p:sp>
        <p:nvSpPr>
          <p:cNvPr id="46" name="Text 29">
            <a:extLst>
              <a:ext uri="{FF2B5EF4-FFF2-40B4-BE49-F238E27FC236}">
                <a16:creationId xmlns:a16="http://schemas.microsoft.com/office/drawing/2014/main" id="{6E276E76-D324-80E9-B585-20829A6830E4}"/>
              </a:ext>
            </a:extLst>
          </p:cNvPr>
          <p:cNvSpPr/>
          <p:nvPr/>
        </p:nvSpPr>
        <p:spPr>
          <a:xfrm>
            <a:off x="9673904" y="4859287"/>
            <a:ext cx="3485198" cy="2461303"/>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Deeper, denser inventory of top performing products</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More facings for best sellers &amp; impulse purchasing</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Increased sales per SF without labor</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Improved visual merchandising</a:t>
            </a:r>
          </a:p>
        </p:txBody>
      </p:sp>
    </p:spTree>
    <p:extLst>
      <p:ext uri="{BB962C8B-B14F-4D97-AF65-F5344CB8AC3E}">
        <p14:creationId xmlns:p14="http://schemas.microsoft.com/office/powerpoint/2010/main" val="246499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F160F6EC-1DB4-BF05-8F70-26475B6B0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7C8F8FA-3E40-54C3-D14A-33A8E54EDE8E}"/>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11E7E89-5304-9F70-EEE1-F37F44C9281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D84D3C75-7DA5-3C72-A8C5-24062FC99D84}"/>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2" name="Picture 1">
            <a:extLst>
              <a:ext uri="{FF2B5EF4-FFF2-40B4-BE49-F238E27FC236}">
                <a16:creationId xmlns:a16="http://schemas.microsoft.com/office/drawing/2014/main" id="{ADA66AB7-624A-60B3-79B6-124C273D55F3}"/>
              </a:ext>
            </a:extLst>
          </p:cNvPr>
          <p:cNvPicPr>
            <a:picLocks noChangeAspect="1"/>
          </p:cNvPicPr>
          <p:nvPr/>
        </p:nvPicPr>
        <p:blipFill>
          <a:blip r:embed="rId4"/>
          <a:stretch>
            <a:fillRect/>
          </a:stretch>
        </p:blipFill>
        <p:spPr>
          <a:xfrm>
            <a:off x="1840157" y="1947093"/>
            <a:ext cx="14607685" cy="7422070"/>
          </a:xfrm>
          <a:prstGeom prst="rect">
            <a:avLst/>
          </a:prstGeom>
        </p:spPr>
      </p:pic>
      <p:sp>
        <p:nvSpPr>
          <p:cNvPr id="27" name="Rectangle 26"/>
          <p:cNvSpPr/>
          <p:nvPr/>
        </p:nvSpPr>
        <p:spPr>
          <a:xfrm>
            <a:off x="1097280" y="1600200"/>
            <a:ext cx="16093440" cy="8229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54480" y="1874519"/>
            <a:ext cx="7315200" cy="320040"/>
          </a:xfrm>
          <a:prstGeom prst="rect">
            <a:avLst/>
          </a:prstGeom>
          <a:noFill/>
        </p:spPr>
        <p:txBody>
          <a:bodyPr wrap="none">
            <a:spAutoFit/>
          </a:bodyPr>
          <a:lstStyle/>
          <a:p>
            <a:r>
              <a:rPr sz="1300" b="1">
                <a:solidFill>
                  <a:srgbClr val="C0392B"/>
                </a:solidFill>
                <a:latin typeface="Arial"/>
              </a:rPr>
              <a:t>R E T A I L   M I X</a:t>
            </a:r>
          </a:p>
        </p:txBody>
      </p:sp>
      <p:sp>
        <p:nvSpPr>
          <p:cNvPr id="29" name="TextBox 28"/>
          <p:cNvSpPr txBox="1"/>
          <p:nvPr/>
        </p:nvSpPr>
        <p:spPr>
          <a:xfrm>
            <a:off x="1508760" y="2212848"/>
            <a:ext cx="10058400" cy="640080"/>
          </a:xfrm>
          <a:prstGeom prst="rect">
            <a:avLst/>
          </a:prstGeom>
          <a:noFill/>
        </p:spPr>
        <p:txBody>
          <a:bodyPr wrap="none">
            <a:spAutoFit/>
          </a:bodyPr>
          <a:lstStyle/>
          <a:p>
            <a:r>
              <a:rPr sz="3000">
                <a:solidFill>
                  <a:srgbClr val="2E3A23"/>
                </a:solidFill>
                <a:latin typeface="Georgia"/>
              </a:rPr>
              <a:t>Where retail is today, and where it goes</a:t>
            </a:r>
          </a:p>
        </p:txBody>
      </p:sp>
      <p:graphicFrame>
        <p:nvGraphicFramePr>
          <p:cNvPr id="30" name="Chart 29"/>
          <p:cNvGraphicFramePr>
            <a:graphicFrameLocks noGrp="1"/>
          </p:cNvGraphicFramePr>
          <p:nvPr/>
        </p:nvGraphicFramePr>
        <p:xfrm>
          <a:off x="1554480" y="3017520"/>
          <a:ext cx="9509760" cy="6492240"/>
        </p:xfrm>
        <a:graphic>
          <a:graphicData uri="http://schemas.openxmlformats.org/drawingml/2006/chart">
            <c:chart xmlns:c="http://schemas.openxmlformats.org/drawingml/2006/chart" r:id="rId5"/>
          </a:graphicData>
        </a:graphic>
      </p:graphicFrame>
      <p:sp>
        <p:nvSpPr>
          <p:cNvPr id="31" name="Rounded Rectangle 30"/>
          <p:cNvSpPr/>
          <p:nvPr/>
        </p:nvSpPr>
        <p:spPr>
          <a:xfrm>
            <a:off x="11521440" y="301752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$1,346 → $2,210 /wk</a:t>
            </a:r>
          </a:p>
          <a:p>
            <a:r>
              <a:rPr sz="1150">
                <a:solidFill>
                  <a:srgbClr val="4E5A5E"/>
                </a:solidFill>
                <a:latin typeface="Arial"/>
              </a:rPr>
              <a:t>today’s actual shelf run-rate (TTM) to the stabilized plan target</a:t>
            </a:r>
          </a:p>
        </p:txBody>
      </p:sp>
      <p:sp>
        <p:nvSpPr>
          <p:cNvPr id="32" name="Rounded Rectangle 31"/>
          <p:cNvSpPr/>
          <p:nvPr/>
        </p:nvSpPr>
        <p:spPr>
          <a:xfrm>
            <a:off x="11521440" y="466344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$114.9K / yr</a:t>
            </a:r>
          </a:p>
          <a:p>
            <a:r>
              <a:rPr sz="1150">
                <a:solidFill>
                  <a:srgbClr val="4E5A5E"/>
                </a:solidFill>
                <a:latin typeface="Arial"/>
              </a:rPr>
              <a:t>plan-year shelf &amp; packaged revenue — 31.7% of the $362.1K go-forward top line</a:t>
            </a:r>
          </a:p>
        </p:txBody>
      </p:sp>
      <p:sp>
        <p:nvSpPr>
          <p:cNvPr id="33" name="Rounded Rectangle 32"/>
          <p:cNvSpPr/>
          <p:nvPr/>
        </p:nvSpPr>
        <p:spPr>
          <a:xfrm>
            <a:off x="11521440" y="6309359"/>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~50%</a:t>
            </a:r>
          </a:p>
          <a:p>
            <a:r>
              <a:rPr sz="1150">
                <a:solidFill>
                  <a:srgbClr val="4E5A5E"/>
                </a:solidFill>
                <a:latin typeface="Arial"/>
              </a:rPr>
              <a:t>product margin on the new assortment (model COGS input) — +$44.9K new revenue in the plan</a:t>
            </a:r>
          </a:p>
        </p:txBody>
      </p:sp>
      <p:sp>
        <p:nvSpPr>
          <p:cNvPr id="34" name="Rounded Rectangle 33"/>
          <p:cNvSpPr/>
          <p:nvPr/>
        </p:nvSpPr>
        <p:spPr>
          <a:xfrm>
            <a:off x="11521440" y="7955279"/>
            <a:ext cx="5212080" cy="1417320"/>
          </a:xfrm>
          <a:prstGeom prst="roundRect">
            <a:avLst/>
          </a:prstGeom>
          <a:solidFill>
            <a:srgbClr val="E4ED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2E3A23"/>
                </a:solidFill>
                <a:latin typeface="Georgia"/>
              </a:rPr>
              <a:t>$23.9K / yr</a:t>
            </a:r>
          </a:p>
          <a:p>
            <a:r>
              <a:rPr sz="1150">
                <a:solidFill>
                  <a:srgbClr val="4E5A5E"/>
                </a:solidFill>
                <a:latin typeface="Arial"/>
              </a:rPr>
              <a:t>incremental gross profit in the model, with no added labor, rent, or equipment against it</a:t>
            </a:r>
          </a:p>
        </p:txBody>
      </p:sp>
      <p:sp>
        <p:nvSpPr>
          <p:cNvPr id="35" name="TextBox 34"/>
          <p:cNvSpPr txBox="1"/>
          <p:nvPr/>
        </p:nvSpPr>
        <p:spPr>
          <a:xfrm>
            <a:off x="1554480" y="9464040"/>
            <a:ext cx="15087600" cy="320040"/>
          </a:xfrm>
          <a:prstGeom prst="rect">
            <a:avLst/>
          </a:prstGeom>
          <a:noFill/>
        </p:spPr>
        <p:txBody>
          <a:bodyPr wrap="none">
            <a:spAutoFit/>
          </a:bodyPr>
          <a:lstStyle/>
          <a:p>
            <a:r>
              <a:rPr sz="1050">
                <a:solidFill>
                  <a:srgbClr val="4E5A5E"/>
                </a:solidFill>
                <a:latin typeface="Arial"/>
              </a:rPr>
              <a:t>Today = trailing-12-month Toast item detail (Jul 2025–Jun 2026), 404 shelf SKUs, $70.0K. Plan = today + the $44.9K remerchandising increment in the operating model, allocated per the shelf map. 54% of current SKUs sell &lt;$50/yr (6.6% of retail $) — the space funding the new categories.</a:t>
            </a:r>
          </a:p>
        </p:txBody>
      </p:sp>
    </p:spTree>
    <p:extLst>
      <p:ext uri="{BB962C8B-B14F-4D97-AF65-F5344CB8AC3E}">
        <p14:creationId xmlns:p14="http://schemas.microsoft.com/office/powerpoint/2010/main" val="42536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C1E6F37A-9F55-C9A4-D815-F65DAB4ECE7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292371A-6EF8-01CD-1951-7A3C6BF501C8}"/>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70E04CC-4829-02B0-2400-2A48E57D53A6}"/>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E3F11B52-1CA6-F0F9-5103-170090C0769E}"/>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4" name="Picture 3">
            <a:extLst>
              <a:ext uri="{FF2B5EF4-FFF2-40B4-BE49-F238E27FC236}">
                <a16:creationId xmlns:a16="http://schemas.microsoft.com/office/drawing/2014/main" id="{53D495ED-9BB2-731C-8DA3-731ED6FC3931}"/>
              </a:ext>
            </a:extLst>
          </p:cNvPr>
          <p:cNvPicPr>
            <a:picLocks noChangeAspect="1"/>
          </p:cNvPicPr>
          <p:nvPr/>
        </p:nvPicPr>
        <p:blipFill>
          <a:blip r:embed="rId4">
            <a:alphaModFix amt="50000"/>
          </a:blip>
          <a:stretch>
            <a:fillRect/>
          </a:stretch>
        </p:blipFill>
        <p:spPr>
          <a:xfrm>
            <a:off x="3770897" y="2188750"/>
            <a:ext cx="10250906" cy="6833937"/>
          </a:xfrm>
          <a:prstGeom prst="rect">
            <a:avLst/>
          </a:prstGeom>
        </p:spPr>
      </p:pic>
      <p:sp>
        <p:nvSpPr>
          <p:cNvPr id="5" name="Shape 2">
            <a:extLst>
              <a:ext uri="{FF2B5EF4-FFF2-40B4-BE49-F238E27FC236}">
                <a16:creationId xmlns:a16="http://schemas.microsoft.com/office/drawing/2014/main" id="{338526F2-AE70-46E1-625B-8CC31EC8CFA5}"/>
              </a:ext>
            </a:extLst>
          </p:cNvPr>
          <p:cNvSpPr/>
          <p:nvPr/>
        </p:nvSpPr>
        <p:spPr>
          <a:xfrm>
            <a:off x="11798902"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 name="Text 3">
            <a:extLst>
              <a:ext uri="{FF2B5EF4-FFF2-40B4-BE49-F238E27FC236}">
                <a16:creationId xmlns:a16="http://schemas.microsoft.com/office/drawing/2014/main" id="{182185D2-3F5E-087F-03D4-D7425CFE4A3A}"/>
              </a:ext>
            </a:extLst>
          </p:cNvPr>
          <p:cNvSpPr/>
          <p:nvPr/>
        </p:nvSpPr>
        <p:spPr>
          <a:xfrm>
            <a:off x="11895154"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LIQUOR</a:t>
            </a:r>
            <a:endParaRPr lang="en-US" sz="1350" dirty="0"/>
          </a:p>
        </p:txBody>
      </p:sp>
      <p:sp>
        <p:nvSpPr>
          <p:cNvPr id="7" name="Shape 2">
            <a:extLst>
              <a:ext uri="{FF2B5EF4-FFF2-40B4-BE49-F238E27FC236}">
                <a16:creationId xmlns:a16="http://schemas.microsoft.com/office/drawing/2014/main" id="{B5AA50C4-D10F-8FF8-36C0-3E87AFE1EC19}"/>
              </a:ext>
            </a:extLst>
          </p:cNvPr>
          <p:cNvSpPr/>
          <p:nvPr/>
        </p:nvSpPr>
        <p:spPr>
          <a:xfrm>
            <a:off x="11798902"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8" name="Text 3">
            <a:extLst>
              <a:ext uri="{FF2B5EF4-FFF2-40B4-BE49-F238E27FC236}">
                <a16:creationId xmlns:a16="http://schemas.microsoft.com/office/drawing/2014/main" id="{7B613921-65ED-B9F0-69DD-EB49D7940468}"/>
              </a:ext>
            </a:extLst>
          </p:cNvPr>
          <p:cNvSpPr/>
          <p:nvPr/>
        </p:nvSpPr>
        <p:spPr>
          <a:xfrm>
            <a:off x="11895154"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SPARKLING</a:t>
            </a:r>
            <a:endParaRPr lang="en-US" sz="1350" dirty="0"/>
          </a:p>
        </p:txBody>
      </p:sp>
      <p:sp>
        <p:nvSpPr>
          <p:cNvPr id="9" name="Shape 2">
            <a:extLst>
              <a:ext uri="{FF2B5EF4-FFF2-40B4-BE49-F238E27FC236}">
                <a16:creationId xmlns:a16="http://schemas.microsoft.com/office/drawing/2014/main" id="{CFC2FB35-8A16-7580-29EB-5E5FFE9FB9C8}"/>
              </a:ext>
            </a:extLst>
          </p:cNvPr>
          <p:cNvSpPr/>
          <p:nvPr/>
        </p:nvSpPr>
        <p:spPr>
          <a:xfrm>
            <a:off x="11798902" y="5295908"/>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0" name="Text 3">
            <a:extLst>
              <a:ext uri="{FF2B5EF4-FFF2-40B4-BE49-F238E27FC236}">
                <a16:creationId xmlns:a16="http://schemas.microsoft.com/office/drawing/2014/main" id="{BF2D365F-37F4-1923-1891-59DED30FF97F}"/>
              </a:ext>
            </a:extLst>
          </p:cNvPr>
          <p:cNvSpPr/>
          <p:nvPr/>
        </p:nvSpPr>
        <p:spPr>
          <a:xfrm>
            <a:off x="11895154" y="5343032"/>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WHITE</a:t>
            </a:r>
            <a:endParaRPr lang="en-US" sz="1350" dirty="0"/>
          </a:p>
        </p:txBody>
      </p:sp>
      <p:sp>
        <p:nvSpPr>
          <p:cNvPr id="11" name="Shape 2">
            <a:extLst>
              <a:ext uri="{FF2B5EF4-FFF2-40B4-BE49-F238E27FC236}">
                <a16:creationId xmlns:a16="http://schemas.microsoft.com/office/drawing/2014/main" id="{1C606FC4-C30D-5449-4AA2-C566888BE2D7}"/>
              </a:ext>
            </a:extLst>
          </p:cNvPr>
          <p:cNvSpPr/>
          <p:nvPr/>
        </p:nvSpPr>
        <p:spPr>
          <a:xfrm>
            <a:off x="11798902" y="6354686"/>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2" name="Text 3">
            <a:extLst>
              <a:ext uri="{FF2B5EF4-FFF2-40B4-BE49-F238E27FC236}">
                <a16:creationId xmlns:a16="http://schemas.microsoft.com/office/drawing/2014/main" id="{E73E745A-FB39-CA4B-95B4-8B112795FC7E}"/>
              </a:ext>
            </a:extLst>
          </p:cNvPr>
          <p:cNvSpPr/>
          <p:nvPr/>
        </p:nvSpPr>
        <p:spPr>
          <a:xfrm>
            <a:off x="11895154" y="6401810"/>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RED</a:t>
            </a:r>
            <a:endParaRPr lang="en-US" sz="1350" dirty="0"/>
          </a:p>
        </p:txBody>
      </p:sp>
      <p:sp>
        <p:nvSpPr>
          <p:cNvPr id="13" name="Shape 2">
            <a:extLst>
              <a:ext uri="{FF2B5EF4-FFF2-40B4-BE49-F238E27FC236}">
                <a16:creationId xmlns:a16="http://schemas.microsoft.com/office/drawing/2014/main" id="{2A31A719-D636-CDD6-FF22-40181C5B0B72}"/>
              </a:ext>
            </a:extLst>
          </p:cNvPr>
          <p:cNvSpPr/>
          <p:nvPr/>
        </p:nvSpPr>
        <p:spPr>
          <a:xfrm>
            <a:off x="94567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4" name="Text 3">
            <a:extLst>
              <a:ext uri="{FF2B5EF4-FFF2-40B4-BE49-F238E27FC236}">
                <a16:creationId xmlns:a16="http://schemas.microsoft.com/office/drawing/2014/main" id="{147D9967-795B-347E-C943-538EC80F5816}"/>
              </a:ext>
            </a:extLst>
          </p:cNvPr>
          <p:cNvSpPr/>
          <p:nvPr/>
        </p:nvSpPr>
        <p:spPr>
          <a:xfrm>
            <a:off x="95530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15" name="Shape 2">
            <a:extLst>
              <a:ext uri="{FF2B5EF4-FFF2-40B4-BE49-F238E27FC236}">
                <a16:creationId xmlns:a16="http://schemas.microsoft.com/office/drawing/2014/main" id="{241BA39C-7984-9F60-BFB3-DE218E912EA8}"/>
              </a:ext>
            </a:extLst>
          </p:cNvPr>
          <p:cNvSpPr/>
          <p:nvPr/>
        </p:nvSpPr>
        <p:spPr>
          <a:xfrm>
            <a:off x="9456755"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6" name="Text 3">
            <a:extLst>
              <a:ext uri="{FF2B5EF4-FFF2-40B4-BE49-F238E27FC236}">
                <a16:creationId xmlns:a16="http://schemas.microsoft.com/office/drawing/2014/main" id="{AA5F8CAB-EDAF-B0ED-BD36-465AE694BA19}"/>
              </a:ext>
            </a:extLst>
          </p:cNvPr>
          <p:cNvSpPr/>
          <p:nvPr/>
        </p:nvSpPr>
        <p:spPr>
          <a:xfrm>
            <a:off x="9553007"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cs typeface="Arial" pitchFamily="34" charset="-120"/>
              </a:rPr>
              <a:t>BARS</a:t>
            </a:r>
            <a:endParaRPr lang="en-US" sz="1350" dirty="0"/>
          </a:p>
        </p:txBody>
      </p:sp>
      <p:sp>
        <p:nvSpPr>
          <p:cNvPr id="17" name="Shape 2">
            <a:extLst>
              <a:ext uri="{FF2B5EF4-FFF2-40B4-BE49-F238E27FC236}">
                <a16:creationId xmlns:a16="http://schemas.microsoft.com/office/drawing/2014/main" id="{78760BC2-B8D5-D1EB-3B13-858EF4BB7461}"/>
              </a:ext>
            </a:extLst>
          </p:cNvPr>
          <p:cNvSpPr/>
          <p:nvPr/>
        </p:nvSpPr>
        <p:spPr>
          <a:xfrm>
            <a:off x="94567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6" name="Shape 2">
            <a:extLst>
              <a:ext uri="{FF2B5EF4-FFF2-40B4-BE49-F238E27FC236}">
                <a16:creationId xmlns:a16="http://schemas.microsoft.com/office/drawing/2014/main" id="{38E81D2B-02C5-FA4E-20E2-E3471BF56A1F}"/>
              </a:ext>
            </a:extLst>
          </p:cNvPr>
          <p:cNvSpPr/>
          <p:nvPr/>
        </p:nvSpPr>
        <p:spPr>
          <a:xfrm>
            <a:off x="94567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9" name="Shape 2">
            <a:extLst>
              <a:ext uri="{FF2B5EF4-FFF2-40B4-BE49-F238E27FC236}">
                <a16:creationId xmlns:a16="http://schemas.microsoft.com/office/drawing/2014/main" id="{66B3B15E-3BFE-C11C-7EC1-6F1C25F735AF}"/>
              </a:ext>
            </a:extLst>
          </p:cNvPr>
          <p:cNvSpPr/>
          <p:nvPr/>
        </p:nvSpPr>
        <p:spPr>
          <a:xfrm>
            <a:off x="6970229"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0" name="Text 3">
            <a:extLst>
              <a:ext uri="{FF2B5EF4-FFF2-40B4-BE49-F238E27FC236}">
                <a16:creationId xmlns:a16="http://schemas.microsoft.com/office/drawing/2014/main" id="{4D6EC464-7901-12E5-6C9C-C918D3DA414B}"/>
              </a:ext>
            </a:extLst>
          </p:cNvPr>
          <p:cNvSpPr/>
          <p:nvPr/>
        </p:nvSpPr>
        <p:spPr>
          <a:xfrm>
            <a:off x="7066481"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63" name="Shape 2">
            <a:extLst>
              <a:ext uri="{FF2B5EF4-FFF2-40B4-BE49-F238E27FC236}">
                <a16:creationId xmlns:a16="http://schemas.microsoft.com/office/drawing/2014/main" id="{E04A2158-B41C-22EC-55C9-D16611723EE1}"/>
              </a:ext>
            </a:extLst>
          </p:cNvPr>
          <p:cNvSpPr/>
          <p:nvPr/>
        </p:nvSpPr>
        <p:spPr>
          <a:xfrm>
            <a:off x="6970229"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5" name="Shape 2">
            <a:extLst>
              <a:ext uri="{FF2B5EF4-FFF2-40B4-BE49-F238E27FC236}">
                <a16:creationId xmlns:a16="http://schemas.microsoft.com/office/drawing/2014/main" id="{9A73192C-E247-9826-765F-0A0B16732FF0}"/>
              </a:ext>
            </a:extLst>
          </p:cNvPr>
          <p:cNvSpPr/>
          <p:nvPr/>
        </p:nvSpPr>
        <p:spPr>
          <a:xfrm>
            <a:off x="6970229"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7" name="Shape 2">
            <a:extLst>
              <a:ext uri="{FF2B5EF4-FFF2-40B4-BE49-F238E27FC236}">
                <a16:creationId xmlns:a16="http://schemas.microsoft.com/office/drawing/2014/main" id="{5B323F10-F6A8-5DB0-5496-56ADEBA16CA8}"/>
              </a:ext>
            </a:extLst>
          </p:cNvPr>
          <p:cNvSpPr/>
          <p:nvPr/>
        </p:nvSpPr>
        <p:spPr>
          <a:xfrm>
            <a:off x="6970229"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9" name="TextBox 68">
            <a:extLst>
              <a:ext uri="{FF2B5EF4-FFF2-40B4-BE49-F238E27FC236}">
                <a16:creationId xmlns:a16="http://schemas.microsoft.com/office/drawing/2014/main" id="{EB067A4E-0C57-0135-7682-16374B268908}"/>
              </a:ext>
            </a:extLst>
          </p:cNvPr>
          <p:cNvSpPr txBox="1"/>
          <p:nvPr/>
        </p:nvSpPr>
        <p:spPr>
          <a:xfrm>
            <a:off x="6848143"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DRIED PASTA, SAUCE, OLIVE OIL, VINEGAR, RICE, ETC</a:t>
            </a:r>
          </a:p>
        </p:txBody>
      </p:sp>
      <p:sp>
        <p:nvSpPr>
          <p:cNvPr id="70" name="TextBox 69">
            <a:extLst>
              <a:ext uri="{FF2B5EF4-FFF2-40B4-BE49-F238E27FC236}">
                <a16:creationId xmlns:a16="http://schemas.microsoft.com/office/drawing/2014/main" id="{9C2A79F7-8F6B-5B56-6A3E-764DEA9738AC}"/>
              </a:ext>
            </a:extLst>
          </p:cNvPr>
          <p:cNvSpPr txBox="1"/>
          <p:nvPr/>
        </p:nvSpPr>
        <p:spPr>
          <a:xfrm>
            <a:off x="6848143"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PEANUT BUTTER, NUTELLA, SALSA, HOT SAUCE, ETC</a:t>
            </a:r>
          </a:p>
        </p:txBody>
      </p:sp>
      <p:sp>
        <p:nvSpPr>
          <p:cNvPr id="71" name="TextBox 70">
            <a:extLst>
              <a:ext uri="{FF2B5EF4-FFF2-40B4-BE49-F238E27FC236}">
                <a16:creationId xmlns:a16="http://schemas.microsoft.com/office/drawing/2014/main" id="{1AED25F2-F755-9219-A05E-3C3C35940126}"/>
              </a:ext>
            </a:extLst>
          </p:cNvPr>
          <p:cNvSpPr txBox="1"/>
          <p:nvPr/>
        </p:nvSpPr>
        <p:spPr>
          <a:xfrm>
            <a:off x="6848143"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PANCAKE MIX, CEREAL, OATMEAL, GRANOLA, ETC</a:t>
            </a:r>
          </a:p>
        </p:txBody>
      </p:sp>
      <p:sp>
        <p:nvSpPr>
          <p:cNvPr id="73" name="Shape 2">
            <a:extLst>
              <a:ext uri="{FF2B5EF4-FFF2-40B4-BE49-F238E27FC236}">
                <a16:creationId xmlns:a16="http://schemas.microsoft.com/office/drawing/2014/main" id="{212C6EF8-2687-853B-7423-33CB8B70E6C2}"/>
              </a:ext>
            </a:extLst>
          </p:cNvPr>
          <p:cNvSpPr/>
          <p:nvPr/>
        </p:nvSpPr>
        <p:spPr>
          <a:xfrm>
            <a:off x="42751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4" name="Text 3">
            <a:extLst>
              <a:ext uri="{FF2B5EF4-FFF2-40B4-BE49-F238E27FC236}">
                <a16:creationId xmlns:a16="http://schemas.microsoft.com/office/drawing/2014/main" id="{3CA8F99E-89FC-3B49-FB07-6E76FA43F499}"/>
              </a:ext>
            </a:extLst>
          </p:cNvPr>
          <p:cNvSpPr/>
          <p:nvPr/>
        </p:nvSpPr>
        <p:spPr>
          <a:xfrm>
            <a:off x="43714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75" name="Shape 2">
            <a:extLst>
              <a:ext uri="{FF2B5EF4-FFF2-40B4-BE49-F238E27FC236}">
                <a16:creationId xmlns:a16="http://schemas.microsoft.com/office/drawing/2014/main" id="{212BFBE5-BAB8-610D-811F-8965DECC127A}"/>
              </a:ext>
            </a:extLst>
          </p:cNvPr>
          <p:cNvSpPr/>
          <p:nvPr/>
        </p:nvSpPr>
        <p:spPr>
          <a:xfrm>
            <a:off x="42751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6" name="Shape 2">
            <a:extLst>
              <a:ext uri="{FF2B5EF4-FFF2-40B4-BE49-F238E27FC236}">
                <a16:creationId xmlns:a16="http://schemas.microsoft.com/office/drawing/2014/main" id="{1445BD5D-BB96-058C-494D-72917473EDDB}"/>
              </a:ext>
            </a:extLst>
          </p:cNvPr>
          <p:cNvSpPr/>
          <p:nvPr/>
        </p:nvSpPr>
        <p:spPr>
          <a:xfrm>
            <a:off x="42751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7" name="Shape 2">
            <a:extLst>
              <a:ext uri="{FF2B5EF4-FFF2-40B4-BE49-F238E27FC236}">
                <a16:creationId xmlns:a16="http://schemas.microsoft.com/office/drawing/2014/main" id="{E5589951-56DD-CF23-1D0D-4E5D64DCE69E}"/>
              </a:ext>
            </a:extLst>
          </p:cNvPr>
          <p:cNvSpPr/>
          <p:nvPr/>
        </p:nvSpPr>
        <p:spPr>
          <a:xfrm>
            <a:off x="4275155"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8" name="TextBox 77">
            <a:extLst>
              <a:ext uri="{FF2B5EF4-FFF2-40B4-BE49-F238E27FC236}">
                <a16:creationId xmlns:a16="http://schemas.microsoft.com/office/drawing/2014/main" id="{CE73BD17-7D48-0169-6BBB-A9D45AB89F53}"/>
              </a:ext>
            </a:extLst>
          </p:cNvPr>
          <p:cNvSpPr txBox="1"/>
          <p:nvPr/>
        </p:nvSpPr>
        <p:spPr>
          <a:xfrm>
            <a:off x="4153069"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TOOTHBRUSH, DEODORANT, SLEEP AIDS, ETC</a:t>
            </a:r>
          </a:p>
        </p:txBody>
      </p:sp>
      <p:sp>
        <p:nvSpPr>
          <p:cNvPr id="79" name="TextBox 78">
            <a:extLst>
              <a:ext uri="{FF2B5EF4-FFF2-40B4-BE49-F238E27FC236}">
                <a16:creationId xmlns:a16="http://schemas.microsoft.com/office/drawing/2014/main" id="{3E4DAB4A-6329-2B35-4DB3-7D5F73D34BB0}"/>
              </a:ext>
            </a:extLst>
          </p:cNvPr>
          <p:cNvSpPr txBox="1"/>
          <p:nvPr/>
        </p:nvSpPr>
        <p:spPr>
          <a:xfrm>
            <a:off x="4153069"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ADVIL, TYLENOL, PROTEIN, LIQUID IV, PROTEIN BARS, ETC</a:t>
            </a:r>
          </a:p>
        </p:txBody>
      </p:sp>
      <p:sp>
        <p:nvSpPr>
          <p:cNvPr id="80" name="TextBox 79">
            <a:extLst>
              <a:ext uri="{FF2B5EF4-FFF2-40B4-BE49-F238E27FC236}">
                <a16:creationId xmlns:a16="http://schemas.microsoft.com/office/drawing/2014/main" id="{A8056857-C90D-0C2E-1D1C-B193B9F5EDE7}"/>
              </a:ext>
            </a:extLst>
          </p:cNvPr>
          <p:cNvSpPr txBox="1"/>
          <p:nvPr/>
        </p:nvSpPr>
        <p:spPr>
          <a:xfrm>
            <a:off x="4153069"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CHAPSTICK, SUNSCREEN, EYE MASK, WIPES, ETC</a:t>
            </a:r>
          </a:p>
        </p:txBody>
      </p:sp>
      <p:sp>
        <p:nvSpPr>
          <p:cNvPr id="81" name="TextBox 80">
            <a:extLst>
              <a:ext uri="{FF2B5EF4-FFF2-40B4-BE49-F238E27FC236}">
                <a16:creationId xmlns:a16="http://schemas.microsoft.com/office/drawing/2014/main" id="{6D073133-3B32-1BE6-156C-0588211A8298}"/>
              </a:ext>
            </a:extLst>
          </p:cNvPr>
          <p:cNvSpPr txBox="1"/>
          <p:nvPr/>
        </p:nvSpPr>
        <p:spPr>
          <a:xfrm>
            <a:off x="9334670" y="5216699"/>
            <a:ext cx="1952724" cy="430887"/>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CHIPS, PRETZELS, POPCORN, ETC</a:t>
            </a:r>
          </a:p>
        </p:txBody>
      </p:sp>
      <p:sp>
        <p:nvSpPr>
          <p:cNvPr id="82" name="TextBox 81">
            <a:extLst>
              <a:ext uri="{FF2B5EF4-FFF2-40B4-BE49-F238E27FC236}">
                <a16:creationId xmlns:a16="http://schemas.microsoft.com/office/drawing/2014/main" id="{E7B11AD0-47B6-6BF2-BE5A-8256A6A838FF}"/>
              </a:ext>
            </a:extLst>
          </p:cNvPr>
          <p:cNvSpPr txBox="1"/>
          <p:nvPr/>
        </p:nvSpPr>
        <p:spPr>
          <a:xfrm>
            <a:off x="9334670"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LARGE BAG SNACKS, BEEF JERKY, CANDY, ETC</a:t>
            </a:r>
          </a:p>
        </p:txBody>
      </p:sp>
      <p:sp>
        <p:nvSpPr>
          <p:cNvPr id="85" name="TextBox 84">
            <a:extLst>
              <a:ext uri="{FF2B5EF4-FFF2-40B4-BE49-F238E27FC236}">
                <a16:creationId xmlns:a16="http://schemas.microsoft.com/office/drawing/2014/main" id="{CA6B09B6-5237-483D-3E72-DA11BC2C8B3F}"/>
              </a:ext>
            </a:extLst>
          </p:cNvPr>
          <p:cNvSpPr txBox="1"/>
          <p:nvPr/>
        </p:nvSpPr>
        <p:spPr>
          <a:xfrm>
            <a:off x="6848143"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PANTRY</a:t>
            </a:r>
          </a:p>
        </p:txBody>
      </p:sp>
      <p:sp>
        <p:nvSpPr>
          <p:cNvPr id="86" name="TextBox 85">
            <a:extLst>
              <a:ext uri="{FF2B5EF4-FFF2-40B4-BE49-F238E27FC236}">
                <a16:creationId xmlns:a16="http://schemas.microsoft.com/office/drawing/2014/main" id="{CA877ED9-7CE8-4779-5981-243681C1A407}"/>
              </a:ext>
            </a:extLst>
          </p:cNvPr>
          <p:cNvSpPr txBox="1"/>
          <p:nvPr/>
        </p:nvSpPr>
        <p:spPr>
          <a:xfrm>
            <a:off x="93988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SNACKS</a:t>
            </a:r>
          </a:p>
        </p:txBody>
      </p:sp>
      <p:sp>
        <p:nvSpPr>
          <p:cNvPr id="87" name="TextBox 86">
            <a:extLst>
              <a:ext uri="{FF2B5EF4-FFF2-40B4-BE49-F238E27FC236}">
                <a16:creationId xmlns:a16="http://schemas.microsoft.com/office/drawing/2014/main" id="{82424E2F-6B53-3B34-7F49-8CECEAA196BB}"/>
              </a:ext>
            </a:extLst>
          </p:cNvPr>
          <p:cNvSpPr txBox="1"/>
          <p:nvPr/>
        </p:nvSpPr>
        <p:spPr>
          <a:xfrm>
            <a:off x="11821195"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ALCOHOL</a:t>
            </a:r>
          </a:p>
        </p:txBody>
      </p:sp>
      <p:sp>
        <p:nvSpPr>
          <p:cNvPr id="88" name="TextBox 87">
            <a:extLst>
              <a:ext uri="{FF2B5EF4-FFF2-40B4-BE49-F238E27FC236}">
                <a16:creationId xmlns:a16="http://schemas.microsoft.com/office/drawing/2014/main" id="{D48286CC-DA33-F4CF-2191-FA30D96B7C56}"/>
              </a:ext>
            </a:extLst>
          </p:cNvPr>
          <p:cNvSpPr txBox="1"/>
          <p:nvPr/>
        </p:nvSpPr>
        <p:spPr>
          <a:xfrm>
            <a:off x="42172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HOUSEHOLD</a:t>
            </a:r>
          </a:p>
        </p:txBody>
      </p:sp>
    </p:spTree>
    <p:extLst>
      <p:ext uri="{BB962C8B-B14F-4D97-AF65-F5344CB8AC3E}">
        <p14:creationId xmlns:p14="http://schemas.microsoft.com/office/powerpoint/2010/main" val="179287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573662B1-7DD1-B9FA-3FEA-4DE14A9B75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C001D6-0735-D06D-9B32-4B971A664A39}"/>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04 | PROGRAMMING</a:t>
            </a:r>
            <a:endParaRPr lang="en-US" sz="1650" dirty="0"/>
          </a:p>
        </p:txBody>
      </p:sp>
      <p:sp>
        <p:nvSpPr>
          <p:cNvPr id="3" name="Text 1">
            <a:extLst>
              <a:ext uri="{FF2B5EF4-FFF2-40B4-BE49-F238E27FC236}">
                <a16:creationId xmlns:a16="http://schemas.microsoft.com/office/drawing/2014/main" id="{65E7B12A-0977-32FF-5A9A-E16391707FDD}"/>
              </a:ext>
            </a:extLst>
          </p:cNvPr>
          <p:cNvSpPr/>
          <p:nvPr/>
        </p:nvSpPr>
        <p:spPr>
          <a:xfrm>
            <a:off x="952500" y="1104899"/>
            <a:ext cx="10497378" cy="617043"/>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200" kern="0" spc="-37" dirty="0">
                <a:solidFill>
                  <a:srgbClr val="22424B"/>
                </a:solidFill>
                <a:latin typeface="Georgia" pitchFamily="34" charset="0"/>
                <a:ea typeface="Georgia" pitchFamily="34" charset="-122"/>
                <a:cs typeface="Georgia" pitchFamily="34" charset="-120"/>
              </a:rPr>
              <a:t>Give people a reason to come….and to buy</a:t>
            </a:r>
            <a:endParaRPr lang="en-US" sz="4200" dirty="0"/>
          </a:p>
        </p:txBody>
      </p:sp>
      <p:pic>
        <p:nvPicPr>
          <p:cNvPr id="92" name="Picture 91">
            <a:extLst>
              <a:ext uri="{FF2B5EF4-FFF2-40B4-BE49-F238E27FC236}">
                <a16:creationId xmlns:a16="http://schemas.microsoft.com/office/drawing/2014/main" id="{992D03D0-EC08-C806-E4EC-B087D373F953}"/>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 name="Text 8">
            <a:extLst>
              <a:ext uri="{FF2B5EF4-FFF2-40B4-BE49-F238E27FC236}">
                <a16:creationId xmlns:a16="http://schemas.microsoft.com/office/drawing/2014/main" id="{933EC567-F9C1-BB9C-2F94-4C936F3C626C}"/>
              </a:ext>
            </a:extLst>
          </p:cNvPr>
          <p:cNvSpPr/>
          <p:nvPr/>
        </p:nvSpPr>
        <p:spPr>
          <a:xfrm>
            <a:off x="952500" y="2532497"/>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LITTLE WING AFTER DARK</a:t>
            </a:r>
            <a:endParaRPr lang="en-US" sz="1425" b="1" dirty="0">
              <a:solidFill>
                <a:srgbClr val="1E7E8C"/>
              </a:solidFill>
            </a:endParaRPr>
          </a:p>
        </p:txBody>
      </p:sp>
      <p:sp>
        <p:nvSpPr>
          <p:cNvPr id="10" name="Text 9">
            <a:extLst>
              <a:ext uri="{FF2B5EF4-FFF2-40B4-BE49-F238E27FC236}">
                <a16:creationId xmlns:a16="http://schemas.microsoft.com/office/drawing/2014/main" id="{6191EB00-30EA-A825-D633-B2E10BE4CB99}"/>
              </a:ext>
            </a:extLst>
          </p:cNvPr>
          <p:cNvSpPr/>
          <p:nvPr/>
        </p:nvSpPr>
        <p:spPr>
          <a:xfrm>
            <a:off x="952500"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 2x/month</a:t>
            </a:r>
            <a:endParaRPr lang="en-US" sz="5700" dirty="0"/>
          </a:p>
        </p:txBody>
      </p:sp>
      <p:sp>
        <p:nvSpPr>
          <p:cNvPr id="12" name="Text 13">
            <a:extLst>
              <a:ext uri="{FF2B5EF4-FFF2-40B4-BE49-F238E27FC236}">
                <a16:creationId xmlns:a16="http://schemas.microsoft.com/office/drawing/2014/main" id="{38FA5174-78C6-D8D9-EA02-0B53CC23AD93}"/>
              </a:ext>
            </a:extLst>
          </p:cNvPr>
          <p:cNvSpPr/>
          <p:nvPr/>
        </p:nvSpPr>
        <p:spPr>
          <a:xfrm>
            <a:off x="952500" y="3808847"/>
            <a:ext cx="6749796"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Transition from weekly evening programming to curated events twice per month. Programming that brings people into the door:</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Blossom Martini × La Colombe Pop-Up</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Wine Wednesday (monthly)</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Acoustic Music Night</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Poetry &amp; Spoken Word</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Local Artist Showcase</a:t>
            </a:r>
          </a:p>
          <a:p>
            <a:pPr marL="0" indent="0" algn="l">
              <a:lnSpc>
                <a:spcPct val="150000"/>
              </a:lnSpc>
              <a:buNone/>
            </a:pPr>
            <a:endParaRPr lang="en-US" sz="1650" dirty="0"/>
          </a:p>
        </p:txBody>
      </p:sp>
      <p:sp>
        <p:nvSpPr>
          <p:cNvPr id="13" name="Text 15">
            <a:extLst>
              <a:ext uri="{FF2B5EF4-FFF2-40B4-BE49-F238E27FC236}">
                <a16:creationId xmlns:a16="http://schemas.microsoft.com/office/drawing/2014/main" id="{44D7F71E-8129-EEA1-474F-9AF3600A5612}"/>
              </a:ext>
            </a:extLst>
          </p:cNvPr>
          <p:cNvSpPr/>
          <p:nvPr/>
        </p:nvSpPr>
        <p:spPr>
          <a:xfrm>
            <a:off x="8667750" y="2532497"/>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POS MARKETING</a:t>
            </a:r>
            <a:endParaRPr lang="en-US" sz="1425" dirty="0">
              <a:solidFill>
                <a:srgbClr val="1E7E8C"/>
              </a:solidFill>
            </a:endParaRPr>
          </a:p>
        </p:txBody>
      </p:sp>
      <p:pic>
        <p:nvPicPr>
          <p:cNvPr id="21" name="Picture 20">
            <a:extLst>
              <a:ext uri="{FF2B5EF4-FFF2-40B4-BE49-F238E27FC236}">
                <a16:creationId xmlns:a16="http://schemas.microsoft.com/office/drawing/2014/main" id="{95F9E3D0-9858-0141-65C2-CEE0A9BAC8E8}"/>
              </a:ext>
            </a:extLst>
          </p:cNvPr>
          <p:cNvPicPr>
            <a:picLocks noChangeAspect="1"/>
          </p:cNvPicPr>
          <p:nvPr/>
        </p:nvPicPr>
        <p:blipFill>
          <a:blip r:embed="rId4"/>
          <a:stretch>
            <a:fillRect/>
          </a:stretch>
        </p:blipFill>
        <p:spPr>
          <a:xfrm>
            <a:off x="8828174" y="6076834"/>
            <a:ext cx="3094006" cy="3521355"/>
          </a:xfrm>
          <a:prstGeom prst="rect">
            <a:avLst/>
          </a:prstGeom>
        </p:spPr>
      </p:pic>
      <p:sp>
        <p:nvSpPr>
          <p:cNvPr id="22" name="Text 13">
            <a:extLst>
              <a:ext uri="{FF2B5EF4-FFF2-40B4-BE49-F238E27FC236}">
                <a16:creationId xmlns:a16="http://schemas.microsoft.com/office/drawing/2014/main" id="{8FED11EF-88D8-A4E3-236C-E48A6E2499AB}"/>
              </a:ext>
            </a:extLst>
          </p:cNvPr>
          <p:cNvSpPr/>
          <p:nvPr/>
        </p:nvSpPr>
        <p:spPr>
          <a:xfrm>
            <a:off x="8667750" y="3764843"/>
            <a:ext cx="7998994"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Increase awareness with dynamic digital displays at key guest touchpoints (front desk &amp; Little Wing POS station)</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Showcase Little Wing menu items and daily specials.</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Highlight upcoming events and resident programming.</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Promote seasonal offerings and limited-time products.</a:t>
            </a:r>
          </a:p>
        </p:txBody>
      </p:sp>
      <p:sp>
        <p:nvSpPr>
          <p:cNvPr id="23" name="Text 9">
            <a:extLst>
              <a:ext uri="{FF2B5EF4-FFF2-40B4-BE49-F238E27FC236}">
                <a16:creationId xmlns:a16="http://schemas.microsoft.com/office/drawing/2014/main" id="{182E7942-9157-5A11-8A01-DD1F8872A21F}"/>
              </a:ext>
            </a:extLst>
          </p:cNvPr>
          <p:cNvSpPr/>
          <p:nvPr/>
        </p:nvSpPr>
        <p:spPr>
          <a:xfrm>
            <a:off x="8636668"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endParaRPr lang="en-US" sz="5700" dirty="0"/>
          </a:p>
        </p:txBody>
      </p:sp>
      <p:sp>
        <p:nvSpPr>
          <p:cNvPr id="24" name="Text 9">
            <a:extLst>
              <a:ext uri="{FF2B5EF4-FFF2-40B4-BE49-F238E27FC236}">
                <a16:creationId xmlns:a16="http://schemas.microsoft.com/office/drawing/2014/main" id="{46097782-5BFD-5209-B41F-60931DD0CA58}"/>
              </a:ext>
            </a:extLst>
          </p:cNvPr>
          <p:cNvSpPr/>
          <p:nvPr/>
        </p:nvSpPr>
        <p:spPr>
          <a:xfrm>
            <a:off x="8668753" y="2913497"/>
            <a:ext cx="4726405"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mobile displays</a:t>
            </a:r>
            <a:endParaRPr lang="en-US" sz="5700" dirty="0"/>
          </a:p>
        </p:txBody>
      </p:sp>
      <p:pic>
        <p:nvPicPr>
          <p:cNvPr id="25" name="Picture 24" descr="Pro Player Digital Signage Player angled view of front">
            <a:extLst>
              <a:ext uri="{FF2B5EF4-FFF2-40B4-BE49-F238E27FC236}">
                <a16:creationId xmlns:a16="http://schemas.microsoft.com/office/drawing/2014/main" id="{E8C97B5B-4373-D640-B4EB-61B32739ED7D}"/>
              </a:ext>
            </a:extLst>
          </p:cNvPr>
          <p:cNvPicPr>
            <a:picLocks noChangeAspect="1"/>
          </p:cNvPicPr>
          <p:nvPr/>
        </p:nvPicPr>
        <p:blipFill>
          <a:blip r:embed="rId5"/>
          <a:stretch>
            <a:fillRect/>
          </a:stretch>
        </p:blipFill>
        <p:spPr>
          <a:xfrm>
            <a:off x="11922180" y="5959382"/>
            <a:ext cx="3756258" cy="3756258"/>
          </a:xfrm>
          <a:prstGeom prst="rect">
            <a:avLst/>
          </a:prstGeom>
        </p:spPr>
      </p:pic>
      <p:sp>
        <p:nvSpPr>
          <p:cNvPr id="27" name="Shape 16">
            <a:extLst>
              <a:ext uri="{FF2B5EF4-FFF2-40B4-BE49-F238E27FC236}">
                <a16:creationId xmlns:a16="http://schemas.microsoft.com/office/drawing/2014/main" id="{4B825243-9C87-8941-02C4-862842E2D9D4}"/>
              </a:ext>
            </a:extLst>
          </p:cNvPr>
          <p:cNvSpPr/>
          <p:nvPr/>
        </p:nvSpPr>
        <p:spPr>
          <a:xfrm>
            <a:off x="8077238" y="3162300"/>
            <a:ext cx="19050" cy="5486400"/>
          </a:xfrm>
          <a:prstGeom prst="rect">
            <a:avLst/>
          </a:prstGeom>
          <a:solidFill>
            <a:srgbClr val="D2D3CD"/>
          </a:solidFill>
          <a:ln/>
        </p:spPr>
        <p:txBody>
          <a:bodyPr/>
          <a:lstStyle/>
          <a:p>
            <a:endParaRPr lang="en-US"/>
          </a:p>
        </p:txBody>
      </p:sp>
    </p:spTree>
    <p:extLst>
      <p:ext uri="{BB962C8B-B14F-4D97-AF65-F5344CB8AC3E}">
        <p14:creationId xmlns:p14="http://schemas.microsoft.com/office/powerpoint/2010/main" val="9275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120" name="Text 1">
            <a:extLst>
              <a:ext uri="{FF2B5EF4-FFF2-40B4-BE49-F238E27FC236}">
                <a16:creationId xmlns:a16="http://schemas.microsoft.com/office/drawing/2014/main" id="{86BF14AD-F9BB-3F8F-9C19-936C340F2ED7}"/>
              </a:ext>
            </a:extLst>
          </p:cNvPr>
          <p:cNvSpPr/>
          <p:nvPr/>
        </p:nvSpPr>
        <p:spPr>
          <a:xfrm>
            <a:off x="952500" y="1104900"/>
            <a:ext cx="901818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The go-forward plan</a:t>
            </a:r>
            <a:endParaRPr lang="en-US" sz="4200" dirty="0"/>
          </a:p>
        </p:txBody>
      </p:sp>
      <p:sp>
        <p:nvSpPr>
          <p:cNvPr id="121" name="Text 0">
            <a:extLst>
              <a:ext uri="{FF2B5EF4-FFF2-40B4-BE49-F238E27FC236}">
                <a16:creationId xmlns:a16="http://schemas.microsoft.com/office/drawing/2014/main" id="{259E4A94-4244-284B-BFA6-92705ABAB9D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05 | P&amp;L</a:t>
            </a:r>
            <a:endParaRPr lang="en-US" sz="1650" dirty="0"/>
          </a:p>
        </p:txBody>
      </p:sp>
      <p:pic>
        <p:nvPicPr>
          <p:cNvPr id="122" name="Picture 121">
            <a:extLst>
              <a:ext uri="{FF2B5EF4-FFF2-40B4-BE49-F238E27FC236}">
                <a16:creationId xmlns:a16="http://schemas.microsoft.com/office/drawing/2014/main" id="{8C3F3AE3-58DC-2BE9-BAE8-8014C9873AFA}"/>
              </a:ext>
            </a:extLst>
          </p:cNvPr>
          <p:cNvPicPr>
            <a:picLocks noChangeAspect="1"/>
          </p:cNvPicPr>
          <p:nvPr/>
        </p:nvPicPr>
        <p:blipFill>
          <a:blip r:embed="rId3"/>
          <a:stretch>
            <a:fillRect/>
          </a:stretch>
        </p:blipFill>
        <p:spPr>
          <a:xfrm>
            <a:off x="17138588" y="9022687"/>
            <a:ext cx="702372" cy="692953"/>
          </a:xfrm>
          <a:prstGeom prst="rect">
            <a:avLst/>
          </a:prstGeom>
        </p:spPr>
      </p:pic>
      <p:graphicFrame>
        <p:nvGraphicFramePr>
          <p:cNvPr id="123" name="Table 122"/>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a:t>
                      </a:r>
                    </a:p>
                  </a:txBody>
                  <a:tcPr>
                    <a:solidFill>
                      <a:srgbClr val="F7F6F2"/>
                    </a:solidFill>
                  </a:tcPr>
                </a:tc>
                <a:tc>
                  <a:txBody>
                    <a:bodyPr/>
                    <a:lstStyle/>
                    <a:p>
                      <a:pPr algn="r"/>
                      <a:r>
                        <a:rPr sz="1400">
                          <a:solidFill>
                            <a:srgbClr val="3F4A4E"/>
                          </a:solidFill>
                          <a:latin typeface="Arial"/>
                        </a:rPr>
                        <a:t>$288.7K</a:t>
                      </a:r>
                    </a:p>
                  </a:txBody>
                  <a:tcPr>
                    <a:solidFill>
                      <a:srgbClr val="F7F6F2"/>
                    </a:solidFill>
                  </a:tcPr>
                </a:tc>
                <a:tc>
                  <a:txBody>
                    <a:bodyPr/>
                    <a:lstStyle/>
                    <a:p>
                      <a:pPr algn="r"/>
                      <a:r>
                        <a:rPr sz="1400">
                          <a:solidFill>
                            <a:srgbClr val="3F4A4E"/>
                          </a:solidFill>
                          <a:latin typeface="Arial"/>
                        </a:rPr>
                        <a:t>$311.2K</a:t>
                      </a:r>
                    </a:p>
                  </a:txBody>
                  <a:tcPr>
                    <a:solidFill>
                      <a:srgbClr val="F7F6F2"/>
                    </a:solidFill>
                  </a:tcPr>
                </a:tc>
                <a:tc>
                  <a:txBody>
                    <a:bodyPr/>
                    <a:lstStyle/>
                    <a:p>
                      <a:pPr algn="r"/>
                      <a:r>
                        <a:rPr sz="1400">
                          <a:solidFill>
                            <a:srgbClr val="3F4A4E"/>
                          </a:solidFill>
                          <a:latin typeface="Arial"/>
                        </a:rPr>
                        <a:t>$362.1K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$104.6K</a:t>
                      </a:r>
                    </a:p>
                  </a:txBody>
                  <a:tcPr>
                    <a:solidFill>
                      <a:srgbClr val="FFFFFF"/>
                    </a:solidFill>
                  </a:tcPr>
                </a:tc>
                <a:tc>
                  <a:txBody>
                    <a:bodyPr/>
                    <a:lstStyle/>
                    <a:p>
                      <a:pPr algn="r"/>
                      <a:r>
                        <a:rPr sz="1400">
                          <a:solidFill>
                            <a:srgbClr val="3F4A4E"/>
                          </a:solidFill>
                          <a:latin typeface="Arial"/>
                        </a:rPr>
                        <a:t>$113.4K</a:t>
                      </a:r>
                    </a:p>
                  </a:txBody>
                  <a:tcPr>
                    <a:solidFill>
                      <a:srgbClr val="FFFFFF"/>
                    </a:solidFill>
                  </a:tcPr>
                </a:tc>
                <a:tc>
                  <a:txBody>
                    <a:bodyPr/>
                    <a:lstStyle/>
                    <a:p>
                      <a:pPr algn="r"/>
                      <a:r>
                        <a:rPr sz="1400">
                          <a:solidFill>
                            <a:srgbClr val="3F4A4E"/>
                          </a:solidFill>
                          <a:latin typeface="Arial"/>
                        </a:rPr>
                        <a:t>$134.4K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$170.3K</a:t>
                      </a:r>
                    </a:p>
                  </a:txBody>
                  <a:tcPr>
                    <a:solidFill>
                      <a:srgbClr val="F7F6F2"/>
                    </a:solidFill>
                  </a:tcPr>
                </a:tc>
                <a:tc>
                  <a:txBody>
                    <a:bodyPr/>
                    <a:lstStyle/>
                    <a:p>
                      <a:pPr algn="r"/>
                      <a:r>
                        <a:rPr sz="1400">
                          <a:solidFill>
                            <a:srgbClr val="3F4A4E"/>
                          </a:solidFill>
                          <a:latin typeface="Arial"/>
                        </a:rPr>
                        <a:t>$155.5K</a:t>
                      </a:r>
                    </a:p>
                  </a:txBody>
                  <a:tcPr>
                    <a:solidFill>
                      <a:srgbClr val="F7F6F2"/>
                    </a:solidFill>
                  </a:tcPr>
                </a:tc>
                <a:tc>
                  <a:txBody>
                    <a:bodyPr/>
                    <a:lstStyle/>
                    <a:p>
                      <a:pPr algn="r"/>
                      <a:r>
                        <a:rPr sz="1400">
                          <a:solidFill>
                            <a:srgbClr val="3F4A4E"/>
                          </a:solidFill>
                          <a:latin typeface="Arial"/>
                        </a:rPr>
                        <a:t>$131.2K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$112.4K</a:t>
                      </a:r>
                    </a:p>
                  </a:txBody>
                  <a:tcPr>
                    <a:solidFill>
                      <a:srgbClr val="FFFFFF"/>
                    </a:solidFill>
                  </a:tcPr>
                </a:tc>
                <a:tc>
                  <a:txBody>
                    <a:bodyPr/>
                    <a:lstStyle/>
                    <a:p>
                      <a:pPr algn="r"/>
                      <a:r>
                        <a:rPr sz="1400">
                          <a:solidFill>
                            <a:srgbClr val="3F4A4E"/>
                          </a:solidFill>
                          <a:latin typeface="Arial"/>
                        </a:rPr>
                        <a:t>$109.4K</a:t>
                      </a:r>
                    </a:p>
                  </a:txBody>
                  <a:tcPr>
                    <a:solidFill>
                      <a:srgbClr val="FFFFFF"/>
                    </a:solidFill>
                  </a:tcPr>
                </a:tc>
                <a:tc>
                  <a:txBody>
                    <a:bodyPr/>
                    <a:lstStyle/>
                    <a:p>
                      <a:pPr algn="r"/>
                      <a:r>
                        <a:rPr sz="1400">
                          <a:solidFill>
                            <a:srgbClr val="3F4A4E"/>
                          </a:solidFill>
                          <a:latin typeface="Arial"/>
                        </a:rPr>
                        <a:t>$112.0K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$34.0K</a:t>
                      </a:r>
                    </a:p>
                  </a:txBody>
                  <a:tcPr>
                    <a:solidFill>
                      <a:srgbClr val="F7F6F2"/>
                    </a:solidFill>
                  </a:tcPr>
                </a:tc>
                <a:tc>
                  <a:txBody>
                    <a:bodyPr/>
                    <a:lstStyle/>
                    <a:p>
                      <a:pPr algn="r"/>
                      <a:r>
                        <a:rPr sz="1400">
                          <a:solidFill>
                            <a:srgbClr val="3F4A4E"/>
                          </a:solidFill>
                          <a:latin typeface="Arial"/>
                        </a:rPr>
                        <a:t>$14.5K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$17.4K</a:t>
                      </a:r>
                    </a:p>
                  </a:txBody>
                  <a:tcPr>
                    <a:solidFill>
                      <a:srgbClr val="FFFFFF"/>
                    </a:solidFill>
                  </a:tcPr>
                </a:tc>
                <a:tc>
                  <a:txBody>
                    <a:bodyPr/>
                    <a:lstStyle/>
                    <a:p>
                      <a:pPr algn="r"/>
                      <a:r>
                        <a:rPr sz="1400">
                          <a:solidFill>
                            <a:srgbClr val="3F4A4E"/>
                          </a:solidFill>
                          <a:latin typeface="Arial"/>
                        </a:rPr>
                        <a:t>$9.7K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($164.0K)</a:t>
                      </a:r>
                    </a:p>
                  </a:txBody>
                  <a:tcPr>
                    <a:solidFill>
                      <a:srgbClr val="F7F6F2"/>
                    </a:solidFill>
                  </a:tcPr>
                </a:tc>
                <a:tc>
                  <a:txBody>
                    <a:bodyPr/>
                    <a:lstStyle/>
                    <a:p>
                      <a:pPr algn="r"/>
                      <a:r>
                        <a:rPr sz="1400" b="1">
                          <a:solidFill>
                            <a:srgbClr val="22424B"/>
                          </a:solidFill>
                          <a:latin typeface="Arial"/>
                        </a:rPr>
                        <a:t>($110.7K)</a:t>
                      </a:r>
                    </a:p>
                  </a:txBody>
                  <a:tcPr>
                    <a:solidFill>
                      <a:srgbClr val="F7F6F2"/>
                    </a:solidFill>
                  </a:tcPr>
                </a:tc>
                <a:tc>
                  <a:txBody>
                    <a:bodyPr/>
                    <a:lstStyle/>
                    <a:p>
                      <a:pPr algn="r"/>
                      <a:r>
                        <a:rPr sz="1400" b="1">
                          <a:solidFill>
                            <a:srgbClr val="22424B"/>
                          </a:solidFill>
                          <a:latin typeface="Arial"/>
                        </a:rPr>
                        <a:t>($30.0K)</a:t>
                      </a:r>
                    </a:p>
                  </a:txBody>
                  <a:tcPr>
                    <a:solidFill>
                      <a:srgbClr val="F7F6F2"/>
                    </a:solidFill>
                  </a:tcPr>
                </a:tc>
              </a:tr>
            </a:tbl>
          </a:graphicData>
        </a:graphic>
      </p:graphicFrame>
      <p:sp>
        <p:nvSpPr>
          <p:cNvPr id="124" name="TextBox 123"/>
          <p:cNvSpPr txBox="1"/>
          <p:nvPr/>
        </p:nvSpPr>
        <p:spPr>
          <a:xfrm>
            <a:off x="12893040" y="2468880"/>
            <a:ext cx="4572000" cy="4572000"/>
          </a:xfrm>
          <a:prstGeom prst="rect">
            <a:avLst/>
          </a:prstGeom>
          <a:noFill/>
        </p:spPr>
        <p:txBody>
          <a:bodyPr wrap="square">
            <a:spAutoFit/>
          </a:bodyPr>
          <a:lstStyle/>
          <a:p>
            <a:pPr>
              <a:spcAft>
                <a:spcPts val="800"/>
              </a:spcAft>
            </a:pPr>
            <a:r>
              <a:rPr sz="1300" b="1">
                <a:solidFill>
                  <a:srgbClr val="63BACB"/>
                </a:solidFill>
                <a:latin typeface="Arial"/>
              </a:rPr>
              <a:t>OWNER TERMS — DECIDED</a:t>
            </a:r>
          </a:p>
          <a:p>
            <a:pPr>
              <a:spcAft>
                <a:spcPts val="800"/>
              </a:spcAft>
            </a:pPr>
            <a:r>
              <a:rPr sz="1400" b="0">
                <a:solidFill>
                  <a:srgbClr val="3F4A4E"/>
                </a:solidFill>
                <a:latin typeface="Arial"/>
              </a:rPr>
              <a:t>4% management fee replaces the $48K flat fee</a:t>
            </a:r>
          </a:p>
          <a:p>
            <a:pPr>
              <a:spcAft>
                <a:spcPts val="800"/>
              </a:spcAft>
            </a:pPr>
            <a:r>
              <a:rPr sz="1400" b="0">
                <a:solidFill>
                  <a:srgbClr val="3F4A4E"/>
                </a:solidFill>
                <a:latin typeface="Arial"/>
              </a:rPr>
              <a:t>Rent waived (was 6% of revenue)</a:t>
            </a:r>
          </a:p>
          <a:p>
            <a:pPr>
              <a:spcAft>
                <a:spcPts val="800"/>
              </a:spcAft>
            </a:pPr>
            <a:r>
              <a:rPr sz="1400" b="0">
                <a:solidFill>
                  <a:srgbClr val="3F4A4E"/>
                </a:solidFill>
                <a:latin typeface="Arial"/>
              </a:rPr>
              <a:t>All levers live 8/1/2026 — actuals through June untouched</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Full-year loss cut 82% — from ($164K) to ($30.0K)</a:t>
            </a:r>
          </a:p>
          <a:p>
            <a:pPr>
              <a:spcAft>
                <a:spcPts val="800"/>
              </a:spcAft>
            </a:pPr>
            <a:r>
              <a:rPr sz="1400" b="0">
                <a:solidFill>
                  <a:srgbClr val="3F4A4E"/>
                </a:solidFill>
                <a:latin typeface="Arial"/>
              </a:rPr>
              <a:t>Combined with Vessel (+$54.2K), the portfolio turns positive in 2027: +$51.4K</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($14.5K) with the changes vs ($67.8K) with no changes → +$53.3K in five months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323B"/>
        </a:solidFill>
        <a:effectLst/>
      </p:bgPr>
    </p:bg>
    <p:spTree>
      <p:nvGrpSpPr>
        <p:cNvPr id="1" name=""/>
        <p:cNvGrpSpPr/>
        <p:nvPr/>
      </p:nvGrpSpPr>
      <p:grpSpPr>
        <a:xfrm>
          <a:off x="0" y="0"/>
          <a:ext cx="0" cy="0"/>
          <a:chOff x="0" y="0"/>
          <a:chExt cx="0" cy="0"/>
        </a:xfrm>
      </p:grpSpPr>
      <p:sp>
        <p:nvSpPr>
          <p:cNvPr id="5" name="Text 3"/>
          <p:cNvSpPr/>
          <p:nvPr/>
        </p:nvSpPr>
        <p:spPr>
          <a:xfrm>
            <a:off x="1028700" y="6417779"/>
            <a:ext cx="17853660" cy="13144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kern="0" spc="-225" dirty="0">
                <a:solidFill>
                  <a:srgbClr val="F2EDE4"/>
                </a:solidFill>
                <a:latin typeface="Georgia" pitchFamily="34" charset="0"/>
                <a:ea typeface="Georgia" pitchFamily="34" charset="-122"/>
                <a:cs typeface="Georgia" pitchFamily="34" charset="-120"/>
              </a:rPr>
              <a:t>Vessel</a:t>
            </a:r>
            <a:endParaRPr lang="en-US" sz="11250" dirty="0"/>
          </a:p>
        </p:txBody>
      </p:sp>
      <p:pic>
        <p:nvPicPr>
          <p:cNvPr id="18" name="Picture 17">
            <a:extLst>
              <a:ext uri="{FF2B5EF4-FFF2-40B4-BE49-F238E27FC236}">
                <a16:creationId xmlns:a16="http://schemas.microsoft.com/office/drawing/2014/main" id="{8BC40580-F7A4-A6C3-555A-B8105F180959}"/>
              </a:ext>
            </a:extLst>
          </p:cNvPr>
          <p:cNvPicPr>
            <a:picLocks noChangeAspect="1"/>
          </p:cNvPicPr>
          <p:nvPr/>
        </p:nvPicPr>
        <p:blipFill>
          <a:blip r:embed="rId3"/>
          <a:srcRect l="11144" t="614" r="35594"/>
          <a:stretch>
            <a:fillRect/>
          </a:stretch>
        </p:blipFill>
        <p:spPr>
          <a:xfrm>
            <a:off x="10018643" y="0"/>
            <a:ext cx="8269357" cy="10287000"/>
          </a:xfrm>
          <a:prstGeom prst="rect">
            <a:avLst/>
          </a:prstGeom>
        </p:spPr>
      </p:pic>
      <p:sp>
        <p:nvSpPr>
          <p:cNvPr id="19" name="Text 0">
            <a:extLst>
              <a:ext uri="{FF2B5EF4-FFF2-40B4-BE49-F238E27FC236}">
                <a16:creationId xmlns:a16="http://schemas.microsoft.com/office/drawing/2014/main" id="{354B01DD-076F-8797-EEB3-89F5B9D5E50D}"/>
              </a:ext>
            </a:extLst>
          </p:cNvPr>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20" name="Text 13">
            <a:extLst>
              <a:ext uri="{FF2B5EF4-FFF2-40B4-BE49-F238E27FC236}">
                <a16:creationId xmlns:a16="http://schemas.microsoft.com/office/drawing/2014/main" id="{A155601A-280B-1B20-39A6-7DE27EF86D7A}"/>
              </a:ext>
            </a:extLst>
          </p:cNvPr>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21" name="Picture 20">
            <a:extLst>
              <a:ext uri="{FF2B5EF4-FFF2-40B4-BE49-F238E27FC236}">
                <a16:creationId xmlns:a16="http://schemas.microsoft.com/office/drawing/2014/main" id="{4DC95F6E-3F2D-2477-5816-072090D856AC}"/>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cs typeface="Arial" pitchFamily="34" charset="-120"/>
              </a:rPr>
              <a:t>EVENT TERMS</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Economic restructure</a:t>
            </a:r>
            <a:endParaRPr lang="en-US" sz="4800" dirty="0"/>
          </a:p>
        </p:txBody>
      </p:sp>
      <p:sp>
        <p:nvSpPr>
          <p:cNvPr id="4" name="Text 2"/>
          <p:cNvSpPr/>
          <p:nvPr/>
        </p:nvSpPr>
        <p:spPr>
          <a:xfrm>
            <a:off x="952500"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5" name="Text 3"/>
          <p:cNvSpPr/>
          <p:nvPr/>
        </p:nvSpPr>
        <p:spPr>
          <a:xfrm>
            <a:off x="952500"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F&amp;B minimum</a:t>
            </a:r>
            <a:endParaRPr lang="en-US" sz="2175" dirty="0"/>
          </a:p>
        </p:txBody>
      </p:sp>
      <p:sp>
        <p:nvSpPr>
          <p:cNvPr id="6" name="Text 4"/>
          <p:cNvSpPr/>
          <p:nvPr/>
        </p:nvSpPr>
        <p:spPr>
          <a:xfrm>
            <a:off x="952500"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$4,000</a:t>
            </a:r>
            <a:endParaRPr lang="en-US" sz="3750" dirty="0">
              <a:solidFill>
                <a:srgbClr val="FF0000"/>
              </a:solidFill>
            </a:endParaRPr>
          </a:p>
        </p:txBody>
      </p:sp>
      <p:sp>
        <p:nvSpPr>
          <p:cNvPr id="7" name="Text 5"/>
          <p:cNvSpPr/>
          <p:nvPr/>
        </p:nvSpPr>
        <p:spPr>
          <a:xfrm>
            <a:off x="952500"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PER 4-HOUR EVENT · WAS NONE</a:t>
            </a:r>
            <a:endParaRPr lang="en-US" sz="1425" dirty="0"/>
          </a:p>
        </p:txBody>
      </p:sp>
      <p:sp>
        <p:nvSpPr>
          <p:cNvPr id="8" name="Shape 6"/>
          <p:cNvSpPr/>
          <p:nvPr/>
        </p:nvSpPr>
        <p:spPr>
          <a:xfrm>
            <a:off x="952500" y="5330190"/>
            <a:ext cx="3452813" cy="19050"/>
          </a:xfrm>
          <a:prstGeom prst="rect">
            <a:avLst/>
          </a:prstGeom>
          <a:solidFill>
            <a:srgbClr val="D2D3CD"/>
          </a:solidFill>
          <a:ln/>
        </p:spPr>
        <p:txBody>
          <a:bodyPr/>
          <a:lstStyle/>
          <a:p>
            <a:endParaRPr lang="en-US"/>
          </a:p>
        </p:txBody>
      </p:sp>
      <p:sp>
        <p:nvSpPr>
          <p:cNvPr id="9" name="Text 7"/>
          <p:cNvSpPr/>
          <p:nvPr/>
        </p:nvSpPr>
        <p:spPr>
          <a:xfrm>
            <a:off x="996315" y="5520690"/>
            <a:ext cx="3485198" cy="1302544"/>
          </a:xfrm>
          <a:prstGeom prst="rect">
            <a:avLst/>
          </a:prstGeom>
          <a:noFill/>
          <a:ln/>
        </p:spPr>
        <p:txBody>
          <a:bodyPr wrap="square" lIns="25400" tIns="25400" rIns="25400" bIns="25400" rtlCol="0" anchor="t">
            <a:normAutofit fontScale="92500"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Replaces open-ended, no-minimum bookings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Guarantees revenue before a room is staffed</a:t>
            </a:r>
            <a:endParaRPr lang="en-US" sz="1650" dirty="0"/>
          </a:p>
        </p:txBody>
      </p:sp>
      <p:sp>
        <p:nvSpPr>
          <p:cNvPr id="10" name="Shape 8"/>
          <p:cNvSpPr/>
          <p:nvPr/>
        </p:nvSpPr>
        <p:spPr>
          <a:xfrm>
            <a:off x="4824413" y="2228850"/>
            <a:ext cx="19050" cy="6419850"/>
          </a:xfrm>
          <a:prstGeom prst="rect">
            <a:avLst/>
          </a:prstGeom>
          <a:solidFill>
            <a:srgbClr val="D2D3CD"/>
          </a:solidFill>
          <a:ln/>
        </p:spPr>
        <p:txBody>
          <a:bodyPr/>
          <a:lstStyle/>
          <a:p>
            <a:endParaRPr lang="en-US"/>
          </a:p>
        </p:txBody>
      </p:sp>
      <p:sp>
        <p:nvSpPr>
          <p:cNvPr id="11" name="Text 9"/>
          <p:cNvSpPr/>
          <p:nvPr/>
        </p:nvSpPr>
        <p:spPr>
          <a:xfrm>
            <a:off x="5262563"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2" name="Text 10"/>
          <p:cNvSpPr/>
          <p:nvPr/>
        </p:nvSpPr>
        <p:spPr>
          <a:xfrm>
            <a:off x="5262563"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Service charge + admin fee</a:t>
            </a:r>
            <a:endParaRPr lang="en-US" sz="2175" dirty="0"/>
          </a:p>
        </p:txBody>
      </p:sp>
      <p:sp>
        <p:nvSpPr>
          <p:cNvPr id="13" name="Text 11"/>
          <p:cNvSpPr/>
          <p:nvPr/>
        </p:nvSpPr>
        <p:spPr>
          <a:xfrm>
            <a:off x="5262563"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20% + 5%</a:t>
            </a:r>
            <a:endParaRPr lang="en-US" sz="3750" dirty="0">
              <a:solidFill>
                <a:srgbClr val="FF0000"/>
              </a:solidFill>
            </a:endParaRPr>
          </a:p>
        </p:txBody>
      </p:sp>
      <p:sp>
        <p:nvSpPr>
          <p:cNvPr id="14" name="Text 12"/>
          <p:cNvSpPr/>
          <p:nvPr/>
        </p:nvSpPr>
        <p:spPr>
          <a:xfrm>
            <a:off x="5262563"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 $1,000 ON THE MINIMUM</a:t>
            </a:r>
            <a:endParaRPr lang="en-US" sz="1425" dirty="0"/>
          </a:p>
        </p:txBody>
      </p:sp>
      <p:sp>
        <p:nvSpPr>
          <p:cNvPr id="15" name="Shape 13"/>
          <p:cNvSpPr/>
          <p:nvPr/>
        </p:nvSpPr>
        <p:spPr>
          <a:xfrm>
            <a:off x="5262563" y="5330190"/>
            <a:ext cx="3452813" cy="19050"/>
          </a:xfrm>
          <a:prstGeom prst="rect">
            <a:avLst/>
          </a:prstGeom>
          <a:solidFill>
            <a:srgbClr val="D2D3CD"/>
          </a:solidFill>
          <a:ln/>
        </p:spPr>
        <p:txBody>
          <a:bodyPr/>
          <a:lstStyle/>
          <a:p>
            <a:endParaRPr lang="en-US"/>
          </a:p>
        </p:txBody>
      </p:sp>
      <p:sp>
        <p:nvSpPr>
          <p:cNvPr id="16" name="Text 14"/>
          <p:cNvSpPr/>
          <p:nvPr/>
        </p:nvSpPr>
        <p:spPr>
          <a:xfrm>
            <a:off x="5306378" y="5520690"/>
            <a:ext cx="3485198" cy="731044"/>
          </a:xfrm>
          <a:prstGeom prst="rect">
            <a:avLst/>
          </a:prstGeom>
          <a:noFill/>
          <a:ln/>
        </p:spPr>
        <p:txBody>
          <a:bodyPr wrap="square" lIns="25400" tIns="25400" rIns="25400" bIns="25400" rtlCol="0" anchor="t">
            <a:normAutofit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Applied to food &amp; beverage</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Covers the standard service labor; admin fee covers 3% commission payout + 2% credit card processing fees</a:t>
            </a:r>
            <a:endParaRPr lang="en-US" sz="1650" dirty="0"/>
          </a:p>
        </p:txBody>
      </p:sp>
      <p:sp>
        <p:nvSpPr>
          <p:cNvPr id="17" name="Shape 15"/>
          <p:cNvSpPr/>
          <p:nvPr/>
        </p:nvSpPr>
        <p:spPr>
          <a:xfrm>
            <a:off x="9134475" y="2228850"/>
            <a:ext cx="19050" cy="6419850"/>
          </a:xfrm>
          <a:prstGeom prst="rect">
            <a:avLst/>
          </a:prstGeom>
          <a:solidFill>
            <a:srgbClr val="D2D3CD"/>
          </a:solidFill>
          <a:ln/>
        </p:spPr>
        <p:txBody>
          <a:bodyPr/>
          <a:lstStyle/>
          <a:p>
            <a:endParaRPr lang="en-US"/>
          </a:p>
        </p:txBody>
      </p:sp>
      <p:sp>
        <p:nvSpPr>
          <p:cNvPr id="18" name="Text 16"/>
          <p:cNvSpPr/>
          <p:nvPr/>
        </p:nvSpPr>
        <p:spPr>
          <a:xfrm>
            <a:off x="9572625"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19" name="Text 17"/>
          <p:cNvSpPr/>
          <p:nvPr/>
        </p:nvSpPr>
        <p:spPr>
          <a:xfrm>
            <a:off x="9572625"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Food markup</a:t>
            </a:r>
            <a:endParaRPr lang="en-US" sz="2175" dirty="0"/>
          </a:p>
        </p:txBody>
      </p:sp>
      <p:sp>
        <p:nvSpPr>
          <p:cNvPr id="20" name="Text 18"/>
          <p:cNvSpPr/>
          <p:nvPr/>
        </p:nvSpPr>
        <p:spPr>
          <a:xfrm>
            <a:off x="9572625"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a:t>
            </a:r>
            <a:endParaRPr lang="en-US" sz="3750" dirty="0">
              <a:solidFill>
                <a:srgbClr val="FF0000"/>
              </a:solidFill>
            </a:endParaRPr>
          </a:p>
        </p:txBody>
      </p:sp>
      <p:sp>
        <p:nvSpPr>
          <p:cNvPr id="21" name="Text 19"/>
          <p:cNvSpPr/>
          <p:nvPr/>
        </p:nvSpPr>
        <p:spPr>
          <a:xfrm>
            <a:off x="9572625"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ON ALL EVENT FOOD</a:t>
            </a:r>
            <a:endParaRPr lang="en-US" sz="1425" dirty="0"/>
          </a:p>
        </p:txBody>
      </p:sp>
      <p:sp>
        <p:nvSpPr>
          <p:cNvPr id="22" name="Shape 20"/>
          <p:cNvSpPr/>
          <p:nvPr/>
        </p:nvSpPr>
        <p:spPr>
          <a:xfrm>
            <a:off x="9572625" y="5330190"/>
            <a:ext cx="3452813" cy="19050"/>
          </a:xfrm>
          <a:prstGeom prst="rect">
            <a:avLst/>
          </a:prstGeom>
          <a:solidFill>
            <a:srgbClr val="D2D3CD"/>
          </a:solidFill>
          <a:ln/>
        </p:spPr>
        <p:txBody>
          <a:bodyPr/>
          <a:lstStyle/>
          <a:p>
            <a:endParaRPr lang="en-US"/>
          </a:p>
        </p:txBody>
      </p:sp>
      <p:sp>
        <p:nvSpPr>
          <p:cNvPr id="23" name="Text 21"/>
          <p:cNvSpPr/>
          <p:nvPr/>
        </p:nvSpPr>
        <p:spPr>
          <a:xfrm>
            <a:off x="9616440" y="5520690"/>
            <a:ext cx="3485198" cy="1302544"/>
          </a:xfrm>
          <a:prstGeom prst="rect">
            <a:avLst/>
          </a:prstGeom>
          <a:noFill/>
          <a:ln/>
        </p:spPr>
        <p:txBody>
          <a:bodyPr wrap="square" lIns="25400" tIns="25400" rIns="25400" bIns="25400" rtlCol="0" anchor="t">
            <a:normAutofit fontScale="925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Standard markup on catered menus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Protects food margin on every plate</a:t>
            </a:r>
            <a:endParaRPr lang="en-US" sz="1650" dirty="0"/>
          </a:p>
        </p:txBody>
      </p:sp>
      <p:sp>
        <p:nvSpPr>
          <p:cNvPr id="24" name="Shape 22"/>
          <p:cNvSpPr/>
          <p:nvPr/>
        </p:nvSpPr>
        <p:spPr>
          <a:xfrm>
            <a:off x="13444538" y="2228850"/>
            <a:ext cx="19050" cy="6419850"/>
          </a:xfrm>
          <a:prstGeom prst="rect">
            <a:avLst/>
          </a:prstGeom>
          <a:solidFill>
            <a:srgbClr val="D2D3CD"/>
          </a:solidFill>
          <a:ln/>
        </p:spPr>
        <p:txBody>
          <a:bodyPr/>
          <a:lstStyle/>
          <a:p>
            <a:endParaRPr lang="en-US"/>
          </a:p>
        </p:txBody>
      </p:sp>
      <p:sp>
        <p:nvSpPr>
          <p:cNvPr id="25" name="Text 23"/>
          <p:cNvSpPr/>
          <p:nvPr/>
        </p:nvSpPr>
        <p:spPr>
          <a:xfrm>
            <a:off x="13882688"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6" name="Text 24"/>
          <p:cNvSpPr/>
          <p:nvPr/>
        </p:nvSpPr>
        <p:spPr>
          <a:xfrm>
            <a:off x="13882688"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Fewer, better events</a:t>
            </a:r>
            <a:endParaRPr lang="en-US" sz="2175" dirty="0"/>
          </a:p>
        </p:txBody>
      </p:sp>
      <p:sp>
        <p:nvSpPr>
          <p:cNvPr id="27" name="Text 25"/>
          <p:cNvSpPr/>
          <p:nvPr/>
        </p:nvSpPr>
        <p:spPr>
          <a:xfrm>
            <a:off x="13882688"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Cut the tail</a:t>
            </a:r>
            <a:endParaRPr lang="en-US" sz="3750" dirty="0">
              <a:solidFill>
                <a:srgbClr val="FF0000"/>
              </a:solidFill>
            </a:endParaRPr>
          </a:p>
        </p:txBody>
      </p:sp>
      <p:sp>
        <p:nvSpPr>
          <p:cNvPr id="28" name="Text 26"/>
          <p:cNvSpPr/>
          <p:nvPr/>
        </p:nvSpPr>
        <p:spPr>
          <a:xfrm>
            <a:off x="13882688"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EVENTS THAT LOSE ON TRAFFIC</a:t>
            </a:r>
            <a:endParaRPr lang="en-US" sz="1425" dirty="0"/>
          </a:p>
        </p:txBody>
      </p:sp>
      <p:sp>
        <p:nvSpPr>
          <p:cNvPr id="29" name="Shape 27"/>
          <p:cNvSpPr/>
          <p:nvPr/>
        </p:nvSpPr>
        <p:spPr>
          <a:xfrm>
            <a:off x="13882688" y="5330190"/>
            <a:ext cx="3452813" cy="19050"/>
          </a:xfrm>
          <a:prstGeom prst="rect">
            <a:avLst/>
          </a:prstGeom>
          <a:solidFill>
            <a:srgbClr val="D2D3CD"/>
          </a:solidFill>
          <a:ln/>
        </p:spPr>
        <p:txBody>
          <a:bodyPr/>
          <a:lstStyle/>
          <a:p>
            <a:endParaRPr lang="en-US"/>
          </a:p>
        </p:txBody>
      </p:sp>
      <p:sp>
        <p:nvSpPr>
          <p:cNvPr id="30" name="Text 28"/>
          <p:cNvSpPr/>
          <p:nvPr/>
        </p:nvSpPr>
        <p:spPr>
          <a:xfrm>
            <a:off x="13926503" y="5520690"/>
            <a:ext cx="3485198" cy="1302544"/>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Drop low-value bookings that net a loss</a:t>
            </a:r>
            <a:endParaRPr lang="en-US" sz="1650" dirty="0"/>
          </a:p>
        </p:txBody>
      </p:sp>
      <p:pic>
        <p:nvPicPr>
          <p:cNvPr id="33" name="Picture 32">
            <a:extLst>
              <a:ext uri="{FF2B5EF4-FFF2-40B4-BE49-F238E27FC236}">
                <a16:creationId xmlns:a16="http://schemas.microsoft.com/office/drawing/2014/main" id="{8D924AAF-E63E-EF8C-1BB2-02A5BD7290C0}"/>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Text 11">
            <a:extLst>
              <a:ext uri="{FF2B5EF4-FFF2-40B4-BE49-F238E27FC236}">
                <a16:creationId xmlns:a16="http://schemas.microsoft.com/office/drawing/2014/main" id="{FCCFDFCD-34A5-79C7-DC3F-67F2BF3861AA}"/>
              </a:ext>
            </a:extLst>
          </p:cNvPr>
          <p:cNvSpPr/>
          <p:nvPr/>
        </p:nvSpPr>
        <p:spPr>
          <a:xfrm>
            <a:off x="7254478"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LABOR MODEL</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Price labor within a standard event package</a:t>
            </a:r>
            <a:endParaRPr lang="en-US" sz="4800" dirty="0"/>
          </a:p>
        </p:txBody>
      </p:sp>
      <p:sp>
        <p:nvSpPr>
          <p:cNvPr id="4" name="Text 2"/>
          <p:cNvSpPr/>
          <p:nvPr/>
        </p:nvSpPr>
        <p:spPr>
          <a:xfrm>
            <a:off x="952500" y="4210050"/>
            <a:ext cx="9012615"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EVERY EVENT INCLUDES</a:t>
            </a:r>
            <a:endParaRPr lang="en-US" sz="1425" dirty="0"/>
          </a:p>
        </p:txBody>
      </p:sp>
      <p:sp>
        <p:nvSpPr>
          <p:cNvPr id="5" name="Text 3"/>
          <p:cNvSpPr/>
          <p:nvPr/>
        </p:nvSpPr>
        <p:spPr>
          <a:xfrm>
            <a:off x="952500" y="4610100"/>
            <a:ext cx="9012615"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dirty="0">
                <a:solidFill>
                  <a:srgbClr val="22424B"/>
                </a:solidFill>
                <a:latin typeface="Georgia" pitchFamily="34" charset="0"/>
                <a:ea typeface="Georgia" pitchFamily="34" charset="-122"/>
                <a:cs typeface="Georgia" pitchFamily="34" charset="-120"/>
              </a:rPr>
              <a:t>1 bartender + 2 servers</a:t>
            </a:r>
            <a:endParaRPr lang="en-US" sz="3450" dirty="0"/>
          </a:p>
        </p:txBody>
      </p:sp>
      <p:sp>
        <p:nvSpPr>
          <p:cNvPr id="6" name="Text 4"/>
          <p:cNvSpPr/>
          <p:nvPr/>
        </p:nvSpPr>
        <p:spPr>
          <a:xfrm>
            <a:off x="952500" y="5181600"/>
            <a:ext cx="901261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E5A5E"/>
                </a:solidFill>
                <a:latin typeface="Arial" pitchFamily="34" charset="0"/>
                <a:ea typeface="Arial" pitchFamily="34" charset="-122"/>
                <a:cs typeface="Arial" pitchFamily="34" charset="-120"/>
              </a:rPr>
              <a:t>$35 / hour × 5-hour shift × 3 staff</a:t>
            </a:r>
            <a:endParaRPr lang="en-US" sz="1950" dirty="0"/>
          </a:p>
        </p:txBody>
      </p:sp>
      <p:sp>
        <p:nvSpPr>
          <p:cNvPr id="7" name="Shape 5"/>
          <p:cNvSpPr/>
          <p:nvPr/>
        </p:nvSpPr>
        <p:spPr>
          <a:xfrm>
            <a:off x="952500" y="5715000"/>
            <a:ext cx="8193286" cy="19050"/>
          </a:xfrm>
          <a:prstGeom prst="rect">
            <a:avLst/>
          </a:prstGeom>
          <a:solidFill>
            <a:srgbClr val="22424B"/>
          </a:solidFill>
          <a:ln/>
        </p:spPr>
        <p:txBody>
          <a:bodyPr/>
          <a:lstStyle/>
          <a:p>
            <a:endParaRPr lang="en-US"/>
          </a:p>
        </p:txBody>
      </p:sp>
      <p:sp>
        <p:nvSpPr>
          <p:cNvPr id="8" name="Text 6"/>
          <p:cNvSpPr/>
          <p:nvPr/>
        </p:nvSpPr>
        <p:spPr>
          <a:xfrm>
            <a:off x="952500" y="5943600"/>
            <a:ext cx="1594872"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kern="0" spc="-150" dirty="0">
                <a:solidFill>
                  <a:srgbClr val="22424B"/>
                </a:solidFill>
                <a:latin typeface="Georgia" pitchFamily="34" charset="0"/>
                <a:ea typeface="Georgia" pitchFamily="34" charset="-122"/>
                <a:cs typeface="Georgia" pitchFamily="34" charset="-120"/>
              </a:rPr>
              <a:t>$525</a:t>
            </a:r>
            <a:endParaRPr lang="en-US" sz="5400" dirty="0"/>
          </a:p>
        </p:txBody>
      </p:sp>
      <p:sp>
        <p:nvSpPr>
          <p:cNvPr id="9" name="Text 7"/>
          <p:cNvSpPr/>
          <p:nvPr/>
        </p:nvSpPr>
        <p:spPr>
          <a:xfrm>
            <a:off x="2592884" y="6305550"/>
            <a:ext cx="392808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6B70"/>
                </a:solidFill>
                <a:latin typeface="Arial" pitchFamily="34" charset="0"/>
                <a:ea typeface="Arial" pitchFamily="34" charset="-122"/>
                <a:cs typeface="Arial" pitchFamily="34" charset="-120"/>
              </a:rPr>
              <a:t>per event · baked into event pricing</a:t>
            </a:r>
            <a:endParaRPr lang="en-US" sz="1800" dirty="0"/>
          </a:p>
        </p:txBody>
      </p:sp>
      <p:sp>
        <p:nvSpPr>
          <p:cNvPr id="10" name="Text 8"/>
          <p:cNvSpPr/>
          <p:nvPr/>
        </p:nvSpPr>
        <p:spPr>
          <a:xfrm>
            <a:off x="952500" y="6896100"/>
            <a:ext cx="8439085" cy="685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E5A5E"/>
                </a:solidFill>
                <a:latin typeface="Arial" pitchFamily="34" charset="0"/>
                <a:ea typeface="Arial" pitchFamily="34" charset="-122"/>
                <a:cs typeface="Arial" pitchFamily="34" charset="-120"/>
              </a:rPr>
              <a:t>Anything beyond the standard is </a:t>
            </a:r>
            <a:r>
              <a:rPr lang="en-US" sz="1725" b="1" dirty="0">
                <a:solidFill>
                  <a:srgbClr val="22424B"/>
                </a:solidFill>
                <a:latin typeface="Arial" pitchFamily="34" charset="0"/>
                <a:ea typeface="Arial" pitchFamily="34" charset="-122"/>
                <a:cs typeface="Arial" pitchFamily="34" charset="-120"/>
              </a:rPr>
              <a:t>special consideration </a:t>
            </a:r>
            <a:r>
              <a:rPr lang="en-US" sz="1725" dirty="0">
                <a:solidFill>
                  <a:srgbClr val="4E5A5E"/>
                </a:solidFill>
                <a:latin typeface="Arial" pitchFamily="34" charset="0"/>
                <a:ea typeface="Arial" pitchFamily="34" charset="-122"/>
                <a:cs typeface="Arial" pitchFamily="34" charset="-120"/>
              </a:rPr>
              <a:t>— the additional labor is billed through to the client, not absorbed.</a:t>
            </a:r>
            <a:endParaRPr lang="en-US" sz="1725" dirty="0"/>
          </a:p>
        </p:txBody>
      </p:sp>
      <p:sp>
        <p:nvSpPr>
          <p:cNvPr id="11" name="Shape 9"/>
          <p:cNvSpPr/>
          <p:nvPr/>
        </p:nvSpPr>
        <p:spPr>
          <a:xfrm>
            <a:off x="9755386" y="3790950"/>
            <a:ext cx="7580114" cy="4336387"/>
          </a:xfrm>
          <a:prstGeom prst="roundRect">
            <a:avLst>
              <a:gd name="adj" fmla="val 517"/>
            </a:avLst>
          </a:prstGeom>
          <a:solidFill>
            <a:srgbClr val="F0EEE6"/>
          </a:solidFill>
          <a:ln w="19050">
            <a:solidFill>
              <a:srgbClr val="E0DDD2"/>
            </a:solidFill>
            <a:prstDash val="solid"/>
          </a:ln>
        </p:spPr>
        <p:txBody>
          <a:bodyPr/>
          <a:lstStyle/>
          <a:p>
            <a:endParaRPr lang="en-US"/>
          </a:p>
        </p:txBody>
      </p:sp>
      <p:sp>
        <p:nvSpPr>
          <p:cNvPr id="12" name="Text 10"/>
          <p:cNvSpPr/>
          <p:nvPr/>
        </p:nvSpPr>
        <p:spPr>
          <a:xfrm>
            <a:off x="10193536" y="4495800"/>
            <a:ext cx="737419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CONFIRM THE SOP</a:t>
            </a:r>
            <a:endParaRPr lang="en-US" sz="1425" dirty="0"/>
          </a:p>
        </p:txBody>
      </p:sp>
      <p:sp>
        <p:nvSpPr>
          <p:cNvPr id="13" name="Text 11"/>
          <p:cNvSpPr/>
          <p:nvPr/>
        </p:nvSpPr>
        <p:spPr>
          <a:xfrm>
            <a:off x="10193536" y="4857750"/>
            <a:ext cx="690492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dirty="0">
                <a:solidFill>
                  <a:srgbClr val="22424B"/>
                </a:solidFill>
                <a:latin typeface="Georgia" pitchFamily="34" charset="0"/>
                <a:ea typeface="Georgia" pitchFamily="34" charset="-122"/>
                <a:cs typeface="Georgia" pitchFamily="34" charset="-120"/>
              </a:rPr>
              <a:t>Hourly labor above the standard needs sign-off</a:t>
            </a:r>
            <a:endParaRPr lang="en-US" sz="3000" dirty="0"/>
          </a:p>
        </p:txBody>
      </p:sp>
      <p:sp>
        <p:nvSpPr>
          <p:cNvPr id="14" name="Text 12"/>
          <p:cNvSpPr/>
          <p:nvPr/>
        </p:nvSpPr>
        <p:spPr>
          <a:xfrm>
            <a:off x="10193536" y="5943600"/>
            <a:ext cx="6904928" cy="647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4E5A5E"/>
                </a:solidFill>
                <a:latin typeface="Arial" pitchFamily="34" charset="0"/>
                <a:ea typeface="Arial" pitchFamily="34" charset="-122"/>
                <a:cs typeface="Arial" pitchFamily="34" charset="-120"/>
              </a:rPr>
              <a:t>No extra shifts or hours are committed to an event until they're approved in writing.</a:t>
            </a:r>
            <a:endParaRPr lang="en-US" sz="1650" dirty="0"/>
          </a:p>
        </p:txBody>
      </p:sp>
      <p:sp>
        <p:nvSpPr>
          <p:cNvPr id="15" name="Shape 13"/>
          <p:cNvSpPr/>
          <p:nvPr/>
        </p:nvSpPr>
        <p:spPr>
          <a:xfrm>
            <a:off x="10193536" y="6800850"/>
            <a:ext cx="934641"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6" name="Text 14"/>
          <p:cNvSpPr/>
          <p:nvPr/>
        </p:nvSpPr>
        <p:spPr>
          <a:xfrm>
            <a:off x="10422136" y="6915150"/>
            <a:ext cx="553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Brad</a:t>
            </a:r>
            <a:endParaRPr lang="en-US" sz="1650" dirty="0"/>
          </a:p>
        </p:txBody>
      </p:sp>
      <p:sp>
        <p:nvSpPr>
          <p:cNvPr id="17" name="Shape 15"/>
          <p:cNvSpPr/>
          <p:nvPr/>
        </p:nvSpPr>
        <p:spPr>
          <a:xfrm>
            <a:off x="11242477" y="6800850"/>
            <a:ext cx="1226046"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8" name="Text 16"/>
          <p:cNvSpPr/>
          <p:nvPr/>
        </p:nvSpPr>
        <p:spPr>
          <a:xfrm>
            <a:off x="11471077" y="6915150"/>
            <a:ext cx="84504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Michael</a:t>
            </a:r>
            <a:endParaRPr lang="en-US" sz="1650" dirty="0"/>
          </a:p>
        </p:txBody>
      </p:sp>
      <p:sp>
        <p:nvSpPr>
          <p:cNvPr id="19" name="Text 17"/>
          <p:cNvSpPr/>
          <p:nvPr/>
        </p:nvSpPr>
        <p:spPr>
          <a:xfrm>
            <a:off x="12582823" y="6924675"/>
            <a:ext cx="2656374" cy="24765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93999B"/>
                </a:solidFill>
                <a:latin typeface="Arial" pitchFamily="34" charset="0"/>
                <a:ea typeface="Arial" pitchFamily="34" charset="-122"/>
                <a:cs typeface="Arial" pitchFamily="34" charset="-120"/>
              </a:rPr>
              <a:t>approve above-standard labor</a:t>
            </a:r>
            <a:endParaRPr lang="en-US" sz="1425" dirty="0"/>
          </a:p>
        </p:txBody>
      </p:sp>
      <p:pic>
        <p:nvPicPr>
          <p:cNvPr id="20" name="Picture 19">
            <a:extLst>
              <a:ext uri="{FF2B5EF4-FFF2-40B4-BE49-F238E27FC236}">
                <a16:creationId xmlns:a16="http://schemas.microsoft.com/office/drawing/2014/main" id="{EC4787B0-2ABD-0BBD-73CC-7CB09842CE5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1" name="Text 11">
            <a:extLst>
              <a:ext uri="{FF2B5EF4-FFF2-40B4-BE49-F238E27FC236}">
                <a16:creationId xmlns:a16="http://schemas.microsoft.com/office/drawing/2014/main" id="{35D37B8B-EA98-3BF6-A545-DB40AF595A73}"/>
              </a:ext>
            </a:extLst>
          </p:cNvPr>
          <p:cNvSpPr/>
          <p:nvPr/>
        </p:nvSpPr>
        <p:spPr>
          <a:xfrm>
            <a:off x="12316123"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9015984" cy="265176"/>
          </a:xfrm>
          <a:prstGeom prst="rect">
            <a:avLst/>
          </a:prstGeom>
          <a:noFill/>
        </p:spPr>
        <p:txBody>
          <a:bodyPr wrap="none">
            <a:spAutoFit/>
          </a:bodyPr>
          <a:lstStyle/>
          <a:p>
            <a:r>
              <a:rPr sz="1650" b="1">
                <a:solidFill>
                  <a:srgbClr val="63BACB"/>
                </a:solidFill>
                <a:latin typeface="Arial"/>
              </a:rPr>
              <a:t>06 | P&amp;L — VESSEL</a:t>
            </a:r>
          </a:p>
        </p:txBody>
      </p:sp>
      <p:sp>
        <p:nvSpPr>
          <p:cNvPr id="3" name="TextBox 2"/>
          <p:cNvSpPr txBox="1"/>
          <p:nvPr/>
        </p:nvSpPr>
        <p:spPr>
          <a:xfrm>
            <a:off x="950976" y="1106424"/>
            <a:ext cx="9015984" cy="566928"/>
          </a:xfrm>
          <a:prstGeom prst="rect">
            <a:avLst/>
          </a:prstGeom>
          <a:noFill/>
        </p:spPr>
        <p:txBody>
          <a:bodyPr wrap="none">
            <a:spAutoFit/>
          </a:bodyPr>
          <a:lstStyle/>
          <a:p>
            <a:r>
              <a:rPr sz="4000">
                <a:solidFill>
                  <a:srgbClr val="22424B"/>
                </a:solidFill>
                <a:latin typeface="Georgia"/>
              </a:rPr>
              <a:t>The go-forward plan</a:t>
            </a:r>
          </a:p>
        </p:txBody>
      </p:sp>
      <p:graphicFrame>
        <p:nvGraphicFramePr>
          <p:cNvPr id="4" name="Table 3"/>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 (incl 5% admin fee billed to clients)</a:t>
                      </a:r>
                    </a:p>
                  </a:txBody>
                  <a:tcPr>
                    <a:solidFill>
                      <a:srgbClr val="F7F6F2"/>
                    </a:solidFill>
                  </a:tcPr>
                </a:tc>
                <a:tc>
                  <a:txBody>
                    <a:bodyPr/>
                    <a:lstStyle/>
                    <a:p>
                      <a:pPr algn="r"/>
                      <a:r>
                        <a:rPr sz="1400">
                          <a:solidFill>
                            <a:srgbClr val="3F4A4E"/>
                          </a:solidFill>
                          <a:latin typeface="Arial"/>
                        </a:rPr>
                        <a:t>$352.0K</a:t>
                      </a:r>
                    </a:p>
                  </a:txBody>
                  <a:tcPr>
                    <a:solidFill>
                      <a:srgbClr val="F7F6F2"/>
                    </a:solidFill>
                  </a:tcPr>
                </a:tc>
                <a:tc>
                  <a:txBody>
                    <a:bodyPr/>
                    <a:lstStyle/>
                    <a:p>
                      <a:pPr algn="r"/>
                      <a:r>
                        <a:rPr sz="1400">
                          <a:solidFill>
                            <a:srgbClr val="3F4A4E"/>
                          </a:solidFill>
                          <a:latin typeface="Arial"/>
                        </a:rPr>
                        <a:t>$355.5K</a:t>
                      </a:r>
                    </a:p>
                  </a:txBody>
                  <a:tcPr>
                    <a:solidFill>
                      <a:srgbClr val="F7F6F2"/>
                    </a:solidFill>
                  </a:tcPr>
                </a:tc>
                <a:tc>
                  <a:txBody>
                    <a:bodyPr/>
                    <a:lstStyle/>
                    <a:p>
                      <a:pPr algn="r"/>
                      <a:r>
                        <a:rPr sz="1400">
                          <a:solidFill>
                            <a:srgbClr val="3F4A4E"/>
                          </a:solidFill>
                          <a:latin typeface="Arial"/>
                        </a:rPr>
                        <a:t>$415.0K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$122.9K</a:t>
                      </a:r>
                    </a:p>
                  </a:txBody>
                  <a:tcPr>
                    <a:solidFill>
                      <a:srgbClr val="FFFFFF"/>
                    </a:solidFill>
                  </a:tcPr>
                </a:tc>
                <a:tc>
                  <a:txBody>
                    <a:bodyPr/>
                    <a:lstStyle/>
                    <a:p>
                      <a:pPr algn="r"/>
                      <a:r>
                        <a:rPr sz="1400">
                          <a:solidFill>
                            <a:srgbClr val="3F4A4E"/>
                          </a:solidFill>
                          <a:latin typeface="Arial"/>
                        </a:rPr>
                        <a:t>$122.9K</a:t>
                      </a:r>
                    </a:p>
                  </a:txBody>
                  <a:tcPr>
                    <a:solidFill>
                      <a:srgbClr val="FFFFFF"/>
                    </a:solidFill>
                  </a:tcPr>
                </a:tc>
                <a:tc>
                  <a:txBody>
                    <a:bodyPr/>
                    <a:lstStyle/>
                    <a:p>
                      <a:pPr algn="r"/>
                      <a:r>
                        <a:rPr sz="1400">
                          <a:solidFill>
                            <a:srgbClr val="3F4A4E"/>
                          </a:solidFill>
                          <a:latin typeface="Arial"/>
                        </a:rPr>
                        <a:t>$170.0K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$80.0K</a:t>
                      </a:r>
                    </a:p>
                  </a:txBody>
                  <a:tcPr>
                    <a:solidFill>
                      <a:srgbClr val="F7F6F2"/>
                    </a:solidFill>
                  </a:tcPr>
                </a:tc>
                <a:tc>
                  <a:txBody>
                    <a:bodyPr/>
                    <a:lstStyle/>
                    <a:p>
                      <a:pPr algn="r"/>
                      <a:r>
                        <a:rPr sz="1400">
                          <a:solidFill>
                            <a:srgbClr val="3F4A4E"/>
                          </a:solidFill>
                          <a:latin typeface="Arial"/>
                        </a:rPr>
                        <a:t>$80.0K</a:t>
                      </a:r>
                    </a:p>
                  </a:txBody>
                  <a:tcPr>
                    <a:solidFill>
                      <a:srgbClr val="F7F6F2"/>
                    </a:solidFill>
                  </a:tcPr>
                </a:tc>
                <a:tc>
                  <a:txBody>
                    <a:bodyPr/>
                    <a:lstStyle/>
                    <a:p>
                      <a:pPr algn="r"/>
                      <a:r>
                        <a:rPr sz="1400">
                          <a:solidFill>
                            <a:srgbClr val="3F4A4E"/>
                          </a:solidFill>
                          <a:latin typeface="Arial"/>
                        </a:rPr>
                        <a:t>$70.6K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$93.2K</a:t>
                      </a:r>
                    </a:p>
                  </a:txBody>
                  <a:tcPr>
                    <a:solidFill>
                      <a:srgbClr val="FFFFFF"/>
                    </a:solidFill>
                  </a:tcPr>
                </a:tc>
                <a:tc>
                  <a:txBody>
                    <a:bodyPr/>
                    <a:lstStyle/>
                    <a:p>
                      <a:pPr algn="r"/>
                      <a:r>
                        <a:rPr sz="1400">
                          <a:solidFill>
                            <a:srgbClr val="3F4A4E"/>
                          </a:solidFill>
                          <a:latin typeface="Arial"/>
                        </a:rPr>
                        <a:t>$81.8K</a:t>
                      </a:r>
                    </a:p>
                  </a:txBody>
                  <a:tcPr>
                    <a:solidFill>
                      <a:srgbClr val="FFFFFF"/>
                    </a:solidFill>
                  </a:tcPr>
                </a:tc>
                <a:tc>
                  <a:txBody>
                    <a:bodyPr/>
                    <a:lstStyle/>
                    <a:p>
                      <a:pPr algn="r"/>
                      <a:r>
                        <a:rPr sz="1400">
                          <a:solidFill>
                            <a:srgbClr val="3F4A4E"/>
                          </a:solidFill>
                          <a:latin typeface="Arial"/>
                        </a:rPr>
                        <a:t>$76.4K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$33.1K</a:t>
                      </a:r>
                    </a:p>
                  </a:txBody>
                  <a:tcPr>
                    <a:solidFill>
                      <a:srgbClr val="F7F6F2"/>
                    </a:solidFill>
                  </a:tcPr>
                </a:tc>
                <a:tc>
                  <a:txBody>
                    <a:bodyPr/>
                    <a:lstStyle/>
                    <a:p>
                      <a:pPr algn="r"/>
                      <a:r>
                        <a:rPr sz="1400">
                          <a:solidFill>
                            <a:srgbClr val="3F4A4E"/>
                          </a:solidFill>
                          <a:latin typeface="Arial"/>
                        </a:rPr>
                        <a:t>$16.6K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$21.3K</a:t>
                      </a:r>
                    </a:p>
                  </a:txBody>
                  <a:tcPr>
                    <a:solidFill>
                      <a:srgbClr val="FFFFFF"/>
                    </a:solidFill>
                  </a:tcPr>
                </a:tc>
                <a:tc>
                  <a:txBody>
                    <a:bodyPr/>
                    <a:lstStyle/>
                    <a:p>
                      <a:pPr algn="r"/>
                      <a:r>
                        <a:rPr sz="1400">
                          <a:solidFill>
                            <a:srgbClr val="3F4A4E"/>
                          </a:solidFill>
                          <a:latin typeface="Arial"/>
                        </a:rPr>
                        <a:t>$13.8K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($13.5K)</a:t>
                      </a:r>
                    </a:p>
                  </a:txBody>
                  <a:tcPr>
                    <a:solidFill>
                      <a:srgbClr val="F7F6F2"/>
                    </a:solidFill>
                  </a:tcPr>
                </a:tc>
                <a:tc>
                  <a:txBody>
                    <a:bodyPr/>
                    <a:lstStyle/>
                    <a:p>
                      <a:pPr algn="r"/>
                      <a:r>
                        <a:rPr sz="1400" b="1">
                          <a:solidFill>
                            <a:srgbClr val="22424B"/>
                          </a:solidFill>
                          <a:latin typeface="Arial"/>
                        </a:rPr>
                        <a:t>$23.7K</a:t>
                      </a:r>
                    </a:p>
                  </a:txBody>
                  <a:tcPr>
                    <a:solidFill>
                      <a:srgbClr val="F7F6F2"/>
                    </a:solidFill>
                  </a:tcPr>
                </a:tc>
                <a:tc>
                  <a:txBody>
                    <a:bodyPr/>
                    <a:lstStyle/>
                    <a:p>
                      <a:pPr algn="r"/>
                      <a:r>
                        <a:rPr sz="1400" b="1">
                          <a:solidFill>
                            <a:srgbClr val="22424B"/>
                          </a:solidFill>
                          <a:latin typeface="Arial"/>
                        </a:rPr>
                        <a:t>$81.4K</a:t>
                      </a:r>
                    </a:p>
                  </a:txBody>
                  <a:tcPr>
                    <a:solidFill>
                      <a:srgbClr val="F7F6F2"/>
                    </a:solidFill>
                  </a:tcPr>
                </a:tc>
              </a:tr>
            </a:tbl>
          </a:graphicData>
        </a:graphic>
      </p:graphicFrame>
      <p:sp>
        <p:nvSpPr>
          <p:cNvPr id="5" name="TextBox 4"/>
          <p:cNvSpPr txBox="1"/>
          <p:nvPr/>
        </p:nvSpPr>
        <p:spPr>
          <a:xfrm>
            <a:off x="12893040" y="2468880"/>
            <a:ext cx="4572000" cy="5029200"/>
          </a:xfrm>
          <a:prstGeom prst="rect">
            <a:avLst/>
          </a:prstGeom>
          <a:noFill/>
        </p:spPr>
        <p:txBody>
          <a:bodyPr wrap="square">
            <a:spAutoFit/>
          </a:bodyPr>
          <a:lstStyle/>
          <a:p>
            <a:pPr>
              <a:spcAft>
                <a:spcPts val="800"/>
              </a:spcAft>
            </a:pPr>
            <a:r>
              <a:rPr sz="1300" b="1">
                <a:solidFill>
                  <a:srgbClr val="63BACB"/>
                </a:solidFill>
                <a:latin typeface="Arial"/>
              </a:rPr>
              <a:t>EVENT TERMS — DECIDED</a:t>
            </a:r>
          </a:p>
          <a:p>
            <a:pPr>
              <a:spcAft>
                <a:spcPts val="800"/>
              </a:spcAft>
            </a:pPr>
            <a:r>
              <a:rPr sz="1400" b="0">
                <a:solidFill>
                  <a:srgbClr val="3F4A4E"/>
                </a:solidFill>
                <a:latin typeface="Arial"/>
              </a:rPr>
              <a:t>$4,000 F&amp;B minimum per event (was none)</a:t>
            </a:r>
          </a:p>
          <a:p>
            <a:pPr>
              <a:spcAft>
                <a:spcPts val="800"/>
              </a:spcAft>
            </a:pPr>
            <a:r>
              <a:rPr sz="1400" b="0">
                <a:solidFill>
                  <a:srgbClr val="3F4A4E"/>
                </a:solidFill>
                <a:latin typeface="Arial"/>
              </a:rPr>
              <a:t>20% service charge + 5% admin fee billed to clients — admin fee is income, covering 3% commission + 2% CC processing</a:t>
            </a:r>
          </a:p>
          <a:p>
            <a:pPr>
              <a:spcAft>
                <a:spcPts val="800"/>
              </a:spcAft>
            </a:pPr>
            <a:r>
              <a:rPr sz="1400" b="0">
                <a:solidFill>
                  <a:srgbClr val="3F4A4E"/>
                </a:solidFill>
                <a:latin typeface="Arial"/>
              </a:rPr>
              <a:t>4% management fee replaces the $48K flat fee · rent waived · live 8/1/2026</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Vessel swings from a ($13.5K) year to +$81.4K in 2027</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+$46.2K with the changes vs +$9.0K with no changes → +$37.2K in five months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2976</Words>
  <Application>Microsoft Macintosh PowerPoint</Application>
  <PresentationFormat>Custom</PresentationFormat>
  <Paragraphs>420</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Amy  Yaskowski</cp:lastModifiedBy>
  <cp:revision>13</cp:revision>
  <dcterms:created xsi:type="dcterms:W3CDTF">2026-07-07T21:30:45Z</dcterms:created>
  <dcterms:modified xsi:type="dcterms:W3CDTF">2026-07-10T13:45:52Z</dcterms:modified>
  <cp:category/>
</cp:coreProperties>
</file>