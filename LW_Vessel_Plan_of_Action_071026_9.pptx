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 id="296" r:id="rId25"/>
    <p:sldId id="297" r:id="rId26"/>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$14.8K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8" name="TextBox 27"/>
          <p:cNvSpPr txBox="1"/>
          <p:nvPr/>
        </p:nvSpPr>
        <p:spPr>
          <a:xfrm>
            <a:off x="7461504" y="7059168"/>
            <a:ext cx="493776" cy="950976"/>
          </a:xfrm>
          <a:prstGeom prst="rect">
            <a:avLst/>
          </a:prstGeom>
          <a:noFill/>
        </p:spPr>
        <p:txBody>
          <a:bodyPr wrap="square">
            <a:spAutoFit/>
          </a:bodyPr>
          <a:lstStyle/>
          <a:p>
            <a:r>
              <a:rPr sz="2550" b="0">
                <a:solidFill>
                  <a:srgbClr val="1E7E8C"/>
                </a:solidFill>
                <a:latin typeface="Georgia"/>
              </a:rPr>
              <a:t>3</a:t>
            </a:r>
          </a:p>
        </p:txBody>
      </p:sp>
      <p:sp>
        <p:nvSpPr>
          <p:cNvPr id="29" name="TextBox 28"/>
          <p:cNvSpPr txBox="1"/>
          <p:nvPr/>
        </p:nvSpPr>
        <p:spPr>
          <a:xfrm>
            <a:off x="8074152" y="7059168"/>
            <a:ext cx="8860536" cy="320040"/>
          </a:xfrm>
          <a:prstGeom prst="rect">
            <a:avLst/>
          </a:prstGeom>
          <a:noFill/>
        </p:spPr>
        <p:txBody>
          <a:bodyPr wrap="square">
            <a:spAutoFit/>
          </a:bodyPr>
          <a:lstStyle/>
          <a:p>
            <a:r>
              <a:rPr sz="2025" b="0">
                <a:solidFill>
                  <a:srgbClr val="22424B"/>
                </a:solidFill>
                <a:latin typeface="Arial"/>
              </a:rPr>
              <a:t>The math is lopsided</a:t>
            </a:r>
          </a:p>
        </p:txBody>
      </p:sp>
      <p:sp>
        <p:nvSpPr>
          <p:cNvPr id="30" name="TextBox 29"/>
          <p:cNvSpPr txBox="1"/>
          <p:nvPr/>
        </p:nvSpPr>
        <p:spPr>
          <a:xfrm>
            <a:off x="8074152" y="7397496"/>
            <a:ext cx="8302752" cy="777240"/>
          </a:xfrm>
          <a:prstGeom prst="rect">
            <a:avLst/>
          </a:prstGeom>
          <a:noFill/>
        </p:spPr>
        <p:txBody>
          <a:bodyPr wrap="square">
            <a:spAutoFit/>
          </a:bodyPr>
          <a:lstStyle/>
          <a:p>
            <a:r>
              <a:rPr sz="1650" b="0">
                <a:solidFill>
                  <a:srgbClr val="4E5A5E"/>
                </a:solidFill>
                <a:latin typeface="Arial"/>
              </a:rPr>
              <a:t>Staffing 4–8pm would cost ~$33.8K/yr in labor to defend just $9.1K of barista-required sales (~$6.2K of margin). Even if every made-to-order sale walks, closing at 4pm comes out ~$27.5K/yr ahead.</a:t>
            </a:r>
          </a:p>
        </p:txBody>
      </p:sp>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ELIMINATED — from ($164K) to a $1.0K profit</a:t>
            </a:r>
          </a:p>
          <a:p>
            <a:pPr>
              <a:spcAft>
                <a:spcPts val="800"/>
              </a:spcAft>
            </a:pPr>
            <a:r>
              <a:rPr sz="1400" b="0">
                <a:solidFill>
                  <a:srgbClr val="3F4A4E"/>
                </a:solidFill>
                <a:latin typeface="Arial"/>
              </a:rPr>
              <a:t>Combined with Vessel (+$54.2K), the portfolio turns positive in 2027: +$82.4K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($1.2K) with the changes vs ($67.8K) with no changes → +$66.6K in five months</a:t>
            </a:r>
          </a:p>
        </p:txBody>
      </p:sp>
      <p:graphicFrame>
        <p:nvGraphicFramePr>
          <p:cNvPr id="125" name="Table 124"/>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8/1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a:t>
                      </a:r>
                    </a:p>
                  </a:txBody>
                  <a:tcPr>
                    <a:solidFill>
                      <a:srgbClr val="F7F6F2"/>
                    </a:solidFill>
                  </a:tcPr>
                </a:tc>
                <a:tc>
                  <a:txBody>
                    <a:bodyPr/>
                    <a:lstStyle/>
                    <a:p>
                      <a:pPr algn="r"/>
                      <a:r>
                        <a:rPr sz="1300" b="0">
                          <a:solidFill>
                            <a:srgbClr val="3F4A4E"/>
                          </a:solidFill>
                          <a:latin typeface="Arial"/>
                        </a:rPr>
                        <a:t>$288.7K</a:t>
                      </a:r>
                    </a:p>
                  </a:txBody>
                  <a:tcPr>
                    <a:solidFill>
                      <a:srgbClr val="F7F6F2"/>
                    </a:solidFill>
                  </a:tcPr>
                </a:tc>
                <a:tc>
                  <a:txBody>
                    <a:bodyPr/>
                    <a:lstStyle/>
                    <a:p>
                      <a:pPr algn="r"/>
                      <a:r>
                        <a:rPr sz="1300" b="0">
                          <a:solidFill>
                            <a:srgbClr val="3F4A4E"/>
                          </a:solidFill>
                          <a:latin typeface="Arial"/>
                        </a:rPr>
                        <a:t>$314.9K</a:t>
                      </a:r>
                    </a:p>
                  </a:txBody>
                  <a:tcPr>
                    <a:solidFill>
                      <a:srgbClr val="F7F6F2"/>
                    </a:solidFill>
                  </a:tcPr>
                </a:tc>
                <a:tc>
                  <a:txBody>
                    <a:bodyPr/>
                    <a:lstStyle/>
                    <a:p>
                      <a:pPr algn="r"/>
                      <a:r>
                        <a:rPr sz="1300" b="0">
                          <a:solidFill>
                            <a:srgbClr val="3F4A4E"/>
                          </a:solidFill>
                          <a:latin typeface="Arial"/>
                        </a:rPr>
                        <a:t>$370.9K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$104.6K</a:t>
                      </a:r>
                    </a:p>
                  </a:txBody>
                  <a:tcPr>
                    <a:solidFill>
                      <a:srgbClr val="FFFFFF"/>
                    </a:solidFill>
                  </a:tcPr>
                </a:tc>
                <a:tc>
                  <a:txBody>
                    <a:bodyPr/>
                    <a:lstStyle/>
                    <a:p>
                      <a:pPr algn="r"/>
                      <a:r>
                        <a:rPr sz="1300" b="0">
                          <a:solidFill>
                            <a:srgbClr val="3F4A4E"/>
                          </a:solidFill>
                          <a:latin typeface="Arial"/>
                        </a:rPr>
                        <a:t>$103.8K</a:t>
                      </a:r>
                    </a:p>
                  </a:txBody>
                  <a:tcPr>
                    <a:solidFill>
                      <a:srgbClr val="FFFFFF"/>
                    </a:solidFill>
                  </a:tcPr>
                </a:tc>
                <a:tc>
                  <a:txBody>
                    <a:bodyPr/>
                    <a:lstStyle/>
                    <a:p>
                      <a:pPr algn="r"/>
                      <a:r>
                        <a:rPr sz="1300" b="0">
                          <a:solidFill>
                            <a:srgbClr val="3F4A4E"/>
                          </a:solidFill>
                          <a:latin typeface="Arial"/>
                        </a:rPr>
                        <a:t>$112.3K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$170.3K</a:t>
                      </a:r>
                    </a:p>
                  </a:txBody>
                  <a:tcPr>
                    <a:solidFill>
                      <a:srgbClr val="F7F6F2"/>
                    </a:solidFill>
                  </a:tcPr>
                </a:tc>
                <a:tc>
                  <a:txBody>
                    <a:bodyPr/>
                    <a:lstStyle/>
                    <a:p>
                      <a:pPr algn="r"/>
                      <a:r>
                        <a:rPr sz="1300" b="0">
                          <a:solidFill>
                            <a:srgbClr val="3F4A4E"/>
                          </a:solidFill>
                          <a:latin typeface="Arial"/>
                        </a:rPr>
                        <a:t>$155.5K</a:t>
                      </a:r>
                    </a:p>
                  </a:txBody>
                  <a:tcPr>
                    <a:solidFill>
                      <a:srgbClr val="F7F6F2"/>
                    </a:solidFill>
                  </a:tcPr>
                </a:tc>
                <a:tc>
                  <a:txBody>
                    <a:bodyPr/>
                    <a:lstStyle/>
                    <a:p>
                      <a:pPr algn="r"/>
                      <a:r>
                        <a:rPr sz="1300" b="0">
                          <a:solidFill>
                            <a:srgbClr val="3F4A4E"/>
                          </a:solidFill>
                          <a:latin typeface="Arial"/>
                        </a:rPr>
                        <a:t>$131.2K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$274.9K</a:t>
                      </a:r>
                    </a:p>
                  </a:txBody>
                  <a:tcPr>
                    <a:solidFill>
                      <a:srgbClr val="FFFFFF"/>
                    </a:solidFill>
                  </a:tcPr>
                </a:tc>
                <a:tc>
                  <a:txBody>
                    <a:bodyPr/>
                    <a:lstStyle/>
                    <a:p>
                      <a:pPr algn="r"/>
                      <a:r>
                        <a:rPr sz="1300" b="1">
                          <a:solidFill>
                            <a:srgbClr val="22424B"/>
                          </a:solidFill>
                          <a:latin typeface="Arial"/>
                        </a:rPr>
                        <a:t>$259.2K</a:t>
                      </a:r>
                    </a:p>
                  </a:txBody>
                  <a:tcPr>
                    <a:solidFill>
                      <a:srgbClr val="FFFFFF"/>
                    </a:solidFill>
                  </a:tcPr>
                </a:tc>
                <a:tc>
                  <a:txBody>
                    <a:bodyPr/>
                    <a:lstStyle/>
                    <a:p>
                      <a:pPr algn="r"/>
                      <a:r>
                        <a:rPr sz="1300" b="1">
                          <a:solidFill>
                            <a:srgbClr val="22424B"/>
                          </a:solidFill>
                          <a:latin typeface="Arial"/>
                        </a:rPr>
                        <a:t>$243.6K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$13.8K</a:t>
                      </a:r>
                    </a:p>
                  </a:txBody>
                  <a:tcPr>
                    <a:solidFill>
                      <a:srgbClr val="F7F6F2"/>
                    </a:solidFill>
                  </a:tcPr>
                </a:tc>
                <a:tc>
                  <a:txBody>
                    <a:bodyPr/>
                    <a:lstStyle/>
                    <a:p>
                      <a:pPr algn="r"/>
                      <a:r>
                        <a:rPr sz="1300" b="1">
                          <a:solidFill>
                            <a:srgbClr val="22424B"/>
                          </a:solidFill>
                          <a:latin typeface="Arial"/>
                        </a:rPr>
                        <a:t>$55.6K</a:t>
                      </a:r>
                    </a:p>
                  </a:txBody>
                  <a:tcPr>
                    <a:solidFill>
                      <a:srgbClr val="F7F6F2"/>
                    </a:solidFill>
                  </a:tcPr>
                </a:tc>
                <a:tc>
                  <a:txBody>
                    <a:bodyPr/>
                    <a:lstStyle/>
                    <a:p>
                      <a:pPr algn="r"/>
                      <a:r>
                        <a:rPr sz="1300" b="1">
                          <a:solidFill>
                            <a:srgbClr val="22424B"/>
                          </a:solidFill>
                          <a:latin typeface="Arial"/>
                        </a:rPr>
                        <a:t>$127.3K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$112.4K</a:t>
                      </a:r>
                    </a:p>
                  </a:txBody>
                  <a:tcPr>
                    <a:solidFill>
                      <a:srgbClr val="FFFFFF"/>
                    </a:solidFill>
                  </a:tcPr>
                </a:tc>
                <a:tc>
                  <a:txBody>
                    <a:bodyPr/>
                    <a:lstStyle/>
                    <a:p>
                      <a:pPr algn="r"/>
                      <a:r>
                        <a:rPr sz="1300" b="0">
                          <a:solidFill>
                            <a:srgbClr val="3F4A4E"/>
                          </a:solidFill>
                          <a:latin typeface="Arial"/>
                        </a:rPr>
                        <a:t>$109.1K</a:t>
                      </a:r>
                    </a:p>
                  </a:txBody>
                  <a:tcPr>
                    <a:solidFill>
                      <a:srgbClr val="FFFFFF"/>
                    </a:solidFill>
                  </a:tcPr>
                </a:tc>
                <a:tc>
                  <a:txBody>
                    <a:bodyPr/>
                    <a:lstStyle/>
                    <a:p>
                      <a:pPr algn="r"/>
                      <a:r>
                        <a:rPr sz="1300" b="0">
                          <a:solidFill>
                            <a:srgbClr val="3F4A4E"/>
                          </a:solidFill>
                          <a:latin typeface="Arial"/>
                        </a:rPr>
                        <a:t>$111.4K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$48.0K</a:t>
                      </a:r>
                    </a:p>
                  </a:txBody>
                  <a:tcPr>
                    <a:solidFill>
                      <a:srgbClr val="F7F6F2"/>
                    </a:solidFill>
                  </a:tcPr>
                </a:tc>
                <a:tc>
                  <a:txBody>
                    <a:bodyPr/>
                    <a:lstStyle/>
                    <a:p>
                      <a:pPr algn="r"/>
                      <a:r>
                        <a:rPr sz="1300" b="0">
                          <a:solidFill>
                            <a:srgbClr val="3F4A4E"/>
                          </a:solidFill>
                          <a:latin typeface="Arial"/>
                        </a:rPr>
                        <a:t>$34.2K</a:t>
                      </a:r>
                    </a:p>
                  </a:txBody>
                  <a:tcPr>
                    <a:solidFill>
                      <a:srgbClr val="F7F6F2"/>
                    </a:solidFill>
                  </a:tcPr>
                </a:tc>
                <a:tc>
                  <a:txBody>
                    <a:bodyPr/>
                    <a:lstStyle/>
                    <a:p>
                      <a:pPr algn="r"/>
                      <a:r>
                        <a:rPr sz="1300" b="0">
                          <a:solidFill>
                            <a:srgbClr val="3F4A4E"/>
                          </a:solidFill>
                          <a:latin typeface="Arial"/>
                        </a:rPr>
                        <a:t>$14.8K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$17.4K</a:t>
                      </a:r>
                    </a:p>
                  </a:txBody>
                  <a:tcPr>
                    <a:solidFill>
                      <a:srgbClr val="FFFFFF"/>
                    </a:solidFill>
                  </a:tcPr>
                </a:tc>
                <a:tc>
                  <a:txBody>
                    <a:bodyPr/>
                    <a:lstStyle/>
                    <a:p>
                      <a:pPr algn="r"/>
                      <a:r>
                        <a:rPr sz="1300" b="0">
                          <a:solidFill>
                            <a:srgbClr val="3F4A4E"/>
                          </a:solidFill>
                          <a:latin typeface="Arial"/>
                        </a:rPr>
                        <a:t>$9.7K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($164.0K)</a:t>
                      </a:r>
                    </a:p>
                  </a:txBody>
                  <a:tcPr>
                    <a:solidFill>
                      <a:srgbClr val="F7F6F2"/>
                    </a:solidFill>
                  </a:tcPr>
                </a:tc>
                <a:tc>
                  <a:txBody>
                    <a:bodyPr/>
                    <a:lstStyle/>
                    <a:p>
                      <a:pPr algn="r"/>
                      <a:r>
                        <a:rPr sz="1300" b="1">
                          <a:solidFill>
                            <a:srgbClr val="22424B"/>
                          </a:solidFill>
                          <a:latin typeface="Arial"/>
                        </a:rPr>
                        <a:t>($97.4K)</a:t>
                      </a:r>
                    </a:p>
                  </a:txBody>
                  <a:tcPr>
                    <a:solidFill>
                      <a:srgbClr val="F7F6F2"/>
                    </a:solidFill>
                  </a:tcPr>
                </a:tc>
                <a:tc>
                  <a:txBody>
                    <a:bodyPr/>
                    <a:lstStyle/>
                    <a:p>
                      <a:pPr algn="r"/>
                      <a:r>
                        <a:rPr sz="1300" b="1">
                          <a:solidFill>
                            <a:srgbClr val="22424B"/>
                          </a:solidFill>
                          <a:latin typeface="Arial"/>
                        </a:rPr>
                        <a:t>+$1.0K</a:t>
                      </a:r>
                    </a:p>
                  </a:txBody>
                  <a:tcPr>
                    <a:solidFill>
                      <a:srgbClr val="F7F6F2"/>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8/1/2026</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+$81.4K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+$46.2K with the changes vs +$9.0K with no changes → +$37.2K in five months</a:t>
            </a:r>
          </a:p>
        </p:txBody>
      </p:sp>
      <p:graphicFrame>
        <p:nvGraphicFramePr>
          <p:cNvPr id="6" name="Table 5"/>
          <p:cNvGraphicFramePr>
            <a:graphicFrameLocks noGrp="1"/>
          </p:cNvGraphicFramePr>
          <p:nvPr/>
        </p:nvGraphicFramePr>
        <p:xfrm>
          <a:off x="950976" y="2377440"/>
          <a:ext cx="11521440" cy="5669280"/>
        </p:xfrm>
        <a:graphic>
          <a:graphicData uri="http://schemas.openxmlformats.org/drawingml/2006/table">
            <a:tbl>
              <a:tblPr firstRow="1" bandRow="1">
                <a:tableStyleId>{5C22544A-7EE6-4342-B048-85BDC9FD1C3A}</a:tableStyleId>
              </a:tblPr>
              <a:tblGrid>
                <a:gridCol w="3840480"/>
                <a:gridCol w="2560320"/>
                <a:gridCol w="2560320"/>
                <a:gridCol w="2560320"/>
              </a:tblGrid>
              <a:tr h="566928">
                <a:tc>
                  <a:txBody>
                    <a:bodyPr/>
                    <a:lstStyle/>
                    <a:p>
                      <a:pPr>
                        <a:defRPr sz="1100" b="1">
                          <a:solidFill>
                            <a:srgbClr val="FFFFFF"/>
                          </a:solidFill>
                          <a:latin typeface="Arial"/>
                        </a:defRPr>
                      </a:pPr>
                    </a:p>
                  </a:txBody>
                  <a:tcPr>
                    <a:solidFill>
                      <a:srgbClr val="22424B"/>
                    </a:solidFill>
                  </a:tcPr>
                </a:tc>
                <a:tc>
                  <a:txBody>
                    <a:bodyPr/>
                    <a:lstStyle/>
                    <a:p>
                      <a:pPr algn="r"/>
                      <a:r>
                        <a:rPr sz="1100" b="1">
                          <a:solidFill>
                            <a:srgbClr val="FFFFFF"/>
                          </a:solidFill>
                          <a:latin typeface="Arial"/>
                        </a:rPr>
                        <a:t>2026 ACT/FOR</a:t>
                      </a:r>
                    </a:p>
                  </a:txBody>
                  <a:tcPr>
                    <a:solidFill>
                      <a:srgbClr val="22424B"/>
                    </a:solidFill>
                  </a:tcPr>
                </a:tc>
                <a:tc>
                  <a:txBody>
                    <a:bodyPr/>
                    <a:lstStyle/>
                    <a:p>
                      <a:pPr algn="r"/>
                      <a:r>
                        <a:rPr sz="1100" b="1">
                          <a:solidFill>
                            <a:srgbClr val="FFFFFF"/>
                          </a:solidFill>
                          <a:latin typeface="Arial"/>
                        </a:rPr>
                        <a:t>2026 MODIFIED · 8/1 GO-LIVE</a:t>
                      </a:r>
                    </a:p>
                  </a:txBody>
                  <a:tcPr>
                    <a:solidFill>
                      <a:srgbClr val="22424B"/>
                    </a:solidFill>
                  </a:tcPr>
                </a:tc>
                <a:tc>
                  <a:txBody>
                    <a:bodyPr/>
                    <a:lstStyle/>
                    <a:p>
                      <a:pPr algn="r"/>
                      <a:r>
                        <a:rPr sz="1100" b="1">
                          <a:solidFill>
                            <a:srgbClr val="FFFFFF"/>
                          </a:solidFill>
                          <a:latin typeface="Arial"/>
                        </a:rPr>
                        <a:t>2027 PLAN</a:t>
                      </a:r>
                    </a:p>
                  </a:txBody>
                  <a:tcPr>
                    <a:solidFill>
                      <a:srgbClr val="22424B"/>
                    </a:solidFill>
                  </a:tcPr>
                </a:tc>
              </a:tr>
              <a:tr h="566928">
                <a:tc>
                  <a:txBody>
                    <a:bodyPr/>
                    <a:lstStyle/>
                    <a:p>
                      <a:r>
                        <a:rPr sz="1300" b="0">
                          <a:solidFill>
                            <a:srgbClr val="3F4A4E"/>
                          </a:solidFill>
                          <a:latin typeface="Arial"/>
                        </a:rPr>
                        <a:t>Total income (incl 5% admin fee billed to clients)</a:t>
                      </a:r>
                    </a:p>
                  </a:txBody>
                  <a:tcPr>
                    <a:solidFill>
                      <a:srgbClr val="F7F6F2"/>
                    </a:solidFill>
                  </a:tcPr>
                </a:tc>
                <a:tc>
                  <a:txBody>
                    <a:bodyPr/>
                    <a:lstStyle/>
                    <a:p>
                      <a:pPr algn="r"/>
                      <a:r>
                        <a:rPr sz="1300" b="0">
                          <a:solidFill>
                            <a:srgbClr val="3F4A4E"/>
                          </a:solidFill>
                          <a:latin typeface="Arial"/>
                        </a:rPr>
                        <a:t>$352.0K</a:t>
                      </a:r>
                    </a:p>
                  </a:txBody>
                  <a:tcPr>
                    <a:solidFill>
                      <a:srgbClr val="F7F6F2"/>
                    </a:solidFill>
                  </a:tcPr>
                </a:tc>
                <a:tc>
                  <a:txBody>
                    <a:bodyPr/>
                    <a:lstStyle/>
                    <a:p>
                      <a:pPr algn="r"/>
                      <a:r>
                        <a:rPr sz="1300" b="0">
                          <a:solidFill>
                            <a:srgbClr val="3F4A4E"/>
                          </a:solidFill>
                          <a:latin typeface="Arial"/>
                        </a:rPr>
                        <a:t>$355.5K</a:t>
                      </a:r>
                    </a:p>
                  </a:txBody>
                  <a:tcPr>
                    <a:solidFill>
                      <a:srgbClr val="F7F6F2"/>
                    </a:solidFill>
                  </a:tcPr>
                </a:tc>
                <a:tc>
                  <a:txBody>
                    <a:bodyPr/>
                    <a:lstStyle/>
                    <a:p>
                      <a:pPr algn="r"/>
                      <a:r>
                        <a:rPr sz="1300" b="0">
                          <a:solidFill>
                            <a:srgbClr val="3F4A4E"/>
                          </a:solidFill>
                          <a:latin typeface="Arial"/>
                        </a:rPr>
                        <a:t>$415.0K</a:t>
                      </a:r>
                    </a:p>
                  </a:txBody>
                  <a:tcPr>
                    <a:solidFill>
                      <a:srgbClr val="F7F6F2"/>
                    </a:solidFill>
                  </a:tcPr>
                </a:tc>
              </a:tr>
              <a:tr h="566928">
                <a:tc>
                  <a:txBody>
                    <a:bodyPr/>
                    <a:lstStyle/>
                    <a:p>
                      <a:r>
                        <a:rPr sz="1300" b="0">
                          <a:solidFill>
                            <a:srgbClr val="3F4A4E"/>
                          </a:solidFill>
                          <a:latin typeface="Arial"/>
                        </a:rPr>
                        <a:t>Cost of goods sold</a:t>
                      </a:r>
                    </a:p>
                  </a:txBody>
                  <a:tcPr>
                    <a:solidFill>
                      <a:srgbClr val="FFFFFF"/>
                    </a:solidFill>
                  </a:tcPr>
                </a:tc>
                <a:tc>
                  <a:txBody>
                    <a:bodyPr/>
                    <a:lstStyle/>
                    <a:p>
                      <a:pPr algn="r"/>
                      <a:r>
                        <a:rPr sz="1300" b="0">
                          <a:solidFill>
                            <a:srgbClr val="3F4A4E"/>
                          </a:solidFill>
                          <a:latin typeface="Arial"/>
                        </a:rPr>
                        <a:t>$122.9K</a:t>
                      </a:r>
                    </a:p>
                  </a:txBody>
                  <a:tcPr>
                    <a:solidFill>
                      <a:srgbClr val="FFFFFF"/>
                    </a:solidFill>
                  </a:tcPr>
                </a:tc>
                <a:tc>
                  <a:txBody>
                    <a:bodyPr/>
                    <a:lstStyle/>
                    <a:p>
                      <a:pPr algn="r"/>
                      <a:r>
                        <a:rPr sz="1300" b="0">
                          <a:solidFill>
                            <a:srgbClr val="3F4A4E"/>
                          </a:solidFill>
                          <a:latin typeface="Arial"/>
                        </a:rPr>
                        <a:t>$122.9K</a:t>
                      </a:r>
                    </a:p>
                  </a:txBody>
                  <a:tcPr>
                    <a:solidFill>
                      <a:srgbClr val="FFFFFF"/>
                    </a:solidFill>
                  </a:tcPr>
                </a:tc>
                <a:tc>
                  <a:txBody>
                    <a:bodyPr/>
                    <a:lstStyle/>
                    <a:p>
                      <a:pPr algn="r"/>
                      <a:r>
                        <a:rPr sz="1300" b="0">
                          <a:solidFill>
                            <a:srgbClr val="3F4A4E"/>
                          </a:solidFill>
                          <a:latin typeface="Arial"/>
                        </a:rPr>
                        <a:t>$170.0K</a:t>
                      </a:r>
                    </a:p>
                  </a:txBody>
                  <a:tcPr>
                    <a:solidFill>
                      <a:srgbClr val="FFFFFF"/>
                    </a:solidFill>
                  </a:tcPr>
                </a:tc>
              </a:tr>
              <a:tr h="566928">
                <a:tc>
                  <a:txBody>
                    <a:bodyPr/>
                    <a:lstStyle/>
                    <a:p>
                      <a:r>
                        <a:rPr sz="1300" b="0">
                          <a:solidFill>
                            <a:srgbClr val="3F4A4E"/>
                          </a:solidFill>
                          <a:latin typeface="Arial"/>
                        </a:rPr>
                        <a:t>Labor</a:t>
                      </a:r>
                    </a:p>
                  </a:txBody>
                  <a:tcPr>
                    <a:solidFill>
                      <a:srgbClr val="F7F6F2"/>
                    </a:solidFill>
                  </a:tcPr>
                </a:tc>
                <a:tc>
                  <a:txBody>
                    <a:bodyPr/>
                    <a:lstStyle/>
                    <a:p>
                      <a:pPr algn="r"/>
                      <a:r>
                        <a:rPr sz="1300" b="0">
                          <a:solidFill>
                            <a:srgbClr val="3F4A4E"/>
                          </a:solidFill>
                          <a:latin typeface="Arial"/>
                        </a:rPr>
                        <a:t>$80.0K</a:t>
                      </a:r>
                    </a:p>
                  </a:txBody>
                  <a:tcPr>
                    <a:solidFill>
                      <a:srgbClr val="F7F6F2"/>
                    </a:solidFill>
                  </a:tcPr>
                </a:tc>
                <a:tc>
                  <a:txBody>
                    <a:bodyPr/>
                    <a:lstStyle/>
                    <a:p>
                      <a:pPr algn="r"/>
                      <a:r>
                        <a:rPr sz="1300" b="0">
                          <a:solidFill>
                            <a:srgbClr val="3F4A4E"/>
                          </a:solidFill>
                          <a:latin typeface="Arial"/>
                        </a:rPr>
                        <a:t>$80.0K</a:t>
                      </a:r>
                    </a:p>
                  </a:txBody>
                  <a:tcPr>
                    <a:solidFill>
                      <a:srgbClr val="F7F6F2"/>
                    </a:solidFill>
                  </a:tcPr>
                </a:tc>
                <a:tc>
                  <a:txBody>
                    <a:bodyPr/>
                    <a:lstStyle/>
                    <a:p>
                      <a:pPr algn="r"/>
                      <a:r>
                        <a:rPr sz="1300" b="0">
                          <a:solidFill>
                            <a:srgbClr val="3F4A4E"/>
                          </a:solidFill>
                          <a:latin typeface="Arial"/>
                        </a:rPr>
                        <a:t>$70.6K</a:t>
                      </a:r>
                    </a:p>
                  </a:txBody>
                  <a:tcPr>
                    <a:solidFill>
                      <a:srgbClr val="F7F6F2"/>
                    </a:solidFill>
                  </a:tcPr>
                </a:tc>
              </a:tr>
              <a:tr h="566928">
                <a:tc>
                  <a:txBody>
                    <a:bodyPr/>
                    <a:lstStyle/>
                    <a:p>
                      <a:r>
                        <a:rPr sz="1300" b="1">
                          <a:solidFill>
                            <a:srgbClr val="22424B"/>
                          </a:solidFill>
                          <a:latin typeface="Arial"/>
                        </a:rPr>
                        <a:t>Prime cost</a:t>
                      </a:r>
                    </a:p>
                  </a:txBody>
                  <a:tcPr>
                    <a:solidFill>
                      <a:srgbClr val="FFFFFF"/>
                    </a:solidFill>
                  </a:tcPr>
                </a:tc>
                <a:tc>
                  <a:txBody>
                    <a:bodyPr/>
                    <a:lstStyle/>
                    <a:p>
                      <a:pPr algn="r"/>
                      <a:r>
                        <a:rPr sz="1300" b="1">
                          <a:solidFill>
                            <a:srgbClr val="22424B"/>
                          </a:solidFill>
                          <a:latin typeface="Arial"/>
                        </a:rPr>
                        <a:t>$203.0K</a:t>
                      </a:r>
                    </a:p>
                  </a:txBody>
                  <a:tcPr>
                    <a:solidFill>
                      <a:srgbClr val="FFFFFF"/>
                    </a:solidFill>
                  </a:tcPr>
                </a:tc>
                <a:tc>
                  <a:txBody>
                    <a:bodyPr/>
                    <a:lstStyle/>
                    <a:p>
                      <a:pPr algn="r"/>
                      <a:r>
                        <a:rPr sz="1300" b="1">
                          <a:solidFill>
                            <a:srgbClr val="22424B"/>
                          </a:solidFill>
                          <a:latin typeface="Arial"/>
                        </a:rPr>
                        <a:t>$203.0K</a:t>
                      </a:r>
                    </a:p>
                  </a:txBody>
                  <a:tcPr>
                    <a:solidFill>
                      <a:srgbClr val="FFFFFF"/>
                    </a:solidFill>
                  </a:tcPr>
                </a:tc>
                <a:tc>
                  <a:txBody>
                    <a:bodyPr/>
                    <a:lstStyle/>
                    <a:p>
                      <a:pPr algn="r"/>
                      <a:r>
                        <a:rPr sz="1300" b="1">
                          <a:solidFill>
                            <a:srgbClr val="22424B"/>
                          </a:solidFill>
                          <a:latin typeface="Arial"/>
                        </a:rPr>
                        <a:t>$240.6K</a:t>
                      </a:r>
                    </a:p>
                  </a:txBody>
                  <a:tcPr>
                    <a:solidFill>
                      <a:srgbClr val="FFFFFF"/>
                    </a:solidFill>
                  </a:tcPr>
                </a:tc>
              </a:tr>
              <a:tr h="566928">
                <a:tc>
                  <a:txBody>
                    <a:bodyPr/>
                    <a:lstStyle/>
                    <a:p>
                      <a:r>
                        <a:rPr sz="1300" b="1">
                          <a:solidFill>
                            <a:srgbClr val="22424B"/>
                          </a:solidFill>
                          <a:latin typeface="Arial"/>
                        </a:rPr>
                        <a:t>Operating profit</a:t>
                      </a:r>
                    </a:p>
                  </a:txBody>
                  <a:tcPr>
                    <a:solidFill>
                      <a:srgbClr val="F7F6F2"/>
                    </a:solidFill>
                  </a:tcPr>
                </a:tc>
                <a:tc>
                  <a:txBody>
                    <a:bodyPr/>
                    <a:lstStyle/>
                    <a:p>
                      <a:pPr algn="r"/>
                      <a:r>
                        <a:rPr sz="1300" b="1">
                          <a:solidFill>
                            <a:srgbClr val="22424B"/>
                          </a:solidFill>
                          <a:latin typeface="Arial"/>
                        </a:rPr>
                        <a:t>$149.0K</a:t>
                      </a:r>
                    </a:p>
                  </a:txBody>
                  <a:tcPr>
                    <a:solidFill>
                      <a:srgbClr val="F7F6F2"/>
                    </a:solidFill>
                  </a:tcPr>
                </a:tc>
                <a:tc>
                  <a:txBody>
                    <a:bodyPr/>
                    <a:lstStyle/>
                    <a:p>
                      <a:pPr algn="r"/>
                      <a:r>
                        <a:rPr sz="1300" b="1">
                          <a:solidFill>
                            <a:srgbClr val="22424B"/>
                          </a:solidFill>
                          <a:latin typeface="Arial"/>
                        </a:rPr>
                        <a:t>$152.5K</a:t>
                      </a:r>
                    </a:p>
                  </a:txBody>
                  <a:tcPr>
                    <a:solidFill>
                      <a:srgbClr val="F7F6F2"/>
                    </a:solidFill>
                  </a:tcPr>
                </a:tc>
                <a:tc>
                  <a:txBody>
                    <a:bodyPr/>
                    <a:lstStyle/>
                    <a:p>
                      <a:pPr algn="r"/>
                      <a:r>
                        <a:rPr sz="1300" b="1">
                          <a:solidFill>
                            <a:srgbClr val="22424B"/>
                          </a:solidFill>
                          <a:latin typeface="Arial"/>
                        </a:rPr>
                        <a:t>$174.4K</a:t>
                      </a:r>
                    </a:p>
                  </a:txBody>
                  <a:tcPr>
                    <a:solidFill>
                      <a:srgbClr val="F7F6F2"/>
                    </a:solidFill>
                  </a:tcPr>
                </a:tc>
              </a:tr>
              <a:tr h="566928">
                <a:tc>
                  <a:txBody>
                    <a:bodyPr/>
                    <a:lstStyle/>
                    <a:p>
                      <a:r>
                        <a:rPr sz="1300" b="0">
                          <a:solidFill>
                            <a:srgbClr val="3F4A4E"/>
                          </a:solidFill>
                          <a:latin typeface="Arial"/>
                        </a:rPr>
                        <a:t>Operating expenses</a:t>
                      </a:r>
                    </a:p>
                  </a:txBody>
                  <a:tcPr>
                    <a:solidFill>
                      <a:srgbClr val="FFFFFF"/>
                    </a:solidFill>
                  </a:tcPr>
                </a:tc>
                <a:tc>
                  <a:txBody>
                    <a:bodyPr/>
                    <a:lstStyle/>
                    <a:p>
                      <a:pPr algn="r"/>
                      <a:r>
                        <a:rPr sz="1300" b="0">
                          <a:solidFill>
                            <a:srgbClr val="3F4A4E"/>
                          </a:solidFill>
                          <a:latin typeface="Arial"/>
                        </a:rPr>
                        <a:t>$93.2K</a:t>
                      </a:r>
                    </a:p>
                  </a:txBody>
                  <a:tcPr>
                    <a:solidFill>
                      <a:srgbClr val="FFFFFF"/>
                    </a:solidFill>
                  </a:tcPr>
                </a:tc>
                <a:tc>
                  <a:txBody>
                    <a:bodyPr/>
                    <a:lstStyle/>
                    <a:p>
                      <a:pPr algn="r"/>
                      <a:r>
                        <a:rPr sz="1300" b="0">
                          <a:solidFill>
                            <a:srgbClr val="3F4A4E"/>
                          </a:solidFill>
                          <a:latin typeface="Arial"/>
                        </a:rPr>
                        <a:t>$81.8K</a:t>
                      </a:r>
                    </a:p>
                  </a:txBody>
                  <a:tcPr>
                    <a:solidFill>
                      <a:srgbClr val="FFFFFF"/>
                    </a:solidFill>
                  </a:tcPr>
                </a:tc>
                <a:tc>
                  <a:txBody>
                    <a:bodyPr/>
                    <a:lstStyle/>
                    <a:p>
                      <a:pPr algn="r"/>
                      <a:r>
                        <a:rPr sz="1300" b="0">
                          <a:solidFill>
                            <a:srgbClr val="3F4A4E"/>
                          </a:solidFill>
                          <a:latin typeface="Arial"/>
                        </a:rPr>
                        <a:t>$76.4K</a:t>
                      </a:r>
                    </a:p>
                  </a:txBody>
                  <a:tcPr>
                    <a:solidFill>
                      <a:srgbClr val="FFFFFF"/>
                    </a:solidFill>
                  </a:tcPr>
                </a:tc>
              </a:tr>
              <a:tr h="566928">
                <a:tc>
                  <a:txBody>
                    <a:bodyPr/>
                    <a:lstStyle/>
                    <a:p>
                      <a:r>
                        <a:rPr sz="1300" b="0">
                          <a:solidFill>
                            <a:srgbClr val="3F4A4E"/>
                          </a:solidFill>
                          <a:latin typeface="Arial"/>
                        </a:rPr>
                        <a:t>Management fee</a:t>
                      </a:r>
                    </a:p>
                  </a:txBody>
                  <a:tcPr>
                    <a:solidFill>
                      <a:srgbClr val="F7F6F2"/>
                    </a:solidFill>
                  </a:tcPr>
                </a:tc>
                <a:tc>
                  <a:txBody>
                    <a:bodyPr/>
                    <a:lstStyle/>
                    <a:p>
                      <a:pPr algn="r"/>
                      <a:r>
                        <a:rPr sz="1300" b="0">
                          <a:solidFill>
                            <a:srgbClr val="3F4A4E"/>
                          </a:solidFill>
                          <a:latin typeface="Arial"/>
                        </a:rPr>
                        <a:t>$48.0K</a:t>
                      </a:r>
                    </a:p>
                  </a:txBody>
                  <a:tcPr>
                    <a:solidFill>
                      <a:srgbClr val="F7F6F2"/>
                    </a:solidFill>
                  </a:tcPr>
                </a:tc>
                <a:tc>
                  <a:txBody>
                    <a:bodyPr/>
                    <a:lstStyle/>
                    <a:p>
                      <a:pPr algn="r"/>
                      <a:r>
                        <a:rPr sz="1300" b="0">
                          <a:solidFill>
                            <a:srgbClr val="3F4A4E"/>
                          </a:solidFill>
                          <a:latin typeface="Arial"/>
                        </a:rPr>
                        <a:t>$33.1K</a:t>
                      </a:r>
                    </a:p>
                  </a:txBody>
                  <a:tcPr>
                    <a:solidFill>
                      <a:srgbClr val="F7F6F2"/>
                    </a:solidFill>
                  </a:tcPr>
                </a:tc>
                <a:tc>
                  <a:txBody>
                    <a:bodyPr/>
                    <a:lstStyle/>
                    <a:p>
                      <a:pPr algn="r"/>
                      <a:r>
                        <a:rPr sz="1300" b="0">
                          <a:solidFill>
                            <a:srgbClr val="3F4A4E"/>
                          </a:solidFill>
                          <a:latin typeface="Arial"/>
                        </a:rPr>
                        <a:t>$16.6K</a:t>
                      </a:r>
                    </a:p>
                  </a:txBody>
                  <a:tcPr>
                    <a:solidFill>
                      <a:srgbClr val="F7F6F2"/>
                    </a:solidFill>
                  </a:tcPr>
                </a:tc>
              </a:tr>
              <a:tr h="566928">
                <a:tc>
                  <a:txBody>
                    <a:bodyPr/>
                    <a:lstStyle/>
                    <a:p>
                      <a:r>
                        <a:rPr sz="1300" b="0">
                          <a:solidFill>
                            <a:srgbClr val="3F4A4E"/>
                          </a:solidFill>
                          <a:latin typeface="Arial"/>
                        </a:rPr>
                        <a:t>Rent / occupancy</a:t>
                      </a:r>
                    </a:p>
                  </a:txBody>
                  <a:tcPr>
                    <a:solidFill>
                      <a:srgbClr val="FFFFFF"/>
                    </a:solidFill>
                  </a:tcPr>
                </a:tc>
                <a:tc>
                  <a:txBody>
                    <a:bodyPr/>
                    <a:lstStyle/>
                    <a:p>
                      <a:pPr algn="r"/>
                      <a:r>
                        <a:rPr sz="1300" b="0">
                          <a:solidFill>
                            <a:srgbClr val="3F4A4E"/>
                          </a:solidFill>
                          <a:latin typeface="Arial"/>
                        </a:rPr>
                        <a:t>$21.3K</a:t>
                      </a:r>
                    </a:p>
                  </a:txBody>
                  <a:tcPr>
                    <a:solidFill>
                      <a:srgbClr val="FFFFFF"/>
                    </a:solidFill>
                  </a:tcPr>
                </a:tc>
                <a:tc>
                  <a:txBody>
                    <a:bodyPr/>
                    <a:lstStyle/>
                    <a:p>
                      <a:pPr algn="r"/>
                      <a:r>
                        <a:rPr sz="1300" b="0">
                          <a:solidFill>
                            <a:srgbClr val="3F4A4E"/>
                          </a:solidFill>
                          <a:latin typeface="Arial"/>
                        </a:rPr>
                        <a:t>$13.8K</a:t>
                      </a:r>
                    </a:p>
                  </a:txBody>
                  <a:tcPr>
                    <a:solidFill>
                      <a:srgbClr val="FFFFFF"/>
                    </a:solidFill>
                  </a:tcPr>
                </a:tc>
                <a:tc>
                  <a:txBody>
                    <a:bodyPr/>
                    <a:lstStyle/>
                    <a:p>
                      <a:pPr algn="r"/>
                      <a:r>
                        <a:rPr sz="1300" b="0">
                          <a:solidFill>
                            <a:srgbClr val="3F4A4E"/>
                          </a:solidFill>
                          <a:latin typeface="Arial"/>
                        </a:rPr>
                        <a:t>$0</a:t>
                      </a:r>
                    </a:p>
                  </a:txBody>
                  <a:tcPr>
                    <a:solidFill>
                      <a:srgbClr val="FFFFFF"/>
                    </a:solidFill>
                  </a:tcPr>
                </a:tc>
              </a:tr>
              <a:tr h="566928">
                <a:tc>
                  <a:txBody>
                    <a:bodyPr/>
                    <a:lstStyle/>
                    <a:p>
                      <a:r>
                        <a:rPr sz="1300" b="1">
                          <a:solidFill>
                            <a:srgbClr val="22424B"/>
                          </a:solidFill>
                          <a:latin typeface="Arial"/>
                        </a:rPr>
                        <a:t>NET OPERATING PROFIT</a:t>
                      </a:r>
                    </a:p>
                  </a:txBody>
                  <a:tcPr>
                    <a:solidFill>
                      <a:srgbClr val="F7F6F2"/>
                    </a:solidFill>
                  </a:tcPr>
                </a:tc>
                <a:tc>
                  <a:txBody>
                    <a:bodyPr/>
                    <a:lstStyle/>
                    <a:p>
                      <a:pPr algn="r"/>
                      <a:r>
                        <a:rPr sz="1300" b="1">
                          <a:solidFill>
                            <a:srgbClr val="22424B"/>
                          </a:solidFill>
                          <a:latin typeface="Arial"/>
                        </a:rPr>
                        <a:t>($13.5K)</a:t>
                      </a:r>
                    </a:p>
                  </a:txBody>
                  <a:tcPr>
                    <a:solidFill>
                      <a:srgbClr val="F7F6F2"/>
                    </a:solidFill>
                  </a:tcPr>
                </a:tc>
                <a:tc>
                  <a:txBody>
                    <a:bodyPr/>
                    <a:lstStyle/>
                    <a:p>
                      <a:pPr algn="r"/>
                      <a:r>
                        <a:rPr sz="1300" b="1">
                          <a:solidFill>
                            <a:srgbClr val="22424B"/>
                          </a:solidFill>
                          <a:latin typeface="Arial"/>
                        </a:rPr>
                        <a:t>+$23.7K</a:t>
                      </a:r>
                    </a:p>
                  </a:txBody>
                  <a:tcPr>
                    <a:solidFill>
                      <a:srgbClr val="F7F6F2"/>
                    </a:solidFill>
                  </a:tcPr>
                </a:tc>
                <a:tc>
                  <a:txBody>
                    <a:bodyPr/>
                    <a:lstStyle/>
                    <a:p>
                      <a:pPr algn="r"/>
                      <a:r>
                        <a:rPr sz="1300" b="1">
                          <a:solidFill>
                            <a:srgbClr val="22424B"/>
                          </a:solidFill>
                          <a:latin typeface="Arial"/>
                        </a:rPr>
                        <a:t>+$81.4K</a:t>
                      </a:r>
                    </a:p>
                  </a:txBody>
                  <a:tcPr>
                    <a:solidFill>
                      <a:srgbClr val="F7F6F2"/>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Current, modified &amp; 2027 — both outlets</a:t>
            </a:r>
          </a:p>
        </p:txBody>
      </p:sp>
      <p:graphicFrame>
        <p:nvGraphicFramePr>
          <p:cNvPr id="4" name="Table 3"/>
          <p:cNvGraphicFramePr>
            <a:graphicFrameLocks noGrp="1"/>
          </p:cNvGraphicFramePr>
          <p:nvPr/>
        </p:nvGraphicFramePr>
        <p:xfrm>
          <a:off x="950976" y="2286000"/>
          <a:ext cx="11521437" cy="5120640"/>
        </p:xfrm>
        <a:graphic>
          <a:graphicData uri="http://schemas.openxmlformats.org/drawingml/2006/table">
            <a:tbl>
              <a:tblPr firstRow="1" bandRow="1">
                <a:tableStyleId>{5C22544A-7EE6-4342-B048-85BDC9FD1C3A}</a:tableStyleId>
              </a:tblPr>
              <a:tblGrid>
                <a:gridCol w="3840480"/>
                <a:gridCol w="2560319"/>
                <a:gridCol w="2560319"/>
                <a:gridCol w="2560319"/>
              </a:tblGrid>
              <a:tr h="568960">
                <a:tc>
                  <a:txBody>
                    <a:bodyPr/>
                    <a:lstStyle/>
                    <a:p>
                      <a:pPr>
                        <a:defRPr sz="1200" b="1">
                          <a:solidFill>
                            <a:srgbClr val="FFFFFF"/>
                          </a:solidFill>
                          <a:latin typeface="Arial"/>
                        </a:defRPr>
                      </a:pPr>
                    </a:p>
                  </a:txBody>
                  <a:tcPr marL="36576" marR="45720">
                    <a:solidFill>
                      <a:srgbClr val="22424B"/>
                    </a:solidFill>
                  </a:tcPr>
                </a:tc>
                <a:tc>
                  <a:txBody>
                    <a:bodyPr/>
                    <a:lstStyle/>
                    <a:p>
                      <a:pPr algn="r"/>
                      <a:r>
                        <a:rPr sz="1200" b="1">
                          <a:solidFill>
                            <a:srgbClr val="FFFFFF"/>
                          </a:solidFill>
                          <a:latin typeface="Arial"/>
                        </a:rPr>
                        <a:t>2026 ACT/FOR</a:t>
                      </a:r>
                    </a:p>
                  </a:txBody>
                  <a:tcPr marL="36576" marR="45720">
                    <a:solidFill>
                      <a:srgbClr val="22424B"/>
                    </a:solidFill>
                  </a:tcPr>
                </a:tc>
                <a:tc>
                  <a:txBody>
                    <a:bodyPr/>
                    <a:lstStyle/>
                    <a:p>
                      <a:pPr algn="r"/>
                      <a:r>
                        <a:rPr sz="1200" b="1">
                          <a:solidFill>
                            <a:srgbClr val="FFFFFF"/>
                          </a:solidFill>
                          <a:latin typeface="Arial"/>
                        </a:rPr>
                        <a:t>2026 MODIFIED · 8/1 GO-LIVE</a:t>
                      </a:r>
                    </a:p>
                  </a:txBody>
                  <a:tcPr marL="36576" marR="45720">
                    <a:solidFill>
                      <a:srgbClr val="22424B"/>
                    </a:solidFill>
                  </a:tcPr>
                </a:tc>
                <a:tc>
                  <a:txBody>
                    <a:bodyPr/>
                    <a:lstStyle/>
                    <a:p>
                      <a:pPr algn="r"/>
                      <a:r>
                        <a:rPr sz="1200" b="1">
                          <a:solidFill>
                            <a:srgbClr val="FFFFFF"/>
                          </a:solidFill>
                          <a:latin typeface="Arial"/>
                        </a:rPr>
                        <a:t>2027 PLAN</a:t>
                      </a:r>
                    </a:p>
                  </a:txBody>
                  <a:tcPr marL="36576" marR="45720">
                    <a:solidFill>
                      <a:srgbClr val="22424B"/>
                    </a:solidFill>
                  </a:tcPr>
                </a:tc>
              </a:tr>
              <a:tr h="568960">
                <a:tc>
                  <a:txBody>
                    <a:bodyPr/>
                    <a:lstStyle/>
                    <a:p>
                      <a:r>
                        <a:rPr sz="1400" b="0">
                          <a:solidFill>
                            <a:srgbClr val="3F4A4E"/>
                          </a:solidFill>
                          <a:latin typeface="Arial"/>
                        </a:rPr>
                        <a:t>Total income</a:t>
                      </a:r>
                    </a:p>
                  </a:txBody>
                  <a:tcPr marL="36576" marR="45720">
                    <a:solidFill>
                      <a:srgbClr val="F7F6F2"/>
                    </a:solidFill>
                  </a:tcPr>
                </a:tc>
                <a:tc>
                  <a:txBody>
                    <a:bodyPr/>
                    <a:lstStyle/>
                    <a:p>
                      <a:pPr algn="r"/>
                      <a:r>
                        <a:rPr sz="1400" b="0">
                          <a:solidFill>
                            <a:srgbClr val="3F4A4E"/>
                          </a:solidFill>
                          <a:latin typeface="Arial"/>
                        </a:rPr>
                        <a:t>$640,667</a:t>
                      </a:r>
                    </a:p>
                  </a:txBody>
                  <a:tcPr marL="36576" marR="45720">
                    <a:solidFill>
                      <a:srgbClr val="F7F6F2"/>
                    </a:solidFill>
                  </a:tcPr>
                </a:tc>
                <a:tc>
                  <a:txBody>
                    <a:bodyPr/>
                    <a:lstStyle/>
                    <a:p>
                      <a:pPr algn="r"/>
                      <a:r>
                        <a:rPr sz="1400" b="0">
                          <a:solidFill>
                            <a:srgbClr val="3F4A4E"/>
                          </a:solidFill>
                          <a:latin typeface="Arial"/>
                        </a:rPr>
                        <a:t>$670,334</a:t>
                      </a:r>
                    </a:p>
                  </a:txBody>
                  <a:tcPr marL="36576" marR="45720">
                    <a:solidFill>
                      <a:srgbClr val="F7F6F2"/>
                    </a:solidFill>
                  </a:tcPr>
                </a:tc>
                <a:tc>
                  <a:txBody>
                    <a:bodyPr/>
                    <a:lstStyle/>
                    <a:p>
                      <a:pPr algn="r"/>
                      <a:r>
                        <a:rPr sz="1400" b="1">
                          <a:solidFill>
                            <a:srgbClr val="3F4A4E"/>
                          </a:solidFill>
                          <a:latin typeface="Arial"/>
                        </a:rPr>
                        <a:t>$785,856</a:t>
                      </a:r>
                    </a:p>
                  </a:txBody>
                  <a:tcPr marL="36576" marR="45720">
                    <a:solidFill>
                      <a:srgbClr val="F7F6F2"/>
                    </a:solidFill>
                  </a:tcPr>
                </a:tc>
              </a:tr>
              <a:tr h="568960">
                <a:tc>
                  <a:txBody>
                    <a:bodyPr/>
                    <a:lstStyle/>
                    <a:p>
                      <a:r>
                        <a:rPr sz="1400" b="0">
                          <a:solidFill>
                            <a:srgbClr val="3F4A4E"/>
                          </a:solidFill>
                          <a:latin typeface="Arial"/>
                        </a:rPr>
                        <a:t>Cost of goods sold</a:t>
                      </a:r>
                    </a:p>
                  </a:txBody>
                  <a:tcPr marL="36576" marR="45720">
                    <a:solidFill>
                      <a:srgbClr val="FFFFFF"/>
                    </a:solidFill>
                  </a:tcPr>
                </a:tc>
                <a:tc>
                  <a:txBody>
                    <a:bodyPr/>
                    <a:lstStyle/>
                    <a:p>
                      <a:pPr algn="r"/>
                      <a:r>
                        <a:rPr sz="1400" b="0">
                          <a:solidFill>
                            <a:srgbClr val="3F4A4E"/>
                          </a:solidFill>
                          <a:latin typeface="Arial"/>
                        </a:rPr>
                        <a:t>$227,562</a:t>
                      </a:r>
                    </a:p>
                  </a:txBody>
                  <a:tcPr marL="36576" marR="45720">
                    <a:solidFill>
                      <a:srgbClr val="FFFFFF"/>
                    </a:solidFill>
                  </a:tcPr>
                </a:tc>
                <a:tc>
                  <a:txBody>
                    <a:bodyPr/>
                    <a:lstStyle/>
                    <a:p>
                      <a:pPr algn="r"/>
                      <a:r>
                        <a:rPr sz="1400" b="0">
                          <a:solidFill>
                            <a:srgbClr val="3F4A4E"/>
                          </a:solidFill>
                          <a:latin typeface="Arial"/>
                        </a:rPr>
                        <a:t>$226,693</a:t>
                      </a:r>
                    </a:p>
                  </a:txBody>
                  <a:tcPr marL="36576" marR="45720">
                    <a:solidFill>
                      <a:srgbClr val="FFFFFF"/>
                    </a:solidFill>
                  </a:tcPr>
                </a:tc>
                <a:tc>
                  <a:txBody>
                    <a:bodyPr/>
                    <a:lstStyle/>
                    <a:p>
                      <a:pPr algn="r"/>
                      <a:r>
                        <a:rPr sz="1400" b="1">
                          <a:solidFill>
                            <a:srgbClr val="3F4A4E"/>
                          </a:solidFill>
                          <a:latin typeface="Arial"/>
                        </a:rPr>
                        <a:t>$282,366</a:t>
                      </a:r>
                    </a:p>
                  </a:txBody>
                  <a:tcPr marL="36576" marR="45720">
                    <a:solidFill>
                      <a:srgbClr val="FFFFFF"/>
                    </a:solidFill>
                  </a:tcPr>
                </a:tc>
              </a:tr>
              <a:tr h="568960">
                <a:tc>
                  <a:txBody>
                    <a:bodyPr/>
                    <a:lstStyle/>
                    <a:p>
                      <a:r>
                        <a:rPr sz="1400" b="1">
                          <a:solidFill>
                            <a:srgbClr val="22424B"/>
                          </a:solidFill>
                          <a:latin typeface="Arial"/>
                        </a:rPr>
                        <a:t>Gross profit</a:t>
                      </a:r>
                    </a:p>
                  </a:txBody>
                  <a:tcPr marL="36576" marR="45720">
                    <a:solidFill>
                      <a:srgbClr val="F7F6F2"/>
                    </a:solidFill>
                  </a:tcPr>
                </a:tc>
                <a:tc>
                  <a:txBody>
                    <a:bodyPr/>
                    <a:lstStyle/>
                    <a:p>
                      <a:pPr algn="r"/>
                      <a:r>
                        <a:rPr sz="1400" b="1">
                          <a:solidFill>
                            <a:srgbClr val="22424B"/>
                          </a:solidFill>
                          <a:latin typeface="Arial"/>
                        </a:rPr>
                        <a:t>$413,105</a:t>
                      </a:r>
                    </a:p>
                  </a:txBody>
                  <a:tcPr marL="36576" marR="45720">
                    <a:solidFill>
                      <a:srgbClr val="F7F6F2"/>
                    </a:solidFill>
                  </a:tcPr>
                </a:tc>
                <a:tc>
                  <a:txBody>
                    <a:bodyPr/>
                    <a:lstStyle/>
                    <a:p>
                      <a:pPr algn="r"/>
                      <a:r>
                        <a:rPr sz="1400" b="1">
                          <a:solidFill>
                            <a:srgbClr val="22424B"/>
                          </a:solidFill>
                          <a:latin typeface="Arial"/>
                        </a:rPr>
                        <a:t>$443,641</a:t>
                      </a:r>
                    </a:p>
                  </a:txBody>
                  <a:tcPr marL="36576" marR="45720">
                    <a:solidFill>
                      <a:srgbClr val="F7F6F2"/>
                    </a:solidFill>
                  </a:tcPr>
                </a:tc>
                <a:tc>
                  <a:txBody>
                    <a:bodyPr/>
                    <a:lstStyle/>
                    <a:p>
                      <a:pPr algn="r"/>
                      <a:r>
                        <a:rPr sz="1400" b="1">
                          <a:solidFill>
                            <a:srgbClr val="22424B"/>
                          </a:solidFill>
                          <a:latin typeface="Arial"/>
                        </a:rPr>
                        <a:t>$503,490</a:t>
                      </a:r>
                    </a:p>
                  </a:txBody>
                  <a:tcPr marL="36576" marR="45720">
                    <a:solidFill>
                      <a:srgbClr val="F7F6F2"/>
                    </a:solidFill>
                  </a:tcPr>
                </a:tc>
              </a:tr>
              <a:tr h="568960">
                <a:tc>
                  <a:txBody>
                    <a:bodyPr/>
                    <a:lstStyle/>
                    <a:p>
                      <a:r>
                        <a:rPr sz="1400" b="0">
                          <a:solidFill>
                            <a:srgbClr val="3F4A4E"/>
                          </a:solidFill>
                          <a:latin typeface="Arial"/>
                        </a:rPr>
                        <a:t>Labor</a:t>
                      </a:r>
                    </a:p>
                  </a:txBody>
                  <a:tcPr marL="36576" marR="45720">
                    <a:solidFill>
                      <a:srgbClr val="FFFFFF"/>
                    </a:solidFill>
                  </a:tcPr>
                </a:tc>
                <a:tc>
                  <a:txBody>
                    <a:bodyPr/>
                    <a:lstStyle/>
                    <a:p>
                      <a:pPr algn="r"/>
                      <a:r>
                        <a:rPr sz="1400" b="0">
                          <a:solidFill>
                            <a:srgbClr val="3F4A4E"/>
                          </a:solidFill>
                          <a:latin typeface="Arial"/>
                        </a:rPr>
                        <a:t>$250,304</a:t>
                      </a:r>
                    </a:p>
                  </a:txBody>
                  <a:tcPr marL="36576" marR="45720">
                    <a:solidFill>
                      <a:srgbClr val="FFFFFF"/>
                    </a:solidFill>
                  </a:tcPr>
                </a:tc>
                <a:tc>
                  <a:txBody>
                    <a:bodyPr/>
                    <a:lstStyle/>
                    <a:p>
                      <a:pPr algn="r"/>
                      <a:r>
                        <a:rPr sz="1400" b="0">
                          <a:solidFill>
                            <a:srgbClr val="3F4A4E"/>
                          </a:solidFill>
                          <a:latin typeface="Arial"/>
                        </a:rPr>
                        <a:t>$235,512</a:t>
                      </a:r>
                    </a:p>
                  </a:txBody>
                  <a:tcPr marL="36576" marR="45720">
                    <a:solidFill>
                      <a:srgbClr val="FFFFFF"/>
                    </a:solidFill>
                  </a:tcPr>
                </a:tc>
                <a:tc>
                  <a:txBody>
                    <a:bodyPr/>
                    <a:lstStyle/>
                    <a:p>
                      <a:pPr algn="r"/>
                      <a:r>
                        <a:rPr sz="1400" b="1">
                          <a:solidFill>
                            <a:srgbClr val="3F4A4E"/>
                          </a:solidFill>
                          <a:latin typeface="Arial"/>
                        </a:rPr>
                        <a:t>$201,838</a:t>
                      </a:r>
                    </a:p>
                  </a:txBody>
                  <a:tcPr marL="36576" marR="45720">
                    <a:solidFill>
                      <a:srgbClr val="FFFFFF"/>
                    </a:solidFill>
                  </a:tcPr>
                </a:tc>
              </a:tr>
              <a:tr h="568960">
                <a:tc>
                  <a:txBody>
                    <a:bodyPr/>
                    <a:lstStyle/>
                    <a:p>
                      <a:r>
                        <a:rPr sz="1400" b="0">
                          <a:solidFill>
                            <a:srgbClr val="3F4A4E"/>
                          </a:solidFill>
                          <a:latin typeface="Arial"/>
                        </a:rPr>
                        <a:t>Operating expenses</a:t>
                      </a:r>
                    </a:p>
                  </a:txBody>
                  <a:tcPr marL="36576" marR="45720">
                    <a:solidFill>
                      <a:srgbClr val="F7F6F2"/>
                    </a:solidFill>
                  </a:tcPr>
                </a:tc>
                <a:tc>
                  <a:txBody>
                    <a:bodyPr/>
                    <a:lstStyle/>
                    <a:p>
                      <a:pPr algn="r"/>
                      <a:r>
                        <a:rPr sz="1400" b="0">
                          <a:solidFill>
                            <a:srgbClr val="3F4A4E"/>
                          </a:solidFill>
                          <a:latin typeface="Arial"/>
                        </a:rPr>
                        <a:t>$205,587</a:t>
                      </a:r>
                    </a:p>
                  </a:txBody>
                  <a:tcPr marL="36576" marR="45720">
                    <a:solidFill>
                      <a:srgbClr val="F7F6F2"/>
                    </a:solidFill>
                  </a:tcPr>
                </a:tc>
                <a:tc>
                  <a:txBody>
                    <a:bodyPr/>
                    <a:lstStyle/>
                    <a:p>
                      <a:pPr algn="r"/>
                      <a:r>
                        <a:rPr sz="1400" b="0">
                          <a:solidFill>
                            <a:srgbClr val="3F4A4E"/>
                          </a:solidFill>
                          <a:latin typeface="Arial"/>
                        </a:rPr>
                        <a:t>$190,974</a:t>
                      </a:r>
                    </a:p>
                  </a:txBody>
                  <a:tcPr marL="36576" marR="45720">
                    <a:solidFill>
                      <a:srgbClr val="F7F6F2"/>
                    </a:solidFill>
                  </a:tcPr>
                </a:tc>
                <a:tc>
                  <a:txBody>
                    <a:bodyPr/>
                    <a:lstStyle/>
                    <a:p>
                      <a:pPr algn="r"/>
                      <a:r>
                        <a:rPr sz="1400" b="1">
                          <a:solidFill>
                            <a:srgbClr val="3F4A4E"/>
                          </a:solidFill>
                          <a:latin typeface="Arial"/>
                        </a:rPr>
                        <a:t>$187,799</a:t>
                      </a:r>
                    </a:p>
                  </a:txBody>
                  <a:tcPr marL="36576" marR="45720">
                    <a:solidFill>
                      <a:srgbClr val="F7F6F2"/>
                    </a:solidFill>
                  </a:tcPr>
                </a:tc>
              </a:tr>
              <a:tr h="568960">
                <a:tc>
                  <a:txBody>
                    <a:bodyPr/>
                    <a:lstStyle/>
                    <a:p>
                      <a:r>
                        <a:rPr sz="1400" b="0">
                          <a:solidFill>
                            <a:srgbClr val="3F4A4E"/>
                          </a:solidFill>
                          <a:latin typeface="Arial"/>
                        </a:rPr>
                        <a:t>Management fee</a:t>
                      </a:r>
                    </a:p>
                  </a:txBody>
                  <a:tcPr marL="36576" marR="45720">
                    <a:solidFill>
                      <a:srgbClr val="FFFFFF"/>
                    </a:solidFill>
                  </a:tcPr>
                </a:tc>
                <a:tc>
                  <a:txBody>
                    <a:bodyPr/>
                    <a:lstStyle/>
                    <a:p>
                      <a:pPr algn="r"/>
                      <a:r>
                        <a:rPr sz="1400" b="0">
                          <a:solidFill>
                            <a:srgbClr val="3F4A4E"/>
                          </a:solidFill>
                          <a:latin typeface="Arial"/>
                        </a:rPr>
                        <a:t>$96,000</a:t>
                      </a:r>
                    </a:p>
                  </a:txBody>
                  <a:tcPr marL="36576" marR="45720">
                    <a:solidFill>
                      <a:srgbClr val="FFFFFF"/>
                    </a:solidFill>
                  </a:tcPr>
                </a:tc>
                <a:tc>
                  <a:txBody>
                    <a:bodyPr/>
                    <a:lstStyle/>
                    <a:p>
                      <a:pPr algn="r"/>
                      <a:r>
                        <a:rPr sz="1400" b="0">
                          <a:solidFill>
                            <a:srgbClr val="3F4A4E"/>
                          </a:solidFill>
                          <a:latin typeface="Arial"/>
                        </a:rPr>
                        <a:t>$67,321</a:t>
                      </a:r>
                    </a:p>
                  </a:txBody>
                  <a:tcPr marL="36576" marR="45720">
                    <a:solidFill>
                      <a:srgbClr val="FFFFFF"/>
                    </a:solidFill>
                  </a:tcPr>
                </a:tc>
                <a:tc>
                  <a:txBody>
                    <a:bodyPr/>
                    <a:lstStyle/>
                    <a:p>
                      <a:pPr algn="r"/>
                      <a:r>
                        <a:rPr sz="1400" b="1">
                          <a:solidFill>
                            <a:srgbClr val="3F4A4E"/>
                          </a:solidFill>
                          <a:latin typeface="Arial"/>
                        </a:rPr>
                        <a:t>$31,434</a:t>
                      </a:r>
                    </a:p>
                  </a:txBody>
                  <a:tcPr marL="36576" marR="45720">
                    <a:solidFill>
                      <a:srgbClr val="FFFFFF"/>
                    </a:solidFill>
                  </a:tcPr>
                </a:tc>
              </a:tr>
              <a:tr h="568960">
                <a:tc>
                  <a:txBody>
                    <a:bodyPr/>
                    <a:lstStyle/>
                    <a:p>
                      <a:r>
                        <a:rPr sz="1400" b="0">
                          <a:solidFill>
                            <a:srgbClr val="3F4A4E"/>
                          </a:solidFill>
                          <a:latin typeface="Arial"/>
                        </a:rPr>
                        <a:t>Rent / occupancy</a:t>
                      </a:r>
                    </a:p>
                  </a:txBody>
                  <a:tcPr marL="36576" marR="45720">
                    <a:solidFill>
                      <a:srgbClr val="F7F6F2"/>
                    </a:solidFill>
                  </a:tcPr>
                </a:tc>
                <a:tc>
                  <a:txBody>
                    <a:bodyPr/>
                    <a:lstStyle/>
                    <a:p>
                      <a:pPr algn="r"/>
                      <a:r>
                        <a:rPr sz="1400" b="0">
                          <a:solidFill>
                            <a:srgbClr val="3F4A4E"/>
                          </a:solidFill>
                          <a:latin typeface="Arial"/>
                        </a:rPr>
                        <a:t>$38,722</a:t>
                      </a:r>
                    </a:p>
                  </a:txBody>
                  <a:tcPr marL="36576" marR="45720">
                    <a:solidFill>
                      <a:srgbClr val="F7F6F2"/>
                    </a:solidFill>
                  </a:tcPr>
                </a:tc>
                <a:tc>
                  <a:txBody>
                    <a:bodyPr/>
                    <a:lstStyle/>
                    <a:p>
                      <a:pPr algn="r"/>
                      <a:r>
                        <a:rPr sz="1400" b="0">
                          <a:solidFill>
                            <a:srgbClr val="3F4A4E"/>
                          </a:solidFill>
                          <a:latin typeface="Arial"/>
                        </a:rPr>
                        <a:t>$23,522</a:t>
                      </a:r>
                    </a:p>
                  </a:txBody>
                  <a:tcPr marL="36576" marR="45720">
                    <a:solidFill>
                      <a:srgbClr val="F7F6F2"/>
                    </a:solidFill>
                  </a:tcPr>
                </a:tc>
                <a:tc>
                  <a:txBody>
                    <a:bodyPr/>
                    <a:lstStyle/>
                    <a:p>
                      <a:pPr algn="r"/>
                      <a:r>
                        <a:rPr sz="1400" b="1">
                          <a:solidFill>
                            <a:srgbClr val="3F4A4E"/>
                          </a:solidFill>
                          <a:latin typeface="Arial"/>
                        </a:rPr>
                        <a:t>$0</a:t>
                      </a:r>
                    </a:p>
                  </a:txBody>
                  <a:tcPr marL="36576" marR="45720">
                    <a:solidFill>
                      <a:srgbClr val="F7F6F2"/>
                    </a:solidFill>
                  </a:tcPr>
                </a:tc>
              </a:tr>
              <a:tr h="568960">
                <a:tc>
                  <a:txBody>
                    <a:bodyPr/>
                    <a:lstStyle/>
                    <a:p>
                      <a:r>
                        <a:rPr sz="1400" b="1">
                          <a:solidFill>
                            <a:srgbClr val="22424B"/>
                          </a:solidFill>
                          <a:latin typeface="Arial"/>
                        </a:rPr>
                        <a:t>NET OPERATING PROFIT</a:t>
                      </a:r>
                    </a:p>
                  </a:txBody>
                  <a:tcPr marL="36576" marR="45720">
                    <a:solidFill>
                      <a:srgbClr val="FFFFFF"/>
                    </a:solidFill>
                  </a:tcPr>
                </a:tc>
                <a:tc>
                  <a:txBody>
                    <a:bodyPr/>
                    <a:lstStyle/>
                    <a:p>
                      <a:pPr algn="r"/>
                      <a:r>
                        <a:rPr sz="1400" b="1">
                          <a:solidFill>
                            <a:srgbClr val="22424B"/>
                          </a:solidFill>
                          <a:latin typeface="Arial"/>
                        </a:rPr>
                        <a:t>($177,508)</a:t>
                      </a:r>
                    </a:p>
                  </a:txBody>
                  <a:tcPr marL="36576" marR="45720">
                    <a:solidFill>
                      <a:srgbClr val="FFFFFF"/>
                    </a:solidFill>
                  </a:tcPr>
                </a:tc>
                <a:tc>
                  <a:txBody>
                    <a:bodyPr/>
                    <a:lstStyle/>
                    <a:p>
                      <a:pPr algn="r"/>
                      <a:r>
                        <a:rPr sz="1400" b="1">
                          <a:solidFill>
                            <a:srgbClr val="22424B"/>
                          </a:solidFill>
                          <a:latin typeface="Arial"/>
                        </a:rPr>
                        <a:t>($73,688)</a:t>
                      </a:r>
                    </a:p>
                  </a:txBody>
                  <a:tcPr marL="36576" marR="45720">
                    <a:solidFill>
                      <a:srgbClr val="FFFFFF"/>
                    </a:solidFill>
                  </a:tcPr>
                </a:tc>
                <a:tc>
                  <a:txBody>
                    <a:bodyPr/>
                    <a:lstStyle/>
                    <a:p>
                      <a:pPr algn="r"/>
                      <a:r>
                        <a:rPr sz="1400" b="1">
                          <a:solidFill>
                            <a:srgbClr val="22424B"/>
                          </a:solidFill>
                          <a:latin typeface="Arial"/>
                        </a:rPr>
                        <a:t>$82,419</a:t>
                      </a:r>
                    </a:p>
                  </a:txBody>
                  <a:tcPr marL="36576" marR="45720">
                    <a:solidFill>
                      <a:srgbClr val="FFFFFF"/>
                    </a:solidFill>
                  </a:tcPr>
                </a:tc>
              </a:tr>
            </a:tbl>
          </a:graphicData>
        </a:graphic>
      </p:graphicFrame>
      <p:sp>
        <p:nvSpPr>
          <p:cNvPr id="5" name="TextBox 4"/>
          <p:cNvSpPr txBox="1"/>
          <p:nvPr/>
        </p:nvSpPr>
        <p:spPr>
          <a:xfrm>
            <a:off x="12893040" y="2377440"/>
            <a:ext cx="4754880" cy="5943600"/>
          </a:xfrm>
          <a:prstGeom prst="rect">
            <a:avLst/>
          </a:prstGeom>
          <a:noFill/>
        </p:spPr>
        <p:txBody>
          <a:bodyPr wrap="square">
            <a:spAutoFit/>
          </a:bodyPr>
          <a:lstStyle/>
          <a:p>
            <a:pPr>
              <a:spcAft>
                <a:spcPts val="800"/>
              </a:spcAft>
            </a:pPr>
            <a:r>
              <a:rPr sz="1300" b="1">
                <a:solidFill>
                  <a:srgbClr val="1E7E8C"/>
                </a:solidFill>
                <a:latin typeface="Arial"/>
              </a:rPr>
              <a:t>BY OUTLET — NOP</a:t>
            </a:r>
          </a:p>
          <a:p>
            <a:pPr>
              <a:spcAft>
                <a:spcPts val="800"/>
              </a:spcAft>
            </a:pPr>
            <a:r>
              <a:rPr sz="1400" b="0">
                <a:solidFill>
                  <a:srgbClr val="3F4A4E"/>
                </a:solidFill>
                <a:latin typeface="Arial"/>
              </a:rPr>
              <a:t>Little Wing:  ($164,007) → ($97,361) → +$1,034 — turns profitable</a:t>
            </a:r>
          </a:p>
          <a:p>
            <a:pPr>
              <a:spcAft>
                <a:spcPts val="800"/>
              </a:spcAft>
            </a:pPr>
            <a:r>
              <a:rPr sz="1400" b="0">
                <a:solidFill>
                  <a:srgbClr val="3F4A4E"/>
                </a:solidFill>
                <a:latin typeface="Arial"/>
              </a:rPr>
              <a:t>Vessel:  ($13,501) → +$23,673 → +$81,385</a:t>
            </a:r>
          </a:p>
          <a:p>
            <a:pPr>
              <a:spcAft>
                <a:spcPts val="800"/>
              </a:spcAft>
            </a:pPr>
            <a:r>
              <a:rPr sz="1400" b="0">
                <a:solidFill>
                  <a:srgbClr val="3F4A4E"/>
                </a:solidFill>
                <a:latin typeface="Arial"/>
              </a:rPr>
              <a:t/>
            </a:r>
          </a:p>
          <a:p>
            <a:pPr>
              <a:spcAft>
                <a:spcPts val="800"/>
              </a:spcAft>
            </a:pPr>
            <a:r>
              <a:rPr sz="1300" b="1">
                <a:solidFill>
                  <a:srgbClr val="1E7E8C"/>
                </a:solidFill>
                <a:latin typeface="Arial"/>
              </a:rPr>
              <a:t>THE SWING</a:t>
            </a:r>
          </a:p>
          <a:p>
            <a:pPr>
              <a:spcAft>
                <a:spcPts val="800"/>
              </a:spcAft>
            </a:pPr>
            <a:r>
              <a:rPr sz="1400" b="0">
                <a:solidFill>
                  <a:srgbClr val="3F4A4E"/>
                </a:solidFill>
                <a:latin typeface="Arial"/>
              </a:rPr>
              <a:t>($177,508) today to +$82,419 in 2027 — a $259,927 turnaround, every lever tied to the operating model</a:t>
            </a:r>
          </a:p>
          <a:p>
            <a:pPr>
              <a:spcAft>
                <a:spcPts val="800"/>
              </a:spcAft>
            </a:pPr>
            <a:r>
              <a:rPr sz="1400" b="0">
                <a:solidFill>
                  <a:srgbClr val="3F4A4E"/>
                </a:solidFill>
                <a:latin typeface="Arial"/>
              </a:rPr>
              <a:t/>
            </a:r>
          </a:p>
          <a:p>
            <a:pPr>
              <a:spcAft>
                <a:spcPts val="800"/>
              </a:spcAft>
            </a:pPr>
            <a:r>
              <a:rPr sz="1300" b="1">
                <a:solidFill>
                  <a:srgbClr val="1E7E8C"/>
                </a:solidFill>
                <a:latin typeface="Arial"/>
              </a:rPr>
              <a:t>IMMEDIATE IMPACT — AUG 1 THROUGH YEAR-END</a:t>
            </a:r>
          </a:p>
          <a:p>
            <a:pPr>
              <a:spcAft>
                <a:spcPts val="800"/>
              </a:spcAft>
            </a:pPr>
            <a:r>
              <a:rPr sz="1400" b="0">
                <a:solidFill>
                  <a:srgbClr val="3F4A4E"/>
                </a:solidFill>
                <a:latin typeface="Arial"/>
              </a:rPr>
              <a:t>+$103,820 combined in five months (Little Wing +$66,646 · Vessel +$37,174) vs no changes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16459200" cy="320040"/>
          </a:xfrm>
          <a:prstGeom prst="rect">
            <a:avLst/>
          </a:prstGeom>
          <a:noFill/>
        </p:spPr>
        <p:txBody>
          <a:bodyPr wrap="none">
            <a:spAutoFit/>
          </a:bodyPr>
          <a:lstStyle/>
          <a:p>
            <a:r>
              <a:rPr sz="1650" b="1">
                <a:solidFill>
                  <a:srgbClr val="1E7E8C"/>
                </a:solidFill>
                <a:latin typeface="Arial"/>
              </a:rPr>
              <a:t>CONSOLIDATED | P&amp;L</a:t>
            </a:r>
          </a:p>
        </p:txBody>
      </p:sp>
      <p:sp>
        <p:nvSpPr>
          <p:cNvPr id="3" name="TextBox 2"/>
          <p:cNvSpPr txBox="1"/>
          <p:nvPr/>
        </p:nvSpPr>
        <p:spPr>
          <a:xfrm>
            <a:off x="950976" y="1106424"/>
            <a:ext cx="16459200" cy="640080"/>
          </a:xfrm>
          <a:prstGeom prst="rect">
            <a:avLst/>
          </a:prstGeom>
          <a:noFill/>
        </p:spPr>
        <p:txBody>
          <a:bodyPr wrap="none">
            <a:spAutoFit/>
          </a:bodyPr>
          <a:lstStyle/>
          <a:p>
            <a:r>
              <a:rPr sz="4000">
                <a:solidFill>
                  <a:srgbClr val="22424B"/>
                </a:solidFill>
                <a:latin typeface="Georgia"/>
              </a:rPr>
              <a:t>2027 by month</a:t>
            </a:r>
          </a:p>
        </p:txBody>
      </p:sp>
      <p:sp>
        <p:nvSpPr>
          <p:cNvPr id="5" name="TextBox 4"/>
          <p:cNvSpPr txBox="1"/>
          <p:nvPr/>
        </p:nvSpPr>
        <p:spPr>
          <a:xfrm>
            <a:off x="950976" y="7772400"/>
            <a:ext cx="16367759" cy="822960"/>
          </a:xfrm>
          <a:prstGeom prst="rect">
            <a:avLst/>
          </a:prstGeom>
          <a:noFill/>
        </p:spPr>
        <p:txBody>
          <a:bodyPr wrap="square">
            <a:spAutoFit/>
          </a:bodyPr>
          <a:lstStyle/>
          <a:p>
            <a:pPr>
              <a:spcBef>
                <a:spcPts val="500"/>
              </a:spcBef>
            </a:pPr>
            <a:r>
              <a:rPr sz="1200" b="0">
                <a:solidFill>
                  <a:srgbClr val="3F4A4E"/>
                </a:solidFill>
                <a:latin typeface="Arial"/>
              </a:rPr>
              <a:t>Vessel + Little Wing, all levers in effect. ALL twelve months at or above breakeven — even the light 3-event months (Feb/Apr) hold the line. Uncontrollable expenses include the 4% management fee; rent waived.</a:t>
            </a:r>
          </a:p>
          <a:p>
            <a:pPr>
              <a:spcBef>
                <a:spcPts val="500"/>
              </a:spcBef>
            </a:pPr>
            <a:r>
              <a:rPr sz="1200" b="1">
                <a:solidFill>
                  <a:srgbClr val="1E7E8C"/>
                </a:solidFill>
                <a:latin typeface="Arial"/>
              </a:rPr>
              <a:t>YOY IMPROVEMENT — NET OPERATING PROFIT (2026 w/ changes live 8/1 → 2027)</a:t>
            </a:r>
          </a:p>
          <a:p>
            <a:pPr>
              <a:spcBef>
                <a:spcPts val="500"/>
              </a:spcBef>
            </a:pPr>
            <a:r>
              <a:rPr sz="1300" b="0">
                <a:solidFill>
                  <a:srgbClr val="3F4A4E"/>
                </a:solidFill>
                <a:latin typeface="Arial"/>
              </a:rPr>
              <a:t>•  Little Wing:  ($97,361) → +$1,034   ·   +$98,395 year over year — turns profitable</a:t>
            </a:r>
          </a:p>
          <a:p>
            <a:pPr>
              <a:spcBef>
                <a:spcPts val="500"/>
              </a:spcBef>
            </a:pPr>
            <a:r>
              <a:rPr sz="1300" b="0">
                <a:solidFill>
                  <a:srgbClr val="3F4A4E"/>
                </a:solidFill>
                <a:latin typeface="Arial"/>
              </a:rPr>
              <a:t>•  Vessel:  +$23,673 → +$81,385   ·   +$57,712 year over year</a:t>
            </a:r>
          </a:p>
          <a:p>
            <a:pPr>
              <a:spcBef>
                <a:spcPts val="500"/>
              </a:spcBef>
            </a:pPr>
            <a:r>
              <a:rPr sz="1300" b="1">
                <a:solidFill>
                  <a:srgbClr val="1E7E8C"/>
                </a:solidFill>
                <a:latin typeface="Arial"/>
              </a:rPr>
              <a:t>•  Combined:  ($73,688) → +$82,419   ·   +$156,107 year over year — a $259,927 swing vs the no-changes baseline of ($177,508)</a:t>
            </a:r>
          </a:p>
        </p:txBody>
      </p:sp>
      <p:graphicFrame>
        <p:nvGraphicFramePr>
          <p:cNvPr id="6" name="Table 5"/>
          <p:cNvGraphicFramePr>
            <a:graphicFrameLocks noGrp="1"/>
          </p:cNvGraphicFramePr>
          <p:nvPr/>
        </p:nvGraphicFramePr>
        <p:xfrm>
          <a:off x="502920" y="2468880"/>
          <a:ext cx="17282155" cy="4937760"/>
        </p:xfrm>
        <a:graphic>
          <a:graphicData uri="http://schemas.openxmlformats.org/drawingml/2006/table">
            <a:tbl>
              <a:tblPr firstRow="1" bandRow="1">
                <a:tableStyleId>{5C22544A-7EE6-4342-B048-85BDC9FD1C3A}</a:tableStyleId>
              </a:tblPr>
              <a:tblGrid>
                <a:gridCol w="2651760"/>
                <a:gridCol w="1125415"/>
                <a:gridCol w="1125415"/>
                <a:gridCol w="1125415"/>
                <a:gridCol w="1125415"/>
                <a:gridCol w="1125415"/>
                <a:gridCol w="1125415"/>
                <a:gridCol w="1125415"/>
                <a:gridCol w="1125415"/>
                <a:gridCol w="1125415"/>
                <a:gridCol w="1125415"/>
                <a:gridCol w="1125415"/>
                <a:gridCol w="1125415"/>
                <a:gridCol w="1125415"/>
              </a:tblGrid>
              <a:tr h="548640">
                <a:tc>
                  <a:txBody>
                    <a:bodyPr/>
                    <a:lstStyle/>
                    <a:p>
                      <a:pPr>
                        <a:defRPr sz="1000" b="1">
                          <a:solidFill>
                            <a:srgbClr val="FFFFFF"/>
                          </a:solidFill>
                          <a:latin typeface="Arial"/>
                        </a:defRPr>
                      </a:pPr>
                    </a:p>
                  </a:txBody>
                  <a:tcPr marL="36576" marR="45720">
                    <a:solidFill>
                      <a:srgbClr val="22424B"/>
                    </a:solidFill>
                  </a:tcPr>
                </a:tc>
                <a:tc>
                  <a:txBody>
                    <a:bodyPr/>
                    <a:lstStyle/>
                    <a:p>
                      <a:pPr algn="r"/>
                      <a:r>
                        <a:rPr sz="1000" b="1">
                          <a:solidFill>
                            <a:srgbClr val="FFFFFF"/>
                          </a:solidFill>
                          <a:latin typeface="Arial"/>
                        </a:rPr>
                        <a:t>JAN</a:t>
                      </a:r>
                    </a:p>
                  </a:txBody>
                  <a:tcPr marL="36576" marR="45720">
                    <a:solidFill>
                      <a:srgbClr val="22424B"/>
                    </a:solidFill>
                  </a:tcPr>
                </a:tc>
                <a:tc>
                  <a:txBody>
                    <a:bodyPr/>
                    <a:lstStyle/>
                    <a:p>
                      <a:pPr algn="r"/>
                      <a:r>
                        <a:rPr sz="1000" b="1">
                          <a:solidFill>
                            <a:srgbClr val="FFFFFF"/>
                          </a:solidFill>
                          <a:latin typeface="Arial"/>
                        </a:rPr>
                        <a:t>FEB</a:t>
                      </a:r>
                    </a:p>
                  </a:txBody>
                  <a:tcPr marL="36576" marR="45720">
                    <a:solidFill>
                      <a:srgbClr val="22424B"/>
                    </a:solidFill>
                  </a:tcPr>
                </a:tc>
                <a:tc>
                  <a:txBody>
                    <a:bodyPr/>
                    <a:lstStyle/>
                    <a:p>
                      <a:pPr algn="r"/>
                      <a:r>
                        <a:rPr sz="1000" b="1">
                          <a:solidFill>
                            <a:srgbClr val="FFFFFF"/>
                          </a:solidFill>
                          <a:latin typeface="Arial"/>
                        </a:rPr>
                        <a:t>MAR</a:t>
                      </a:r>
                    </a:p>
                  </a:txBody>
                  <a:tcPr marL="36576" marR="45720">
                    <a:solidFill>
                      <a:srgbClr val="22424B"/>
                    </a:solidFill>
                  </a:tcPr>
                </a:tc>
                <a:tc>
                  <a:txBody>
                    <a:bodyPr/>
                    <a:lstStyle/>
                    <a:p>
                      <a:pPr algn="r"/>
                      <a:r>
                        <a:rPr sz="1000" b="1">
                          <a:solidFill>
                            <a:srgbClr val="FFFFFF"/>
                          </a:solidFill>
                          <a:latin typeface="Arial"/>
                        </a:rPr>
                        <a:t>APR</a:t>
                      </a:r>
                    </a:p>
                  </a:txBody>
                  <a:tcPr marL="36576" marR="45720">
                    <a:solidFill>
                      <a:srgbClr val="22424B"/>
                    </a:solidFill>
                  </a:tcPr>
                </a:tc>
                <a:tc>
                  <a:txBody>
                    <a:bodyPr/>
                    <a:lstStyle/>
                    <a:p>
                      <a:pPr algn="r"/>
                      <a:r>
                        <a:rPr sz="1000" b="1">
                          <a:solidFill>
                            <a:srgbClr val="FFFFFF"/>
                          </a:solidFill>
                          <a:latin typeface="Arial"/>
                        </a:rPr>
                        <a:t>MAY</a:t>
                      </a:r>
                    </a:p>
                  </a:txBody>
                  <a:tcPr marL="36576" marR="45720">
                    <a:solidFill>
                      <a:srgbClr val="22424B"/>
                    </a:solidFill>
                  </a:tcPr>
                </a:tc>
                <a:tc>
                  <a:txBody>
                    <a:bodyPr/>
                    <a:lstStyle/>
                    <a:p>
                      <a:pPr algn="r"/>
                      <a:r>
                        <a:rPr sz="1000" b="1">
                          <a:solidFill>
                            <a:srgbClr val="FFFFFF"/>
                          </a:solidFill>
                          <a:latin typeface="Arial"/>
                        </a:rPr>
                        <a:t>JUN</a:t>
                      </a:r>
                    </a:p>
                  </a:txBody>
                  <a:tcPr marL="36576" marR="45720">
                    <a:solidFill>
                      <a:srgbClr val="22424B"/>
                    </a:solidFill>
                  </a:tcPr>
                </a:tc>
                <a:tc>
                  <a:txBody>
                    <a:bodyPr/>
                    <a:lstStyle/>
                    <a:p>
                      <a:pPr algn="r"/>
                      <a:r>
                        <a:rPr sz="1000" b="1">
                          <a:solidFill>
                            <a:srgbClr val="FFFFFF"/>
                          </a:solidFill>
                          <a:latin typeface="Arial"/>
                        </a:rPr>
                        <a:t>JUL</a:t>
                      </a:r>
                    </a:p>
                  </a:txBody>
                  <a:tcPr marL="36576" marR="45720">
                    <a:solidFill>
                      <a:srgbClr val="22424B"/>
                    </a:solidFill>
                  </a:tcPr>
                </a:tc>
                <a:tc>
                  <a:txBody>
                    <a:bodyPr/>
                    <a:lstStyle/>
                    <a:p>
                      <a:pPr algn="r"/>
                      <a:r>
                        <a:rPr sz="1000" b="1">
                          <a:solidFill>
                            <a:srgbClr val="FFFFFF"/>
                          </a:solidFill>
                          <a:latin typeface="Arial"/>
                        </a:rPr>
                        <a:t>AUG</a:t>
                      </a:r>
                    </a:p>
                  </a:txBody>
                  <a:tcPr marL="36576" marR="45720">
                    <a:solidFill>
                      <a:srgbClr val="22424B"/>
                    </a:solidFill>
                  </a:tcPr>
                </a:tc>
                <a:tc>
                  <a:txBody>
                    <a:bodyPr/>
                    <a:lstStyle/>
                    <a:p>
                      <a:pPr algn="r"/>
                      <a:r>
                        <a:rPr sz="1000" b="1">
                          <a:solidFill>
                            <a:srgbClr val="FFFFFF"/>
                          </a:solidFill>
                          <a:latin typeface="Arial"/>
                        </a:rPr>
                        <a:t>SEP</a:t>
                      </a:r>
                    </a:p>
                  </a:txBody>
                  <a:tcPr marL="36576" marR="45720">
                    <a:solidFill>
                      <a:srgbClr val="22424B"/>
                    </a:solidFill>
                  </a:tcPr>
                </a:tc>
                <a:tc>
                  <a:txBody>
                    <a:bodyPr/>
                    <a:lstStyle/>
                    <a:p>
                      <a:pPr algn="r"/>
                      <a:r>
                        <a:rPr sz="1000" b="1">
                          <a:solidFill>
                            <a:srgbClr val="FFFFFF"/>
                          </a:solidFill>
                          <a:latin typeface="Arial"/>
                        </a:rPr>
                        <a:t>OCT</a:t>
                      </a:r>
                    </a:p>
                  </a:txBody>
                  <a:tcPr marL="36576" marR="45720">
                    <a:solidFill>
                      <a:srgbClr val="22424B"/>
                    </a:solidFill>
                  </a:tcPr>
                </a:tc>
                <a:tc>
                  <a:txBody>
                    <a:bodyPr/>
                    <a:lstStyle/>
                    <a:p>
                      <a:pPr algn="r"/>
                      <a:r>
                        <a:rPr sz="1000" b="1">
                          <a:solidFill>
                            <a:srgbClr val="FFFFFF"/>
                          </a:solidFill>
                          <a:latin typeface="Arial"/>
                        </a:rPr>
                        <a:t>NOV</a:t>
                      </a:r>
                    </a:p>
                  </a:txBody>
                  <a:tcPr marL="36576" marR="45720">
                    <a:solidFill>
                      <a:srgbClr val="22424B"/>
                    </a:solidFill>
                  </a:tcPr>
                </a:tc>
                <a:tc>
                  <a:txBody>
                    <a:bodyPr/>
                    <a:lstStyle/>
                    <a:p>
                      <a:pPr algn="r"/>
                      <a:r>
                        <a:rPr sz="1000" b="1">
                          <a:solidFill>
                            <a:srgbClr val="FFFFFF"/>
                          </a:solidFill>
                          <a:latin typeface="Arial"/>
                        </a:rPr>
                        <a:t>DEC</a:t>
                      </a:r>
                    </a:p>
                  </a:txBody>
                  <a:tcPr marL="36576" marR="45720">
                    <a:solidFill>
                      <a:srgbClr val="22424B"/>
                    </a:solidFill>
                  </a:tcPr>
                </a:tc>
                <a:tc>
                  <a:txBody>
                    <a:bodyPr/>
                    <a:lstStyle/>
                    <a:p>
                      <a:pPr algn="r"/>
                      <a:r>
                        <a:rPr sz="1000" b="1">
                          <a:solidFill>
                            <a:srgbClr val="FFFFFF"/>
                          </a:solidFill>
                          <a:latin typeface="Arial"/>
                        </a:rPr>
                        <a:t>FY 2027</a:t>
                      </a:r>
                    </a:p>
                  </a:txBody>
                  <a:tcPr marL="36576" marR="45720">
                    <a:solidFill>
                      <a:srgbClr val="22424B"/>
                    </a:solidFill>
                  </a:tcPr>
                </a:tc>
              </a:tr>
              <a:tr h="548640">
                <a:tc>
                  <a:txBody>
                    <a:bodyPr/>
                    <a:lstStyle/>
                    <a:p>
                      <a:r>
                        <a:rPr sz="1050" b="0">
                          <a:solidFill>
                            <a:srgbClr val="3F4A4E"/>
                          </a:solidFill>
                          <a:latin typeface="Arial"/>
                        </a:rPr>
                        <a:t>Revenue</a:t>
                      </a:r>
                    </a:p>
                  </a:txBody>
                  <a:tcPr marL="36576" marR="45720">
                    <a:solidFill>
                      <a:srgbClr val="F7F6F2"/>
                    </a:solidFill>
                  </a:tcPr>
                </a:tc>
                <a:tc>
                  <a:txBody>
                    <a:bodyPr/>
                    <a:lstStyle/>
                    <a:p>
                      <a:pPr algn="r"/>
                      <a:r>
                        <a:rPr sz="1050" b="0">
                          <a:solidFill>
                            <a:srgbClr val="3F4A4E"/>
                          </a:solidFill>
                          <a:latin typeface="Arial"/>
                        </a:rPr>
                        <a:t>$80,905</a:t>
                      </a:r>
                    </a:p>
                  </a:txBody>
                  <a:tcPr marL="36576" marR="45720">
                    <a:solidFill>
                      <a:srgbClr val="F7F6F2"/>
                    </a:solidFill>
                  </a:tcPr>
                </a:tc>
                <a:tc>
                  <a:txBody>
                    <a:bodyPr/>
                    <a:lstStyle/>
                    <a:p>
                      <a:pPr algn="r"/>
                      <a:r>
                        <a:rPr sz="1050" b="0">
                          <a:solidFill>
                            <a:srgbClr val="3F4A4E"/>
                          </a:solidFill>
                          <a:latin typeface="Arial"/>
                        </a:rPr>
                        <a:t>$45,905</a:t>
                      </a:r>
                    </a:p>
                  </a:txBody>
                  <a:tcPr marL="36576" marR="45720">
                    <a:solidFill>
                      <a:srgbClr val="F7F6F2"/>
                    </a:solidFill>
                  </a:tcPr>
                </a:tc>
                <a:tc>
                  <a:txBody>
                    <a:bodyPr/>
                    <a:lstStyle/>
                    <a:p>
                      <a:pPr algn="r"/>
                      <a:r>
                        <a:rPr sz="1050" b="0">
                          <a:solidFill>
                            <a:srgbClr val="3F4A4E"/>
                          </a:solidFill>
                          <a:latin typeface="Arial"/>
                        </a:rPr>
                        <a:t>$80,905</a:t>
                      </a:r>
                    </a:p>
                  </a:txBody>
                  <a:tcPr marL="36576" marR="45720">
                    <a:solidFill>
                      <a:srgbClr val="F7F6F2"/>
                    </a:solidFill>
                  </a:tcPr>
                </a:tc>
                <a:tc>
                  <a:txBody>
                    <a:bodyPr/>
                    <a:lstStyle/>
                    <a:p>
                      <a:pPr algn="r"/>
                      <a:r>
                        <a:rPr sz="1050" b="0">
                          <a:solidFill>
                            <a:srgbClr val="3F4A4E"/>
                          </a:solidFill>
                          <a:latin typeface="Arial"/>
                        </a:rPr>
                        <a:t>$45,905</a:t>
                      </a:r>
                    </a:p>
                  </a:txBody>
                  <a:tcPr marL="36576" marR="45720">
                    <a:solidFill>
                      <a:srgbClr val="F7F6F2"/>
                    </a:solidFill>
                  </a:tcPr>
                </a:tc>
                <a:tc>
                  <a:txBody>
                    <a:bodyPr/>
                    <a:lstStyle/>
                    <a:p>
                      <a:pPr algn="r"/>
                      <a:r>
                        <a:rPr sz="1050" b="0">
                          <a:solidFill>
                            <a:srgbClr val="3F4A4E"/>
                          </a:solidFill>
                          <a:latin typeface="Arial"/>
                        </a:rPr>
                        <a:t>$70,905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0">
                          <a:solidFill>
                            <a:srgbClr val="3F4A4E"/>
                          </a:solidFill>
                          <a:latin typeface="Arial"/>
                        </a:rPr>
                        <a:t>$65,905</a:t>
                      </a:r>
                    </a:p>
                  </a:txBody>
                  <a:tcPr marL="36576" marR="45720">
                    <a:solidFill>
                      <a:srgbClr val="F7F6F2"/>
                    </a:solidFill>
                  </a:tcPr>
                </a:tc>
                <a:tc>
                  <a:txBody>
                    <a:bodyPr/>
                    <a:lstStyle/>
                    <a:p>
                      <a:pPr algn="r"/>
                      <a:r>
                        <a:rPr sz="1050" b="1">
                          <a:solidFill>
                            <a:srgbClr val="3F4A4E"/>
                          </a:solidFill>
                          <a:latin typeface="Arial"/>
                        </a:rPr>
                        <a:t>$785,856</a:t>
                      </a:r>
                    </a:p>
                  </a:txBody>
                  <a:tcPr marL="36576" marR="45720">
                    <a:solidFill>
                      <a:srgbClr val="F7F6F2"/>
                    </a:solidFill>
                  </a:tcPr>
                </a:tc>
              </a:tr>
              <a:tr h="548640">
                <a:tc>
                  <a:txBody>
                    <a:bodyPr/>
                    <a:lstStyle/>
                    <a:p>
                      <a:r>
                        <a:rPr sz="1050" b="0">
                          <a:solidFill>
                            <a:srgbClr val="3F4A4E"/>
                          </a:solidFill>
                          <a:latin typeface="Arial"/>
                        </a:rPr>
                        <a:t>Cost of goods</a:t>
                      </a:r>
                    </a:p>
                  </a:txBody>
                  <a:tcPr marL="36576" marR="45720">
                    <a:solidFill>
                      <a:srgbClr val="FFFFFF"/>
                    </a:solidFill>
                  </a:tcPr>
                </a:tc>
                <a:tc>
                  <a:txBody>
                    <a:bodyPr/>
                    <a:lstStyle/>
                    <a:p>
                      <a:pPr algn="r"/>
                      <a:r>
                        <a:rPr sz="1050" b="0">
                          <a:solidFill>
                            <a:srgbClr val="3F4A4E"/>
                          </a:solidFill>
                          <a:latin typeface="Arial"/>
                        </a:rPr>
                        <a:t>$29,847</a:t>
                      </a:r>
                    </a:p>
                  </a:txBody>
                  <a:tcPr marL="36576" marR="45720">
                    <a:solidFill>
                      <a:srgbClr val="FFFFFF"/>
                    </a:solidFill>
                  </a:tcPr>
                </a:tc>
                <a:tc>
                  <a:txBody>
                    <a:bodyPr/>
                    <a:lstStyle/>
                    <a:p>
                      <a:pPr algn="r"/>
                      <a:r>
                        <a:rPr sz="1050" b="0">
                          <a:solidFill>
                            <a:srgbClr val="3F4A4E"/>
                          </a:solidFill>
                          <a:latin typeface="Arial"/>
                        </a:rPr>
                        <a:t>$15,507</a:t>
                      </a:r>
                    </a:p>
                  </a:txBody>
                  <a:tcPr marL="36576" marR="45720">
                    <a:solidFill>
                      <a:srgbClr val="FFFFFF"/>
                    </a:solidFill>
                  </a:tcPr>
                </a:tc>
                <a:tc>
                  <a:txBody>
                    <a:bodyPr/>
                    <a:lstStyle/>
                    <a:p>
                      <a:pPr algn="r"/>
                      <a:r>
                        <a:rPr sz="1050" b="0">
                          <a:solidFill>
                            <a:srgbClr val="3F4A4E"/>
                          </a:solidFill>
                          <a:latin typeface="Arial"/>
                        </a:rPr>
                        <a:t>$29,847</a:t>
                      </a:r>
                    </a:p>
                  </a:txBody>
                  <a:tcPr marL="36576" marR="45720">
                    <a:solidFill>
                      <a:srgbClr val="FFFFFF"/>
                    </a:solidFill>
                  </a:tcPr>
                </a:tc>
                <a:tc>
                  <a:txBody>
                    <a:bodyPr/>
                    <a:lstStyle/>
                    <a:p>
                      <a:pPr algn="r"/>
                      <a:r>
                        <a:rPr sz="1050" b="0">
                          <a:solidFill>
                            <a:srgbClr val="3F4A4E"/>
                          </a:solidFill>
                          <a:latin typeface="Arial"/>
                        </a:rPr>
                        <a:t>$15,507</a:t>
                      </a:r>
                    </a:p>
                  </a:txBody>
                  <a:tcPr marL="36576" marR="45720">
                    <a:solidFill>
                      <a:srgbClr val="FFFFFF"/>
                    </a:solidFill>
                  </a:tcPr>
                </a:tc>
                <a:tc>
                  <a:txBody>
                    <a:bodyPr/>
                    <a:lstStyle/>
                    <a:p>
                      <a:pPr algn="r"/>
                      <a:r>
                        <a:rPr sz="1050" b="0">
                          <a:solidFill>
                            <a:srgbClr val="3F4A4E"/>
                          </a:solidFill>
                          <a:latin typeface="Arial"/>
                        </a:rPr>
                        <a:t>$25,750</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0">
                          <a:solidFill>
                            <a:srgbClr val="3F4A4E"/>
                          </a:solidFill>
                          <a:latin typeface="Arial"/>
                        </a:rPr>
                        <a:t>$23,701</a:t>
                      </a:r>
                    </a:p>
                  </a:txBody>
                  <a:tcPr marL="36576" marR="45720">
                    <a:solidFill>
                      <a:srgbClr val="FFFFFF"/>
                    </a:solidFill>
                  </a:tcPr>
                </a:tc>
                <a:tc>
                  <a:txBody>
                    <a:bodyPr/>
                    <a:lstStyle/>
                    <a:p>
                      <a:pPr algn="r"/>
                      <a:r>
                        <a:rPr sz="1050" b="1">
                          <a:solidFill>
                            <a:srgbClr val="3F4A4E"/>
                          </a:solidFill>
                          <a:latin typeface="Arial"/>
                        </a:rPr>
                        <a:t>$282,366</a:t>
                      </a:r>
                    </a:p>
                  </a:txBody>
                  <a:tcPr marL="36576" marR="45720">
                    <a:solidFill>
                      <a:srgbClr val="FFFFFF"/>
                    </a:solidFill>
                  </a:tcPr>
                </a:tc>
              </a:tr>
              <a:tr h="548640">
                <a:tc>
                  <a:txBody>
                    <a:bodyPr/>
                    <a:lstStyle/>
                    <a:p>
                      <a:r>
                        <a:rPr sz="1050" b="0">
                          <a:solidFill>
                            <a:srgbClr val="3F4A4E"/>
                          </a:solidFill>
                          <a:latin typeface="Arial"/>
                        </a:rPr>
                        <a:t>Labor cost</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$19,014</a:t>
                      </a:r>
                    </a:p>
                  </a:txBody>
                  <a:tcPr marL="36576" marR="45720">
                    <a:solidFill>
                      <a:srgbClr val="F7F6F2"/>
                    </a:solidFill>
                  </a:tcPr>
                </a:tc>
                <a:tc>
                  <a:txBody>
                    <a:bodyPr/>
                    <a:lstStyle/>
                    <a:p>
                      <a:pPr algn="r"/>
                      <a:r>
                        <a:rPr sz="1050" b="0">
                          <a:solidFill>
                            <a:srgbClr val="3F4A4E"/>
                          </a:solidFill>
                          <a:latin typeface="Arial"/>
                        </a:rPr>
                        <a:t>$14,747</a:t>
                      </a:r>
                    </a:p>
                  </a:txBody>
                  <a:tcPr marL="36576" marR="45720">
                    <a:solidFill>
                      <a:srgbClr val="F7F6F2"/>
                    </a:solidFill>
                  </a:tcPr>
                </a:tc>
                <a:tc>
                  <a:txBody>
                    <a:bodyPr/>
                    <a:lstStyle/>
                    <a:p>
                      <a:pPr algn="r"/>
                      <a:r>
                        <a:rPr sz="1050" b="0">
                          <a:solidFill>
                            <a:srgbClr val="3F4A4E"/>
                          </a:solidFill>
                          <a:latin typeface="Arial"/>
                        </a:rPr>
                        <a:t>$17,795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$17,185</a:t>
                      </a:r>
                    </a:p>
                  </a:txBody>
                  <a:tcPr marL="36576" marR="45720">
                    <a:solidFill>
                      <a:srgbClr val="F7F6F2"/>
                    </a:solidFill>
                  </a:tcPr>
                </a:tc>
                <a:tc>
                  <a:txBody>
                    <a:bodyPr/>
                    <a:lstStyle/>
                    <a:p>
                      <a:pPr algn="r"/>
                      <a:r>
                        <a:rPr sz="1050" b="0">
                          <a:solidFill>
                            <a:srgbClr val="3F4A4E"/>
                          </a:solidFill>
                          <a:latin typeface="Arial"/>
                        </a:rPr>
                        <a:t>$13,409</a:t>
                      </a:r>
                    </a:p>
                  </a:txBody>
                  <a:tcPr marL="36576" marR="45720">
                    <a:solidFill>
                      <a:srgbClr val="F7F6F2"/>
                    </a:solidFill>
                  </a:tcPr>
                </a:tc>
                <a:tc>
                  <a:txBody>
                    <a:bodyPr/>
                    <a:lstStyle/>
                    <a:p>
                      <a:pPr algn="r"/>
                      <a:r>
                        <a:rPr sz="1050" b="1">
                          <a:solidFill>
                            <a:srgbClr val="3F4A4E"/>
                          </a:solidFill>
                          <a:latin typeface="Arial"/>
                        </a:rPr>
                        <a:t>$201,838</a:t>
                      </a:r>
                    </a:p>
                  </a:txBody>
                  <a:tcPr marL="36576" marR="45720">
                    <a:solidFill>
                      <a:srgbClr val="F7F6F2"/>
                    </a:solidFill>
                  </a:tcPr>
                </a:tc>
              </a:tr>
              <a:tr h="548640">
                <a:tc>
                  <a:txBody>
                    <a:bodyPr/>
                    <a:lstStyle/>
                    <a:p>
                      <a:r>
                        <a:rPr sz="1050" b="1">
                          <a:solidFill>
                            <a:srgbClr val="22424B"/>
                          </a:solidFill>
                          <a:latin typeface="Arial"/>
                        </a:rPr>
                        <a:t>Prime cost</a:t>
                      </a:r>
                    </a:p>
                  </a:txBody>
                  <a:tcPr marL="36576" marR="45720">
                    <a:solidFill>
                      <a:srgbClr val="FFFFFF"/>
                    </a:solidFill>
                  </a:tcPr>
                </a:tc>
                <a:tc>
                  <a:txBody>
                    <a:bodyPr/>
                    <a:lstStyle/>
                    <a:p>
                      <a:pPr algn="r"/>
                      <a:r>
                        <a:rPr sz="1050" b="1">
                          <a:solidFill>
                            <a:srgbClr val="22424B"/>
                          </a:solidFill>
                          <a:latin typeface="Arial"/>
                        </a:rPr>
                        <a:t>$48,861</a:t>
                      </a:r>
                    </a:p>
                  </a:txBody>
                  <a:tcPr marL="36576" marR="45720">
                    <a:solidFill>
                      <a:srgbClr val="FFFFFF"/>
                    </a:solidFill>
                  </a:tcPr>
                </a:tc>
                <a:tc>
                  <a:txBody>
                    <a:bodyPr/>
                    <a:lstStyle/>
                    <a:p>
                      <a:pPr algn="r"/>
                      <a:r>
                        <a:rPr sz="1050" b="1">
                          <a:solidFill>
                            <a:srgbClr val="22424B"/>
                          </a:solidFill>
                          <a:latin typeface="Arial"/>
                        </a:rPr>
                        <a:t>$30,254</a:t>
                      </a:r>
                    </a:p>
                  </a:txBody>
                  <a:tcPr marL="36576" marR="45720">
                    <a:solidFill>
                      <a:srgbClr val="FFFFFF"/>
                    </a:solidFill>
                  </a:tcPr>
                </a:tc>
                <a:tc>
                  <a:txBody>
                    <a:bodyPr/>
                    <a:lstStyle/>
                    <a:p>
                      <a:pPr algn="r"/>
                      <a:r>
                        <a:rPr sz="1050" b="1">
                          <a:solidFill>
                            <a:srgbClr val="22424B"/>
                          </a:solidFill>
                          <a:latin typeface="Arial"/>
                        </a:rPr>
                        <a:t>$48,861</a:t>
                      </a:r>
                    </a:p>
                  </a:txBody>
                  <a:tcPr marL="36576" marR="45720">
                    <a:solidFill>
                      <a:srgbClr val="FFFFFF"/>
                    </a:solidFill>
                  </a:tcPr>
                </a:tc>
                <a:tc>
                  <a:txBody>
                    <a:bodyPr/>
                    <a:lstStyle/>
                    <a:p>
                      <a:pPr algn="r"/>
                      <a:r>
                        <a:rPr sz="1050" b="1">
                          <a:solidFill>
                            <a:srgbClr val="22424B"/>
                          </a:solidFill>
                          <a:latin typeface="Arial"/>
                        </a:rPr>
                        <a:t>$30,254</a:t>
                      </a:r>
                    </a:p>
                  </a:txBody>
                  <a:tcPr marL="36576" marR="45720">
                    <a:solidFill>
                      <a:srgbClr val="FFFFFF"/>
                    </a:solidFill>
                  </a:tcPr>
                </a:tc>
                <a:tc>
                  <a:txBody>
                    <a:bodyPr/>
                    <a:lstStyle/>
                    <a:p>
                      <a:pPr algn="r"/>
                      <a:r>
                        <a:rPr sz="1050" b="1">
                          <a:solidFill>
                            <a:srgbClr val="22424B"/>
                          </a:solidFill>
                          <a:latin typeface="Arial"/>
                        </a:rPr>
                        <a:t>$43,545</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$40,886</a:t>
                      </a:r>
                    </a:p>
                  </a:txBody>
                  <a:tcPr marL="36576" marR="45720">
                    <a:solidFill>
                      <a:srgbClr val="FFFFFF"/>
                    </a:solidFill>
                  </a:tcPr>
                </a:tc>
                <a:tc>
                  <a:txBody>
                    <a:bodyPr/>
                    <a:lstStyle/>
                    <a:p>
                      <a:pPr algn="r"/>
                      <a:r>
                        <a:rPr sz="1050" b="1">
                          <a:solidFill>
                            <a:srgbClr val="22424B"/>
                          </a:solidFill>
                          <a:latin typeface="Arial"/>
                        </a:rPr>
                        <a:t>$37,110</a:t>
                      </a:r>
                    </a:p>
                  </a:txBody>
                  <a:tcPr marL="36576" marR="45720">
                    <a:solidFill>
                      <a:srgbClr val="FFFFFF"/>
                    </a:solidFill>
                  </a:tcPr>
                </a:tc>
                <a:tc>
                  <a:txBody>
                    <a:bodyPr/>
                    <a:lstStyle/>
                    <a:p>
                      <a:pPr algn="r"/>
                      <a:r>
                        <a:rPr sz="1050" b="1">
                          <a:solidFill>
                            <a:srgbClr val="22424B"/>
                          </a:solidFill>
                          <a:latin typeface="Arial"/>
                        </a:rPr>
                        <a:t>$484,203</a:t>
                      </a:r>
                    </a:p>
                  </a:txBody>
                  <a:tcPr marL="36576" marR="45720">
                    <a:solidFill>
                      <a:srgbClr val="FFFFFF"/>
                    </a:solidFill>
                  </a:tcPr>
                </a:tc>
              </a:tr>
              <a:tr h="548640">
                <a:tc>
                  <a:txBody>
                    <a:bodyPr/>
                    <a:lstStyle/>
                    <a:p>
                      <a:r>
                        <a:rPr sz="1050" b="1">
                          <a:solidFill>
                            <a:srgbClr val="22424B"/>
                          </a:solidFill>
                          <a:latin typeface="Arial"/>
                        </a:rPr>
                        <a:t>Operating profit</a:t>
                      </a:r>
                    </a:p>
                  </a:txBody>
                  <a:tcPr marL="36576" marR="45720">
                    <a:solidFill>
                      <a:srgbClr val="F7F6F2"/>
                    </a:solidFill>
                  </a:tcPr>
                </a:tc>
                <a:tc>
                  <a:txBody>
                    <a:bodyPr/>
                    <a:lstStyle/>
                    <a:p>
                      <a:pPr algn="r"/>
                      <a:r>
                        <a:rPr sz="1050" b="1">
                          <a:solidFill>
                            <a:srgbClr val="22424B"/>
                          </a:solidFill>
                          <a:latin typeface="Arial"/>
                        </a:rPr>
                        <a:t>$32,044</a:t>
                      </a:r>
                    </a:p>
                  </a:txBody>
                  <a:tcPr marL="36576" marR="45720">
                    <a:solidFill>
                      <a:srgbClr val="F7F6F2"/>
                    </a:solidFill>
                  </a:tcPr>
                </a:tc>
                <a:tc>
                  <a:txBody>
                    <a:bodyPr/>
                    <a:lstStyle/>
                    <a:p>
                      <a:pPr algn="r"/>
                      <a:r>
                        <a:rPr sz="1050" b="1">
                          <a:solidFill>
                            <a:srgbClr val="22424B"/>
                          </a:solidFill>
                          <a:latin typeface="Arial"/>
                        </a:rPr>
                        <a:t>$15,651</a:t>
                      </a:r>
                    </a:p>
                  </a:txBody>
                  <a:tcPr marL="36576" marR="45720">
                    <a:solidFill>
                      <a:srgbClr val="F7F6F2"/>
                    </a:solidFill>
                  </a:tcPr>
                </a:tc>
                <a:tc>
                  <a:txBody>
                    <a:bodyPr/>
                    <a:lstStyle/>
                    <a:p>
                      <a:pPr algn="r"/>
                      <a:r>
                        <a:rPr sz="1050" b="1">
                          <a:solidFill>
                            <a:srgbClr val="22424B"/>
                          </a:solidFill>
                          <a:latin typeface="Arial"/>
                        </a:rPr>
                        <a:t>$32,044</a:t>
                      </a:r>
                    </a:p>
                  </a:txBody>
                  <a:tcPr marL="36576" marR="45720">
                    <a:solidFill>
                      <a:srgbClr val="F7F6F2"/>
                    </a:solidFill>
                  </a:tcPr>
                </a:tc>
                <a:tc>
                  <a:txBody>
                    <a:bodyPr/>
                    <a:lstStyle/>
                    <a:p>
                      <a:pPr algn="r"/>
                      <a:r>
                        <a:rPr sz="1050" b="1">
                          <a:solidFill>
                            <a:srgbClr val="22424B"/>
                          </a:solidFill>
                          <a:latin typeface="Arial"/>
                        </a:rPr>
                        <a:t>$15,651</a:t>
                      </a:r>
                    </a:p>
                  </a:txBody>
                  <a:tcPr marL="36576" marR="45720">
                    <a:solidFill>
                      <a:srgbClr val="F7F6F2"/>
                    </a:solidFill>
                  </a:tcPr>
                </a:tc>
                <a:tc>
                  <a:txBody>
                    <a:bodyPr/>
                    <a:lstStyle/>
                    <a:p>
                      <a:pPr algn="r"/>
                      <a:r>
                        <a:rPr sz="1050" b="1">
                          <a:solidFill>
                            <a:srgbClr val="22424B"/>
                          </a:solidFill>
                          <a:latin typeface="Arial"/>
                        </a:rPr>
                        <a:t>$27,360</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$25,018</a:t>
                      </a:r>
                    </a:p>
                  </a:txBody>
                  <a:tcPr marL="36576" marR="45720">
                    <a:solidFill>
                      <a:srgbClr val="F7F6F2"/>
                    </a:solidFill>
                  </a:tcPr>
                </a:tc>
                <a:tc>
                  <a:txBody>
                    <a:bodyPr/>
                    <a:lstStyle/>
                    <a:p>
                      <a:pPr algn="r"/>
                      <a:r>
                        <a:rPr sz="1050" b="1">
                          <a:solidFill>
                            <a:srgbClr val="22424B"/>
                          </a:solidFill>
                          <a:latin typeface="Arial"/>
                        </a:rPr>
                        <a:t>$28,795</a:t>
                      </a:r>
                    </a:p>
                  </a:txBody>
                  <a:tcPr marL="36576" marR="45720">
                    <a:solidFill>
                      <a:srgbClr val="F7F6F2"/>
                    </a:solidFill>
                  </a:tcPr>
                </a:tc>
                <a:tc>
                  <a:txBody>
                    <a:bodyPr/>
                    <a:lstStyle/>
                    <a:p>
                      <a:pPr algn="r"/>
                      <a:r>
                        <a:rPr sz="1050" b="1">
                          <a:solidFill>
                            <a:srgbClr val="22424B"/>
                          </a:solidFill>
                          <a:latin typeface="Arial"/>
                        </a:rPr>
                        <a:t>$301,652</a:t>
                      </a:r>
                    </a:p>
                  </a:txBody>
                  <a:tcPr marL="36576" marR="45720">
                    <a:solidFill>
                      <a:srgbClr val="F7F6F2"/>
                    </a:solidFill>
                  </a:tcPr>
                </a:tc>
              </a:tr>
              <a:tr h="548640">
                <a:tc>
                  <a:txBody>
                    <a:bodyPr/>
                    <a:lstStyle/>
                    <a:p>
                      <a:r>
                        <a:rPr sz="1050" b="0">
                          <a:solidFill>
                            <a:srgbClr val="3F4A4E"/>
                          </a:solidFill>
                          <a:latin typeface="Arial"/>
                        </a:rPr>
                        <a:t>Controllable expenses</a:t>
                      </a:r>
                    </a:p>
                  </a:txBody>
                  <a:tcPr marL="36576" marR="45720">
                    <a:solidFill>
                      <a:srgbClr val="FFFFFF"/>
                    </a:solidFill>
                  </a:tcPr>
                </a:tc>
                <a:tc>
                  <a:txBody>
                    <a:bodyPr/>
                    <a:lstStyle/>
                    <a:p>
                      <a:pPr algn="r"/>
                      <a:r>
                        <a:rPr sz="1050" b="0">
                          <a:solidFill>
                            <a:srgbClr val="3F4A4E"/>
                          </a:solidFill>
                          <a:latin typeface="Arial"/>
                        </a:rPr>
                        <a:t>$14,429</a:t>
                      </a:r>
                    </a:p>
                  </a:txBody>
                  <a:tcPr marL="36576" marR="45720">
                    <a:solidFill>
                      <a:srgbClr val="FFFFFF"/>
                    </a:solidFill>
                  </a:tcPr>
                </a:tc>
                <a:tc>
                  <a:txBody>
                    <a:bodyPr/>
                    <a:lstStyle/>
                    <a:p>
                      <a:pPr algn="r"/>
                      <a:r>
                        <a:rPr sz="1050" b="0">
                          <a:solidFill>
                            <a:srgbClr val="3F4A4E"/>
                          </a:solidFill>
                          <a:latin typeface="Arial"/>
                        </a:rPr>
                        <a:t>$11,104</a:t>
                      </a:r>
                    </a:p>
                  </a:txBody>
                  <a:tcPr marL="36576" marR="45720">
                    <a:solidFill>
                      <a:srgbClr val="FFFFFF"/>
                    </a:solidFill>
                  </a:tcPr>
                </a:tc>
                <a:tc>
                  <a:txBody>
                    <a:bodyPr/>
                    <a:lstStyle/>
                    <a:p>
                      <a:pPr algn="r"/>
                      <a:r>
                        <a:rPr sz="1050" b="0">
                          <a:solidFill>
                            <a:srgbClr val="3F4A4E"/>
                          </a:solidFill>
                          <a:latin typeface="Arial"/>
                        </a:rPr>
                        <a:t>$14,429</a:t>
                      </a:r>
                    </a:p>
                  </a:txBody>
                  <a:tcPr marL="36576" marR="45720">
                    <a:solidFill>
                      <a:srgbClr val="FFFFFF"/>
                    </a:solidFill>
                  </a:tcPr>
                </a:tc>
                <a:tc>
                  <a:txBody>
                    <a:bodyPr/>
                    <a:lstStyle/>
                    <a:p>
                      <a:pPr algn="r"/>
                      <a:r>
                        <a:rPr sz="1050" b="0">
                          <a:solidFill>
                            <a:srgbClr val="3F4A4E"/>
                          </a:solidFill>
                          <a:latin typeface="Arial"/>
                        </a:rPr>
                        <a:t>$11,104</a:t>
                      </a:r>
                    </a:p>
                  </a:txBody>
                  <a:tcPr marL="36576" marR="45720">
                    <a:solidFill>
                      <a:srgbClr val="FFFFFF"/>
                    </a:solidFill>
                  </a:tcPr>
                </a:tc>
                <a:tc>
                  <a:txBody>
                    <a:bodyPr/>
                    <a:lstStyle/>
                    <a:p>
                      <a:pPr algn="r"/>
                      <a:r>
                        <a:rPr sz="1050" b="0">
                          <a:solidFill>
                            <a:srgbClr val="3F4A4E"/>
                          </a:solidFill>
                          <a:latin typeface="Arial"/>
                        </a:rPr>
                        <a:t>$13,479</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0">
                          <a:solidFill>
                            <a:srgbClr val="3F4A4E"/>
                          </a:solidFill>
                          <a:latin typeface="Arial"/>
                        </a:rPr>
                        <a:t>$13,004</a:t>
                      </a:r>
                    </a:p>
                  </a:txBody>
                  <a:tcPr marL="36576" marR="45720">
                    <a:solidFill>
                      <a:srgbClr val="FFFFFF"/>
                    </a:solidFill>
                  </a:tcPr>
                </a:tc>
                <a:tc>
                  <a:txBody>
                    <a:bodyPr/>
                    <a:lstStyle/>
                    <a:p>
                      <a:pPr algn="r"/>
                      <a:r>
                        <a:rPr sz="1050" b="1">
                          <a:solidFill>
                            <a:srgbClr val="3F4A4E"/>
                          </a:solidFill>
                          <a:latin typeface="Arial"/>
                        </a:rPr>
                        <a:t>$155,578</a:t>
                      </a:r>
                    </a:p>
                  </a:txBody>
                  <a:tcPr marL="36576" marR="45720">
                    <a:solidFill>
                      <a:srgbClr val="FFFFFF"/>
                    </a:solidFill>
                  </a:tcPr>
                </a:tc>
              </a:tr>
              <a:tr h="548640">
                <a:tc>
                  <a:txBody>
                    <a:bodyPr/>
                    <a:lstStyle/>
                    <a:p>
                      <a:r>
                        <a:rPr sz="1050" b="0">
                          <a:solidFill>
                            <a:srgbClr val="3F4A4E"/>
                          </a:solidFill>
                          <a:latin typeface="Arial"/>
                        </a:rPr>
                        <a:t>Uncontrollable expenses</a:t>
                      </a:r>
                    </a:p>
                  </a:txBody>
                  <a:tcPr marL="36576" marR="45720">
                    <a:solidFill>
                      <a:srgbClr val="F7F6F2"/>
                    </a:solidFill>
                  </a:tcPr>
                </a:tc>
                <a:tc>
                  <a:txBody>
                    <a:bodyPr/>
                    <a:lstStyle/>
                    <a:p>
                      <a:pPr algn="r"/>
                      <a:r>
                        <a:rPr sz="1050" b="0">
                          <a:solidFill>
                            <a:srgbClr val="3F4A4E"/>
                          </a:solidFill>
                          <a:latin typeface="Arial"/>
                        </a:rPr>
                        <a:t>$5,921</a:t>
                      </a:r>
                    </a:p>
                  </a:txBody>
                  <a:tcPr marL="36576" marR="45720">
                    <a:solidFill>
                      <a:srgbClr val="F7F6F2"/>
                    </a:solidFill>
                  </a:tcPr>
                </a:tc>
                <a:tc>
                  <a:txBody>
                    <a:bodyPr/>
                    <a:lstStyle/>
                    <a:p>
                      <a:pPr algn="r"/>
                      <a:r>
                        <a:rPr sz="1050" b="0">
                          <a:solidFill>
                            <a:srgbClr val="3F4A4E"/>
                          </a:solidFill>
                          <a:latin typeface="Arial"/>
                        </a:rPr>
                        <a:t>$4,521</a:t>
                      </a:r>
                    </a:p>
                  </a:txBody>
                  <a:tcPr marL="36576" marR="45720">
                    <a:solidFill>
                      <a:srgbClr val="F7F6F2"/>
                    </a:solidFill>
                  </a:tcPr>
                </a:tc>
                <a:tc>
                  <a:txBody>
                    <a:bodyPr/>
                    <a:lstStyle/>
                    <a:p>
                      <a:pPr algn="r"/>
                      <a:r>
                        <a:rPr sz="1050" b="0">
                          <a:solidFill>
                            <a:srgbClr val="3F4A4E"/>
                          </a:solidFill>
                          <a:latin typeface="Arial"/>
                        </a:rPr>
                        <a:t>$5,921</a:t>
                      </a:r>
                    </a:p>
                  </a:txBody>
                  <a:tcPr marL="36576" marR="45720">
                    <a:solidFill>
                      <a:srgbClr val="F7F6F2"/>
                    </a:solidFill>
                  </a:tcPr>
                </a:tc>
                <a:tc>
                  <a:txBody>
                    <a:bodyPr/>
                    <a:lstStyle/>
                    <a:p>
                      <a:pPr algn="r"/>
                      <a:r>
                        <a:rPr sz="1050" b="0">
                          <a:solidFill>
                            <a:srgbClr val="3F4A4E"/>
                          </a:solidFill>
                          <a:latin typeface="Arial"/>
                        </a:rPr>
                        <a:t>$4,521</a:t>
                      </a:r>
                    </a:p>
                  </a:txBody>
                  <a:tcPr marL="36576" marR="45720">
                    <a:solidFill>
                      <a:srgbClr val="F7F6F2"/>
                    </a:solidFill>
                  </a:tcPr>
                </a:tc>
                <a:tc>
                  <a:txBody>
                    <a:bodyPr/>
                    <a:lstStyle/>
                    <a:p>
                      <a:pPr algn="r"/>
                      <a:r>
                        <a:rPr sz="1050" b="0">
                          <a:solidFill>
                            <a:srgbClr val="3F4A4E"/>
                          </a:solidFill>
                          <a:latin typeface="Arial"/>
                        </a:rPr>
                        <a:t>$5,521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0">
                          <a:solidFill>
                            <a:srgbClr val="3F4A4E"/>
                          </a:solidFill>
                          <a:latin typeface="Arial"/>
                        </a:rPr>
                        <a:t>$5,321</a:t>
                      </a:r>
                    </a:p>
                  </a:txBody>
                  <a:tcPr marL="36576" marR="45720">
                    <a:solidFill>
                      <a:srgbClr val="F7F6F2"/>
                    </a:solidFill>
                  </a:tcPr>
                </a:tc>
                <a:tc>
                  <a:txBody>
                    <a:bodyPr/>
                    <a:lstStyle/>
                    <a:p>
                      <a:pPr algn="r"/>
                      <a:r>
                        <a:rPr sz="1050" b="1">
                          <a:solidFill>
                            <a:srgbClr val="3F4A4E"/>
                          </a:solidFill>
                          <a:latin typeface="Arial"/>
                        </a:rPr>
                        <a:t>$63,656</a:t>
                      </a:r>
                    </a:p>
                  </a:txBody>
                  <a:tcPr marL="36576" marR="45720">
                    <a:solidFill>
                      <a:srgbClr val="F7F6F2"/>
                    </a:solidFill>
                  </a:tcPr>
                </a:tc>
              </a:tr>
              <a:tr h="548640">
                <a:tc>
                  <a:txBody>
                    <a:bodyPr/>
                    <a:lstStyle/>
                    <a:p>
                      <a:r>
                        <a:rPr sz="1050" b="1">
                          <a:solidFill>
                            <a:srgbClr val="22424B"/>
                          </a:solidFill>
                          <a:latin typeface="Arial"/>
                        </a:rPr>
                        <a:t>NET OPERATING PROFIT</a:t>
                      </a:r>
                    </a:p>
                  </a:txBody>
                  <a:tcPr marL="36576" marR="45720">
                    <a:solidFill>
                      <a:srgbClr val="FFFFFF"/>
                    </a:solidFill>
                  </a:tcPr>
                </a:tc>
                <a:tc>
                  <a:txBody>
                    <a:bodyPr/>
                    <a:lstStyle/>
                    <a:p>
                      <a:pPr algn="r"/>
                      <a:r>
                        <a:rPr sz="1050" b="1">
                          <a:solidFill>
                            <a:srgbClr val="22424B"/>
                          </a:solidFill>
                          <a:latin typeface="Arial"/>
                        </a:rPr>
                        <a:t>$11,693</a:t>
                      </a:r>
                    </a:p>
                  </a:txBody>
                  <a:tcPr marL="36576" marR="45720">
                    <a:solidFill>
                      <a:srgbClr val="FFFFFF"/>
                    </a:solidFill>
                  </a:tcPr>
                </a:tc>
                <a:tc>
                  <a:txBody>
                    <a:bodyPr/>
                    <a:lstStyle/>
                    <a:p>
                      <a:pPr algn="r"/>
                      <a:r>
                        <a:rPr sz="1050" b="1">
                          <a:solidFill>
                            <a:srgbClr val="22424B"/>
                          </a:solidFill>
                          <a:latin typeface="Arial"/>
                        </a:rPr>
                        <a:t>$25</a:t>
                      </a:r>
                    </a:p>
                  </a:txBody>
                  <a:tcPr marL="36576" marR="45720">
                    <a:solidFill>
                      <a:srgbClr val="FFFFFF"/>
                    </a:solidFill>
                  </a:tcPr>
                </a:tc>
                <a:tc>
                  <a:txBody>
                    <a:bodyPr/>
                    <a:lstStyle/>
                    <a:p>
                      <a:pPr algn="r"/>
                      <a:r>
                        <a:rPr sz="1050" b="1">
                          <a:solidFill>
                            <a:srgbClr val="22424B"/>
                          </a:solidFill>
                          <a:latin typeface="Arial"/>
                        </a:rPr>
                        <a:t>$11,693</a:t>
                      </a:r>
                    </a:p>
                  </a:txBody>
                  <a:tcPr marL="36576" marR="45720">
                    <a:solidFill>
                      <a:srgbClr val="FFFFFF"/>
                    </a:solidFill>
                  </a:tcPr>
                </a:tc>
                <a:tc>
                  <a:txBody>
                    <a:bodyPr/>
                    <a:lstStyle/>
                    <a:p>
                      <a:pPr algn="r"/>
                      <a:r>
                        <a:rPr sz="1050" b="1">
                          <a:solidFill>
                            <a:srgbClr val="22424B"/>
                          </a:solidFill>
                          <a:latin typeface="Arial"/>
                        </a:rPr>
                        <a:t>$25</a:t>
                      </a:r>
                    </a:p>
                  </a:txBody>
                  <a:tcPr marL="36576" marR="45720">
                    <a:solidFill>
                      <a:srgbClr val="FFFFFF"/>
                    </a:solidFill>
                  </a:tcPr>
                </a:tc>
                <a:tc>
                  <a:txBody>
                    <a:bodyPr/>
                    <a:lstStyle/>
                    <a:p>
                      <a:pPr algn="r"/>
                      <a:r>
                        <a:rPr sz="1050" b="1">
                          <a:solidFill>
                            <a:srgbClr val="22424B"/>
                          </a:solidFill>
                          <a:latin typeface="Arial"/>
                        </a:rPr>
                        <a:t>$8,359</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$6,692</a:t>
                      </a:r>
                    </a:p>
                  </a:txBody>
                  <a:tcPr marL="36576" marR="45720">
                    <a:solidFill>
                      <a:srgbClr val="FFFFFF"/>
                    </a:solidFill>
                  </a:tcPr>
                </a:tc>
                <a:tc>
                  <a:txBody>
                    <a:bodyPr/>
                    <a:lstStyle/>
                    <a:p>
                      <a:pPr algn="r"/>
                      <a:r>
                        <a:rPr sz="1050" b="1">
                          <a:solidFill>
                            <a:srgbClr val="22424B"/>
                          </a:solidFill>
                          <a:latin typeface="Arial"/>
                        </a:rPr>
                        <a:t>$10,469</a:t>
                      </a:r>
                    </a:p>
                  </a:txBody>
                  <a:tcPr marL="36576" marR="45720">
                    <a:solidFill>
                      <a:srgbClr val="FFFFFF"/>
                    </a:solidFill>
                  </a:tcPr>
                </a:tc>
                <a:tc>
                  <a:txBody>
                    <a:bodyPr/>
                    <a:lstStyle/>
                    <a:p>
                      <a:pPr algn="r"/>
                      <a:r>
                        <a:rPr sz="1050" b="1">
                          <a:solidFill>
                            <a:srgbClr val="22424B"/>
                          </a:solidFill>
                          <a:latin typeface="Arial"/>
                        </a:rPr>
                        <a:t>$82,419</a:t>
                      </a:r>
                    </a:p>
                  </a:txBody>
                  <a:tcPr marL="36576" marR="45720">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