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93" r:id="rId4"/>
    <p:sldId id="258" r:id="rId5"/>
    <p:sldId id="289" r:id="rId6"/>
    <p:sldId id="259" r:id="rId7"/>
    <p:sldId id="288" r:id="rId8"/>
    <p:sldId id="260" r:id="rId9"/>
    <p:sldId id="261" r:id="rId10"/>
    <p:sldId id="286" r:id="rId11"/>
    <p:sldId id="294" r:id="rId12"/>
    <p:sldId id="287" r:id="rId13"/>
    <p:sldId id="277" r:id="rId14"/>
    <p:sldId id="265" r:id="rId15"/>
    <p:sldId id="267" r:id="rId16"/>
    <p:sldId id="268" r:id="rId17"/>
    <p:sldId id="269" r:id="rId18"/>
    <p:sldId id="295" r:id="rId24"/>
    <p:sldId id="296" r:id="rId25"/>
    <p:sldId id="297" r:id="rId26"/>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F3EE"/>
    <a:srgbClr val="1E7E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97"/>
    <p:restoredTop sz="94610"/>
  </p:normalViewPr>
  <p:slideViewPr>
    <p:cSldViewPr snapToGrid="0" snapToObjects="1">
      <p:cViewPr varScale="1">
        <p:scale>
          <a:sx n="62" d="100"/>
          <a:sy n="62" d="100"/>
        </p:scale>
        <p:origin x="248" y="8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Plan</c:v>
                </c:pt>
              </c:strCache>
            </c:strRef>
          </c:tx>
          <c:spPr>
            <a:solidFill>
              <a:srgbClr val="C0392B"/>
            </a:solidFill>
          </c:spPr>
          <c:cat>
            <c:strRef>
              <c:f>Sheet1!$A$2:$A$11</c:f>
              <c:strCache>
                <c:ptCount val="10"/>
                <c:pt idx="0">
                  <c:v>Office &amp; greeting</c:v>
                </c:pt>
                <c:pt idx="1">
                  <c:v>LW &amp; ROOST merch</c:v>
                </c:pt>
                <c:pt idx="2">
                  <c:v>Grab-and-go cold case</c:v>
                </c:pt>
                <c:pt idx="3">
                  <c:v>Picnic &amp; waterfront</c:v>
                </c:pt>
                <c:pt idx="4">
                  <c:v>Dog</c:v>
                </c:pt>
                <c:pt idx="5">
                  <c:v>Local goods &amp; gifts</c:v>
                </c:pt>
                <c:pt idx="6">
                  <c:v>Coffee at home</c:v>
                </c:pt>
                <c:pt idx="7">
                  <c:v>Toiletries &amp; OTC</c:v>
                </c:pt>
                <c:pt idx="8">
                  <c:v>Beer, wine &amp; RTD</c:v>
                </c:pt>
                <c:pt idx="9">
                  <c:v>Pantry &amp; fridge</c:v>
                </c:pt>
              </c:strCache>
            </c:strRef>
          </c:cat>
          <c:val>
            <c:numRef>
              <c:f>Sheet1!$B$2:$B$11</c:f>
              <c:numCache>
                <c:formatCode>General</c:formatCode>
                <c:ptCount val="10"/>
                <c:pt idx="0">
                  <c:v>924</c:v>
                </c:pt>
                <c:pt idx="1">
                  <c:v>1698</c:v>
                </c:pt>
                <c:pt idx="2">
                  <c:v>39102</c:v>
                </c:pt>
                <c:pt idx="3">
                  <c:v>3570</c:v>
                </c:pt>
                <c:pt idx="4">
                  <c:v>1500</c:v>
                </c:pt>
                <c:pt idx="5">
                  <c:v>5416</c:v>
                </c:pt>
                <c:pt idx="6">
                  <c:v>4857</c:v>
                </c:pt>
                <c:pt idx="7">
                  <c:v>6387</c:v>
                </c:pt>
                <c:pt idx="8">
                  <c:v>30308</c:v>
                </c:pt>
                <c:pt idx="9">
                  <c:v>21158</c:v>
                </c:pt>
              </c:numCache>
            </c:numRef>
          </c:val>
        </c:ser>
        <c:ser>
          <c:idx val="1"/>
          <c:order val="1"/>
          <c:tx>
            <c:strRef>
              <c:f>Sheet1!$C$1</c:f>
              <c:strCache>
                <c:ptCount val="1"/>
                <c:pt idx="0">
                  <c:v>Today (TTM actual)</c:v>
                </c:pt>
              </c:strCache>
            </c:strRef>
          </c:tx>
          <c:spPr>
            <a:solidFill>
              <a:srgbClr val="A9C47F"/>
            </a:solidFill>
          </c:spPr>
          <c:cat>
            <c:strRef>
              <c:f>Sheet1!$A$2:$A$11</c:f>
              <c:strCache>
                <c:ptCount val="10"/>
                <c:pt idx="0">
                  <c:v>Office &amp; greeting</c:v>
                </c:pt>
                <c:pt idx="1">
                  <c:v>LW &amp; ROOST merch</c:v>
                </c:pt>
                <c:pt idx="2">
                  <c:v>Grab-and-go cold case</c:v>
                </c:pt>
                <c:pt idx="3">
                  <c:v>Picnic &amp; waterfront</c:v>
                </c:pt>
                <c:pt idx="4">
                  <c:v>Dog</c:v>
                </c:pt>
                <c:pt idx="5">
                  <c:v>Local goods &amp; gifts</c:v>
                </c:pt>
                <c:pt idx="6">
                  <c:v>Coffee at home</c:v>
                </c:pt>
                <c:pt idx="7">
                  <c:v>Toiletries &amp; OTC</c:v>
                </c:pt>
                <c:pt idx="8">
                  <c:v>Beer, wine &amp; RTD</c:v>
                </c:pt>
                <c:pt idx="9">
                  <c:v>Pantry &amp; fridge</c:v>
                </c:pt>
              </c:strCache>
            </c:strRef>
          </c:cat>
          <c:val>
            <c:numRef>
              <c:f>Sheet1!$C$2:$C$11</c:f>
              <c:numCache>
                <c:formatCode>General</c:formatCode>
                <c:ptCount val="10"/>
                <c:pt idx="0">
                  <c:v>0</c:v>
                </c:pt>
                <c:pt idx="1">
                  <c:v>198</c:v>
                </c:pt>
                <c:pt idx="2">
                  <c:v>35102</c:v>
                </c:pt>
                <c:pt idx="3">
                  <c:v>570</c:v>
                </c:pt>
                <c:pt idx="4">
                  <c:v>0</c:v>
                </c:pt>
                <c:pt idx="5">
                  <c:v>1416</c:v>
                </c:pt>
                <c:pt idx="6">
                  <c:v>857</c:v>
                </c:pt>
                <c:pt idx="7">
                  <c:v>387</c:v>
                </c:pt>
                <c:pt idx="8">
                  <c:v>18308</c:v>
                </c:pt>
                <c:pt idx="9">
                  <c:v>13158</c:v>
                </c:pt>
              </c:numCache>
            </c:numRef>
          </c:val>
        </c:ser>
        <c:axId val="-2068027336"/>
        <c:axId val="-2113994440"/>
      </c:barChart>
      <c:catAx>
        <c:axId val="-2068027336"/>
        <c:scaling>
          <c:orientation val="minMax"/>
        </c:scaling>
        <c:delete val="0"/>
        <c:axPos val="l"/>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b"/>
        <c:majorGridlines/>
        <c:numFmt formatCode="$#,##0" sourceLinked="0"/>
        <c:majorTickMark val="out"/>
        <c:minorTickMark val="none"/>
        <c:tickLblPos val="nextTo"/>
        <c:txPr>
          <a:bodyPr/>
          <a:lstStyle/>
          <a:p>
            <a:pPr>
              <a:defRPr sz="1000"/>
            </a:pPr>
          </a:p>
        </c:txPr>
        <c:crossAx val="-2068027336"/>
        <c:crosses val="autoZero"/>
      </c:valAx>
    </c:plotArea>
    <c:legend>
      <c:legendPos val="b"/>
      <c:overlay val="0"/>
      <c:txPr>
        <a:bodyPr/>
        <a:lstStyle/>
        <a:p>
          <a:pPr>
            <a:defRPr sz="1100">
              <a:latin typeface="Aria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3165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Little Wing loses money because of its staffing model. This plan keeps the product, the margin and the brand, and changes three things: how the room is staffed, what the owner charges, and what sits on the shelves. Prepared for ownership review, July 2026.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plan, here's what actually sells, straight from twelve months of Toast. Coffee and tea drinks are the engine at 40 percent of product sales, with sandwiches and retail beverages tied for second at 17 percent each. The read that matters for the plan: it's beverage-led — coffee, cooler cans, and smoothies together are 59 percent of sales — and retail already sells. Canned beer, wine and NA drinks are already the number-three category before we touch the shelves, which is exactly why the merchandising lever is low-risk. This excludes Vessel events, gift cards and open-item rings.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levers, pulled in order. Labor is the largest and already moving — one 10-hour shift, 76 hours a week, a second barista only on peak weekend days. Pricing is the fastest: a $0.50 lift on coffee and tea and a $1.00 lift on sandwiches and smoothies, our highest-volume items. Cutting controllable cost — a 4% management fee replacing the $48K flat fee, with rent waived — adds $53.4K. And remerchandising the shelves builds retail over the quarter. Together they carry the turnaround.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C570D-5CC7-D021-A5F1-066C48818A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2701A9-F0CF-2811-5D57-03956FD6BE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8E43F4-15D3-2CE8-E61B-21DF83F63ADF}"/>
              </a:ext>
            </a:extLst>
          </p:cNvPr>
          <p:cNvSpPr>
            <a:spLocks noGrp="1"/>
          </p:cNvSpPr>
          <p:nvPr>
            <p:ph type="body" idx="1"/>
          </p:nvPr>
        </p:nvSpPr>
        <p:spPr/>
        <p:txBody>
          <a:bodyPr/>
          <a:lstStyle/>
          <a:p>
            <a:r>
              <a:rPr lang="en-US" dirty="0"/>
              <a:t>Here's the mechanics behind the single-shift labor model. We close staffed service at 4pm and run one barista from 6a to 4p — a single 10-hour shift instead of two. The question is what happens to the sales after 4pm. It's an estimated 12 percent of the day, roughly $32K a year — confirm that against the Toast daypart export — but the important part is what it's made of: after 4pm it's almost all grab-and-go, cooler drinks, cans, and retail, not made-to-order espresso. So we recapture it with no labor at all: a Toast self-serve kiosk where guests ring themselves up, and the ROOST front desk, which is staffed around the clock anyway, checks people out and charges to the room. We keep the evening revenue and drop the evening labor.</a:t>
            </a:r>
          </a:p>
        </p:txBody>
      </p:sp>
      <p:sp>
        <p:nvSpPr>
          <p:cNvPr id="4" name="Slide Number Placeholder 3">
            <a:extLst>
              <a:ext uri="{FF2B5EF4-FFF2-40B4-BE49-F238E27FC236}">
                <a16:creationId xmlns:a16="http://schemas.microsoft.com/office/drawing/2014/main" id="{244743B3-EA0F-D287-5A73-60F389C11DD8}"/>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5050951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mechanics behind the single-shift labor model. We close staffed service at 4pm and run one barista from 6a to 4p — a single 10-hour shift instead of two. The question is what happens to the sales after 4pm. It's an estimated 12 percent of the day, roughly $32K a year — confirm that against the Toast daypart export — but the important part is what it's made of: after 4pm it's almost all grab-and-go, cooler drinks, cans, and retail, not made-to-order espresso. So we recapture it with no labor at all: a Toast self-serve kiosk where guests ring themselves up, and the ROOST front desk, which is staffed around the clock anyway, checks people out and charges to the room. We keep the evening revenue and drop the evening labor.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lever two in detail, and these are Toast actuals for the trailing twelve months. The increases land on our highest-volume items. Coffee and tea drinks are 20,000 units a year and 53 percent of menu sales, so the fifty-cent lift there is by far the highest-leverage move — the latte alone is nearly 5,700 units. Sandwiches are 3,550 units at a twelve-dollar-plus average, so a dollar there adds up. Little Wing already prices as a specialty cafe, above Starbucks, which is the right position for a captive trade area with no nearby competitor; the lift preserves that position rather than testing it. Starbucks food isn't a real comp — their sandwich is a small grab-and-go item next to our full sandwich.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87920-CE06-F552-8898-8A4CF3DC08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D8243D-9E1B-D3C2-2AF5-5F4A0A133B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DDA991-B761-D434-A384-943446B8B411}"/>
              </a:ext>
            </a:extLst>
          </p:cNvPr>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a:extLst>
              <a:ext uri="{FF2B5EF4-FFF2-40B4-BE49-F238E27FC236}">
                <a16:creationId xmlns:a16="http://schemas.microsoft.com/office/drawing/2014/main" id="{BE2F582B-7520-57DD-1D5C-4592FAFCC691}"/>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4765843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1E39B-1889-605F-594D-6B2CEF1A3D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011E03-7256-75AF-B205-D476DDE837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9BEC3-33DC-835B-4BCE-51984A274460}"/>
              </a:ext>
            </a:extLst>
          </p:cNvPr>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a:extLst>
              <a:ext uri="{FF2B5EF4-FFF2-40B4-BE49-F238E27FC236}">
                <a16:creationId xmlns:a16="http://schemas.microsoft.com/office/drawing/2014/main" id="{A2F39787-58F8-0189-43B8-8BB0CEC3E7C4}"/>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9939948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48CD2-ECDA-4D94-271B-616A9BEB62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BF51D9-8418-89A7-02B9-458C8FF80E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2E303-5645-58C7-67CB-14E8A513F8E2}"/>
              </a:ext>
            </a:extLst>
          </p:cNvPr>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a:extLst>
              <a:ext uri="{FF2B5EF4-FFF2-40B4-BE49-F238E27FC236}">
                <a16:creationId xmlns:a16="http://schemas.microsoft.com/office/drawing/2014/main" id="{30A13F73-50BD-2997-FDC7-43984900B4FB}"/>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7079061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E6E3B-5627-F983-D229-F2E7AA6DAA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551748-0DEC-434F-5220-D29248D348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975B3A-0495-52EE-B33B-BE5543FC9195}"/>
              </a:ext>
            </a:extLst>
          </p:cNvPr>
          <p:cNvSpPr>
            <a:spLocks noGrp="1"/>
          </p:cNvSpPr>
          <p:nvPr>
            <p:ph type="body" idx="1"/>
          </p:nvPr>
        </p:nvSpPr>
        <p:spPr/>
        <p:txBody>
          <a:bodyPr/>
          <a:lstStyle/>
          <a:p>
            <a:r>
              <a:rPr lang="en-US" dirty="0"/>
              <a:t>This is lever two in detail, and these are Toast actuals for the trailing twelve months. The increases land on our highest-volume items. Coffee and tea drinks are 20,000 units a year and 53 percent of menu sales, so the fifty-cent lift there is by far the highest-leverage move — the latte alone is nearly 5,700 units. Sandwiches are 3,550 units at a twelve-dollar-plus average, so a dollar there adds up. Little Wing already prices as a specialty cafe, above Starbucks, which is the right position for a captive trade area with no nearby competitor; the lift preserves that position rather than testing it. Starbucks food isn't a real comp — their sandwich is a small grab-and-go item next to our full sandwich.</a:t>
            </a:r>
          </a:p>
        </p:txBody>
      </p:sp>
      <p:sp>
        <p:nvSpPr>
          <p:cNvPr id="4" name="Slide Number Placeholder 3">
            <a:extLst>
              <a:ext uri="{FF2B5EF4-FFF2-40B4-BE49-F238E27FC236}">
                <a16:creationId xmlns:a16="http://schemas.microsoft.com/office/drawing/2014/main" id="{C1C37701-41B4-456B-3415-796753EF9691}"/>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749579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FY26 versus the go-forward P&amp;L. Two placeholders drive this page and both get replaced with the Toast actuals: current retail set at 40% of plan ($25.5K), reclassed out of cafe lines to avoid double-counting, and the modeled PM mix behind the 75.8% capture. The structural moves are unchanged either way — labor +$95.7K, owner terms +$53.4K — and the swing from FY26 is roughly +$150K.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Vessel — our event venue in the same building, upstairs from the cafe. It has been priced by the room with no real floor, staffed ad hoc, and it's been booking events that lose money once you account for the disruption to the building. We're making a few strategic changes to protect margin on every booking: set a floor, standardize the package, and take fewer, better events.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commercial changes. First, an F&amp;B minimum — Vessel had none, so a room could book for almost nothing; now it's four thousand dollars against four hours. Second, a 20 percent service charge, which is roughly eight hundred on that minimum and covers service labor. Third, a flat 40 percent markup on all event food to protect the plate. And fourth, we take fewer, better events — some bookings actually lose money once you account for the traffic and disruption they create in the building, so we cut that tail.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a standard staffing package so every event is priced the same way. Every event includes one bartender and two servers, at thirty-five an hour for a five-hour shift — that's five hundred and twenty-five dollars of labor, baked into the event price. Anything beyond that standard is special consideration and the additional labor is billed through to the client. The one thing we need to confirm is the SOP: any hourly labor above the standard package needs written sign-off before it's committed — Brad or Michael.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jpe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1028700" y="1104900"/>
            <a:ext cx="566603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ROOST BALTIMORE</a:t>
            </a:r>
            <a:endParaRPr lang="en-US" sz="1650" dirty="0"/>
          </a:p>
        </p:txBody>
      </p:sp>
      <p:sp>
        <p:nvSpPr>
          <p:cNvPr id="5" name="Text 3"/>
          <p:cNvSpPr/>
          <p:nvPr/>
        </p:nvSpPr>
        <p:spPr>
          <a:xfrm>
            <a:off x="1028700" y="6033135"/>
            <a:ext cx="10058400"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i="1" dirty="0">
                <a:solidFill>
                  <a:srgbClr val="5E6B70"/>
                </a:solidFill>
                <a:latin typeface="Georgia" pitchFamily="34" charset="0"/>
                <a:ea typeface="Georgia" pitchFamily="34" charset="-122"/>
                <a:cs typeface="Georgia" pitchFamily="34" charset="-120"/>
              </a:rPr>
              <a:t>The Little Wing &amp; Vessel</a:t>
            </a:r>
            <a:endParaRPr lang="en-US" sz="3300" dirty="0"/>
          </a:p>
        </p:txBody>
      </p:sp>
      <p:sp>
        <p:nvSpPr>
          <p:cNvPr id="6" name="Text 4"/>
          <p:cNvSpPr/>
          <p:nvPr/>
        </p:nvSpPr>
        <p:spPr>
          <a:xfrm>
            <a:off x="1028700" y="6566535"/>
            <a:ext cx="9418320" cy="1866900"/>
          </a:xfrm>
          <a:prstGeom prst="rect">
            <a:avLst/>
          </a:prstGeom>
          <a:noFill/>
          <a:ln/>
        </p:spPr>
        <p:txBody>
          <a:bodyPr wrap="square" lIns="25400" tIns="25400" rIns="25400" bIns="25400" rtlCol="0" anchor="t">
            <a:normAutofit/>
          </a:bodyPr>
          <a:lstStyle/>
          <a:p>
            <a:pPr marL="0" indent="0" algn="l">
              <a:lnSpc>
                <a:spcPct val="98000"/>
              </a:lnSpc>
              <a:buNone/>
            </a:pPr>
            <a:r>
              <a:rPr lang="en-US" sz="7350" kern="0" spc="-112" dirty="0">
                <a:solidFill>
                  <a:srgbClr val="22424B"/>
                </a:solidFill>
                <a:latin typeface="Georgia" pitchFamily="34" charset="0"/>
                <a:ea typeface="Georgia" pitchFamily="34" charset="-122"/>
                <a:cs typeface="Georgia" pitchFamily="34" charset="-120"/>
              </a:rPr>
              <a:t>Plan of Action</a:t>
            </a:r>
            <a:endParaRPr lang="en-US" sz="7350" dirty="0"/>
          </a:p>
        </p:txBody>
      </p:sp>
      <p:sp>
        <p:nvSpPr>
          <p:cNvPr id="15" name="Text 13"/>
          <p:cNvSpPr/>
          <p:nvPr/>
        </p:nvSpPr>
        <p:spPr>
          <a:xfrm>
            <a:off x="1028700" y="9334500"/>
            <a:ext cx="100584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75" dirty="0">
                <a:solidFill>
                  <a:srgbClr val="5E6B70"/>
                </a:solidFill>
                <a:latin typeface="Arial" pitchFamily="34" charset="0"/>
                <a:ea typeface="Arial" pitchFamily="34" charset="-122"/>
                <a:cs typeface="Arial" pitchFamily="34" charset="-120"/>
              </a:rPr>
              <a:t>July 2026</a:t>
            </a:r>
            <a:endParaRPr lang="en-US" sz="1650" dirty="0"/>
          </a:p>
        </p:txBody>
      </p:sp>
      <p:pic>
        <p:nvPicPr>
          <p:cNvPr id="16" name="Image 0" descr="preencoded.png"/>
          <p:cNvPicPr>
            <a:picLocks noChangeAspect="1"/>
          </p:cNvPicPr>
          <p:nvPr/>
        </p:nvPicPr>
        <p:blipFill>
          <a:blip r:embed="rId3"/>
          <a:srcRect l="9580" r="9580"/>
          <a:stretch/>
        </p:blipFill>
        <p:spPr>
          <a:xfrm>
            <a:off x="10972800" y="0"/>
            <a:ext cx="7315200" cy="10287000"/>
          </a:xfrm>
          <a:prstGeom prst="rect">
            <a:avLst/>
          </a:prstGeom>
        </p:spPr>
      </p:pic>
      <p:pic>
        <p:nvPicPr>
          <p:cNvPr id="17" name="Picture 16">
            <a:extLst>
              <a:ext uri="{FF2B5EF4-FFF2-40B4-BE49-F238E27FC236}">
                <a16:creationId xmlns:a16="http://schemas.microsoft.com/office/drawing/2014/main" id="{90F36764-235E-BF51-94F2-E1071FC0644D}"/>
              </a:ext>
            </a:extLst>
          </p:cNvPr>
          <p:cNvPicPr>
            <a:picLocks noChangeAspect="1"/>
          </p:cNvPicPr>
          <p:nvPr/>
        </p:nvPicPr>
        <p:blipFill>
          <a:blip r:embed="rId4"/>
          <a:stretch>
            <a:fillRect/>
          </a:stretch>
        </p:blipFill>
        <p:spPr>
          <a:xfrm>
            <a:off x="1028700" y="8302223"/>
            <a:ext cx="702372" cy="69295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323B"/>
        </a:solidFill>
        <a:effectLst/>
      </p:bgPr>
    </p:bg>
    <p:spTree>
      <p:nvGrpSpPr>
        <p:cNvPr id="1" name=""/>
        <p:cNvGrpSpPr/>
        <p:nvPr/>
      </p:nvGrpSpPr>
      <p:grpSpPr>
        <a:xfrm>
          <a:off x="0" y="0"/>
          <a:ext cx="0" cy="0"/>
          <a:chOff x="0" y="0"/>
          <a:chExt cx="0" cy="0"/>
        </a:xfrm>
      </p:grpSpPr>
      <p:sp>
        <p:nvSpPr>
          <p:cNvPr id="2" name="Text 0"/>
          <p:cNvSpPr/>
          <p:nvPr/>
        </p:nvSpPr>
        <p:spPr>
          <a:xfrm>
            <a:off x="1028700" y="838200"/>
            <a:ext cx="1785366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63BACB"/>
                </a:solidFill>
                <a:latin typeface="Arial" pitchFamily="34" charset="0"/>
                <a:cs typeface="Arial" pitchFamily="34" charset="-120"/>
              </a:rPr>
              <a:t>CURRENT ECONOMICS</a:t>
            </a:r>
            <a:endParaRPr lang="en-US" sz="1650" dirty="0"/>
          </a:p>
        </p:txBody>
      </p:sp>
      <p:sp>
        <p:nvSpPr>
          <p:cNvPr id="3" name="Text 1"/>
          <p:cNvSpPr/>
          <p:nvPr/>
        </p:nvSpPr>
        <p:spPr>
          <a:xfrm>
            <a:off x="1028700" y="1276350"/>
            <a:ext cx="13735050" cy="1371600"/>
          </a:xfrm>
          <a:prstGeom prst="rect">
            <a:avLst/>
          </a:prstGeom>
          <a:noFill/>
          <a:ln/>
        </p:spPr>
        <p:txBody>
          <a:bodyPr wrap="square" lIns="25400" tIns="25400" rIns="25400" bIns="25400" rtlCol="0" anchor="t">
            <a:normAutofit/>
          </a:bodyPr>
          <a:lstStyle/>
          <a:p>
            <a:pPr marL="0" indent="0" algn="l">
              <a:lnSpc>
                <a:spcPct val="105000"/>
              </a:lnSpc>
              <a:buNone/>
            </a:pPr>
            <a:r>
              <a:rPr lang="en-US" sz="5100" kern="0" spc="-37" dirty="0">
                <a:solidFill>
                  <a:srgbClr val="F4F3EE"/>
                </a:solidFill>
                <a:latin typeface="Georgia" pitchFamily="34" charset="0"/>
                <a:ea typeface="Georgia" pitchFamily="34" charset="-122"/>
                <a:cs typeface="Georgia" pitchFamily="34" charset="-120"/>
              </a:rPr>
              <a:t>A cost-structure problem, not a concept problem</a:t>
            </a:r>
            <a:endParaRPr lang="en-US" sz="5100" dirty="0"/>
          </a:p>
        </p:txBody>
      </p:sp>
      <p:pic>
        <p:nvPicPr>
          <p:cNvPr id="24" name="Picture 23">
            <a:extLst>
              <a:ext uri="{FF2B5EF4-FFF2-40B4-BE49-F238E27FC236}">
                <a16:creationId xmlns:a16="http://schemas.microsoft.com/office/drawing/2014/main" id="{AA9B48F7-DBF8-DB52-D808-93492DDB69F5}"/>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Box 24"/>
          <p:cNvSpPr txBox="1"/>
          <p:nvPr/>
        </p:nvSpPr>
        <p:spPr>
          <a:xfrm>
            <a:off x="1024128" y="4206240"/>
            <a:ext cx="5394960" cy="502920"/>
          </a:xfrm>
          <a:prstGeom prst="rect">
            <a:avLst/>
          </a:prstGeom>
          <a:noFill/>
        </p:spPr>
        <p:txBody>
          <a:bodyPr wrap="none">
            <a:spAutoFit/>
          </a:bodyPr>
          <a:lstStyle/>
          <a:p>
            <a:r>
              <a:rPr sz="3300">
                <a:solidFill>
                  <a:srgbClr val="F4F3EE"/>
                </a:solidFill>
                <a:latin typeface="Georgia"/>
              </a:rPr>
              <a:t>$288.7K</a:t>
            </a:r>
          </a:p>
        </p:txBody>
      </p:sp>
      <p:sp>
        <p:nvSpPr>
          <p:cNvPr id="26" name="TextBox 25"/>
          <p:cNvSpPr txBox="1"/>
          <p:nvPr/>
        </p:nvSpPr>
        <p:spPr>
          <a:xfrm>
            <a:off x="1024128" y="4736592"/>
            <a:ext cx="5394960" cy="502920"/>
          </a:xfrm>
          <a:prstGeom prst="rect">
            <a:avLst/>
          </a:prstGeom>
          <a:noFill/>
        </p:spPr>
        <p:txBody>
          <a:bodyPr wrap="square">
            <a:spAutoFit/>
          </a:bodyPr>
          <a:lstStyle/>
          <a:p>
            <a:r>
              <a:rPr sz="1500">
                <a:solidFill>
                  <a:srgbClr val="A8B4B8"/>
                </a:solidFill>
                <a:latin typeface="Arial"/>
              </a:rPr>
              <a:t>2026 revenue — Jan–Jun actuals + Jul–Dec forecast</a:t>
            </a:r>
          </a:p>
        </p:txBody>
      </p:sp>
      <p:sp>
        <p:nvSpPr>
          <p:cNvPr id="27" name="TextBox 26"/>
          <p:cNvSpPr txBox="1"/>
          <p:nvPr/>
        </p:nvSpPr>
        <p:spPr>
          <a:xfrm>
            <a:off x="6830568" y="4206240"/>
            <a:ext cx="5394960" cy="502920"/>
          </a:xfrm>
          <a:prstGeom prst="rect">
            <a:avLst/>
          </a:prstGeom>
          <a:noFill/>
        </p:spPr>
        <p:txBody>
          <a:bodyPr wrap="none">
            <a:spAutoFit/>
          </a:bodyPr>
          <a:lstStyle/>
          <a:p>
            <a:r>
              <a:rPr sz="3300">
                <a:solidFill>
                  <a:srgbClr val="63BACB"/>
                </a:solidFill>
                <a:latin typeface="Georgia"/>
              </a:rPr>
              <a:t>($164.0K)</a:t>
            </a:r>
          </a:p>
        </p:txBody>
      </p:sp>
      <p:sp>
        <p:nvSpPr>
          <p:cNvPr id="28" name="TextBox 27"/>
          <p:cNvSpPr txBox="1"/>
          <p:nvPr/>
        </p:nvSpPr>
        <p:spPr>
          <a:xfrm>
            <a:off x="6830568" y="4736592"/>
            <a:ext cx="5394960" cy="502920"/>
          </a:xfrm>
          <a:prstGeom prst="rect">
            <a:avLst/>
          </a:prstGeom>
          <a:noFill/>
        </p:spPr>
        <p:txBody>
          <a:bodyPr wrap="square">
            <a:spAutoFit/>
          </a:bodyPr>
          <a:lstStyle/>
          <a:p>
            <a:r>
              <a:rPr sz="1500">
                <a:solidFill>
                  <a:srgbClr val="A8B4B8"/>
                </a:solidFill>
                <a:latin typeface="Arial"/>
              </a:rPr>
              <a:t>2026 net operating loss · −57% of revenue</a:t>
            </a:r>
          </a:p>
        </p:txBody>
      </p:sp>
      <p:sp>
        <p:nvSpPr>
          <p:cNvPr id="29" name="TextBox 28"/>
          <p:cNvSpPr txBox="1"/>
          <p:nvPr/>
        </p:nvSpPr>
        <p:spPr>
          <a:xfrm>
            <a:off x="12637008" y="4206240"/>
            <a:ext cx="5394960" cy="502920"/>
          </a:xfrm>
          <a:prstGeom prst="rect">
            <a:avLst/>
          </a:prstGeom>
          <a:noFill/>
        </p:spPr>
        <p:txBody>
          <a:bodyPr wrap="none">
            <a:spAutoFit/>
          </a:bodyPr>
          <a:lstStyle/>
          <a:p>
            <a:r>
              <a:rPr sz="3300">
                <a:solidFill>
                  <a:srgbClr val="F4F3EE"/>
                </a:solidFill>
                <a:latin typeface="Georgia"/>
              </a:rPr>
              <a:t>59%</a:t>
            </a:r>
          </a:p>
        </p:txBody>
      </p:sp>
      <p:sp>
        <p:nvSpPr>
          <p:cNvPr id="30" name="TextBox 29"/>
          <p:cNvSpPr txBox="1"/>
          <p:nvPr/>
        </p:nvSpPr>
        <p:spPr>
          <a:xfrm>
            <a:off x="12637008" y="4736592"/>
            <a:ext cx="5394960" cy="502920"/>
          </a:xfrm>
          <a:prstGeom prst="rect">
            <a:avLst/>
          </a:prstGeom>
          <a:noFill/>
        </p:spPr>
        <p:txBody>
          <a:bodyPr wrap="square">
            <a:spAutoFit/>
          </a:bodyPr>
          <a:lstStyle/>
          <a:p>
            <a:r>
              <a:rPr sz="1500">
                <a:solidFill>
                  <a:srgbClr val="A8B4B8"/>
                </a:solidFill>
                <a:latin typeface="Arial"/>
              </a:rPr>
              <a:t>of revenue goes to labor — $170.3K/yr</a:t>
            </a:r>
          </a:p>
        </p:txBody>
      </p:sp>
      <p:sp>
        <p:nvSpPr>
          <p:cNvPr id="31" name="TextBox 30"/>
          <p:cNvSpPr txBox="1"/>
          <p:nvPr/>
        </p:nvSpPr>
        <p:spPr>
          <a:xfrm>
            <a:off x="1024128" y="5897879"/>
            <a:ext cx="5394960" cy="502920"/>
          </a:xfrm>
          <a:prstGeom prst="rect">
            <a:avLst/>
          </a:prstGeom>
          <a:noFill/>
        </p:spPr>
        <p:txBody>
          <a:bodyPr wrap="none">
            <a:spAutoFit/>
          </a:bodyPr>
          <a:lstStyle/>
          <a:p>
            <a:r>
              <a:rPr sz="3300">
                <a:solidFill>
                  <a:srgbClr val="F4F3EE"/>
                </a:solidFill>
                <a:latin typeface="Georgia"/>
              </a:rPr>
              <a:t>95.2%</a:t>
            </a:r>
          </a:p>
        </p:txBody>
      </p:sp>
      <p:sp>
        <p:nvSpPr>
          <p:cNvPr id="32" name="TextBox 31"/>
          <p:cNvSpPr txBox="1"/>
          <p:nvPr/>
        </p:nvSpPr>
        <p:spPr>
          <a:xfrm>
            <a:off x="1024128" y="6428231"/>
            <a:ext cx="5394960" cy="502920"/>
          </a:xfrm>
          <a:prstGeom prst="rect">
            <a:avLst/>
          </a:prstGeom>
          <a:noFill/>
        </p:spPr>
        <p:txBody>
          <a:bodyPr wrap="square">
            <a:spAutoFit/>
          </a:bodyPr>
          <a:lstStyle/>
          <a:p>
            <a:r>
              <a:rPr sz="1500">
                <a:solidFill>
                  <a:srgbClr val="A8B4B8"/>
                </a:solidFill>
                <a:latin typeface="Arial"/>
              </a:rPr>
              <a:t>prime cost (COGS + labor) · healthy runs 60–65%</a:t>
            </a:r>
          </a:p>
        </p:txBody>
      </p:sp>
      <p:sp>
        <p:nvSpPr>
          <p:cNvPr id="33" name="TextBox 32"/>
          <p:cNvSpPr txBox="1"/>
          <p:nvPr/>
        </p:nvSpPr>
        <p:spPr>
          <a:xfrm>
            <a:off x="6830568" y="5897879"/>
            <a:ext cx="5394960" cy="502920"/>
          </a:xfrm>
          <a:prstGeom prst="rect">
            <a:avLst/>
          </a:prstGeom>
          <a:noFill/>
        </p:spPr>
        <p:txBody>
          <a:bodyPr wrap="none">
            <a:spAutoFit/>
          </a:bodyPr>
          <a:lstStyle/>
          <a:p>
            <a:r>
              <a:rPr sz="3300">
                <a:solidFill>
                  <a:srgbClr val="F4F3EE"/>
                </a:solidFill>
                <a:latin typeface="Georgia"/>
              </a:rPr>
              <a:t>$65.4K</a:t>
            </a:r>
          </a:p>
        </p:txBody>
      </p:sp>
      <p:sp>
        <p:nvSpPr>
          <p:cNvPr id="34" name="TextBox 33"/>
          <p:cNvSpPr txBox="1"/>
          <p:nvPr/>
        </p:nvSpPr>
        <p:spPr>
          <a:xfrm>
            <a:off x="6830568" y="6428231"/>
            <a:ext cx="5394960" cy="502920"/>
          </a:xfrm>
          <a:prstGeom prst="rect">
            <a:avLst/>
          </a:prstGeom>
          <a:noFill/>
        </p:spPr>
        <p:txBody>
          <a:bodyPr wrap="square">
            <a:spAutoFit/>
          </a:bodyPr>
          <a:lstStyle/>
          <a:p>
            <a:r>
              <a:rPr sz="1500">
                <a:solidFill>
                  <a:srgbClr val="A8B4B8"/>
                </a:solidFill>
                <a:latin typeface="Arial"/>
              </a:rPr>
              <a:t>flat management fee + rent charged today</a:t>
            </a:r>
          </a:p>
        </p:txBody>
      </p:sp>
      <p:sp>
        <p:nvSpPr>
          <p:cNvPr id="35" name="TextBox 34"/>
          <p:cNvSpPr txBox="1"/>
          <p:nvPr/>
        </p:nvSpPr>
        <p:spPr>
          <a:xfrm>
            <a:off x="12637008" y="5897879"/>
            <a:ext cx="5394960" cy="502920"/>
          </a:xfrm>
          <a:prstGeom prst="rect">
            <a:avLst/>
          </a:prstGeom>
          <a:noFill/>
        </p:spPr>
        <p:txBody>
          <a:bodyPr wrap="none">
            <a:spAutoFit/>
          </a:bodyPr>
          <a:lstStyle/>
          <a:p>
            <a:r>
              <a:rPr sz="3300">
                <a:solidFill>
                  <a:srgbClr val="F4F3EE"/>
                </a:solidFill>
                <a:latin typeface="Georgia"/>
              </a:rPr>
              <a:t>($18.6K)</a:t>
            </a:r>
          </a:p>
        </p:txBody>
      </p:sp>
      <p:sp>
        <p:nvSpPr>
          <p:cNvPr id="36" name="TextBox 35"/>
          <p:cNvSpPr txBox="1"/>
          <p:nvPr/>
        </p:nvSpPr>
        <p:spPr>
          <a:xfrm>
            <a:off x="12637008" y="6428231"/>
            <a:ext cx="5394960" cy="502920"/>
          </a:xfrm>
          <a:prstGeom prst="rect">
            <a:avLst/>
          </a:prstGeom>
          <a:noFill/>
        </p:spPr>
        <p:txBody>
          <a:bodyPr wrap="square">
            <a:spAutoFit/>
          </a:bodyPr>
          <a:lstStyle/>
          <a:p>
            <a:r>
              <a:rPr sz="1500">
                <a:solidFill>
                  <a:srgbClr val="A8B4B8"/>
                </a:solidFill>
                <a:latin typeface="Arial"/>
              </a:rPr>
              <a:t>discounts &amp; comps given away · −6.4% of sales</a:t>
            </a:r>
          </a:p>
        </p:txBody>
      </p:sp>
      <p:sp>
        <p:nvSpPr>
          <p:cNvPr id="37" name="TextBox 36"/>
          <p:cNvSpPr txBox="1"/>
          <p:nvPr/>
        </p:nvSpPr>
        <p:spPr>
          <a:xfrm>
            <a:off x="1024128" y="7863840"/>
            <a:ext cx="16002000" cy="457200"/>
          </a:xfrm>
          <a:prstGeom prst="rect">
            <a:avLst/>
          </a:prstGeom>
          <a:noFill/>
        </p:spPr>
        <p:txBody>
          <a:bodyPr wrap="none">
            <a:spAutoFit/>
          </a:bodyPr>
          <a:lstStyle/>
          <a:p>
            <a:r>
              <a:rPr sz="1300">
                <a:solidFill>
                  <a:srgbClr val="A8B4B8"/>
                </a:solidFill>
                <a:latin typeface="Arial"/>
              </a:rPr>
              <a:t>Source: 2026 Act/For P&amp;L (June close). The concept works — the cost structure doesn’t: labor, owner charges and giveaways absorb the entire gross margin.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32B430A1-C825-5712-418E-E064E27B795B}"/>
              </a:ext>
            </a:extLst>
          </p:cNvPr>
          <p:cNvPicPr>
            <a:picLocks noChangeAspect="1"/>
          </p:cNvPicPr>
          <p:nvPr/>
        </p:nvPicPr>
        <p:blipFill>
          <a:blip r:embed="rId2"/>
          <a:srcRect l="4899" t="6054" r="4899"/>
          <a:stretch>
            <a:fillRect/>
          </a:stretch>
        </p:blipFill>
        <p:spPr>
          <a:xfrm>
            <a:off x="0" y="38100"/>
            <a:ext cx="7460770" cy="10248900"/>
          </a:xfrm>
          <a:prstGeom prst="rect">
            <a:avLst/>
          </a:prstGeom>
        </p:spPr>
      </p:pic>
      <p:sp>
        <p:nvSpPr>
          <p:cNvPr id="3" name="Text 0">
            <a:extLst>
              <a:ext uri="{FF2B5EF4-FFF2-40B4-BE49-F238E27FC236}">
                <a16:creationId xmlns:a16="http://schemas.microsoft.com/office/drawing/2014/main" id="{3E8D2534-B6A9-D46E-878A-71057C9D2F47}"/>
              </a:ext>
            </a:extLst>
          </p:cNvPr>
          <p:cNvSpPr/>
          <p:nvPr/>
        </p:nvSpPr>
        <p:spPr>
          <a:xfrm>
            <a:off x="7835205" y="2238375"/>
            <a:ext cx="10617964"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THE OPPORTUNITY</a:t>
            </a:r>
            <a:endParaRPr lang="en-US" sz="1650" dirty="0"/>
          </a:p>
        </p:txBody>
      </p:sp>
      <p:sp>
        <p:nvSpPr>
          <p:cNvPr id="4" name="Text 1">
            <a:extLst>
              <a:ext uri="{FF2B5EF4-FFF2-40B4-BE49-F238E27FC236}">
                <a16:creationId xmlns:a16="http://schemas.microsoft.com/office/drawing/2014/main" id="{48FA2FA8-269F-2CFF-D4C9-E68489188A3E}"/>
              </a:ext>
            </a:extLst>
          </p:cNvPr>
          <p:cNvSpPr/>
          <p:nvPr/>
        </p:nvSpPr>
        <p:spPr>
          <a:xfrm>
            <a:off x="7835205" y="2657475"/>
            <a:ext cx="10617964" cy="647700"/>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650" kern="0" spc="-37" dirty="0">
                <a:solidFill>
                  <a:srgbClr val="22424B"/>
                </a:solidFill>
                <a:latin typeface="Georgia" pitchFamily="34" charset="0"/>
                <a:ea typeface="Georgia" pitchFamily="34" charset="-122"/>
                <a:cs typeface="Georgia" pitchFamily="34" charset="-120"/>
              </a:rPr>
              <a:t>The peninsula has no corner store</a:t>
            </a:r>
            <a:endParaRPr lang="en-US" sz="4650" dirty="0"/>
          </a:p>
        </p:txBody>
      </p:sp>
      <p:sp>
        <p:nvSpPr>
          <p:cNvPr id="5" name="Text 2">
            <a:extLst>
              <a:ext uri="{FF2B5EF4-FFF2-40B4-BE49-F238E27FC236}">
                <a16:creationId xmlns:a16="http://schemas.microsoft.com/office/drawing/2014/main" id="{B57DC3B8-4B3E-95A3-2AB9-13A964D79411}"/>
              </a:ext>
            </a:extLst>
          </p:cNvPr>
          <p:cNvSpPr/>
          <p:nvPr/>
        </p:nvSpPr>
        <p:spPr>
          <a:xfrm>
            <a:off x="7835205" y="3476625"/>
            <a:ext cx="8044815" cy="112395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950" dirty="0">
                <a:solidFill>
                  <a:srgbClr val="3F4A4E"/>
                </a:solidFill>
                <a:latin typeface="Arial" pitchFamily="34" charset="0"/>
                <a:ea typeface="Arial" pitchFamily="34" charset="-122"/>
                <a:cs typeface="Arial" pitchFamily="34" charset="-120"/>
              </a:rPr>
              <a:t>I-95 and the rail lines cut the peninsula off from Federal Hill — no way to buy milk, a bottle of wine, or other everyday essentials. Four customer groups already come in for coffee:</a:t>
            </a:r>
            <a:endParaRPr lang="en-US" sz="1950" dirty="0"/>
          </a:p>
        </p:txBody>
      </p:sp>
      <p:sp>
        <p:nvSpPr>
          <p:cNvPr id="6" name="Shape 3">
            <a:extLst>
              <a:ext uri="{FF2B5EF4-FFF2-40B4-BE49-F238E27FC236}">
                <a16:creationId xmlns:a16="http://schemas.microsoft.com/office/drawing/2014/main" id="{AE0C12A9-9E41-D3B8-F370-9375F868B128}"/>
              </a:ext>
            </a:extLst>
          </p:cNvPr>
          <p:cNvSpPr/>
          <p:nvPr/>
        </p:nvSpPr>
        <p:spPr>
          <a:xfrm>
            <a:off x="7835205" y="4886325"/>
            <a:ext cx="4616648" cy="19050"/>
          </a:xfrm>
          <a:prstGeom prst="rect">
            <a:avLst/>
          </a:prstGeom>
          <a:solidFill>
            <a:srgbClr val="1E7E8C"/>
          </a:solidFill>
          <a:ln/>
        </p:spPr>
        <p:txBody>
          <a:bodyPr/>
          <a:lstStyle/>
          <a:p>
            <a:endParaRPr lang="en-US"/>
          </a:p>
        </p:txBody>
      </p:sp>
      <p:sp>
        <p:nvSpPr>
          <p:cNvPr id="7" name="Text 4">
            <a:extLst>
              <a:ext uri="{FF2B5EF4-FFF2-40B4-BE49-F238E27FC236}">
                <a16:creationId xmlns:a16="http://schemas.microsoft.com/office/drawing/2014/main" id="{6AD6BBFF-A3AC-6DF3-1EEF-468D03C323B2}"/>
              </a:ext>
            </a:extLst>
          </p:cNvPr>
          <p:cNvSpPr/>
          <p:nvPr/>
        </p:nvSpPr>
        <p:spPr>
          <a:xfrm>
            <a:off x="7835205" y="5038725"/>
            <a:ext cx="5078313"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1,000+</a:t>
            </a:r>
            <a:endParaRPr lang="en-US" sz="3300" dirty="0"/>
          </a:p>
        </p:txBody>
      </p:sp>
      <p:sp>
        <p:nvSpPr>
          <p:cNvPr id="8" name="Text 5">
            <a:extLst>
              <a:ext uri="{FF2B5EF4-FFF2-40B4-BE49-F238E27FC236}">
                <a16:creationId xmlns:a16="http://schemas.microsoft.com/office/drawing/2014/main" id="{31B9D51B-1BCB-201A-1B8E-34699254CA4A}"/>
              </a:ext>
            </a:extLst>
          </p:cNvPr>
          <p:cNvSpPr/>
          <p:nvPr/>
        </p:nvSpPr>
        <p:spPr>
          <a:xfrm>
            <a:off x="7835205" y="5514975"/>
            <a:ext cx="5078313"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residential units nearby</a:t>
            </a:r>
            <a:endParaRPr lang="en-US" sz="1650" dirty="0"/>
          </a:p>
        </p:txBody>
      </p:sp>
      <p:sp>
        <p:nvSpPr>
          <p:cNvPr id="9" name="Shape 6">
            <a:extLst>
              <a:ext uri="{FF2B5EF4-FFF2-40B4-BE49-F238E27FC236}">
                <a16:creationId xmlns:a16="http://schemas.microsoft.com/office/drawing/2014/main" id="{BD2AF02A-76C8-1981-ABA4-6775542960AA}"/>
              </a:ext>
            </a:extLst>
          </p:cNvPr>
          <p:cNvSpPr/>
          <p:nvPr/>
        </p:nvSpPr>
        <p:spPr>
          <a:xfrm>
            <a:off x="12870954" y="4886325"/>
            <a:ext cx="4616946" cy="19050"/>
          </a:xfrm>
          <a:prstGeom prst="rect">
            <a:avLst/>
          </a:prstGeom>
          <a:solidFill>
            <a:srgbClr val="1E7E8C"/>
          </a:solidFill>
          <a:ln/>
        </p:spPr>
        <p:txBody>
          <a:bodyPr/>
          <a:lstStyle/>
          <a:p>
            <a:endParaRPr lang="en-US"/>
          </a:p>
        </p:txBody>
      </p:sp>
      <p:sp>
        <p:nvSpPr>
          <p:cNvPr id="10" name="Text 7">
            <a:extLst>
              <a:ext uri="{FF2B5EF4-FFF2-40B4-BE49-F238E27FC236}">
                <a16:creationId xmlns:a16="http://schemas.microsoft.com/office/drawing/2014/main" id="{51CEB188-885F-F3AE-A5F8-965C5522574A}"/>
              </a:ext>
            </a:extLst>
          </p:cNvPr>
          <p:cNvSpPr/>
          <p:nvPr/>
        </p:nvSpPr>
        <p:spPr>
          <a:xfrm>
            <a:off x="12870954" y="5038725"/>
            <a:ext cx="5078641"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80 keys</a:t>
            </a:r>
            <a:endParaRPr lang="en-US" sz="3300" dirty="0"/>
          </a:p>
        </p:txBody>
      </p:sp>
      <p:sp>
        <p:nvSpPr>
          <p:cNvPr id="11" name="Text 8">
            <a:extLst>
              <a:ext uri="{FF2B5EF4-FFF2-40B4-BE49-F238E27FC236}">
                <a16:creationId xmlns:a16="http://schemas.microsoft.com/office/drawing/2014/main" id="{EF153671-4D1A-C052-2F00-47BF625BD83A}"/>
              </a:ext>
            </a:extLst>
          </p:cNvPr>
          <p:cNvSpPr/>
          <p:nvPr/>
        </p:nvSpPr>
        <p:spPr>
          <a:xfrm>
            <a:off x="12870954" y="5514975"/>
            <a:ext cx="507864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of furnished ROOST stays upstairs</a:t>
            </a:r>
            <a:endParaRPr lang="en-US" sz="1650" dirty="0"/>
          </a:p>
        </p:txBody>
      </p:sp>
      <p:sp>
        <p:nvSpPr>
          <p:cNvPr id="12" name="Shape 9">
            <a:extLst>
              <a:ext uri="{FF2B5EF4-FFF2-40B4-BE49-F238E27FC236}">
                <a16:creationId xmlns:a16="http://schemas.microsoft.com/office/drawing/2014/main" id="{2E61CEB8-0A7C-5B86-3A41-4373E5982F46}"/>
              </a:ext>
            </a:extLst>
          </p:cNvPr>
          <p:cNvSpPr/>
          <p:nvPr/>
        </p:nvSpPr>
        <p:spPr>
          <a:xfrm>
            <a:off x="7835205" y="5991225"/>
            <a:ext cx="4616648" cy="19050"/>
          </a:xfrm>
          <a:prstGeom prst="rect">
            <a:avLst/>
          </a:prstGeom>
          <a:solidFill>
            <a:srgbClr val="1E7E8C"/>
          </a:solidFill>
          <a:ln/>
        </p:spPr>
        <p:txBody>
          <a:bodyPr/>
          <a:lstStyle/>
          <a:p>
            <a:endParaRPr lang="en-US"/>
          </a:p>
        </p:txBody>
      </p:sp>
      <p:sp>
        <p:nvSpPr>
          <p:cNvPr id="13" name="Text 10">
            <a:extLst>
              <a:ext uri="{FF2B5EF4-FFF2-40B4-BE49-F238E27FC236}">
                <a16:creationId xmlns:a16="http://schemas.microsoft.com/office/drawing/2014/main" id="{8370B349-84A2-0F70-36D0-0B005C15AD55}"/>
              </a:ext>
            </a:extLst>
          </p:cNvPr>
          <p:cNvSpPr/>
          <p:nvPr/>
        </p:nvSpPr>
        <p:spPr>
          <a:xfrm>
            <a:off x="7835205" y="6143625"/>
            <a:ext cx="5078313"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75%</a:t>
            </a:r>
            <a:endParaRPr lang="en-US" sz="3300" dirty="0"/>
          </a:p>
        </p:txBody>
      </p:sp>
      <p:sp>
        <p:nvSpPr>
          <p:cNvPr id="14" name="Text 11">
            <a:extLst>
              <a:ext uri="{FF2B5EF4-FFF2-40B4-BE49-F238E27FC236}">
                <a16:creationId xmlns:a16="http://schemas.microsoft.com/office/drawing/2014/main" id="{19C0AE78-1F75-4AA6-ECD5-90BCED384738}"/>
              </a:ext>
            </a:extLst>
          </p:cNvPr>
          <p:cNvSpPr/>
          <p:nvPr/>
        </p:nvSpPr>
        <p:spPr>
          <a:xfrm>
            <a:off x="7835205" y="6619875"/>
            <a:ext cx="5078313"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of 440K SF of office leased</a:t>
            </a:r>
            <a:endParaRPr lang="en-US" sz="1650" dirty="0"/>
          </a:p>
        </p:txBody>
      </p:sp>
      <p:sp>
        <p:nvSpPr>
          <p:cNvPr id="15" name="Shape 12">
            <a:extLst>
              <a:ext uri="{FF2B5EF4-FFF2-40B4-BE49-F238E27FC236}">
                <a16:creationId xmlns:a16="http://schemas.microsoft.com/office/drawing/2014/main" id="{3DBA199D-E60A-6600-9929-FE0F3DFD9309}"/>
              </a:ext>
            </a:extLst>
          </p:cNvPr>
          <p:cNvSpPr/>
          <p:nvPr/>
        </p:nvSpPr>
        <p:spPr>
          <a:xfrm>
            <a:off x="12870954" y="5991225"/>
            <a:ext cx="4616946" cy="19050"/>
          </a:xfrm>
          <a:prstGeom prst="rect">
            <a:avLst/>
          </a:prstGeom>
          <a:solidFill>
            <a:srgbClr val="1E7E8C"/>
          </a:solidFill>
          <a:ln/>
        </p:spPr>
        <p:txBody>
          <a:bodyPr/>
          <a:lstStyle/>
          <a:p>
            <a:endParaRPr lang="en-US"/>
          </a:p>
        </p:txBody>
      </p:sp>
      <p:sp>
        <p:nvSpPr>
          <p:cNvPr id="16" name="Text 13">
            <a:extLst>
              <a:ext uri="{FF2B5EF4-FFF2-40B4-BE49-F238E27FC236}">
                <a16:creationId xmlns:a16="http://schemas.microsoft.com/office/drawing/2014/main" id="{790C5DED-825A-3401-358A-2968B70A3DA2}"/>
              </a:ext>
            </a:extLst>
          </p:cNvPr>
          <p:cNvSpPr/>
          <p:nvPr/>
        </p:nvSpPr>
        <p:spPr>
          <a:xfrm>
            <a:off x="12870954" y="6143625"/>
            <a:ext cx="5078641"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40 acres</a:t>
            </a:r>
            <a:endParaRPr lang="en-US" sz="3300" dirty="0"/>
          </a:p>
        </p:txBody>
      </p:sp>
      <p:sp>
        <p:nvSpPr>
          <p:cNvPr id="17" name="Text 14">
            <a:extLst>
              <a:ext uri="{FF2B5EF4-FFF2-40B4-BE49-F238E27FC236}">
                <a16:creationId xmlns:a16="http://schemas.microsoft.com/office/drawing/2014/main" id="{783DBC69-A275-75B0-8B9D-BF7DB3246BE6}"/>
              </a:ext>
            </a:extLst>
          </p:cNvPr>
          <p:cNvSpPr/>
          <p:nvPr/>
        </p:nvSpPr>
        <p:spPr>
          <a:xfrm>
            <a:off x="12870954" y="6619875"/>
            <a:ext cx="507864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of parks &amp; waterfront foot traffic</a:t>
            </a:r>
            <a:endParaRPr lang="en-US" sz="1650" dirty="0"/>
          </a:p>
        </p:txBody>
      </p:sp>
      <p:sp>
        <p:nvSpPr>
          <p:cNvPr id="18" name="Shape 15">
            <a:extLst>
              <a:ext uri="{FF2B5EF4-FFF2-40B4-BE49-F238E27FC236}">
                <a16:creationId xmlns:a16="http://schemas.microsoft.com/office/drawing/2014/main" id="{31140856-A071-799B-B08A-AF640C28BDC3}"/>
              </a:ext>
            </a:extLst>
          </p:cNvPr>
          <p:cNvSpPr/>
          <p:nvPr/>
        </p:nvSpPr>
        <p:spPr>
          <a:xfrm>
            <a:off x="7835205" y="7172325"/>
            <a:ext cx="9652695" cy="19050"/>
          </a:xfrm>
          <a:prstGeom prst="rect">
            <a:avLst/>
          </a:prstGeom>
          <a:solidFill>
            <a:srgbClr val="DADCD6"/>
          </a:solidFill>
          <a:ln/>
        </p:spPr>
        <p:txBody>
          <a:bodyPr/>
          <a:lstStyle/>
          <a:p>
            <a:endParaRPr lang="en-US"/>
          </a:p>
        </p:txBody>
      </p:sp>
    </p:spTree>
    <p:extLst>
      <p:ext uri="{BB962C8B-B14F-4D97-AF65-F5344CB8AC3E}">
        <p14:creationId xmlns:p14="http://schemas.microsoft.com/office/powerpoint/2010/main" val="776265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PRODUCT MIX</a:t>
            </a:r>
            <a:endParaRPr lang="en-US" sz="1650" spc="300" dirty="0"/>
          </a:p>
        </p:txBody>
      </p:sp>
      <p:sp>
        <p:nvSpPr>
          <p:cNvPr id="3" name="Text 1"/>
          <p:cNvSpPr/>
          <p:nvPr/>
        </p:nvSpPr>
        <p:spPr>
          <a:xfrm>
            <a:off x="952500" y="1123950"/>
            <a:ext cx="18021300" cy="62865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650" kern="0" spc="-37" dirty="0">
                <a:solidFill>
                  <a:srgbClr val="22424B"/>
                </a:solidFill>
                <a:latin typeface="Georgia" pitchFamily="34" charset="0"/>
                <a:ea typeface="Georgia" pitchFamily="34" charset="-122"/>
                <a:cs typeface="Georgia" pitchFamily="34" charset="-120"/>
              </a:rPr>
              <a:t>What Little Wing sells</a:t>
            </a:r>
            <a:endParaRPr lang="en-US" sz="4650" dirty="0"/>
          </a:p>
        </p:txBody>
      </p:sp>
      <p:pic>
        <p:nvPicPr>
          <p:cNvPr id="4" name="Image 0" descr="preencoded.png"/>
          <p:cNvPicPr>
            <a:picLocks noChangeAspect="1"/>
          </p:cNvPicPr>
          <p:nvPr/>
        </p:nvPicPr>
        <p:blipFill>
          <a:blip r:embed="rId3"/>
          <a:stretch>
            <a:fillRect/>
          </a:stretch>
        </p:blipFill>
        <p:spPr>
          <a:xfrm>
            <a:off x="952500" y="3076575"/>
            <a:ext cx="4000500" cy="4000500"/>
          </a:xfrm>
          <a:prstGeom prst="rect">
            <a:avLst/>
          </a:prstGeom>
        </p:spPr>
      </p:pic>
      <p:sp>
        <p:nvSpPr>
          <p:cNvPr id="5" name="Shape 2"/>
          <p:cNvSpPr/>
          <p:nvPr/>
        </p:nvSpPr>
        <p:spPr>
          <a:xfrm>
            <a:off x="5676900" y="3048000"/>
            <a:ext cx="190500" cy="190500"/>
          </a:xfrm>
          <a:prstGeom prst="roundRect">
            <a:avLst>
              <a:gd name="adj" fmla="val 20000"/>
            </a:avLst>
          </a:prstGeom>
          <a:solidFill>
            <a:srgbClr val="1B3A44"/>
          </a:solidFill>
          <a:ln/>
        </p:spPr>
        <p:txBody>
          <a:bodyPr/>
          <a:lstStyle/>
          <a:p>
            <a:endParaRPr lang="en-US"/>
          </a:p>
        </p:txBody>
      </p:sp>
      <p:sp>
        <p:nvSpPr>
          <p:cNvPr id="6" name="Text 3"/>
          <p:cNvSpPr/>
          <p:nvPr/>
        </p:nvSpPr>
        <p:spPr>
          <a:xfrm>
            <a:off x="6038850" y="30099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Coffee &amp; tea drinks</a:t>
            </a:r>
            <a:endParaRPr lang="en-US" sz="1800" dirty="0"/>
          </a:p>
        </p:txBody>
      </p:sp>
      <p:sp>
        <p:nvSpPr>
          <p:cNvPr id="7" name="Text 4"/>
          <p:cNvSpPr/>
          <p:nvPr/>
        </p:nvSpPr>
        <p:spPr>
          <a:xfrm>
            <a:off x="15182850" y="30289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$100.6K</a:t>
            </a:r>
            <a:endParaRPr lang="en-US" sz="1650" dirty="0"/>
          </a:p>
        </p:txBody>
      </p:sp>
      <p:sp>
        <p:nvSpPr>
          <p:cNvPr id="8" name="Text 5"/>
          <p:cNvSpPr/>
          <p:nvPr/>
        </p:nvSpPr>
        <p:spPr>
          <a:xfrm>
            <a:off x="16402050" y="29813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40%</a:t>
            </a:r>
            <a:endParaRPr lang="en-US" sz="2250" dirty="0"/>
          </a:p>
        </p:txBody>
      </p:sp>
      <p:sp>
        <p:nvSpPr>
          <p:cNvPr id="9" name="Shape 6"/>
          <p:cNvSpPr/>
          <p:nvPr/>
        </p:nvSpPr>
        <p:spPr>
          <a:xfrm>
            <a:off x="5676900" y="3409950"/>
            <a:ext cx="11658600" cy="19050"/>
          </a:xfrm>
          <a:prstGeom prst="rect">
            <a:avLst/>
          </a:prstGeom>
          <a:solidFill>
            <a:srgbClr val="DEE0DA"/>
          </a:solidFill>
          <a:ln/>
        </p:spPr>
        <p:txBody>
          <a:bodyPr/>
          <a:lstStyle/>
          <a:p>
            <a:endParaRPr lang="en-US"/>
          </a:p>
        </p:txBody>
      </p:sp>
      <p:sp>
        <p:nvSpPr>
          <p:cNvPr id="10" name="Shape 7"/>
          <p:cNvSpPr/>
          <p:nvPr/>
        </p:nvSpPr>
        <p:spPr>
          <a:xfrm>
            <a:off x="5676900" y="3600450"/>
            <a:ext cx="190500" cy="190500"/>
          </a:xfrm>
          <a:prstGeom prst="roundRect">
            <a:avLst>
              <a:gd name="adj" fmla="val 20000"/>
            </a:avLst>
          </a:prstGeom>
          <a:solidFill>
            <a:srgbClr val="1E7E8C"/>
          </a:solidFill>
          <a:ln/>
        </p:spPr>
        <p:txBody>
          <a:bodyPr/>
          <a:lstStyle/>
          <a:p>
            <a:endParaRPr lang="en-US"/>
          </a:p>
        </p:txBody>
      </p:sp>
      <p:sp>
        <p:nvSpPr>
          <p:cNvPr id="11" name="Text 8"/>
          <p:cNvSpPr/>
          <p:nvPr/>
        </p:nvSpPr>
        <p:spPr>
          <a:xfrm>
            <a:off x="6038850" y="35623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Sandwiches</a:t>
            </a:r>
            <a:endParaRPr lang="en-US" sz="1800" dirty="0"/>
          </a:p>
        </p:txBody>
      </p:sp>
      <p:sp>
        <p:nvSpPr>
          <p:cNvPr id="12" name="Text 9"/>
          <p:cNvSpPr/>
          <p:nvPr/>
        </p:nvSpPr>
        <p:spPr>
          <a:xfrm>
            <a:off x="15182850" y="35814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$43.1K</a:t>
            </a:r>
            <a:endParaRPr lang="en-US" sz="1650" dirty="0"/>
          </a:p>
        </p:txBody>
      </p:sp>
      <p:sp>
        <p:nvSpPr>
          <p:cNvPr id="13" name="Text 10"/>
          <p:cNvSpPr/>
          <p:nvPr/>
        </p:nvSpPr>
        <p:spPr>
          <a:xfrm>
            <a:off x="16402050" y="35337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17%</a:t>
            </a:r>
            <a:endParaRPr lang="en-US" sz="2250" dirty="0"/>
          </a:p>
        </p:txBody>
      </p:sp>
      <p:sp>
        <p:nvSpPr>
          <p:cNvPr id="14" name="Shape 11"/>
          <p:cNvSpPr/>
          <p:nvPr/>
        </p:nvSpPr>
        <p:spPr>
          <a:xfrm>
            <a:off x="5676900" y="3962400"/>
            <a:ext cx="11658600" cy="19050"/>
          </a:xfrm>
          <a:prstGeom prst="rect">
            <a:avLst/>
          </a:prstGeom>
          <a:solidFill>
            <a:srgbClr val="DEE0DA"/>
          </a:solidFill>
          <a:ln/>
        </p:spPr>
        <p:txBody>
          <a:bodyPr/>
          <a:lstStyle/>
          <a:p>
            <a:endParaRPr lang="en-US"/>
          </a:p>
        </p:txBody>
      </p:sp>
      <p:sp>
        <p:nvSpPr>
          <p:cNvPr id="15" name="Shape 12"/>
          <p:cNvSpPr/>
          <p:nvPr/>
        </p:nvSpPr>
        <p:spPr>
          <a:xfrm>
            <a:off x="5676900" y="4152900"/>
            <a:ext cx="190500" cy="190500"/>
          </a:xfrm>
          <a:prstGeom prst="roundRect">
            <a:avLst>
              <a:gd name="adj" fmla="val 20000"/>
            </a:avLst>
          </a:prstGeom>
          <a:solidFill>
            <a:srgbClr val="4FA3B0"/>
          </a:solidFill>
          <a:ln/>
        </p:spPr>
        <p:txBody>
          <a:bodyPr/>
          <a:lstStyle/>
          <a:p>
            <a:endParaRPr lang="en-US"/>
          </a:p>
        </p:txBody>
      </p:sp>
      <p:sp>
        <p:nvSpPr>
          <p:cNvPr id="16" name="Text 13"/>
          <p:cNvSpPr/>
          <p:nvPr/>
        </p:nvSpPr>
        <p:spPr>
          <a:xfrm>
            <a:off x="6038850" y="41148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Retail beverages</a:t>
            </a:r>
            <a:endParaRPr lang="en-US" sz="1800" dirty="0"/>
          </a:p>
        </p:txBody>
      </p:sp>
      <p:sp>
        <p:nvSpPr>
          <p:cNvPr id="17" name="Text 14"/>
          <p:cNvSpPr/>
          <p:nvPr/>
        </p:nvSpPr>
        <p:spPr>
          <a:xfrm>
            <a:off x="15182850" y="41338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$42.7K</a:t>
            </a:r>
            <a:endParaRPr lang="en-US" sz="1650" dirty="0"/>
          </a:p>
        </p:txBody>
      </p:sp>
      <p:sp>
        <p:nvSpPr>
          <p:cNvPr id="18" name="Text 15"/>
          <p:cNvSpPr/>
          <p:nvPr/>
        </p:nvSpPr>
        <p:spPr>
          <a:xfrm>
            <a:off x="16402050" y="40862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17%</a:t>
            </a:r>
            <a:endParaRPr lang="en-US" sz="2250" dirty="0"/>
          </a:p>
        </p:txBody>
      </p:sp>
      <p:sp>
        <p:nvSpPr>
          <p:cNvPr id="19" name="Shape 16"/>
          <p:cNvSpPr/>
          <p:nvPr/>
        </p:nvSpPr>
        <p:spPr>
          <a:xfrm>
            <a:off x="5676900" y="4514850"/>
            <a:ext cx="11658600" cy="19050"/>
          </a:xfrm>
          <a:prstGeom prst="rect">
            <a:avLst/>
          </a:prstGeom>
          <a:solidFill>
            <a:srgbClr val="DEE0DA"/>
          </a:solidFill>
          <a:ln/>
        </p:spPr>
        <p:txBody>
          <a:bodyPr/>
          <a:lstStyle/>
          <a:p>
            <a:endParaRPr lang="en-US"/>
          </a:p>
        </p:txBody>
      </p:sp>
      <p:sp>
        <p:nvSpPr>
          <p:cNvPr id="20" name="Shape 17"/>
          <p:cNvSpPr/>
          <p:nvPr/>
        </p:nvSpPr>
        <p:spPr>
          <a:xfrm>
            <a:off x="5676900" y="4705350"/>
            <a:ext cx="190500" cy="190500"/>
          </a:xfrm>
          <a:prstGeom prst="roundRect">
            <a:avLst>
              <a:gd name="adj" fmla="val 20000"/>
            </a:avLst>
          </a:prstGeom>
          <a:solidFill>
            <a:srgbClr val="7FC0C7"/>
          </a:solidFill>
          <a:ln/>
        </p:spPr>
        <p:txBody>
          <a:bodyPr/>
          <a:lstStyle/>
          <a:p>
            <a:endParaRPr lang="en-US"/>
          </a:p>
        </p:txBody>
      </p:sp>
      <p:sp>
        <p:nvSpPr>
          <p:cNvPr id="21" name="Text 18"/>
          <p:cNvSpPr/>
          <p:nvPr/>
        </p:nvSpPr>
        <p:spPr>
          <a:xfrm>
            <a:off x="6038850" y="46672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Pastries</a:t>
            </a:r>
            <a:endParaRPr lang="en-US" sz="1800" dirty="0"/>
          </a:p>
        </p:txBody>
      </p:sp>
      <p:sp>
        <p:nvSpPr>
          <p:cNvPr id="22" name="Text 19"/>
          <p:cNvSpPr/>
          <p:nvPr/>
        </p:nvSpPr>
        <p:spPr>
          <a:xfrm>
            <a:off x="15182850" y="46863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$20.6K</a:t>
            </a:r>
            <a:endParaRPr lang="en-US" sz="1650" dirty="0"/>
          </a:p>
        </p:txBody>
      </p:sp>
      <p:sp>
        <p:nvSpPr>
          <p:cNvPr id="23" name="Text 20"/>
          <p:cNvSpPr/>
          <p:nvPr/>
        </p:nvSpPr>
        <p:spPr>
          <a:xfrm>
            <a:off x="16402050" y="46386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8%</a:t>
            </a:r>
            <a:endParaRPr lang="en-US" sz="2250" dirty="0"/>
          </a:p>
        </p:txBody>
      </p:sp>
      <p:sp>
        <p:nvSpPr>
          <p:cNvPr id="24" name="Shape 21"/>
          <p:cNvSpPr/>
          <p:nvPr/>
        </p:nvSpPr>
        <p:spPr>
          <a:xfrm>
            <a:off x="5676900" y="5067300"/>
            <a:ext cx="11658600" cy="19050"/>
          </a:xfrm>
          <a:prstGeom prst="rect">
            <a:avLst/>
          </a:prstGeom>
          <a:solidFill>
            <a:srgbClr val="DEE0DA"/>
          </a:solidFill>
          <a:ln/>
        </p:spPr>
        <p:txBody>
          <a:bodyPr/>
          <a:lstStyle/>
          <a:p>
            <a:endParaRPr lang="en-US"/>
          </a:p>
        </p:txBody>
      </p:sp>
      <p:sp>
        <p:nvSpPr>
          <p:cNvPr id="25" name="Shape 22"/>
          <p:cNvSpPr/>
          <p:nvPr/>
        </p:nvSpPr>
        <p:spPr>
          <a:xfrm>
            <a:off x="5676900" y="5257800"/>
            <a:ext cx="190500" cy="190500"/>
          </a:xfrm>
          <a:prstGeom prst="roundRect">
            <a:avLst>
              <a:gd name="adj" fmla="val 20000"/>
            </a:avLst>
          </a:prstGeom>
          <a:solidFill>
            <a:srgbClr val="2E6B50"/>
          </a:solidFill>
          <a:ln/>
        </p:spPr>
        <p:txBody>
          <a:bodyPr/>
          <a:lstStyle/>
          <a:p>
            <a:endParaRPr lang="en-US"/>
          </a:p>
        </p:txBody>
      </p:sp>
      <p:sp>
        <p:nvSpPr>
          <p:cNvPr id="26" name="Text 23"/>
          <p:cNvSpPr/>
          <p:nvPr/>
        </p:nvSpPr>
        <p:spPr>
          <a:xfrm>
            <a:off x="6038850" y="52197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Grocery, snacks &amp; goods</a:t>
            </a:r>
            <a:endParaRPr lang="en-US" sz="1800" dirty="0"/>
          </a:p>
        </p:txBody>
      </p:sp>
      <p:sp>
        <p:nvSpPr>
          <p:cNvPr id="27" name="Text 24"/>
          <p:cNvSpPr/>
          <p:nvPr/>
        </p:nvSpPr>
        <p:spPr>
          <a:xfrm>
            <a:off x="15182850" y="52387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$18.3K</a:t>
            </a:r>
            <a:endParaRPr lang="en-US" sz="1650" dirty="0"/>
          </a:p>
        </p:txBody>
      </p:sp>
      <p:sp>
        <p:nvSpPr>
          <p:cNvPr id="28" name="Text 25"/>
          <p:cNvSpPr/>
          <p:nvPr/>
        </p:nvSpPr>
        <p:spPr>
          <a:xfrm>
            <a:off x="16402050" y="51911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7%</a:t>
            </a:r>
            <a:endParaRPr lang="en-US" sz="2250" dirty="0"/>
          </a:p>
        </p:txBody>
      </p:sp>
      <p:sp>
        <p:nvSpPr>
          <p:cNvPr id="29" name="Shape 26"/>
          <p:cNvSpPr/>
          <p:nvPr/>
        </p:nvSpPr>
        <p:spPr>
          <a:xfrm>
            <a:off x="5676900" y="5619750"/>
            <a:ext cx="11658600" cy="19050"/>
          </a:xfrm>
          <a:prstGeom prst="rect">
            <a:avLst/>
          </a:prstGeom>
          <a:solidFill>
            <a:srgbClr val="DEE0DA"/>
          </a:solidFill>
          <a:ln/>
        </p:spPr>
        <p:txBody>
          <a:bodyPr/>
          <a:lstStyle/>
          <a:p>
            <a:endParaRPr lang="en-US"/>
          </a:p>
        </p:txBody>
      </p:sp>
      <p:sp>
        <p:nvSpPr>
          <p:cNvPr id="30" name="Shape 27"/>
          <p:cNvSpPr/>
          <p:nvPr/>
        </p:nvSpPr>
        <p:spPr>
          <a:xfrm>
            <a:off x="5676900" y="5810250"/>
            <a:ext cx="190500" cy="190500"/>
          </a:xfrm>
          <a:prstGeom prst="roundRect">
            <a:avLst>
              <a:gd name="adj" fmla="val 20000"/>
            </a:avLst>
          </a:prstGeom>
          <a:solidFill>
            <a:srgbClr val="5F9068"/>
          </a:solidFill>
          <a:ln/>
        </p:spPr>
        <p:txBody>
          <a:bodyPr/>
          <a:lstStyle/>
          <a:p>
            <a:endParaRPr lang="en-US"/>
          </a:p>
        </p:txBody>
      </p:sp>
      <p:sp>
        <p:nvSpPr>
          <p:cNvPr id="31" name="Text 28"/>
          <p:cNvSpPr/>
          <p:nvPr/>
        </p:nvSpPr>
        <p:spPr>
          <a:xfrm>
            <a:off x="6038850" y="57721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Grab &amp; Go</a:t>
            </a:r>
            <a:endParaRPr lang="en-US" sz="1800" dirty="0"/>
          </a:p>
        </p:txBody>
      </p:sp>
      <p:sp>
        <p:nvSpPr>
          <p:cNvPr id="32" name="Text 29"/>
          <p:cNvSpPr/>
          <p:nvPr/>
        </p:nvSpPr>
        <p:spPr>
          <a:xfrm>
            <a:off x="15182850" y="57912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$11.4K</a:t>
            </a:r>
            <a:endParaRPr lang="en-US" sz="1650" dirty="0"/>
          </a:p>
        </p:txBody>
      </p:sp>
      <p:sp>
        <p:nvSpPr>
          <p:cNvPr id="33" name="Text 30"/>
          <p:cNvSpPr/>
          <p:nvPr/>
        </p:nvSpPr>
        <p:spPr>
          <a:xfrm>
            <a:off x="16402050" y="57435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5%</a:t>
            </a:r>
            <a:endParaRPr lang="en-US" sz="2250" dirty="0"/>
          </a:p>
        </p:txBody>
      </p:sp>
      <p:sp>
        <p:nvSpPr>
          <p:cNvPr id="34" name="Shape 31"/>
          <p:cNvSpPr/>
          <p:nvPr/>
        </p:nvSpPr>
        <p:spPr>
          <a:xfrm>
            <a:off x="5676900" y="6172200"/>
            <a:ext cx="11658600" cy="19050"/>
          </a:xfrm>
          <a:prstGeom prst="rect">
            <a:avLst/>
          </a:prstGeom>
          <a:solidFill>
            <a:srgbClr val="DEE0DA"/>
          </a:solidFill>
          <a:ln/>
        </p:spPr>
        <p:txBody>
          <a:bodyPr/>
          <a:lstStyle/>
          <a:p>
            <a:endParaRPr lang="en-US"/>
          </a:p>
        </p:txBody>
      </p:sp>
      <p:sp>
        <p:nvSpPr>
          <p:cNvPr id="35" name="Shape 32"/>
          <p:cNvSpPr/>
          <p:nvPr/>
        </p:nvSpPr>
        <p:spPr>
          <a:xfrm>
            <a:off x="5676900" y="6362700"/>
            <a:ext cx="190500" cy="190500"/>
          </a:xfrm>
          <a:prstGeom prst="roundRect">
            <a:avLst>
              <a:gd name="adj" fmla="val 20000"/>
            </a:avLst>
          </a:prstGeom>
          <a:solidFill>
            <a:srgbClr val="9DBE93"/>
          </a:solidFill>
          <a:ln/>
        </p:spPr>
        <p:txBody>
          <a:bodyPr/>
          <a:lstStyle/>
          <a:p>
            <a:endParaRPr lang="en-US"/>
          </a:p>
        </p:txBody>
      </p:sp>
      <p:sp>
        <p:nvSpPr>
          <p:cNvPr id="36" name="Text 33"/>
          <p:cNvSpPr/>
          <p:nvPr/>
        </p:nvSpPr>
        <p:spPr>
          <a:xfrm>
            <a:off x="6038850" y="63246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Deals, specials &amp; toasts</a:t>
            </a:r>
            <a:endParaRPr lang="en-US" sz="1800" dirty="0"/>
          </a:p>
        </p:txBody>
      </p:sp>
      <p:sp>
        <p:nvSpPr>
          <p:cNvPr id="37" name="Text 34"/>
          <p:cNvSpPr/>
          <p:nvPr/>
        </p:nvSpPr>
        <p:spPr>
          <a:xfrm>
            <a:off x="15182850" y="63436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$9.3K</a:t>
            </a:r>
            <a:endParaRPr lang="en-US" sz="1650" dirty="0"/>
          </a:p>
        </p:txBody>
      </p:sp>
      <p:sp>
        <p:nvSpPr>
          <p:cNvPr id="38" name="Text 35"/>
          <p:cNvSpPr/>
          <p:nvPr/>
        </p:nvSpPr>
        <p:spPr>
          <a:xfrm>
            <a:off x="16402050" y="62960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4%</a:t>
            </a:r>
            <a:endParaRPr lang="en-US" sz="2250" dirty="0"/>
          </a:p>
        </p:txBody>
      </p:sp>
      <p:sp>
        <p:nvSpPr>
          <p:cNvPr id="39" name="Shape 36"/>
          <p:cNvSpPr/>
          <p:nvPr/>
        </p:nvSpPr>
        <p:spPr>
          <a:xfrm>
            <a:off x="5676900" y="6724650"/>
            <a:ext cx="11658600" cy="19050"/>
          </a:xfrm>
          <a:prstGeom prst="rect">
            <a:avLst/>
          </a:prstGeom>
          <a:solidFill>
            <a:srgbClr val="DEE0DA"/>
          </a:solidFill>
          <a:ln/>
        </p:spPr>
        <p:txBody>
          <a:bodyPr/>
          <a:lstStyle/>
          <a:p>
            <a:endParaRPr lang="en-US"/>
          </a:p>
        </p:txBody>
      </p:sp>
      <p:sp>
        <p:nvSpPr>
          <p:cNvPr id="40" name="Shape 37"/>
          <p:cNvSpPr/>
          <p:nvPr/>
        </p:nvSpPr>
        <p:spPr>
          <a:xfrm>
            <a:off x="5676900" y="6915150"/>
            <a:ext cx="190500" cy="190500"/>
          </a:xfrm>
          <a:prstGeom prst="roundRect">
            <a:avLst>
              <a:gd name="adj" fmla="val 20000"/>
            </a:avLst>
          </a:prstGeom>
          <a:solidFill>
            <a:srgbClr val="C2CFC0"/>
          </a:solidFill>
          <a:ln/>
        </p:spPr>
        <p:txBody>
          <a:bodyPr/>
          <a:lstStyle/>
          <a:p>
            <a:endParaRPr lang="en-US"/>
          </a:p>
        </p:txBody>
      </p:sp>
      <p:sp>
        <p:nvSpPr>
          <p:cNvPr id="41" name="Text 38"/>
          <p:cNvSpPr/>
          <p:nvPr/>
        </p:nvSpPr>
        <p:spPr>
          <a:xfrm>
            <a:off x="6038850" y="68770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Smoothies</a:t>
            </a:r>
            <a:endParaRPr lang="en-US" sz="1800" dirty="0"/>
          </a:p>
        </p:txBody>
      </p:sp>
      <p:sp>
        <p:nvSpPr>
          <p:cNvPr id="42" name="Text 39"/>
          <p:cNvSpPr/>
          <p:nvPr/>
        </p:nvSpPr>
        <p:spPr>
          <a:xfrm>
            <a:off x="15182850" y="68961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$4.5K</a:t>
            </a:r>
            <a:endParaRPr lang="en-US" sz="1650" dirty="0"/>
          </a:p>
        </p:txBody>
      </p:sp>
      <p:sp>
        <p:nvSpPr>
          <p:cNvPr id="43" name="Text 40"/>
          <p:cNvSpPr/>
          <p:nvPr/>
        </p:nvSpPr>
        <p:spPr>
          <a:xfrm>
            <a:off x="16402050" y="68484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2%</a:t>
            </a:r>
            <a:endParaRPr lang="en-US" sz="2250" dirty="0"/>
          </a:p>
        </p:txBody>
      </p:sp>
      <p:pic>
        <p:nvPicPr>
          <p:cNvPr id="47" name="Picture 46">
            <a:extLst>
              <a:ext uri="{FF2B5EF4-FFF2-40B4-BE49-F238E27FC236}">
                <a16:creationId xmlns:a16="http://schemas.microsoft.com/office/drawing/2014/main" id="{84C7239E-95D7-2684-B453-CE5C3B9ABDE0}"/>
              </a:ext>
            </a:extLst>
          </p:cNvPr>
          <p:cNvPicPr>
            <a:picLocks noChangeAspect="1"/>
          </p:cNvPicPr>
          <p:nvPr/>
        </p:nvPicPr>
        <p:blipFill>
          <a:blip r:embed="rId4"/>
          <a:stretch>
            <a:fillRect/>
          </a:stretch>
        </p:blipFill>
        <p:spPr>
          <a:xfrm>
            <a:off x="17138588" y="9022687"/>
            <a:ext cx="702372" cy="69295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17FC1E28-BB2A-5926-19D1-B7CAA27D5E13}"/>
              </a:ext>
            </a:extLst>
          </p:cNvPr>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PRODUCT MIX</a:t>
            </a:r>
            <a:endParaRPr lang="en-US" sz="1650" spc="300" dirty="0"/>
          </a:p>
        </p:txBody>
      </p:sp>
      <p:sp>
        <p:nvSpPr>
          <p:cNvPr id="5" name="Text 1">
            <a:extLst>
              <a:ext uri="{FF2B5EF4-FFF2-40B4-BE49-F238E27FC236}">
                <a16:creationId xmlns:a16="http://schemas.microsoft.com/office/drawing/2014/main" id="{A496747F-B576-7D32-90B2-CED7E3CB5E5C}"/>
              </a:ext>
            </a:extLst>
          </p:cNvPr>
          <p:cNvSpPr/>
          <p:nvPr/>
        </p:nvSpPr>
        <p:spPr>
          <a:xfrm>
            <a:off x="952500" y="1123950"/>
            <a:ext cx="18021300" cy="62865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650" kern="0" spc="-37" dirty="0">
                <a:solidFill>
                  <a:srgbClr val="22424B"/>
                </a:solidFill>
                <a:latin typeface="Georgia" pitchFamily="34" charset="0"/>
                <a:ea typeface="Georgia" pitchFamily="34" charset="-122"/>
                <a:cs typeface="Georgia" pitchFamily="34" charset="-120"/>
              </a:rPr>
              <a:t>What Little Wing sells</a:t>
            </a:r>
            <a:endParaRPr lang="en-US" sz="4650" dirty="0"/>
          </a:p>
        </p:txBody>
      </p:sp>
      <p:pic>
        <p:nvPicPr>
          <p:cNvPr id="6" name="Picture 5">
            <a:extLst>
              <a:ext uri="{FF2B5EF4-FFF2-40B4-BE49-F238E27FC236}">
                <a16:creationId xmlns:a16="http://schemas.microsoft.com/office/drawing/2014/main" id="{2FEB9367-BE56-8E5E-2BC9-120C714B784E}"/>
              </a:ext>
            </a:extLst>
          </p:cNvPr>
          <p:cNvPicPr>
            <a:picLocks noChangeAspect="1"/>
          </p:cNvPicPr>
          <p:nvPr/>
        </p:nvPicPr>
        <p:blipFill>
          <a:blip r:embed="rId2"/>
          <a:stretch>
            <a:fillRect/>
          </a:stretch>
        </p:blipFill>
        <p:spPr>
          <a:xfrm>
            <a:off x="17138588" y="9022687"/>
            <a:ext cx="702372" cy="692953"/>
          </a:xfrm>
          <a:prstGeom prst="rect">
            <a:avLst/>
          </a:prstGeom>
        </p:spPr>
      </p:pic>
      <p:sp>
        <p:nvSpPr>
          <p:cNvPr id="9" name="Text 5">
            <a:extLst>
              <a:ext uri="{FF2B5EF4-FFF2-40B4-BE49-F238E27FC236}">
                <a16:creationId xmlns:a16="http://schemas.microsoft.com/office/drawing/2014/main" id="{2E4EF24A-DB18-7718-741A-336F200AD5DD}"/>
              </a:ext>
            </a:extLst>
          </p:cNvPr>
          <p:cNvSpPr/>
          <p:nvPr/>
        </p:nvSpPr>
        <p:spPr>
          <a:xfrm>
            <a:off x="8979396" y="3190875"/>
            <a:ext cx="3232636"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C1553B"/>
                </a:solidFill>
                <a:latin typeface="Arial" pitchFamily="34" charset="0"/>
                <a:ea typeface="Arial" pitchFamily="34" charset="-122"/>
                <a:cs typeface="Arial" pitchFamily="34" charset="-120"/>
              </a:rPr>
              <a:t>SELF-SERVE WINDOW · 17%</a:t>
            </a:r>
            <a:endParaRPr lang="en-US" sz="1425" dirty="0"/>
          </a:p>
        </p:txBody>
      </p:sp>
      <p:sp>
        <p:nvSpPr>
          <p:cNvPr id="10" name="Shape 6">
            <a:extLst>
              <a:ext uri="{FF2B5EF4-FFF2-40B4-BE49-F238E27FC236}">
                <a16:creationId xmlns:a16="http://schemas.microsoft.com/office/drawing/2014/main" id="{8CEBEAA0-43E9-36AB-7EBD-08394BEC026A}"/>
              </a:ext>
            </a:extLst>
          </p:cNvPr>
          <p:cNvSpPr/>
          <p:nvPr/>
        </p:nvSpPr>
        <p:spPr>
          <a:xfrm>
            <a:off x="8904982" y="3533775"/>
            <a:ext cx="3013174" cy="3219450"/>
          </a:xfrm>
          <a:prstGeom prst="rect">
            <a:avLst/>
          </a:prstGeom>
          <a:solidFill>
            <a:srgbClr val="C1553B">
              <a:alpha val="6000"/>
            </a:srgbClr>
          </a:solidFill>
          <a:ln/>
        </p:spPr>
        <p:txBody>
          <a:bodyPr/>
          <a:lstStyle/>
          <a:p>
            <a:endParaRPr lang="en-US"/>
          </a:p>
        </p:txBody>
      </p:sp>
      <p:sp>
        <p:nvSpPr>
          <p:cNvPr id="11" name="Shape 7">
            <a:extLst>
              <a:ext uri="{FF2B5EF4-FFF2-40B4-BE49-F238E27FC236}">
                <a16:creationId xmlns:a16="http://schemas.microsoft.com/office/drawing/2014/main" id="{DC9B7904-C189-AD31-9312-A7D2EEDD0CC1}"/>
              </a:ext>
            </a:extLst>
          </p:cNvPr>
          <p:cNvSpPr/>
          <p:nvPr/>
        </p:nvSpPr>
        <p:spPr>
          <a:xfrm>
            <a:off x="8904982" y="3533775"/>
            <a:ext cx="19050" cy="3219450"/>
          </a:xfrm>
          <a:prstGeom prst="rect">
            <a:avLst/>
          </a:prstGeom>
          <a:solidFill>
            <a:srgbClr val="C1553B">
              <a:alpha val="50000"/>
            </a:srgbClr>
          </a:solidFill>
          <a:ln/>
        </p:spPr>
        <p:txBody>
          <a:bodyPr/>
          <a:lstStyle/>
          <a:p>
            <a:endParaRPr lang="en-US"/>
          </a:p>
        </p:txBody>
      </p:sp>
      <p:sp>
        <p:nvSpPr>
          <p:cNvPr id="12" name="Shape 8">
            <a:extLst>
              <a:ext uri="{FF2B5EF4-FFF2-40B4-BE49-F238E27FC236}">
                <a16:creationId xmlns:a16="http://schemas.microsoft.com/office/drawing/2014/main" id="{83E137E8-E3BE-15AD-9DB6-782F96E79236}"/>
              </a:ext>
            </a:extLst>
          </p:cNvPr>
          <p:cNvSpPr/>
          <p:nvPr/>
        </p:nvSpPr>
        <p:spPr>
          <a:xfrm>
            <a:off x="1371600" y="6962775"/>
            <a:ext cx="10546556" cy="19050"/>
          </a:xfrm>
          <a:prstGeom prst="rect">
            <a:avLst/>
          </a:prstGeom>
          <a:solidFill>
            <a:srgbClr val="C6C9C3"/>
          </a:solidFill>
          <a:ln/>
        </p:spPr>
        <p:txBody>
          <a:bodyPr/>
          <a:lstStyle/>
          <a:p>
            <a:endParaRPr lang="en-US"/>
          </a:p>
        </p:txBody>
      </p:sp>
      <p:sp>
        <p:nvSpPr>
          <p:cNvPr id="13" name="Text 9">
            <a:extLst>
              <a:ext uri="{FF2B5EF4-FFF2-40B4-BE49-F238E27FC236}">
                <a16:creationId xmlns:a16="http://schemas.microsoft.com/office/drawing/2014/main" id="{E9A34F3E-EC77-64B7-6595-2E3728D94054}"/>
              </a:ext>
            </a:extLst>
          </p:cNvPr>
          <p:cNvSpPr/>
          <p:nvPr/>
        </p:nvSpPr>
        <p:spPr>
          <a:xfrm>
            <a:off x="685800" y="6838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$0</a:t>
            </a:r>
            <a:endParaRPr lang="en-US" sz="1350" dirty="0"/>
          </a:p>
        </p:txBody>
      </p:sp>
      <p:sp>
        <p:nvSpPr>
          <p:cNvPr id="14" name="Shape 10">
            <a:extLst>
              <a:ext uri="{FF2B5EF4-FFF2-40B4-BE49-F238E27FC236}">
                <a16:creationId xmlns:a16="http://schemas.microsoft.com/office/drawing/2014/main" id="{808547BE-7E9F-5634-8B8C-6FA3FDC301AC}"/>
              </a:ext>
            </a:extLst>
          </p:cNvPr>
          <p:cNvSpPr/>
          <p:nvPr/>
        </p:nvSpPr>
        <p:spPr>
          <a:xfrm>
            <a:off x="1371600" y="6391275"/>
            <a:ext cx="10546556" cy="19050"/>
          </a:xfrm>
          <a:prstGeom prst="rect">
            <a:avLst/>
          </a:prstGeom>
          <a:solidFill>
            <a:srgbClr val="E3E1D8"/>
          </a:solidFill>
          <a:ln/>
        </p:spPr>
        <p:txBody>
          <a:bodyPr/>
          <a:lstStyle/>
          <a:p>
            <a:endParaRPr lang="en-US"/>
          </a:p>
        </p:txBody>
      </p:sp>
      <p:sp>
        <p:nvSpPr>
          <p:cNvPr id="15" name="Text 11">
            <a:extLst>
              <a:ext uri="{FF2B5EF4-FFF2-40B4-BE49-F238E27FC236}">
                <a16:creationId xmlns:a16="http://schemas.microsoft.com/office/drawing/2014/main" id="{C04C19F4-09CF-5DA3-E713-0CA05FDA2598}"/>
              </a:ext>
            </a:extLst>
          </p:cNvPr>
          <p:cNvSpPr/>
          <p:nvPr/>
        </p:nvSpPr>
        <p:spPr>
          <a:xfrm>
            <a:off x="685800" y="62674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$100</a:t>
            </a:r>
            <a:endParaRPr lang="en-US" sz="1350" dirty="0"/>
          </a:p>
        </p:txBody>
      </p:sp>
      <p:sp>
        <p:nvSpPr>
          <p:cNvPr id="16" name="Shape 12">
            <a:extLst>
              <a:ext uri="{FF2B5EF4-FFF2-40B4-BE49-F238E27FC236}">
                <a16:creationId xmlns:a16="http://schemas.microsoft.com/office/drawing/2014/main" id="{9916B2F9-96C0-F215-AA7F-FE224FDF2618}"/>
              </a:ext>
            </a:extLst>
          </p:cNvPr>
          <p:cNvSpPr/>
          <p:nvPr/>
        </p:nvSpPr>
        <p:spPr>
          <a:xfrm>
            <a:off x="1371600" y="5819775"/>
            <a:ext cx="10546556" cy="19050"/>
          </a:xfrm>
          <a:prstGeom prst="rect">
            <a:avLst/>
          </a:prstGeom>
          <a:solidFill>
            <a:srgbClr val="E3E1D8"/>
          </a:solidFill>
          <a:ln/>
        </p:spPr>
        <p:txBody>
          <a:bodyPr/>
          <a:lstStyle/>
          <a:p>
            <a:endParaRPr lang="en-US"/>
          </a:p>
        </p:txBody>
      </p:sp>
      <p:sp>
        <p:nvSpPr>
          <p:cNvPr id="17" name="Text 13">
            <a:extLst>
              <a:ext uri="{FF2B5EF4-FFF2-40B4-BE49-F238E27FC236}">
                <a16:creationId xmlns:a16="http://schemas.microsoft.com/office/drawing/2014/main" id="{5120FDB1-AEE1-F451-7E6A-9F40F458CF2F}"/>
              </a:ext>
            </a:extLst>
          </p:cNvPr>
          <p:cNvSpPr/>
          <p:nvPr/>
        </p:nvSpPr>
        <p:spPr>
          <a:xfrm>
            <a:off x="685800" y="5695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$200</a:t>
            </a:r>
            <a:endParaRPr lang="en-US" sz="1350" dirty="0"/>
          </a:p>
        </p:txBody>
      </p:sp>
      <p:sp>
        <p:nvSpPr>
          <p:cNvPr id="18" name="Shape 14">
            <a:extLst>
              <a:ext uri="{FF2B5EF4-FFF2-40B4-BE49-F238E27FC236}">
                <a16:creationId xmlns:a16="http://schemas.microsoft.com/office/drawing/2014/main" id="{0BB24D94-ED2C-637A-DDC4-3974F1BF2D40}"/>
              </a:ext>
            </a:extLst>
          </p:cNvPr>
          <p:cNvSpPr/>
          <p:nvPr/>
        </p:nvSpPr>
        <p:spPr>
          <a:xfrm>
            <a:off x="1371600" y="5248275"/>
            <a:ext cx="10546556" cy="19050"/>
          </a:xfrm>
          <a:prstGeom prst="rect">
            <a:avLst/>
          </a:prstGeom>
          <a:solidFill>
            <a:srgbClr val="E3E1D8"/>
          </a:solidFill>
          <a:ln/>
        </p:spPr>
        <p:txBody>
          <a:bodyPr/>
          <a:lstStyle/>
          <a:p>
            <a:endParaRPr lang="en-US"/>
          </a:p>
        </p:txBody>
      </p:sp>
      <p:sp>
        <p:nvSpPr>
          <p:cNvPr id="19" name="Text 15">
            <a:extLst>
              <a:ext uri="{FF2B5EF4-FFF2-40B4-BE49-F238E27FC236}">
                <a16:creationId xmlns:a16="http://schemas.microsoft.com/office/drawing/2014/main" id="{22AE3368-B857-7DF8-FDCE-A24697B799F1}"/>
              </a:ext>
            </a:extLst>
          </p:cNvPr>
          <p:cNvSpPr/>
          <p:nvPr/>
        </p:nvSpPr>
        <p:spPr>
          <a:xfrm>
            <a:off x="685800" y="51244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$300</a:t>
            </a:r>
            <a:endParaRPr lang="en-US" sz="1350" dirty="0"/>
          </a:p>
        </p:txBody>
      </p:sp>
      <p:sp>
        <p:nvSpPr>
          <p:cNvPr id="20" name="Shape 16">
            <a:extLst>
              <a:ext uri="{FF2B5EF4-FFF2-40B4-BE49-F238E27FC236}">
                <a16:creationId xmlns:a16="http://schemas.microsoft.com/office/drawing/2014/main" id="{93E4E78F-1EB7-7813-FFC7-3914A372D3BD}"/>
              </a:ext>
            </a:extLst>
          </p:cNvPr>
          <p:cNvSpPr/>
          <p:nvPr/>
        </p:nvSpPr>
        <p:spPr>
          <a:xfrm>
            <a:off x="1371600" y="4676775"/>
            <a:ext cx="10546556" cy="19050"/>
          </a:xfrm>
          <a:prstGeom prst="rect">
            <a:avLst/>
          </a:prstGeom>
          <a:solidFill>
            <a:srgbClr val="E3E1D8"/>
          </a:solidFill>
          <a:ln/>
        </p:spPr>
        <p:txBody>
          <a:bodyPr/>
          <a:lstStyle/>
          <a:p>
            <a:endParaRPr lang="en-US"/>
          </a:p>
        </p:txBody>
      </p:sp>
      <p:sp>
        <p:nvSpPr>
          <p:cNvPr id="21" name="Text 17">
            <a:extLst>
              <a:ext uri="{FF2B5EF4-FFF2-40B4-BE49-F238E27FC236}">
                <a16:creationId xmlns:a16="http://schemas.microsoft.com/office/drawing/2014/main" id="{A7E913A0-1740-8816-0AEF-1098F866DDDC}"/>
              </a:ext>
            </a:extLst>
          </p:cNvPr>
          <p:cNvSpPr/>
          <p:nvPr/>
        </p:nvSpPr>
        <p:spPr>
          <a:xfrm>
            <a:off x="685800" y="4552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$400</a:t>
            </a:r>
            <a:endParaRPr lang="en-US" sz="1350" dirty="0"/>
          </a:p>
        </p:txBody>
      </p:sp>
      <p:sp>
        <p:nvSpPr>
          <p:cNvPr id="22" name="Shape 18">
            <a:extLst>
              <a:ext uri="{FF2B5EF4-FFF2-40B4-BE49-F238E27FC236}">
                <a16:creationId xmlns:a16="http://schemas.microsoft.com/office/drawing/2014/main" id="{5081B33B-44FE-DC62-23D7-B07530248C28}"/>
              </a:ext>
            </a:extLst>
          </p:cNvPr>
          <p:cNvSpPr/>
          <p:nvPr/>
        </p:nvSpPr>
        <p:spPr>
          <a:xfrm>
            <a:off x="1371600" y="4105275"/>
            <a:ext cx="10546556" cy="19050"/>
          </a:xfrm>
          <a:prstGeom prst="rect">
            <a:avLst/>
          </a:prstGeom>
          <a:solidFill>
            <a:srgbClr val="E3E1D8"/>
          </a:solidFill>
          <a:ln/>
        </p:spPr>
        <p:txBody>
          <a:bodyPr/>
          <a:lstStyle/>
          <a:p>
            <a:endParaRPr lang="en-US"/>
          </a:p>
        </p:txBody>
      </p:sp>
      <p:sp>
        <p:nvSpPr>
          <p:cNvPr id="23" name="Text 19">
            <a:extLst>
              <a:ext uri="{FF2B5EF4-FFF2-40B4-BE49-F238E27FC236}">
                <a16:creationId xmlns:a16="http://schemas.microsoft.com/office/drawing/2014/main" id="{145BCCF7-3CCB-4A80-2F93-59FFA5799889}"/>
              </a:ext>
            </a:extLst>
          </p:cNvPr>
          <p:cNvSpPr/>
          <p:nvPr/>
        </p:nvSpPr>
        <p:spPr>
          <a:xfrm>
            <a:off x="685800" y="39814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$500</a:t>
            </a:r>
            <a:endParaRPr lang="en-US" sz="1350" dirty="0"/>
          </a:p>
        </p:txBody>
      </p:sp>
      <p:sp>
        <p:nvSpPr>
          <p:cNvPr id="24" name="Shape 20">
            <a:extLst>
              <a:ext uri="{FF2B5EF4-FFF2-40B4-BE49-F238E27FC236}">
                <a16:creationId xmlns:a16="http://schemas.microsoft.com/office/drawing/2014/main" id="{F034DBE5-A404-D26F-9CED-5F7BAC1C79A9}"/>
              </a:ext>
            </a:extLst>
          </p:cNvPr>
          <p:cNvSpPr/>
          <p:nvPr/>
        </p:nvSpPr>
        <p:spPr>
          <a:xfrm>
            <a:off x="1371600" y="3533775"/>
            <a:ext cx="10546556" cy="19050"/>
          </a:xfrm>
          <a:prstGeom prst="rect">
            <a:avLst/>
          </a:prstGeom>
          <a:solidFill>
            <a:srgbClr val="E3E1D8"/>
          </a:solidFill>
          <a:ln/>
        </p:spPr>
        <p:txBody>
          <a:bodyPr/>
          <a:lstStyle/>
          <a:p>
            <a:endParaRPr lang="en-US"/>
          </a:p>
        </p:txBody>
      </p:sp>
      <p:sp>
        <p:nvSpPr>
          <p:cNvPr id="25" name="Text 21">
            <a:extLst>
              <a:ext uri="{FF2B5EF4-FFF2-40B4-BE49-F238E27FC236}">
                <a16:creationId xmlns:a16="http://schemas.microsoft.com/office/drawing/2014/main" id="{B1403E8C-E048-3910-C440-14325319ED1F}"/>
              </a:ext>
            </a:extLst>
          </p:cNvPr>
          <p:cNvSpPr/>
          <p:nvPr/>
        </p:nvSpPr>
        <p:spPr>
          <a:xfrm>
            <a:off x="685800" y="3409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$600</a:t>
            </a:r>
            <a:endParaRPr lang="en-US" sz="1350" dirty="0"/>
          </a:p>
        </p:txBody>
      </p:sp>
      <p:sp>
        <p:nvSpPr>
          <p:cNvPr id="26" name="Shape 22">
            <a:extLst>
              <a:ext uri="{FF2B5EF4-FFF2-40B4-BE49-F238E27FC236}">
                <a16:creationId xmlns:a16="http://schemas.microsoft.com/office/drawing/2014/main" id="{D384262B-9B6F-570B-ABCC-22A7791883C9}"/>
              </a:ext>
            </a:extLst>
          </p:cNvPr>
          <p:cNvSpPr/>
          <p:nvPr/>
        </p:nvSpPr>
        <p:spPr>
          <a:xfrm>
            <a:off x="1490663" y="6343650"/>
            <a:ext cx="461963" cy="352425"/>
          </a:xfrm>
          <a:prstGeom prst="rect">
            <a:avLst/>
          </a:prstGeom>
          <a:solidFill>
            <a:srgbClr val="1B3A44"/>
          </a:solidFill>
          <a:ln/>
        </p:spPr>
        <p:txBody>
          <a:bodyPr/>
          <a:lstStyle/>
          <a:p>
            <a:endParaRPr lang="en-US"/>
          </a:p>
        </p:txBody>
      </p:sp>
      <p:sp>
        <p:nvSpPr>
          <p:cNvPr id="27" name="Shape 23">
            <a:extLst>
              <a:ext uri="{FF2B5EF4-FFF2-40B4-BE49-F238E27FC236}">
                <a16:creationId xmlns:a16="http://schemas.microsoft.com/office/drawing/2014/main" id="{7FBB28B2-5EBF-A3D0-F6A9-B53537C7485D}"/>
              </a:ext>
            </a:extLst>
          </p:cNvPr>
          <p:cNvSpPr/>
          <p:nvPr/>
        </p:nvSpPr>
        <p:spPr>
          <a:xfrm>
            <a:off x="1490663" y="6257925"/>
            <a:ext cx="461963" cy="85725"/>
          </a:xfrm>
          <a:prstGeom prst="rect">
            <a:avLst/>
          </a:prstGeom>
          <a:solidFill>
            <a:srgbClr val="35707A"/>
          </a:solidFill>
          <a:ln/>
        </p:spPr>
        <p:txBody>
          <a:bodyPr/>
          <a:lstStyle/>
          <a:p>
            <a:endParaRPr lang="en-US"/>
          </a:p>
        </p:txBody>
      </p:sp>
      <p:sp>
        <p:nvSpPr>
          <p:cNvPr id="28" name="Shape 24">
            <a:extLst>
              <a:ext uri="{FF2B5EF4-FFF2-40B4-BE49-F238E27FC236}">
                <a16:creationId xmlns:a16="http://schemas.microsoft.com/office/drawing/2014/main" id="{15CA5820-C6EE-41B3-9834-DC2C6D94AA25}"/>
              </a:ext>
            </a:extLst>
          </p:cNvPr>
          <p:cNvSpPr/>
          <p:nvPr/>
        </p:nvSpPr>
        <p:spPr>
          <a:xfrm>
            <a:off x="1490663" y="6210300"/>
            <a:ext cx="461963" cy="47625"/>
          </a:xfrm>
          <a:prstGeom prst="rect">
            <a:avLst/>
          </a:prstGeom>
          <a:solidFill>
            <a:srgbClr val="8FB9AD"/>
          </a:solidFill>
          <a:ln/>
        </p:spPr>
        <p:txBody>
          <a:bodyPr/>
          <a:lstStyle/>
          <a:p>
            <a:endParaRPr lang="en-US"/>
          </a:p>
        </p:txBody>
      </p:sp>
      <p:sp>
        <p:nvSpPr>
          <p:cNvPr id="29" name="Shape 25">
            <a:extLst>
              <a:ext uri="{FF2B5EF4-FFF2-40B4-BE49-F238E27FC236}">
                <a16:creationId xmlns:a16="http://schemas.microsoft.com/office/drawing/2014/main" id="{9F85C3DF-D028-380B-7421-4AC6A017F479}"/>
              </a:ext>
            </a:extLst>
          </p:cNvPr>
          <p:cNvSpPr/>
          <p:nvPr/>
        </p:nvSpPr>
        <p:spPr>
          <a:xfrm>
            <a:off x="1490663" y="6162675"/>
            <a:ext cx="461963" cy="47625"/>
          </a:xfrm>
          <a:prstGeom prst="rect">
            <a:avLst/>
          </a:prstGeom>
          <a:solidFill>
            <a:srgbClr val="CBDAC0"/>
          </a:solidFill>
          <a:ln/>
        </p:spPr>
        <p:txBody>
          <a:bodyPr/>
          <a:lstStyle/>
          <a:p>
            <a:endParaRPr lang="en-US"/>
          </a:p>
        </p:txBody>
      </p:sp>
      <p:sp>
        <p:nvSpPr>
          <p:cNvPr id="30" name="Shape 26">
            <a:extLst>
              <a:ext uri="{FF2B5EF4-FFF2-40B4-BE49-F238E27FC236}">
                <a16:creationId xmlns:a16="http://schemas.microsoft.com/office/drawing/2014/main" id="{66860C7E-0833-574C-0C30-261CBB90694B}"/>
              </a:ext>
            </a:extLst>
          </p:cNvPr>
          <p:cNvSpPr/>
          <p:nvPr/>
        </p:nvSpPr>
        <p:spPr>
          <a:xfrm>
            <a:off x="1490663" y="6086475"/>
            <a:ext cx="461963" cy="76200"/>
          </a:xfrm>
          <a:prstGeom prst="rect">
            <a:avLst/>
          </a:prstGeom>
          <a:solidFill>
            <a:srgbClr val="E0894F"/>
          </a:solidFill>
          <a:ln/>
        </p:spPr>
        <p:txBody>
          <a:bodyPr/>
          <a:lstStyle/>
          <a:p>
            <a:endParaRPr lang="en-US"/>
          </a:p>
        </p:txBody>
      </p:sp>
      <p:sp>
        <p:nvSpPr>
          <p:cNvPr id="31" name="Text 27">
            <a:extLst>
              <a:ext uri="{FF2B5EF4-FFF2-40B4-BE49-F238E27FC236}">
                <a16:creationId xmlns:a16="http://schemas.microsoft.com/office/drawing/2014/main" id="{4A5CE8DD-90F9-D7BE-663A-D54272FE2EC7}"/>
              </a:ext>
            </a:extLst>
          </p:cNvPr>
          <p:cNvSpPr/>
          <p:nvPr/>
        </p:nvSpPr>
        <p:spPr>
          <a:xfrm>
            <a:off x="1626394"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6a</a:t>
            </a:r>
            <a:endParaRPr lang="en-US" sz="1350" dirty="0"/>
          </a:p>
        </p:txBody>
      </p:sp>
      <p:sp>
        <p:nvSpPr>
          <p:cNvPr id="32" name="Shape 28">
            <a:extLst>
              <a:ext uri="{FF2B5EF4-FFF2-40B4-BE49-F238E27FC236}">
                <a16:creationId xmlns:a16="http://schemas.microsoft.com/office/drawing/2014/main" id="{8F9CDFF6-5B4D-8E7C-4098-609B7F5EA58C}"/>
              </a:ext>
            </a:extLst>
          </p:cNvPr>
          <p:cNvSpPr/>
          <p:nvPr/>
        </p:nvSpPr>
        <p:spPr>
          <a:xfrm>
            <a:off x="2248198" y="5181600"/>
            <a:ext cx="461963" cy="1514475"/>
          </a:xfrm>
          <a:prstGeom prst="rect">
            <a:avLst/>
          </a:prstGeom>
          <a:solidFill>
            <a:srgbClr val="1B3A44"/>
          </a:solidFill>
          <a:ln/>
        </p:spPr>
        <p:txBody>
          <a:bodyPr/>
          <a:lstStyle/>
          <a:p>
            <a:endParaRPr lang="en-US"/>
          </a:p>
        </p:txBody>
      </p:sp>
      <p:sp>
        <p:nvSpPr>
          <p:cNvPr id="33" name="Shape 29">
            <a:extLst>
              <a:ext uri="{FF2B5EF4-FFF2-40B4-BE49-F238E27FC236}">
                <a16:creationId xmlns:a16="http://schemas.microsoft.com/office/drawing/2014/main" id="{B451A976-B17D-2C74-4472-D5D975574D81}"/>
              </a:ext>
            </a:extLst>
          </p:cNvPr>
          <p:cNvSpPr/>
          <p:nvPr/>
        </p:nvSpPr>
        <p:spPr>
          <a:xfrm>
            <a:off x="2248198" y="4791075"/>
            <a:ext cx="461963" cy="390525"/>
          </a:xfrm>
          <a:prstGeom prst="rect">
            <a:avLst/>
          </a:prstGeom>
          <a:solidFill>
            <a:srgbClr val="35707A"/>
          </a:solidFill>
          <a:ln/>
        </p:spPr>
        <p:txBody>
          <a:bodyPr/>
          <a:lstStyle/>
          <a:p>
            <a:endParaRPr lang="en-US"/>
          </a:p>
        </p:txBody>
      </p:sp>
      <p:sp>
        <p:nvSpPr>
          <p:cNvPr id="34" name="Shape 30">
            <a:extLst>
              <a:ext uri="{FF2B5EF4-FFF2-40B4-BE49-F238E27FC236}">
                <a16:creationId xmlns:a16="http://schemas.microsoft.com/office/drawing/2014/main" id="{D4A101D1-788A-AA50-EAF1-8FB54EF24B51}"/>
              </a:ext>
            </a:extLst>
          </p:cNvPr>
          <p:cNvSpPr/>
          <p:nvPr/>
        </p:nvSpPr>
        <p:spPr>
          <a:xfrm>
            <a:off x="2248198" y="4429125"/>
            <a:ext cx="461963" cy="361950"/>
          </a:xfrm>
          <a:prstGeom prst="rect">
            <a:avLst/>
          </a:prstGeom>
          <a:solidFill>
            <a:srgbClr val="8FB9AD"/>
          </a:solidFill>
          <a:ln/>
        </p:spPr>
        <p:txBody>
          <a:bodyPr/>
          <a:lstStyle/>
          <a:p>
            <a:endParaRPr lang="en-US"/>
          </a:p>
        </p:txBody>
      </p:sp>
      <p:sp>
        <p:nvSpPr>
          <p:cNvPr id="35" name="Shape 31">
            <a:extLst>
              <a:ext uri="{FF2B5EF4-FFF2-40B4-BE49-F238E27FC236}">
                <a16:creationId xmlns:a16="http://schemas.microsoft.com/office/drawing/2014/main" id="{1444E369-6169-DA70-1C04-C9DA9888E799}"/>
              </a:ext>
            </a:extLst>
          </p:cNvPr>
          <p:cNvSpPr/>
          <p:nvPr/>
        </p:nvSpPr>
        <p:spPr>
          <a:xfrm>
            <a:off x="2248198" y="4248150"/>
            <a:ext cx="461963" cy="180975"/>
          </a:xfrm>
          <a:prstGeom prst="rect">
            <a:avLst/>
          </a:prstGeom>
          <a:solidFill>
            <a:srgbClr val="CBDAC0"/>
          </a:solidFill>
          <a:ln/>
        </p:spPr>
        <p:txBody>
          <a:bodyPr/>
          <a:lstStyle/>
          <a:p>
            <a:endParaRPr lang="en-US"/>
          </a:p>
        </p:txBody>
      </p:sp>
      <p:sp>
        <p:nvSpPr>
          <p:cNvPr id="36" name="Shape 32">
            <a:extLst>
              <a:ext uri="{FF2B5EF4-FFF2-40B4-BE49-F238E27FC236}">
                <a16:creationId xmlns:a16="http://schemas.microsoft.com/office/drawing/2014/main" id="{88D8127D-8234-FBA7-04F0-7FDC5F8BDB8A}"/>
              </a:ext>
            </a:extLst>
          </p:cNvPr>
          <p:cNvSpPr/>
          <p:nvPr/>
        </p:nvSpPr>
        <p:spPr>
          <a:xfrm>
            <a:off x="2248198" y="4010025"/>
            <a:ext cx="461963" cy="238125"/>
          </a:xfrm>
          <a:prstGeom prst="rect">
            <a:avLst/>
          </a:prstGeom>
          <a:solidFill>
            <a:srgbClr val="E0894F"/>
          </a:solidFill>
          <a:ln/>
        </p:spPr>
        <p:txBody>
          <a:bodyPr/>
          <a:lstStyle/>
          <a:p>
            <a:endParaRPr lang="en-US"/>
          </a:p>
        </p:txBody>
      </p:sp>
      <p:sp>
        <p:nvSpPr>
          <p:cNvPr id="37" name="Shape 33">
            <a:extLst>
              <a:ext uri="{FF2B5EF4-FFF2-40B4-BE49-F238E27FC236}">
                <a16:creationId xmlns:a16="http://schemas.microsoft.com/office/drawing/2014/main" id="{ED0F1275-655E-A444-2016-4F2E18FDDD12}"/>
              </a:ext>
            </a:extLst>
          </p:cNvPr>
          <p:cNvSpPr/>
          <p:nvPr/>
        </p:nvSpPr>
        <p:spPr>
          <a:xfrm>
            <a:off x="2248198" y="3971925"/>
            <a:ext cx="461963" cy="38100"/>
          </a:xfrm>
          <a:prstGeom prst="rect">
            <a:avLst/>
          </a:prstGeom>
          <a:solidFill>
            <a:srgbClr val="B4472F"/>
          </a:solidFill>
          <a:ln/>
        </p:spPr>
        <p:txBody>
          <a:bodyPr/>
          <a:lstStyle/>
          <a:p>
            <a:endParaRPr lang="en-US"/>
          </a:p>
        </p:txBody>
      </p:sp>
      <p:sp>
        <p:nvSpPr>
          <p:cNvPr id="38" name="Text 34">
            <a:extLst>
              <a:ext uri="{FF2B5EF4-FFF2-40B4-BE49-F238E27FC236}">
                <a16:creationId xmlns:a16="http://schemas.microsoft.com/office/drawing/2014/main" id="{92B89109-98C4-0185-3A4F-B685647237BF}"/>
              </a:ext>
            </a:extLst>
          </p:cNvPr>
          <p:cNvSpPr/>
          <p:nvPr/>
        </p:nvSpPr>
        <p:spPr>
          <a:xfrm>
            <a:off x="2383929"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7a</a:t>
            </a:r>
            <a:endParaRPr lang="en-US" sz="1350" dirty="0"/>
          </a:p>
        </p:txBody>
      </p:sp>
      <p:sp>
        <p:nvSpPr>
          <p:cNvPr id="39" name="Shape 35">
            <a:extLst>
              <a:ext uri="{FF2B5EF4-FFF2-40B4-BE49-F238E27FC236}">
                <a16:creationId xmlns:a16="http://schemas.microsoft.com/office/drawing/2014/main" id="{B01D3093-A687-FC15-846E-7960426D567B}"/>
              </a:ext>
            </a:extLst>
          </p:cNvPr>
          <p:cNvSpPr/>
          <p:nvPr/>
        </p:nvSpPr>
        <p:spPr>
          <a:xfrm>
            <a:off x="3005733" y="5076825"/>
            <a:ext cx="461963" cy="1619250"/>
          </a:xfrm>
          <a:prstGeom prst="rect">
            <a:avLst/>
          </a:prstGeom>
          <a:solidFill>
            <a:srgbClr val="1B3A44"/>
          </a:solidFill>
          <a:ln/>
        </p:spPr>
        <p:txBody>
          <a:bodyPr/>
          <a:lstStyle/>
          <a:p>
            <a:endParaRPr lang="en-US"/>
          </a:p>
        </p:txBody>
      </p:sp>
      <p:sp>
        <p:nvSpPr>
          <p:cNvPr id="40" name="Shape 36">
            <a:extLst>
              <a:ext uri="{FF2B5EF4-FFF2-40B4-BE49-F238E27FC236}">
                <a16:creationId xmlns:a16="http://schemas.microsoft.com/office/drawing/2014/main" id="{57A80E0A-D8B6-A6AB-A22E-173074DF836A}"/>
              </a:ext>
            </a:extLst>
          </p:cNvPr>
          <p:cNvSpPr/>
          <p:nvPr/>
        </p:nvSpPr>
        <p:spPr>
          <a:xfrm>
            <a:off x="3005733" y="4429125"/>
            <a:ext cx="461963" cy="647700"/>
          </a:xfrm>
          <a:prstGeom prst="rect">
            <a:avLst/>
          </a:prstGeom>
          <a:solidFill>
            <a:srgbClr val="35707A"/>
          </a:solidFill>
          <a:ln/>
        </p:spPr>
        <p:txBody>
          <a:bodyPr/>
          <a:lstStyle/>
          <a:p>
            <a:endParaRPr lang="en-US"/>
          </a:p>
        </p:txBody>
      </p:sp>
      <p:sp>
        <p:nvSpPr>
          <p:cNvPr id="41" name="Shape 37">
            <a:extLst>
              <a:ext uri="{FF2B5EF4-FFF2-40B4-BE49-F238E27FC236}">
                <a16:creationId xmlns:a16="http://schemas.microsoft.com/office/drawing/2014/main" id="{A91CAD80-58D6-D57A-A17E-8C14ACB288C0}"/>
              </a:ext>
            </a:extLst>
          </p:cNvPr>
          <p:cNvSpPr/>
          <p:nvPr/>
        </p:nvSpPr>
        <p:spPr>
          <a:xfrm>
            <a:off x="3005733" y="4038600"/>
            <a:ext cx="461963" cy="390525"/>
          </a:xfrm>
          <a:prstGeom prst="rect">
            <a:avLst/>
          </a:prstGeom>
          <a:solidFill>
            <a:srgbClr val="8FB9AD"/>
          </a:solidFill>
          <a:ln/>
        </p:spPr>
        <p:txBody>
          <a:bodyPr/>
          <a:lstStyle/>
          <a:p>
            <a:endParaRPr lang="en-US"/>
          </a:p>
        </p:txBody>
      </p:sp>
      <p:sp>
        <p:nvSpPr>
          <p:cNvPr id="42" name="Shape 38">
            <a:extLst>
              <a:ext uri="{FF2B5EF4-FFF2-40B4-BE49-F238E27FC236}">
                <a16:creationId xmlns:a16="http://schemas.microsoft.com/office/drawing/2014/main" id="{02A022E9-DF3F-F6F8-363B-A5569BA102EE}"/>
              </a:ext>
            </a:extLst>
          </p:cNvPr>
          <p:cNvSpPr/>
          <p:nvPr/>
        </p:nvSpPr>
        <p:spPr>
          <a:xfrm>
            <a:off x="3005733" y="3838575"/>
            <a:ext cx="461963" cy="200025"/>
          </a:xfrm>
          <a:prstGeom prst="rect">
            <a:avLst/>
          </a:prstGeom>
          <a:solidFill>
            <a:srgbClr val="CBDAC0"/>
          </a:solidFill>
          <a:ln/>
        </p:spPr>
        <p:txBody>
          <a:bodyPr/>
          <a:lstStyle/>
          <a:p>
            <a:endParaRPr lang="en-US"/>
          </a:p>
        </p:txBody>
      </p:sp>
      <p:sp>
        <p:nvSpPr>
          <p:cNvPr id="43" name="Shape 39">
            <a:extLst>
              <a:ext uri="{FF2B5EF4-FFF2-40B4-BE49-F238E27FC236}">
                <a16:creationId xmlns:a16="http://schemas.microsoft.com/office/drawing/2014/main" id="{D754D2BA-0B4A-F7F9-FDC5-B1311AD8903E}"/>
              </a:ext>
            </a:extLst>
          </p:cNvPr>
          <p:cNvSpPr/>
          <p:nvPr/>
        </p:nvSpPr>
        <p:spPr>
          <a:xfrm>
            <a:off x="3005733" y="3524250"/>
            <a:ext cx="461963" cy="314325"/>
          </a:xfrm>
          <a:prstGeom prst="rect">
            <a:avLst/>
          </a:prstGeom>
          <a:solidFill>
            <a:srgbClr val="E0894F"/>
          </a:solidFill>
          <a:ln/>
        </p:spPr>
        <p:txBody>
          <a:bodyPr/>
          <a:lstStyle/>
          <a:p>
            <a:endParaRPr lang="en-US"/>
          </a:p>
        </p:txBody>
      </p:sp>
      <p:sp>
        <p:nvSpPr>
          <p:cNvPr id="44" name="Shape 40">
            <a:extLst>
              <a:ext uri="{FF2B5EF4-FFF2-40B4-BE49-F238E27FC236}">
                <a16:creationId xmlns:a16="http://schemas.microsoft.com/office/drawing/2014/main" id="{B33075C5-07DD-6303-F690-F4DDC9BC5BCC}"/>
              </a:ext>
            </a:extLst>
          </p:cNvPr>
          <p:cNvSpPr/>
          <p:nvPr/>
        </p:nvSpPr>
        <p:spPr>
          <a:xfrm>
            <a:off x="3005733" y="3505200"/>
            <a:ext cx="461963" cy="19050"/>
          </a:xfrm>
          <a:prstGeom prst="rect">
            <a:avLst/>
          </a:prstGeom>
          <a:solidFill>
            <a:srgbClr val="B4472F"/>
          </a:solidFill>
          <a:ln/>
        </p:spPr>
        <p:txBody>
          <a:bodyPr/>
          <a:lstStyle/>
          <a:p>
            <a:endParaRPr lang="en-US"/>
          </a:p>
        </p:txBody>
      </p:sp>
      <p:sp>
        <p:nvSpPr>
          <p:cNvPr id="45" name="Text 41">
            <a:extLst>
              <a:ext uri="{FF2B5EF4-FFF2-40B4-BE49-F238E27FC236}">
                <a16:creationId xmlns:a16="http://schemas.microsoft.com/office/drawing/2014/main" id="{3883CBEB-B13E-1408-0B3A-222AEE5A8FA3}"/>
              </a:ext>
            </a:extLst>
          </p:cNvPr>
          <p:cNvSpPr/>
          <p:nvPr/>
        </p:nvSpPr>
        <p:spPr>
          <a:xfrm>
            <a:off x="3141464"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8a</a:t>
            </a:r>
            <a:endParaRPr lang="en-US" sz="1350" dirty="0"/>
          </a:p>
        </p:txBody>
      </p:sp>
      <p:sp>
        <p:nvSpPr>
          <p:cNvPr id="46" name="Shape 42">
            <a:extLst>
              <a:ext uri="{FF2B5EF4-FFF2-40B4-BE49-F238E27FC236}">
                <a16:creationId xmlns:a16="http://schemas.microsoft.com/office/drawing/2014/main" id="{40985E24-9CE5-E1E9-4B65-5AECED61837F}"/>
              </a:ext>
            </a:extLst>
          </p:cNvPr>
          <p:cNvSpPr/>
          <p:nvPr/>
        </p:nvSpPr>
        <p:spPr>
          <a:xfrm>
            <a:off x="3763268" y="5172075"/>
            <a:ext cx="461963" cy="1524000"/>
          </a:xfrm>
          <a:prstGeom prst="rect">
            <a:avLst/>
          </a:prstGeom>
          <a:solidFill>
            <a:srgbClr val="1B3A44"/>
          </a:solidFill>
          <a:ln/>
        </p:spPr>
        <p:txBody>
          <a:bodyPr/>
          <a:lstStyle/>
          <a:p>
            <a:endParaRPr lang="en-US"/>
          </a:p>
        </p:txBody>
      </p:sp>
      <p:sp>
        <p:nvSpPr>
          <p:cNvPr id="47" name="Shape 43">
            <a:extLst>
              <a:ext uri="{FF2B5EF4-FFF2-40B4-BE49-F238E27FC236}">
                <a16:creationId xmlns:a16="http://schemas.microsoft.com/office/drawing/2014/main" id="{8BBFC4F7-D744-F7D8-16D5-097843BA123D}"/>
              </a:ext>
            </a:extLst>
          </p:cNvPr>
          <p:cNvSpPr/>
          <p:nvPr/>
        </p:nvSpPr>
        <p:spPr>
          <a:xfrm>
            <a:off x="3763268" y="4533900"/>
            <a:ext cx="461963" cy="638175"/>
          </a:xfrm>
          <a:prstGeom prst="rect">
            <a:avLst/>
          </a:prstGeom>
          <a:solidFill>
            <a:srgbClr val="35707A"/>
          </a:solidFill>
          <a:ln/>
        </p:spPr>
        <p:txBody>
          <a:bodyPr/>
          <a:lstStyle/>
          <a:p>
            <a:endParaRPr lang="en-US"/>
          </a:p>
        </p:txBody>
      </p:sp>
      <p:sp>
        <p:nvSpPr>
          <p:cNvPr id="48" name="Shape 44">
            <a:extLst>
              <a:ext uri="{FF2B5EF4-FFF2-40B4-BE49-F238E27FC236}">
                <a16:creationId xmlns:a16="http://schemas.microsoft.com/office/drawing/2014/main" id="{CA59BBA0-5B43-5F51-C410-1F0B0AA37C78}"/>
              </a:ext>
            </a:extLst>
          </p:cNvPr>
          <p:cNvSpPr/>
          <p:nvPr/>
        </p:nvSpPr>
        <p:spPr>
          <a:xfrm>
            <a:off x="3763268" y="4171950"/>
            <a:ext cx="461963" cy="361950"/>
          </a:xfrm>
          <a:prstGeom prst="rect">
            <a:avLst/>
          </a:prstGeom>
          <a:solidFill>
            <a:srgbClr val="8FB9AD"/>
          </a:solidFill>
          <a:ln/>
        </p:spPr>
        <p:txBody>
          <a:bodyPr/>
          <a:lstStyle/>
          <a:p>
            <a:endParaRPr lang="en-US"/>
          </a:p>
        </p:txBody>
      </p:sp>
      <p:sp>
        <p:nvSpPr>
          <p:cNvPr id="49" name="Shape 45">
            <a:extLst>
              <a:ext uri="{FF2B5EF4-FFF2-40B4-BE49-F238E27FC236}">
                <a16:creationId xmlns:a16="http://schemas.microsoft.com/office/drawing/2014/main" id="{61620162-236B-0ADA-3512-B7583C8A9EB3}"/>
              </a:ext>
            </a:extLst>
          </p:cNvPr>
          <p:cNvSpPr/>
          <p:nvPr/>
        </p:nvSpPr>
        <p:spPr>
          <a:xfrm>
            <a:off x="3763268" y="3943350"/>
            <a:ext cx="461963" cy="228600"/>
          </a:xfrm>
          <a:prstGeom prst="rect">
            <a:avLst/>
          </a:prstGeom>
          <a:solidFill>
            <a:srgbClr val="CBDAC0"/>
          </a:solidFill>
          <a:ln/>
        </p:spPr>
        <p:txBody>
          <a:bodyPr/>
          <a:lstStyle/>
          <a:p>
            <a:endParaRPr lang="en-US"/>
          </a:p>
        </p:txBody>
      </p:sp>
      <p:sp>
        <p:nvSpPr>
          <p:cNvPr id="50" name="Shape 46">
            <a:extLst>
              <a:ext uri="{FF2B5EF4-FFF2-40B4-BE49-F238E27FC236}">
                <a16:creationId xmlns:a16="http://schemas.microsoft.com/office/drawing/2014/main" id="{4DFFBD95-E68B-983B-1DFC-3D95D00276D1}"/>
              </a:ext>
            </a:extLst>
          </p:cNvPr>
          <p:cNvSpPr/>
          <p:nvPr/>
        </p:nvSpPr>
        <p:spPr>
          <a:xfrm>
            <a:off x="3763268" y="3619500"/>
            <a:ext cx="461963" cy="323850"/>
          </a:xfrm>
          <a:prstGeom prst="rect">
            <a:avLst/>
          </a:prstGeom>
          <a:solidFill>
            <a:srgbClr val="E0894F"/>
          </a:solidFill>
          <a:ln/>
        </p:spPr>
        <p:txBody>
          <a:bodyPr/>
          <a:lstStyle/>
          <a:p>
            <a:endParaRPr lang="en-US"/>
          </a:p>
        </p:txBody>
      </p:sp>
      <p:sp>
        <p:nvSpPr>
          <p:cNvPr id="51" name="Shape 47">
            <a:extLst>
              <a:ext uri="{FF2B5EF4-FFF2-40B4-BE49-F238E27FC236}">
                <a16:creationId xmlns:a16="http://schemas.microsoft.com/office/drawing/2014/main" id="{8A666DFE-B99B-C535-B360-49E285D1E4D4}"/>
              </a:ext>
            </a:extLst>
          </p:cNvPr>
          <p:cNvSpPr/>
          <p:nvPr/>
        </p:nvSpPr>
        <p:spPr>
          <a:xfrm>
            <a:off x="3763268" y="3571875"/>
            <a:ext cx="461963" cy="47625"/>
          </a:xfrm>
          <a:prstGeom prst="rect">
            <a:avLst/>
          </a:prstGeom>
          <a:solidFill>
            <a:srgbClr val="B4472F"/>
          </a:solidFill>
          <a:ln/>
        </p:spPr>
        <p:txBody>
          <a:bodyPr/>
          <a:lstStyle/>
          <a:p>
            <a:endParaRPr lang="en-US"/>
          </a:p>
        </p:txBody>
      </p:sp>
      <p:sp>
        <p:nvSpPr>
          <p:cNvPr id="52" name="Text 48">
            <a:extLst>
              <a:ext uri="{FF2B5EF4-FFF2-40B4-BE49-F238E27FC236}">
                <a16:creationId xmlns:a16="http://schemas.microsoft.com/office/drawing/2014/main" id="{E3AF5ED5-AE50-40B1-DBCD-9D95FF966EBB}"/>
              </a:ext>
            </a:extLst>
          </p:cNvPr>
          <p:cNvSpPr/>
          <p:nvPr/>
        </p:nvSpPr>
        <p:spPr>
          <a:xfrm>
            <a:off x="3898999"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9a</a:t>
            </a:r>
            <a:endParaRPr lang="en-US" sz="1350" dirty="0"/>
          </a:p>
        </p:txBody>
      </p:sp>
      <p:sp>
        <p:nvSpPr>
          <p:cNvPr id="53" name="Shape 49">
            <a:extLst>
              <a:ext uri="{FF2B5EF4-FFF2-40B4-BE49-F238E27FC236}">
                <a16:creationId xmlns:a16="http://schemas.microsoft.com/office/drawing/2014/main" id="{2773DFF9-2136-1D40-742E-39F4545C0DFC}"/>
              </a:ext>
            </a:extLst>
          </p:cNvPr>
          <p:cNvSpPr/>
          <p:nvPr/>
        </p:nvSpPr>
        <p:spPr>
          <a:xfrm>
            <a:off x="4520803" y="5334000"/>
            <a:ext cx="461963" cy="1362075"/>
          </a:xfrm>
          <a:prstGeom prst="rect">
            <a:avLst/>
          </a:prstGeom>
          <a:solidFill>
            <a:srgbClr val="1B3A44"/>
          </a:solidFill>
          <a:ln/>
        </p:spPr>
        <p:txBody>
          <a:bodyPr/>
          <a:lstStyle/>
          <a:p>
            <a:endParaRPr lang="en-US"/>
          </a:p>
        </p:txBody>
      </p:sp>
      <p:sp>
        <p:nvSpPr>
          <p:cNvPr id="54" name="Shape 50">
            <a:extLst>
              <a:ext uri="{FF2B5EF4-FFF2-40B4-BE49-F238E27FC236}">
                <a16:creationId xmlns:a16="http://schemas.microsoft.com/office/drawing/2014/main" id="{F7DA68D7-3540-E899-4338-58FE0CBD7006}"/>
              </a:ext>
            </a:extLst>
          </p:cNvPr>
          <p:cNvSpPr/>
          <p:nvPr/>
        </p:nvSpPr>
        <p:spPr>
          <a:xfrm>
            <a:off x="4520803" y="4714875"/>
            <a:ext cx="461963" cy="619125"/>
          </a:xfrm>
          <a:prstGeom prst="rect">
            <a:avLst/>
          </a:prstGeom>
          <a:solidFill>
            <a:srgbClr val="35707A"/>
          </a:solidFill>
          <a:ln/>
        </p:spPr>
        <p:txBody>
          <a:bodyPr/>
          <a:lstStyle/>
          <a:p>
            <a:endParaRPr lang="en-US"/>
          </a:p>
        </p:txBody>
      </p:sp>
      <p:sp>
        <p:nvSpPr>
          <p:cNvPr id="55" name="Shape 51">
            <a:extLst>
              <a:ext uri="{FF2B5EF4-FFF2-40B4-BE49-F238E27FC236}">
                <a16:creationId xmlns:a16="http://schemas.microsoft.com/office/drawing/2014/main" id="{0C81AE3C-BA79-62C8-31DF-E3D578CB3CD4}"/>
              </a:ext>
            </a:extLst>
          </p:cNvPr>
          <p:cNvSpPr/>
          <p:nvPr/>
        </p:nvSpPr>
        <p:spPr>
          <a:xfrm>
            <a:off x="4520803" y="4448175"/>
            <a:ext cx="461963" cy="266700"/>
          </a:xfrm>
          <a:prstGeom prst="rect">
            <a:avLst/>
          </a:prstGeom>
          <a:solidFill>
            <a:srgbClr val="8FB9AD"/>
          </a:solidFill>
          <a:ln/>
        </p:spPr>
        <p:txBody>
          <a:bodyPr/>
          <a:lstStyle/>
          <a:p>
            <a:endParaRPr lang="en-US"/>
          </a:p>
        </p:txBody>
      </p:sp>
      <p:sp>
        <p:nvSpPr>
          <p:cNvPr id="56" name="Shape 52">
            <a:extLst>
              <a:ext uri="{FF2B5EF4-FFF2-40B4-BE49-F238E27FC236}">
                <a16:creationId xmlns:a16="http://schemas.microsoft.com/office/drawing/2014/main" id="{D6039694-E96E-A9EF-63F1-66E2E1345DAB}"/>
              </a:ext>
            </a:extLst>
          </p:cNvPr>
          <p:cNvSpPr/>
          <p:nvPr/>
        </p:nvSpPr>
        <p:spPr>
          <a:xfrm>
            <a:off x="4520803" y="4257675"/>
            <a:ext cx="461963" cy="190500"/>
          </a:xfrm>
          <a:prstGeom prst="rect">
            <a:avLst/>
          </a:prstGeom>
          <a:solidFill>
            <a:srgbClr val="CBDAC0"/>
          </a:solidFill>
          <a:ln/>
        </p:spPr>
        <p:txBody>
          <a:bodyPr/>
          <a:lstStyle/>
          <a:p>
            <a:endParaRPr lang="en-US"/>
          </a:p>
        </p:txBody>
      </p:sp>
      <p:sp>
        <p:nvSpPr>
          <p:cNvPr id="57" name="Shape 53">
            <a:extLst>
              <a:ext uri="{FF2B5EF4-FFF2-40B4-BE49-F238E27FC236}">
                <a16:creationId xmlns:a16="http://schemas.microsoft.com/office/drawing/2014/main" id="{756D09AF-4392-29CC-9904-07AD5E19855C}"/>
              </a:ext>
            </a:extLst>
          </p:cNvPr>
          <p:cNvSpPr/>
          <p:nvPr/>
        </p:nvSpPr>
        <p:spPr>
          <a:xfrm>
            <a:off x="4520803" y="3981450"/>
            <a:ext cx="461963" cy="276225"/>
          </a:xfrm>
          <a:prstGeom prst="rect">
            <a:avLst/>
          </a:prstGeom>
          <a:solidFill>
            <a:srgbClr val="E0894F"/>
          </a:solidFill>
          <a:ln/>
        </p:spPr>
        <p:txBody>
          <a:bodyPr/>
          <a:lstStyle/>
          <a:p>
            <a:endParaRPr lang="en-US"/>
          </a:p>
        </p:txBody>
      </p:sp>
      <p:sp>
        <p:nvSpPr>
          <p:cNvPr id="58" name="Shape 54">
            <a:extLst>
              <a:ext uri="{FF2B5EF4-FFF2-40B4-BE49-F238E27FC236}">
                <a16:creationId xmlns:a16="http://schemas.microsoft.com/office/drawing/2014/main" id="{9202C6A0-4790-68C7-89BE-2BAE21BFFC80}"/>
              </a:ext>
            </a:extLst>
          </p:cNvPr>
          <p:cNvSpPr/>
          <p:nvPr/>
        </p:nvSpPr>
        <p:spPr>
          <a:xfrm>
            <a:off x="4520803" y="3971925"/>
            <a:ext cx="461963" cy="9525"/>
          </a:xfrm>
          <a:prstGeom prst="rect">
            <a:avLst/>
          </a:prstGeom>
          <a:solidFill>
            <a:srgbClr val="B4472F"/>
          </a:solidFill>
          <a:ln/>
        </p:spPr>
        <p:txBody>
          <a:bodyPr/>
          <a:lstStyle/>
          <a:p>
            <a:endParaRPr lang="en-US"/>
          </a:p>
        </p:txBody>
      </p:sp>
      <p:sp>
        <p:nvSpPr>
          <p:cNvPr id="59" name="Text 55">
            <a:extLst>
              <a:ext uri="{FF2B5EF4-FFF2-40B4-BE49-F238E27FC236}">
                <a16:creationId xmlns:a16="http://schemas.microsoft.com/office/drawing/2014/main" id="{64369A2D-AFD2-8901-771C-BA294BF056A0}"/>
              </a:ext>
            </a:extLst>
          </p:cNvPr>
          <p:cNvSpPr/>
          <p:nvPr/>
        </p:nvSpPr>
        <p:spPr>
          <a:xfrm>
            <a:off x="4608612" y="6772275"/>
            <a:ext cx="362545"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10a</a:t>
            </a:r>
            <a:endParaRPr lang="en-US" sz="1350" dirty="0"/>
          </a:p>
        </p:txBody>
      </p:sp>
      <p:sp>
        <p:nvSpPr>
          <p:cNvPr id="60" name="Shape 56">
            <a:extLst>
              <a:ext uri="{FF2B5EF4-FFF2-40B4-BE49-F238E27FC236}">
                <a16:creationId xmlns:a16="http://schemas.microsoft.com/office/drawing/2014/main" id="{91F827BA-BE31-86AA-51B1-DB588D50EF50}"/>
              </a:ext>
            </a:extLst>
          </p:cNvPr>
          <p:cNvSpPr/>
          <p:nvPr/>
        </p:nvSpPr>
        <p:spPr>
          <a:xfrm>
            <a:off x="5278338" y="5676900"/>
            <a:ext cx="461963" cy="1019175"/>
          </a:xfrm>
          <a:prstGeom prst="rect">
            <a:avLst/>
          </a:prstGeom>
          <a:solidFill>
            <a:srgbClr val="1B3A44"/>
          </a:solidFill>
          <a:ln/>
        </p:spPr>
        <p:txBody>
          <a:bodyPr/>
          <a:lstStyle/>
          <a:p>
            <a:endParaRPr lang="en-US"/>
          </a:p>
        </p:txBody>
      </p:sp>
      <p:sp>
        <p:nvSpPr>
          <p:cNvPr id="61" name="Shape 57">
            <a:extLst>
              <a:ext uri="{FF2B5EF4-FFF2-40B4-BE49-F238E27FC236}">
                <a16:creationId xmlns:a16="http://schemas.microsoft.com/office/drawing/2014/main" id="{FC0EAF3F-26EA-BCCD-C7EC-132CD0F9894D}"/>
              </a:ext>
            </a:extLst>
          </p:cNvPr>
          <p:cNvSpPr/>
          <p:nvPr/>
        </p:nvSpPr>
        <p:spPr>
          <a:xfrm>
            <a:off x="5278338" y="5086350"/>
            <a:ext cx="461963" cy="590550"/>
          </a:xfrm>
          <a:prstGeom prst="rect">
            <a:avLst/>
          </a:prstGeom>
          <a:solidFill>
            <a:srgbClr val="35707A"/>
          </a:solidFill>
          <a:ln/>
        </p:spPr>
        <p:txBody>
          <a:bodyPr/>
          <a:lstStyle/>
          <a:p>
            <a:endParaRPr lang="en-US"/>
          </a:p>
        </p:txBody>
      </p:sp>
      <p:sp>
        <p:nvSpPr>
          <p:cNvPr id="62" name="Shape 58">
            <a:extLst>
              <a:ext uri="{FF2B5EF4-FFF2-40B4-BE49-F238E27FC236}">
                <a16:creationId xmlns:a16="http://schemas.microsoft.com/office/drawing/2014/main" id="{0E3C645E-3868-2193-110D-BC3886E158A9}"/>
              </a:ext>
            </a:extLst>
          </p:cNvPr>
          <p:cNvSpPr/>
          <p:nvPr/>
        </p:nvSpPr>
        <p:spPr>
          <a:xfrm>
            <a:off x="5278338" y="4905375"/>
            <a:ext cx="461963" cy="180975"/>
          </a:xfrm>
          <a:prstGeom prst="rect">
            <a:avLst/>
          </a:prstGeom>
          <a:solidFill>
            <a:srgbClr val="8FB9AD"/>
          </a:solidFill>
          <a:ln/>
        </p:spPr>
        <p:txBody>
          <a:bodyPr/>
          <a:lstStyle/>
          <a:p>
            <a:endParaRPr lang="en-US"/>
          </a:p>
        </p:txBody>
      </p:sp>
      <p:sp>
        <p:nvSpPr>
          <p:cNvPr id="63" name="Shape 59">
            <a:extLst>
              <a:ext uri="{FF2B5EF4-FFF2-40B4-BE49-F238E27FC236}">
                <a16:creationId xmlns:a16="http://schemas.microsoft.com/office/drawing/2014/main" id="{95DD5CBA-610D-C963-6266-BDF077CDA90F}"/>
              </a:ext>
            </a:extLst>
          </p:cNvPr>
          <p:cNvSpPr/>
          <p:nvPr/>
        </p:nvSpPr>
        <p:spPr>
          <a:xfrm>
            <a:off x="5278338" y="4724400"/>
            <a:ext cx="461963" cy="180975"/>
          </a:xfrm>
          <a:prstGeom prst="rect">
            <a:avLst/>
          </a:prstGeom>
          <a:solidFill>
            <a:srgbClr val="CBDAC0"/>
          </a:solidFill>
          <a:ln/>
        </p:spPr>
        <p:txBody>
          <a:bodyPr/>
          <a:lstStyle/>
          <a:p>
            <a:endParaRPr lang="en-US"/>
          </a:p>
        </p:txBody>
      </p:sp>
      <p:sp>
        <p:nvSpPr>
          <p:cNvPr id="64" name="Shape 60">
            <a:extLst>
              <a:ext uri="{FF2B5EF4-FFF2-40B4-BE49-F238E27FC236}">
                <a16:creationId xmlns:a16="http://schemas.microsoft.com/office/drawing/2014/main" id="{776A4BCF-3941-F5EF-8534-8B3FD7887216}"/>
              </a:ext>
            </a:extLst>
          </p:cNvPr>
          <p:cNvSpPr/>
          <p:nvPr/>
        </p:nvSpPr>
        <p:spPr>
          <a:xfrm>
            <a:off x="5278338" y="4467225"/>
            <a:ext cx="461963" cy="257175"/>
          </a:xfrm>
          <a:prstGeom prst="rect">
            <a:avLst/>
          </a:prstGeom>
          <a:solidFill>
            <a:srgbClr val="E0894F"/>
          </a:solidFill>
          <a:ln/>
        </p:spPr>
        <p:txBody>
          <a:bodyPr/>
          <a:lstStyle/>
          <a:p>
            <a:endParaRPr lang="en-US"/>
          </a:p>
        </p:txBody>
      </p:sp>
      <p:sp>
        <p:nvSpPr>
          <p:cNvPr id="65" name="Shape 61">
            <a:extLst>
              <a:ext uri="{FF2B5EF4-FFF2-40B4-BE49-F238E27FC236}">
                <a16:creationId xmlns:a16="http://schemas.microsoft.com/office/drawing/2014/main" id="{03273153-3D59-3CA8-676B-6A9BF73249B2}"/>
              </a:ext>
            </a:extLst>
          </p:cNvPr>
          <p:cNvSpPr/>
          <p:nvPr/>
        </p:nvSpPr>
        <p:spPr>
          <a:xfrm>
            <a:off x="5278338" y="4429125"/>
            <a:ext cx="461963" cy="38100"/>
          </a:xfrm>
          <a:prstGeom prst="rect">
            <a:avLst/>
          </a:prstGeom>
          <a:solidFill>
            <a:srgbClr val="B4472F"/>
          </a:solidFill>
          <a:ln/>
        </p:spPr>
        <p:txBody>
          <a:bodyPr/>
          <a:lstStyle/>
          <a:p>
            <a:endParaRPr lang="en-US"/>
          </a:p>
        </p:txBody>
      </p:sp>
      <p:sp>
        <p:nvSpPr>
          <p:cNvPr id="66" name="Text 62">
            <a:extLst>
              <a:ext uri="{FF2B5EF4-FFF2-40B4-BE49-F238E27FC236}">
                <a16:creationId xmlns:a16="http://schemas.microsoft.com/office/drawing/2014/main" id="{D2301035-1F33-DFA0-ECA2-5595D3E7264B}"/>
              </a:ext>
            </a:extLst>
          </p:cNvPr>
          <p:cNvSpPr/>
          <p:nvPr/>
        </p:nvSpPr>
        <p:spPr>
          <a:xfrm>
            <a:off x="5372695" y="6772275"/>
            <a:ext cx="349746"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11a</a:t>
            </a:r>
            <a:endParaRPr lang="en-US" sz="1350" dirty="0"/>
          </a:p>
        </p:txBody>
      </p:sp>
      <p:sp>
        <p:nvSpPr>
          <p:cNvPr id="67" name="Shape 63">
            <a:extLst>
              <a:ext uri="{FF2B5EF4-FFF2-40B4-BE49-F238E27FC236}">
                <a16:creationId xmlns:a16="http://schemas.microsoft.com/office/drawing/2014/main" id="{03BBF753-A990-A9EC-7FB6-59E4D22752DB}"/>
              </a:ext>
            </a:extLst>
          </p:cNvPr>
          <p:cNvSpPr/>
          <p:nvPr/>
        </p:nvSpPr>
        <p:spPr>
          <a:xfrm>
            <a:off x="6035873" y="5848350"/>
            <a:ext cx="461963" cy="847725"/>
          </a:xfrm>
          <a:prstGeom prst="rect">
            <a:avLst/>
          </a:prstGeom>
          <a:solidFill>
            <a:srgbClr val="1B3A44"/>
          </a:solidFill>
          <a:ln/>
        </p:spPr>
        <p:txBody>
          <a:bodyPr/>
          <a:lstStyle/>
          <a:p>
            <a:endParaRPr lang="en-US"/>
          </a:p>
        </p:txBody>
      </p:sp>
      <p:sp>
        <p:nvSpPr>
          <p:cNvPr id="68" name="Shape 64">
            <a:extLst>
              <a:ext uri="{FF2B5EF4-FFF2-40B4-BE49-F238E27FC236}">
                <a16:creationId xmlns:a16="http://schemas.microsoft.com/office/drawing/2014/main" id="{61AFF2A6-6E74-0DFB-ED2D-96A229A2447C}"/>
              </a:ext>
            </a:extLst>
          </p:cNvPr>
          <p:cNvSpPr/>
          <p:nvPr/>
        </p:nvSpPr>
        <p:spPr>
          <a:xfrm>
            <a:off x="6035873" y="5210175"/>
            <a:ext cx="461963" cy="638175"/>
          </a:xfrm>
          <a:prstGeom prst="rect">
            <a:avLst/>
          </a:prstGeom>
          <a:solidFill>
            <a:srgbClr val="35707A"/>
          </a:solidFill>
          <a:ln/>
        </p:spPr>
        <p:txBody>
          <a:bodyPr/>
          <a:lstStyle/>
          <a:p>
            <a:endParaRPr lang="en-US"/>
          </a:p>
        </p:txBody>
      </p:sp>
      <p:sp>
        <p:nvSpPr>
          <p:cNvPr id="69" name="Shape 65">
            <a:extLst>
              <a:ext uri="{FF2B5EF4-FFF2-40B4-BE49-F238E27FC236}">
                <a16:creationId xmlns:a16="http://schemas.microsoft.com/office/drawing/2014/main" id="{71201562-4574-2CD1-B0E3-84452D7CAD26}"/>
              </a:ext>
            </a:extLst>
          </p:cNvPr>
          <p:cNvSpPr/>
          <p:nvPr/>
        </p:nvSpPr>
        <p:spPr>
          <a:xfrm>
            <a:off x="6035873" y="5067300"/>
            <a:ext cx="461963" cy="142875"/>
          </a:xfrm>
          <a:prstGeom prst="rect">
            <a:avLst/>
          </a:prstGeom>
          <a:solidFill>
            <a:srgbClr val="8FB9AD"/>
          </a:solidFill>
          <a:ln/>
        </p:spPr>
        <p:txBody>
          <a:bodyPr/>
          <a:lstStyle/>
          <a:p>
            <a:endParaRPr lang="en-US"/>
          </a:p>
        </p:txBody>
      </p:sp>
      <p:sp>
        <p:nvSpPr>
          <p:cNvPr id="70" name="Shape 66">
            <a:extLst>
              <a:ext uri="{FF2B5EF4-FFF2-40B4-BE49-F238E27FC236}">
                <a16:creationId xmlns:a16="http://schemas.microsoft.com/office/drawing/2014/main" id="{69FBF8DD-D7E5-4E87-E8E1-091E209E6A9F}"/>
              </a:ext>
            </a:extLst>
          </p:cNvPr>
          <p:cNvSpPr/>
          <p:nvPr/>
        </p:nvSpPr>
        <p:spPr>
          <a:xfrm>
            <a:off x="6035873" y="4895850"/>
            <a:ext cx="461963" cy="171450"/>
          </a:xfrm>
          <a:prstGeom prst="rect">
            <a:avLst/>
          </a:prstGeom>
          <a:solidFill>
            <a:srgbClr val="CBDAC0"/>
          </a:solidFill>
          <a:ln/>
        </p:spPr>
        <p:txBody>
          <a:bodyPr/>
          <a:lstStyle/>
          <a:p>
            <a:endParaRPr lang="en-US"/>
          </a:p>
        </p:txBody>
      </p:sp>
      <p:sp>
        <p:nvSpPr>
          <p:cNvPr id="71" name="Shape 67">
            <a:extLst>
              <a:ext uri="{FF2B5EF4-FFF2-40B4-BE49-F238E27FC236}">
                <a16:creationId xmlns:a16="http://schemas.microsoft.com/office/drawing/2014/main" id="{C127A077-7D6A-817F-6B49-9ACD98FB04C6}"/>
              </a:ext>
            </a:extLst>
          </p:cNvPr>
          <p:cNvSpPr/>
          <p:nvPr/>
        </p:nvSpPr>
        <p:spPr>
          <a:xfrm>
            <a:off x="6035873" y="4629150"/>
            <a:ext cx="461963" cy="266700"/>
          </a:xfrm>
          <a:prstGeom prst="rect">
            <a:avLst/>
          </a:prstGeom>
          <a:solidFill>
            <a:srgbClr val="E0894F"/>
          </a:solidFill>
          <a:ln/>
        </p:spPr>
        <p:txBody>
          <a:bodyPr/>
          <a:lstStyle/>
          <a:p>
            <a:endParaRPr lang="en-US"/>
          </a:p>
        </p:txBody>
      </p:sp>
      <p:sp>
        <p:nvSpPr>
          <p:cNvPr id="72" name="Shape 68">
            <a:extLst>
              <a:ext uri="{FF2B5EF4-FFF2-40B4-BE49-F238E27FC236}">
                <a16:creationId xmlns:a16="http://schemas.microsoft.com/office/drawing/2014/main" id="{32FBE9E1-0903-37FB-F0B5-69E3B3CE230C}"/>
              </a:ext>
            </a:extLst>
          </p:cNvPr>
          <p:cNvSpPr/>
          <p:nvPr/>
        </p:nvSpPr>
        <p:spPr>
          <a:xfrm>
            <a:off x="6035873" y="4600575"/>
            <a:ext cx="461963" cy="28575"/>
          </a:xfrm>
          <a:prstGeom prst="rect">
            <a:avLst/>
          </a:prstGeom>
          <a:solidFill>
            <a:srgbClr val="B4472F"/>
          </a:solidFill>
          <a:ln/>
        </p:spPr>
        <p:txBody>
          <a:bodyPr/>
          <a:lstStyle/>
          <a:p>
            <a:endParaRPr lang="en-US"/>
          </a:p>
        </p:txBody>
      </p:sp>
      <p:sp>
        <p:nvSpPr>
          <p:cNvPr id="73" name="Text 69">
            <a:extLst>
              <a:ext uri="{FF2B5EF4-FFF2-40B4-BE49-F238E27FC236}">
                <a16:creationId xmlns:a16="http://schemas.microsoft.com/office/drawing/2014/main" id="{B7CD4B77-5CDA-EBE0-9D06-64C54DAC1510}"/>
              </a:ext>
            </a:extLst>
          </p:cNvPr>
          <p:cNvSpPr/>
          <p:nvPr/>
        </p:nvSpPr>
        <p:spPr>
          <a:xfrm>
            <a:off x="6123682" y="6772275"/>
            <a:ext cx="362545"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12p</a:t>
            </a:r>
            <a:endParaRPr lang="en-US" sz="1350" dirty="0"/>
          </a:p>
        </p:txBody>
      </p:sp>
      <p:sp>
        <p:nvSpPr>
          <p:cNvPr id="74" name="Shape 70">
            <a:extLst>
              <a:ext uri="{FF2B5EF4-FFF2-40B4-BE49-F238E27FC236}">
                <a16:creationId xmlns:a16="http://schemas.microsoft.com/office/drawing/2014/main" id="{D118BECA-7A48-30C3-D8F8-B65FFC78E08D}"/>
              </a:ext>
            </a:extLst>
          </p:cNvPr>
          <p:cNvSpPr/>
          <p:nvPr/>
        </p:nvSpPr>
        <p:spPr>
          <a:xfrm>
            <a:off x="6793409" y="6076950"/>
            <a:ext cx="461963" cy="619125"/>
          </a:xfrm>
          <a:prstGeom prst="rect">
            <a:avLst/>
          </a:prstGeom>
          <a:solidFill>
            <a:srgbClr val="1B3A44"/>
          </a:solidFill>
          <a:ln/>
        </p:spPr>
        <p:txBody>
          <a:bodyPr/>
          <a:lstStyle/>
          <a:p>
            <a:endParaRPr lang="en-US"/>
          </a:p>
        </p:txBody>
      </p:sp>
      <p:sp>
        <p:nvSpPr>
          <p:cNvPr id="75" name="Shape 71">
            <a:extLst>
              <a:ext uri="{FF2B5EF4-FFF2-40B4-BE49-F238E27FC236}">
                <a16:creationId xmlns:a16="http://schemas.microsoft.com/office/drawing/2014/main" id="{853F1316-8A99-EA15-7EBE-DC2736253F9A}"/>
              </a:ext>
            </a:extLst>
          </p:cNvPr>
          <p:cNvSpPr/>
          <p:nvPr/>
        </p:nvSpPr>
        <p:spPr>
          <a:xfrm>
            <a:off x="6793409" y="5657850"/>
            <a:ext cx="461963" cy="419100"/>
          </a:xfrm>
          <a:prstGeom prst="rect">
            <a:avLst/>
          </a:prstGeom>
          <a:solidFill>
            <a:srgbClr val="35707A"/>
          </a:solidFill>
          <a:ln/>
        </p:spPr>
        <p:txBody>
          <a:bodyPr/>
          <a:lstStyle/>
          <a:p>
            <a:endParaRPr lang="en-US"/>
          </a:p>
        </p:txBody>
      </p:sp>
      <p:sp>
        <p:nvSpPr>
          <p:cNvPr id="76" name="Shape 72">
            <a:extLst>
              <a:ext uri="{FF2B5EF4-FFF2-40B4-BE49-F238E27FC236}">
                <a16:creationId xmlns:a16="http://schemas.microsoft.com/office/drawing/2014/main" id="{8E095E24-43B2-5666-CF8B-3D71690C5722}"/>
              </a:ext>
            </a:extLst>
          </p:cNvPr>
          <p:cNvSpPr/>
          <p:nvPr/>
        </p:nvSpPr>
        <p:spPr>
          <a:xfrm>
            <a:off x="6793409" y="5572125"/>
            <a:ext cx="461963" cy="85725"/>
          </a:xfrm>
          <a:prstGeom prst="rect">
            <a:avLst/>
          </a:prstGeom>
          <a:solidFill>
            <a:srgbClr val="8FB9AD"/>
          </a:solidFill>
          <a:ln/>
        </p:spPr>
        <p:txBody>
          <a:bodyPr/>
          <a:lstStyle/>
          <a:p>
            <a:endParaRPr lang="en-US"/>
          </a:p>
        </p:txBody>
      </p:sp>
      <p:sp>
        <p:nvSpPr>
          <p:cNvPr id="77" name="Shape 73">
            <a:extLst>
              <a:ext uri="{FF2B5EF4-FFF2-40B4-BE49-F238E27FC236}">
                <a16:creationId xmlns:a16="http://schemas.microsoft.com/office/drawing/2014/main" id="{7EBE71B0-4A5F-7933-BC82-B20562247C81}"/>
              </a:ext>
            </a:extLst>
          </p:cNvPr>
          <p:cNvSpPr/>
          <p:nvPr/>
        </p:nvSpPr>
        <p:spPr>
          <a:xfrm>
            <a:off x="6793409" y="5438775"/>
            <a:ext cx="461963" cy="133350"/>
          </a:xfrm>
          <a:prstGeom prst="rect">
            <a:avLst/>
          </a:prstGeom>
          <a:solidFill>
            <a:srgbClr val="CBDAC0"/>
          </a:solidFill>
          <a:ln/>
        </p:spPr>
        <p:txBody>
          <a:bodyPr/>
          <a:lstStyle/>
          <a:p>
            <a:endParaRPr lang="en-US"/>
          </a:p>
        </p:txBody>
      </p:sp>
      <p:sp>
        <p:nvSpPr>
          <p:cNvPr id="78" name="Shape 74">
            <a:extLst>
              <a:ext uri="{FF2B5EF4-FFF2-40B4-BE49-F238E27FC236}">
                <a16:creationId xmlns:a16="http://schemas.microsoft.com/office/drawing/2014/main" id="{4A538C69-FF43-67CD-6D8C-FCD584E5A8B5}"/>
              </a:ext>
            </a:extLst>
          </p:cNvPr>
          <p:cNvSpPr/>
          <p:nvPr/>
        </p:nvSpPr>
        <p:spPr>
          <a:xfrm>
            <a:off x="6793409" y="5181600"/>
            <a:ext cx="461963" cy="257175"/>
          </a:xfrm>
          <a:prstGeom prst="rect">
            <a:avLst/>
          </a:prstGeom>
          <a:solidFill>
            <a:srgbClr val="E0894F"/>
          </a:solidFill>
          <a:ln/>
        </p:spPr>
        <p:txBody>
          <a:bodyPr/>
          <a:lstStyle/>
          <a:p>
            <a:endParaRPr lang="en-US"/>
          </a:p>
        </p:txBody>
      </p:sp>
      <p:sp>
        <p:nvSpPr>
          <p:cNvPr id="79" name="Shape 75">
            <a:extLst>
              <a:ext uri="{FF2B5EF4-FFF2-40B4-BE49-F238E27FC236}">
                <a16:creationId xmlns:a16="http://schemas.microsoft.com/office/drawing/2014/main" id="{74975725-83D2-3090-F7BC-90D5C32242FA}"/>
              </a:ext>
            </a:extLst>
          </p:cNvPr>
          <p:cNvSpPr/>
          <p:nvPr/>
        </p:nvSpPr>
        <p:spPr>
          <a:xfrm>
            <a:off x="6793409" y="5133975"/>
            <a:ext cx="461963" cy="47625"/>
          </a:xfrm>
          <a:prstGeom prst="rect">
            <a:avLst/>
          </a:prstGeom>
          <a:solidFill>
            <a:srgbClr val="B4472F"/>
          </a:solidFill>
          <a:ln/>
        </p:spPr>
        <p:txBody>
          <a:bodyPr/>
          <a:lstStyle/>
          <a:p>
            <a:endParaRPr lang="en-US"/>
          </a:p>
        </p:txBody>
      </p:sp>
      <p:sp>
        <p:nvSpPr>
          <p:cNvPr id="80" name="Text 76">
            <a:extLst>
              <a:ext uri="{FF2B5EF4-FFF2-40B4-BE49-F238E27FC236}">
                <a16:creationId xmlns:a16="http://schemas.microsoft.com/office/drawing/2014/main" id="{B3D90868-6F5B-142D-15CD-4BCA2262D461}"/>
              </a:ext>
            </a:extLst>
          </p:cNvPr>
          <p:cNvSpPr/>
          <p:nvPr/>
        </p:nvSpPr>
        <p:spPr>
          <a:xfrm>
            <a:off x="6929140"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1p</a:t>
            </a:r>
            <a:endParaRPr lang="en-US" sz="1350" dirty="0"/>
          </a:p>
        </p:txBody>
      </p:sp>
      <p:sp>
        <p:nvSpPr>
          <p:cNvPr id="81" name="Shape 77">
            <a:extLst>
              <a:ext uri="{FF2B5EF4-FFF2-40B4-BE49-F238E27FC236}">
                <a16:creationId xmlns:a16="http://schemas.microsoft.com/office/drawing/2014/main" id="{67C7F21B-BDAB-6AFA-148D-048DDF0437D3}"/>
              </a:ext>
            </a:extLst>
          </p:cNvPr>
          <p:cNvSpPr/>
          <p:nvPr/>
        </p:nvSpPr>
        <p:spPr>
          <a:xfrm>
            <a:off x="7550944" y="6143625"/>
            <a:ext cx="461963" cy="552450"/>
          </a:xfrm>
          <a:prstGeom prst="rect">
            <a:avLst/>
          </a:prstGeom>
          <a:solidFill>
            <a:srgbClr val="1B3A44"/>
          </a:solidFill>
          <a:ln/>
        </p:spPr>
        <p:txBody>
          <a:bodyPr/>
          <a:lstStyle/>
          <a:p>
            <a:endParaRPr lang="en-US"/>
          </a:p>
        </p:txBody>
      </p:sp>
      <p:sp>
        <p:nvSpPr>
          <p:cNvPr id="82" name="Shape 78">
            <a:extLst>
              <a:ext uri="{FF2B5EF4-FFF2-40B4-BE49-F238E27FC236}">
                <a16:creationId xmlns:a16="http://schemas.microsoft.com/office/drawing/2014/main" id="{B55C8E8F-ABFB-4DE5-4602-BC02B49340B1}"/>
              </a:ext>
            </a:extLst>
          </p:cNvPr>
          <p:cNvSpPr/>
          <p:nvPr/>
        </p:nvSpPr>
        <p:spPr>
          <a:xfrm>
            <a:off x="7550944" y="5924550"/>
            <a:ext cx="461963" cy="219075"/>
          </a:xfrm>
          <a:prstGeom prst="rect">
            <a:avLst/>
          </a:prstGeom>
          <a:solidFill>
            <a:srgbClr val="35707A"/>
          </a:solidFill>
          <a:ln/>
        </p:spPr>
        <p:txBody>
          <a:bodyPr/>
          <a:lstStyle/>
          <a:p>
            <a:endParaRPr lang="en-US"/>
          </a:p>
        </p:txBody>
      </p:sp>
      <p:sp>
        <p:nvSpPr>
          <p:cNvPr id="83" name="Shape 79">
            <a:extLst>
              <a:ext uri="{FF2B5EF4-FFF2-40B4-BE49-F238E27FC236}">
                <a16:creationId xmlns:a16="http://schemas.microsoft.com/office/drawing/2014/main" id="{4EB82AB1-7A7F-DE07-D07A-67C57BA7811F}"/>
              </a:ext>
            </a:extLst>
          </p:cNvPr>
          <p:cNvSpPr/>
          <p:nvPr/>
        </p:nvSpPr>
        <p:spPr>
          <a:xfrm>
            <a:off x="7550944" y="5848350"/>
            <a:ext cx="461963" cy="76200"/>
          </a:xfrm>
          <a:prstGeom prst="rect">
            <a:avLst/>
          </a:prstGeom>
          <a:solidFill>
            <a:srgbClr val="8FB9AD"/>
          </a:solidFill>
          <a:ln/>
        </p:spPr>
        <p:txBody>
          <a:bodyPr/>
          <a:lstStyle/>
          <a:p>
            <a:endParaRPr lang="en-US"/>
          </a:p>
        </p:txBody>
      </p:sp>
      <p:sp>
        <p:nvSpPr>
          <p:cNvPr id="84" name="Shape 80">
            <a:extLst>
              <a:ext uri="{FF2B5EF4-FFF2-40B4-BE49-F238E27FC236}">
                <a16:creationId xmlns:a16="http://schemas.microsoft.com/office/drawing/2014/main" id="{D2400BDA-75C5-3BA6-C84E-0A8E5C9D9D48}"/>
              </a:ext>
            </a:extLst>
          </p:cNvPr>
          <p:cNvSpPr/>
          <p:nvPr/>
        </p:nvSpPr>
        <p:spPr>
          <a:xfrm>
            <a:off x="7550944" y="5695950"/>
            <a:ext cx="461963" cy="152400"/>
          </a:xfrm>
          <a:prstGeom prst="rect">
            <a:avLst/>
          </a:prstGeom>
          <a:solidFill>
            <a:srgbClr val="CBDAC0"/>
          </a:solidFill>
          <a:ln/>
        </p:spPr>
        <p:txBody>
          <a:bodyPr/>
          <a:lstStyle/>
          <a:p>
            <a:endParaRPr lang="en-US"/>
          </a:p>
        </p:txBody>
      </p:sp>
      <p:sp>
        <p:nvSpPr>
          <p:cNvPr id="85" name="Shape 81">
            <a:extLst>
              <a:ext uri="{FF2B5EF4-FFF2-40B4-BE49-F238E27FC236}">
                <a16:creationId xmlns:a16="http://schemas.microsoft.com/office/drawing/2014/main" id="{8C6BA2A8-2524-ED65-330E-F460FDA5C55B}"/>
              </a:ext>
            </a:extLst>
          </p:cNvPr>
          <p:cNvSpPr/>
          <p:nvPr/>
        </p:nvSpPr>
        <p:spPr>
          <a:xfrm>
            <a:off x="7550944" y="5486400"/>
            <a:ext cx="461963" cy="209550"/>
          </a:xfrm>
          <a:prstGeom prst="rect">
            <a:avLst/>
          </a:prstGeom>
          <a:solidFill>
            <a:srgbClr val="E0894F"/>
          </a:solidFill>
          <a:ln/>
        </p:spPr>
        <p:txBody>
          <a:bodyPr/>
          <a:lstStyle/>
          <a:p>
            <a:endParaRPr lang="en-US"/>
          </a:p>
        </p:txBody>
      </p:sp>
      <p:sp>
        <p:nvSpPr>
          <p:cNvPr id="86" name="Shape 82">
            <a:extLst>
              <a:ext uri="{FF2B5EF4-FFF2-40B4-BE49-F238E27FC236}">
                <a16:creationId xmlns:a16="http://schemas.microsoft.com/office/drawing/2014/main" id="{6DBE8575-ABEF-4C13-5546-0E40A25C2153}"/>
              </a:ext>
            </a:extLst>
          </p:cNvPr>
          <p:cNvSpPr/>
          <p:nvPr/>
        </p:nvSpPr>
        <p:spPr>
          <a:xfrm>
            <a:off x="7550944" y="5400675"/>
            <a:ext cx="461963" cy="85725"/>
          </a:xfrm>
          <a:prstGeom prst="rect">
            <a:avLst/>
          </a:prstGeom>
          <a:solidFill>
            <a:srgbClr val="B4472F"/>
          </a:solidFill>
          <a:ln/>
        </p:spPr>
        <p:txBody>
          <a:bodyPr/>
          <a:lstStyle/>
          <a:p>
            <a:endParaRPr lang="en-US"/>
          </a:p>
        </p:txBody>
      </p:sp>
      <p:sp>
        <p:nvSpPr>
          <p:cNvPr id="87" name="Text 83">
            <a:extLst>
              <a:ext uri="{FF2B5EF4-FFF2-40B4-BE49-F238E27FC236}">
                <a16:creationId xmlns:a16="http://schemas.microsoft.com/office/drawing/2014/main" id="{23E787E6-B8E3-5B95-FE22-1EC6C9193E55}"/>
              </a:ext>
            </a:extLst>
          </p:cNvPr>
          <p:cNvSpPr/>
          <p:nvPr/>
        </p:nvSpPr>
        <p:spPr>
          <a:xfrm>
            <a:off x="7686675"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2p</a:t>
            </a:r>
            <a:endParaRPr lang="en-US" sz="1350" dirty="0"/>
          </a:p>
        </p:txBody>
      </p:sp>
      <p:sp>
        <p:nvSpPr>
          <p:cNvPr id="88" name="Shape 84">
            <a:extLst>
              <a:ext uri="{FF2B5EF4-FFF2-40B4-BE49-F238E27FC236}">
                <a16:creationId xmlns:a16="http://schemas.microsoft.com/office/drawing/2014/main" id="{9D05CA3A-F031-CB08-5118-EA058D37236C}"/>
              </a:ext>
            </a:extLst>
          </p:cNvPr>
          <p:cNvSpPr/>
          <p:nvPr/>
        </p:nvSpPr>
        <p:spPr>
          <a:xfrm>
            <a:off x="8308479" y="6219825"/>
            <a:ext cx="461963" cy="476250"/>
          </a:xfrm>
          <a:prstGeom prst="rect">
            <a:avLst/>
          </a:prstGeom>
          <a:solidFill>
            <a:srgbClr val="1B3A44"/>
          </a:solidFill>
          <a:ln/>
        </p:spPr>
        <p:txBody>
          <a:bodyPr/>
          <a:lstStyle/>
          <a:p>
            <a:endParaRPr lang="en-US"/>
          </a:p>
        </p:txBody>
      </p:sp>
      <p:sp>
        <p:nvSpPr>
          <p:cNvPr id="89" name="Shape 85">
            <a:extLst>
              <a:ext uri="{FF2B5EF4-FFF2-40B4-BE49-F238E27FC236}">
                <a16:creationId xmlns:a16="http://schemas.microsoft.com/office/drawing/2014/main" id="{7BFAE88B-824D-99EB-1E24-D61379609D85}"/>
              </a:ext>
            </a:extLst>
          </p:cNvPr>
          <p:cNvSpPr/>
          <p:nvPr/>
        </p:nvSpPr>
        <p:spPr>
          <a:xfrm>
            <a:off x="8308479" y="6105525"/>
            <a:ext cx="461963" cy="114300"/>
          </a:xfrm>
          <a:prstGeom prst="rect">
            <a:avLst/>
          </a:prstGeom>
          <a:solidFill>
            <a:srgbClr val="35707A"/>
          </a:solidFill>
          <a:ln/>
        </p:spPr>
        <p:txBody>
          <a:bodyPr/>
          <a:lstStyle/>
          <a:p>
            <a:endParaRPr lang="en-US"/>
          </a:p>
        </p:txBody>
      </p:sp>
      <p:sp>
        <p:nvSpPr>
          <p:cNvPr id="90" name="Shape 86">
            <a:extLst>
              <a:ext uri="{FF2B5EF4-FFF2-40B4-BE49-F238E27FC236}">
                <a16:creationId xmlns:a16="http://schemas.microsoft.com/office/drawing/2014/main" id="{F516ED42-2DCD-73C9-12A7-52D2F36703F1}"/>
              </a:ext>
            </a:extLst>
          </p:cNvPr>
          <p:cNvSpPr/>
          <p:nvPr/>
        </p:nvSpPr>
        <p:spPr>
          <a:xfrm>
            <a:off x="8308479" y="6038850"/>
            <a:ext cx="461963" cy="66675"/>
          </a:xfrm>
          <a:prstGeom prst="rect">
            <a:avLst/>
          </a:prstGeom>
          <a:solidFill>
            <a:srgbClr val="8FB9AD"/>
          </a:solidFill>
          <a:ln/>
        </p:spPr>
        <p:txBody>
          <a:bodyPr/>
          <a:lstStyle/>
          <a:p>
            <a:endParaRPr lang="en-US"/>
          </a:p>
        </p:txBody>
      </p:sp>
      <p:sp>
        <p:nvSpPr>
          <p:cNvPr id="91" name="Shape 87">
            <a:extLst>
              <a:ext uri="{FF2B5EF4-FFF2-40B4-BE49-F238E27FC236}">
                <a16:creationId xmlns:a16="http://schemas.microsoft.com/office/drawing/2014/main" id="{2736CCE3-7892-01A6-3E59-8B32E7FA2E03}"/>
              </a:ext>
            </a:extLst>
          </p:cNvPr>
          <p:cNvSpPr/>
          <p:nvPr/>
        </p:nvSpPr>
        <p:spPr>
          <a:xfrm>
            <a:off x="8308479" y="5886450"/>
            <a:ext cx="461963" cy="152400"/>
          </a:xfrm>
          <a:prstGeom prst="rect">
            <a:avLst/>
          </a:prstGeom>
          <a:solidFill>
            <a:srgbClr val="CBDAC0"/>
          </a:solidFill>
          <a:ln/>
        </p:spPr>
        <p:txBody>
          <a:bodyPr/>
          <a:lstStyle/>
          <a:p>
            <a:endParaRPr lang="en-US"/>
          </a:p>
        </p:txBody>
      </p:sp>
      <p:sp>
        <p:nvSpPr>
          <p:cNvPr id="92" name="Shape 88">
            <a:extLst>
              <a:ext uri="{FF2B5EF4-FFF2-40B4-BE49-F238E27FC236}">
                <a16:creationId xmlns:a16="http://schemas.microsoft.com/office/drawing/2014/main" id="{595A43EF-1C59-0856-0495-11714BF60543}"/>
              </a:ext>
            </a:extLst>
          </p:cNvPr>
          <p:cNvSpPr/>
          <p:nvPr/>
        </p:nvSpPr>
        <p:spPr>
          <a:xfrm>
            <a:off x="8308479" y="5667375"/>
            <a:ext cx="461963" cy="219075"/>
          </a:xfrm>
          <a:prstGeom prst="rect">
            <a:avLst/>
          </a:prstGeom>
          <a:solidFill>
            <a:srgbClr val="E0894F"/>
          </a:solidFill>
          <a:ln/>
        </p:spPr>
        <p:txBody>
          <a:bodyPr/>
          <a:lstStyle/>
          <a:p>
            <a:endParaRPr lang="en-US"/>
          </a:p>
        </p:txBody>
      </p:sp>
      <p:sp>
        <p:nvSpPr>
          <p:cNvPr id="93" name="Shape 89">
            <a:extLst>
              <a:ext uri="{FF2B5EF4-FFF2-40B4-BE49-F238E27FC236}">
                <a16:creationId xmlns:a16="http://schemas.microsoft.com/office/drawing/2014/main" id="{58A06436-89DE-1A6C-7E1F-993560EEFA34}"/>
              </a:ext>
            </a:extLst>
          </p:cNvPr>
          <p:cNvSpPr/>
          <p:nvPr/>
        </p:nvSpPr>
        <p:spPr>
          <a:xfrm>
            <a:off x="8308479" y="5591175"/>
            <a:ext cx="461963" cy="76200"/>
          </a:xfrm>
          <a:prstGeom prst="rect">
            <a:avLst/>
          </a:prstGeom>
          <a:solidFill>
            <a:srgbClr val="B4472F"/>
          </a:solidFill>
          <a:ln/>
        </p:spPr>
        <p:txBody>
          <a:bodyPr/>
          <a:lstStyle/>
          <a:p>
            <a:endParaRPr lang="en-US"/>
          </a:p>
        </p:txBody>
      </p:sp>
      <p:sp>
        <p:nvSpPr>
          <p:cNvPr id="94" name="Text 90">
            <a:extLst>
              <a:ext uri="{FF2B5EF4-FFF2-40B4-BE49-F238E27FC236}">
                <a16:creationId xmlns:a16="http://schemas.microsoft.com/office/drawing/2014/main" id="{131C86B5-2944-B2E9-EA5B-9E20602A39D8}"/>
              </a:ext>
            </a:extLst>
          </p:cNvPr>
          <p:cNvSpPr/>
          <p:nvPr/>
        </p:nvSpPr>
        <p:spPr>
          <a:xfrm>
            <a:off x="8444210"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3p</a:t>
            </a:r>
            <a:endParaRPr lang="en-US" sz="1350" dirty="0"/>
          </a:p>
        </p:txBody>
      </p:sp>
      <p:sp>
        <p:nvSpPr>
          <p:cNvPr id="95" name="Shape 91">
            <a:extLst>
              <a:ext uri="{FF2B5EF4-FFF2-40B4-BE49-F238E27FC236}">
                <a16:creationId xmlns:a16="http://schemas.microsoft.com/office/drawing/2014/main" id="{AE8BB598-2121-9EA8-AAA1-C698DB46D2DC}"/>
              </a:ext>
            </a:extLst>
          </p:cNvPr>
          <p:cNvSpPr/>
          <p:nvPr/>
        </p:nvSpPr>
        <p:spPr>
          <a:xfrm>
            <a:off x="9066014" y="6457950"/>
            <a:ext cx="461963" cy="238125"/>
          </a:xfrm>
          <a:prstGeom prst="rect">
            <a:avLst/>
          </a:prstGeom>
          <a:solidFill>
            <a:srgbClr val="1B3A44"/>
          </a:solidFill>
          <a:ln/>
        </p:spPr>
        <p:txBody>
          <a:bodyPr/>
          <a:lstStyle/>
          <a:p>
            <a:endParaRPr lang="en-US"/>
          </a:p>
        </p:txBody>
      </p:sp>
      <p:sp>
        <p:nvSpPr>
          <p:cNvPr id="96" name="Shape 92">
            <a:extLst>
              <a:ext uri="{FF2B5EF4-FFF2-40B4-BE49-F238E27FC236}">
                <a16:creationId xmlns:a16="http://schemas.microsoft.com/office/drawing/2014/main" id="{3B32F213-AC73-6EAB-86A1-4FD1D65B6016}"/>
              </a:ext>
            </a:extLst>
          </p:cNvPr>
          <p:cNvSpPr/>
          <p:nvPr/>
        </p:nvSpPr>
        <p:spPr>
          <a:xfrm>
            <a:off x="9066014" y="6400800"/>
            <a:ext cx="461963" cy="57150"/>
          </a:xfrm>
          <a:prstGeom prst="rect">
            <a:avLst/>
          </a:prstGeom>
          <a:solidFill>
            <a:srgbClr val="35707A"/>
          </a:solidFill>
          <a:ln/>
        </p:spPr>
        <p:txBody>
          <a:bodyPr/>
          <a:lstStyle/>
          <a:p>
            <a:endParaRPr lang="en-US"/>
          </a:p>
        </p:txBody>
      </p:sp>
      <p:sp>
        <p:nvSpPr>
          <p:cNvPr id="97" name="Shape 93">
            <a:extLst>
              <a:ext uri="{FF2B5EF4-FFF2-40B4-BE49-F238E27FC236}">
                <a16:creationId xmlns:a16="http://schemas.microsoft.com/office/drawing/2014/main" id="{644564F7-E53C-0E05-E54B-A62FC4F6103B}"/>
              </a:ext>
            </a:extLst>
          </p:cNvPr>
          <p:cNvSpPr/>
          <p:nvPr/>
        </p:nvSpPr>
        <p:spPr>
          <a:xfrm>
            <a:off x="9066014" y="6362700"/>
            <a:ext cx="461963" cy="38100"/>
          </a:xfrm>
          <a:prstGeom prst="rect">
            <a:avLst/>
          </a:prstGeom>
          <a:solidFill>
            <a:srgbClr val="8FB9AD"/>
          </a:solidFill>
          <a:ln/>
        </p:spPr>
        <p:txBody>
          <a:bodyPr/>
          <a:lstStyle/>
          <a:p>
            <a:endParaRPr lang="en-US"/>
          </a:p>
        </p:txBody>
      </p:sp>
      <p:sp>
        <p:nvSpPr>
          <p:cNvPr id="98" name="Shape 94">
            <a:extLst>
              <a:ext uri="{FF2B5EF4-FFF2-40B4-BE49-F238E27FC236}">
                <a16:creationId xmlns:a16="http://schemas.microsoft.com/office/drawing/2014/main" id="{B3952022-FDF8-BC81-6584-564FCE6DCD85}"/>
              </a:ext>
            </a:extLst>
          </p:cNvPr>
          <p:cNvSpPr/>
          <p:nvPr/>
        </p:nvSpPr>
        <p:spPr>
          <a:xfrm>
            <a:off x="9066014" y="6229350"/>
            <a:ext cx="461963" cy="133350"/>
          </a:xfrm>
          <a:prstGeom prst="rect">
            <a:avLst/>
          </a:prstGeom>
          <a:solidFill>
            <a:srgbClr val="CBDAC0"/>
          </a:solidFill>
          <a:ln/>
        </p:spPr>
        <p:txBody>
          <a:bodyPr/>
          <a:lstStyle/>
          <a:p>
            <a:endParaRPr lang="en-US"/>
          </a:p>
        </p:txBody>
      </p:sp>
      <p:sp>
        <p:nvSpPr>
          <p:cNvPr id="99" name="Shape 95">
            <a:extLst>
              <a:ext uri="{FF2B5EF4-FFF2-40B4-BE49-F238E27FC236}">
                <a16:creationId xmlns:a16="http://schemas.microsoft.com/office/drawing/2014/main" id="{017580C5-0BE2-E93E-1623-DE742FD4E20D}"/>
              </a:ext>
            </a:extLst>
          </p:cNvPr>
          <p:cNvSpPr/>
          <p:nvPr/>
        </p:nvSpPr>
        <p:spPr>
          <a:xfrm>
            <a:off x="9066014" y="6057900"/>
            <a:ext cx="461963" cy="171450"/>
          </a:xfrm>
          <a:prstGeom prst="rect">
            <a:avLst/>
          </a:prstGeom>
          <a:solidFill>
            <a:srgbClr val="E0894F"/>
          </a:solidFill>
          <a:ln/>
        </p:spPr>
        <p:txBody>
          <a:bodyPr/>
          <a:lstStyle/>
          <a:p>
            <a:endParaRPr lang="en-US"/>
          </a:p>
        </p:txBody>
      </p:sp>
      <p:sp>
        <p:nvSpPr>
          <p:cNvPr id="100" name="Shape 96">
            <a:extLst>
              <a:ext uri="{FF2B5EF4-FFF2-40B4-BE49-F238E27FC236}">
                <a16:creationId xmlns:a16="http://schemas.microsoft.com/office/drawing/2014/main" id="{61600286-803E-8B22-2147-21BC4C71DCF2}"/>
              </a:ext>
            </a:extLst>
          </p:cNvPr>
          <p:cNvSpPr/>
          <p:nvPr/>
        </p:nvSpPr>
        <p:spPr>
          <a:xfrm>
            <a:off x="9066014" y="5895975"/>
            <a:ext cx="461963" cy="161925"/>
          </a:xfrm>
          <a:prstGeom prst="rect">
            <a:avLst/>
          </a:prstGeom>
          <a:solidFill>
            <a:srgbClr val="B4472F"/>
          </a:solidFill>
          <a:ln/>
        </p:spPr>
        <p:txBody>
          <a:bodyPr/>
          <a:lstStyle/>
          <a:p>
            <a:endParaRPr lang="en-US"/>
          </a:p>
        </p:txBody>
      </p:sp>
      <p:sp>
        <p:nvSpPr>
          <p:cNvPr id="101" name="Text 97">
            <a:extLst>
              <a:ext uri="{FF2B5EF4-FFF2-40B4-BE49-F238E27FC236}">
                <a16:creationId xmlns:a16="http://schemas.microsoft.com/office/drawing/2014/main" id="{E4F79CCD-F724-DD5A-3D4E-E7713B49B51B}"/>
              </a:ext>
            </a:extLst>
          </p:cNvPr>
          <p:cNvSpPr/>
          <p:nvPr/>
        </p:nvSpPr>
        <p:spPr>
          <a:xfrm>
            <a:off x="9201745"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4p</a:t>
            </a:r>
            <a:endParaRPr lang="en-US" sz="1350" dirty="0"/>
          </a:p>
        </p:txBody>
      </p:sp>
      <p:sp>
        <p:nvSpPr>
          <p:cNvPr id="102" name="Shape 98">
            <a:extLst>
              <a:ext uri="{FF2B5EF4-FFF2-40B4-BE49-F238E27FC236}">
                <a16:creationId xmlns:a16="http://schemas.microsoft.com/office/drawing/2014/main" id="{F430C51A-3411-022F-D5BF-5389C160B5E2}"/>
              </a:ext>
            </a:extLst>
          </p:cNvPr>
          <p:cNvSpPr/>
          <p:nvPr/>
        </p:nvSpPr>
        <p:spPr>
          <a:xfrm>
            <a:off x="9823549" y="6467475"/>
            <a:ext cx="461963" cy="228600"/>
          </a:xfrm>
          <a:prstGeom prst="rect">
            <a:avLst/>
          </a:prstGeom>
          <a:solidFill>
            <a:srgbClr val="1B3A44"/>
          </a:solidFill>
          <a:ln/>
        </p:spPr>
        <p:txBody>
          <a:bodyPr/>
          <a:lstStyle/>
          <a:p>
            <a:endParaRPr lang="en-US"/>
          </a:p>
        </p:txBody>
      </p:sp>
      <p:sp>
        <p:nvSpPr>
          <p:cNvPr id="103" name="Shape 99">
            <a:extLst>
              <a:ext uri="{FF2B5EF4-FFF2-40B4-BE49-F238E27FC236}">
                <a16:creationId xmlns:a16="http://schemas.microsoft.com/office/drawing/2014/main" id="{6CBEC8AD-8DE3-805F-F467-7E298C621E81}"/>
              </a:ext>
            </a:extLst>
          </p:cNvPr>
          <p:cNvSpPr/>
          <p:nvPr/>
        </p:nvSpPr>
        <p:spPr>
          <a:xfrm>
            <a:off x="9823549" y="6429375"/>
            <a:ext cx="461963" cy="38100"/>
          </a:xfrm>
          <a:prstGeom prst="rect">
            <a:avLst/>
          </a:prstGeom>
          <a:solidFill>
            <a:srgbClr val="35707A"/>
          </a:solidFill>
          <a:ln/>
        </p:spPr>
        <p:txBody>
          <a:bodyPr/>
          <a:lstStyle/>
          <a:p>
            <a:endParaRPr lang="en-US"/>
          </a:p>
        </p:txBody>
      </p:sp>
      <p:sp>
        <p:nvSpPr>
          <p:cNvPr id="104" name="Shape 100">
            <a:extLst>
              <a:ext uri="{FF2B5EF4-FFF2-40B4-BE49-F238E27FC236}">
                <a16:creationId xmlns:a16="http://schemas.microsoft.com/office/drawing/2014/main" id="{38B0B626-7ECF-9053-3601-116BE041EF56}"/>
              </a:ext>
            </a:extLst>
          </p:cNvPr>
          <p:cNvSpPr/>
          <p:nvPr/>
        </p:nvSpPr>
        <p:spPr>
          <a:xfrm>
            <a:off x="9823549" y="6400800"/>
            <a:ext cx="461963" cy="28575"/>
          </a:xfrm>
          <a:prstGeom prst="rect">
            <a:avLst/>
          </a:prstGeom>
          <a:solidFill>
            <a:srgbClr val="8FB9AD"/>
          </a:solidFill>
          <a:ln/>
        </p:spPr>
        <p:txBody>
          <a:bodyPr/>
          <a:lstStyle/>
          <a:p>
            <a:endParaRPr lang="en-US"/>
          </a:p>
        </p:txBody>
      </p:sp>
      <p:sp>
        <p:nvSpPr>
          <p:cNvPr id="105" name="Shape 101">
            <a:extLst>
              <a:ext uri="{FF2B5EF4-FFF2-40B4-BE49-F238E27FC236}">
                <a16:creationId xmlns:a16="http://schemas.microsoft.com/office/drawing/2014/main" id="{75672E39-85EA-82ED-7913-60256A15CA79}"/>
              </a:ext>
            </a:extLst>
          </p:cNvPr>
          <p:cNvSpPr/>
          <p:nvPr/>
        </p:nvSpPr>
        <p:spPr>
          <a:xfrm>
            <a:off x="9823549" y="6219825"/>
            <a:ext cx="461963" cy="180975"/>
          </a:xfrm>
          <a:prstGeom prst="rect">
            <a:avLst/>
          </a:prstGeom>
          <a:solidFill>
            <a:srgbClr val="CBDAC0"/>
          </a:solidFill>
          <a:ln/>
        </p:spPr>
        <p:txBody>
          <a:bodyPr/>
          <a:lstStyle/>
          <a:p>
            <a:endParaRPr lang="en-US"/>
          </a:p>
        </p:txBody>
      </p:sp>
      <p:sp>
        <p:nvSpPr>
          <p:cNvPr id="106" name="Shape 102">
            <a:extLst>
              <a:ext uri="{FF2B5EF4-FFF2-40B4-BE49-F238E27FC236}">
                <a16:creationId xmlns:a16="http://schemas.microsoft.com/office/drawing/2014/main" id="{4A8049B6-C131-ECCF-C6F4-326ED735B90E}"/>
              </a:ext>
            </a:extLst>
          </p:cNvPr>
          <p:cNvSpPr/>
          <p:nvPr/>
        </p:nvSpPr>
        <p:spPr>
          <a:xfrm>
            <a:off x="9823549" y="6019800"/>
            <a:ext cx="461963" cy="200025"/>
          </a:xfrm>
          <a:prstGeom prst="rect">
            <a:avLst/>
          </a:prstGeom>
          <a:solidFill>
            <a:srgbClr val="E0894F"/>
          </a:solidFill>
          <a:ln/>
        </p:spPr>
        <p:txBody>
          <a:bodyPr/>
          <a:lstStyle/>
          <a:p>
            <a:endParaRPr lang="en-US"/>
          </a:p>
        </p:txBody>
      </p:sp>
      <p:sp>
        <p:nvSpPr>
          <p:cNvPr id="107" name="Shape 103">
            <a:extLst>
              <a:ext uri="{FF2B5EF4-FFF2-40B4-BE49-F238E27FC236}">
                <a16:creationId xmlns:a16="http://schemas.microsoft.com/office/drawing/2014/main" id="{8D70C861-1BE2-6621-8C66-2DEE4D56602C}"/>
              </a:ext>
            </a:extLst>
          </p:cNvPr>
          <p:cNvSpPr/>
          <p:nvPr/>
        </p:nvSpPr>
        <p:spPr>
          <a:xfrm>
            <a:off x="9823549" y="5895975"/>
            <a:ext cx="461963" cy="123825"/>
          </a:xfrm>
          <a:prstGeom prst="rect">
            <a:avLst/>
          </a:prstGeom>
          <a:solidFill>
            <a:srgbClr val="B4472F"/>
          </a:solidFill>
          <a:ln/>
        </p:spPr>
        <p:txBody>
          <a:bodyPr/>
          <a:lstStyle/>
          <a:p>
            <a:endParaRPr lang="en-US"/>
          </a:p>
        </p:txBody>
      </p:sp>
      <p:sp>
        <p:nvSpPr>
          <p:cNvPr id="108" name="Text 104">
            <a:extLst>
              <a:ext uri="{FF2B5EF4-FFF2-40B4-BE49-F238E27FC236}">
                <a16:creationId xmlns:a16="http://schemas.microsoft.com/office/drawing/2014/main" id="{F4923901-A539-3D02-54F1-2C0192CC27E3}"/>
              </a:ext>
            </a:extLst>
          </p:cNvPr>
          <p:cNvSpPr/>
          <p:nvPr/>
        </p:nvSpPr>
        <p:spPr>
          <a:xfrm>
            <a:off x="9959280"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5p</a:t>
            </a:r>
            <a:endParaRPr lang="en-US" sz="1350" dirty="0"/>
          </a:p>
        </p:txBody>
      </p:sp>
      <p:sp>
        <p:nvSpPr>
          <p:cNvPr id="109" name="Shape 105">
            <a:extLst>
              <a:ext uri="{FF2B5EF4-FFF2-40B4-BE49-F238E27FC236}">
                <a16:creationId xmlns:a16="http://schemas.microsoft.com/office/drawing/2014/main" id="{87EB07FC-BE65-3D48-705E-478BD8596132}"/>
              </a:ext>
            </a:extLst>
          </p:cNvPr>
          <p:cNvSpPr/>
          <p:nvPr/>
        </p:nvSpPr>
        <p:spPr>
          <a:xfrm>
            <a:off x="10581084" y="6619875"/>
            <a:ext cx="461963" cy="76200"/>
          </a:xfrm>
          <a:prstGeom prst="rect">
            <a:avLst/>
          </a:prstGeom>
          <a:solidFill>
            <a:srgbClr val="1B3A44"/>
          </a:solidFill>
          <a:ln/>
        </p:spPr>
        <p:txBody>
          <a:bodyPr/>
          <a:lstStyle/>
          <a:p>
            <a:endParaRPr lang="en-US"/>
          </a:p>
        </p:txBody>
      </p:sp>
      <p:sp>
        <p:nvSpPr>
          <p:cNvPr id="110" name="Shape 106">
            <a:extLst>
              <a:ext uri="{FF2B5EF4-FFF2-40B4-BE49-F238E27FC236}">
                <a16:creationId xmlns:a16="http://schemas.microsoft.com/office/drawing/2014/main" id="{CA2B2660-084C-0585-769F-D6A02E2F7B20}"/>
              </a:ext>
            </a:extLst>
          </p:cNvPr>
          <p:cNvSpPr/>
          <p:nvPr/>
        </p:nvSpPr>
        <p:spPr>
          <a:xfrm>
            <a:off x="10581084" y="6600825"/>
            <a:ext cx="461963" cy="19050"/>
          </a:xfrm>
          <a:prstGeom prst="rect">
            <a:avLst/>
          </a:prstGeom>
          <a:solidFill>
            <a:srgbClr val="35707A"/>
          </a:solidFill>
          <a:ln/>
        </p:spPr>
        <p:txBody>
          <a:bodyPr/>
          <a:lstStyle/>
          <a:p>
            <a:endParaRPr lang="en-US"/>
          </a:p>
        </p:txBody>
      </p:sp>
      <p:sp>
        <p:nvSpPr>
          <p:cNvPr id="111" name="Shape 107">
            <a:extLst>
              <a:ext uri="{FF2B5EF4-FFF2-40B4-BE49-F238E27FC236}">
                <a16:creationId xmlns:a16="http://schemas.microsoft.com/office/drawing/2014/main" id="{920AEE82-8D7B-B502-EBFF-EEB6C93FEDA6}"/>
              </a:ext>
            </a:extLst>
          </p:cNvPr>
          <p:cNvSpPr/>
          <p:nvPr/>
        </p:nvSpPr>
        <p:spPr>
          <a:xfrm>
            <a:off x="10581084" y="6591300"/>
            <a:ext cx="461963" cy="9525"/>
          </a:xfrm>
          <a:prstGeom prst="rect">
            <a:avLst/>
          </a:prstGeom>
          <a:solidFill>
            <a:srgbClr val="8FB9AD"/>
          </a:solidFill>
          <a:ln/>
        </p:spPr>
        <p:txBody>
          <a:bodyPr/>
          <a:lstStyle/>
          <a:p>
            <a:endParaRPr lang="en-US"/>
          </a:p>
        </p:txBody>
      </p:sp>
      <p:sp>
        <p:nvSpPr>
          <p:cNvPr id="112" name="Shape 108">
            <a:extLst>
              <a:ext uri="{FF2B5EF4-FFF2-40B4-BE49-F238E27FC236}">
                <a16:creationId xmlns:a16="http://schemas.microsoft.com/office/drawing/2014/main" id="{D3DA2A78-DE2B-86B6-9604-7091D268E352}"/>
              </a:ext>
            </a:extLst>
          </p:cNvPr>
          <p:cNvSpPr/>
          <p:nvPr/>
        </p:nvSpPr>
        <p:spPr>
          <a:xfrm>
            <a:off x="10581084" y="6515100"/>
            <a:ext cx="461963" cy="76200"/>
          </a:xfrm>
          <a:prstGeom prst="rect">
            <a:avLst/>
          </a:prstGeom>
          <a:solidFill>
            <a:srgbClr val="CBDAC0"/>
          </a:solidFill>
          <a:ln/>
        </p:spPr>
        <p:txBody>
          <a:bodyPr/>
          <a:lstStyle/>
          <a:p>
            <a:endParaRPr lang="en-US"/>
          </a:p>
        </p:txBody>
      </p:sp>
      <p:sp>
        <p:nvSpPr>
          <p:cNvPr id="113" name="Shape 109">
            <a:extLst>
              <a:ext uri="{FF2B5EF4-FFF2-40B4-BE49-F238E27FC236}">
                <a16:creationId xmlns:a16="http://schemas.microsoft.com/office/drawing/2014/main" id="{BEA5B457-67D3-3086-87EE-4C506CE679E0}"/>
              </a:ext>
            </a:extLst>
          </p:cNvPr>
          <p:cNvSpPr/>
          <p:nvPr/>
        </p:nvSpPr>
        <p:spPr>
          <a:xfrm>
            <a:off x="10581084" y="6410325"/>
            <a:ext cx="461963" cy="104775"/>
          </a:xfrm>
          <a:prstGeom prst="rect">
            <a:avLst/>
          </a:prstGeom>
          <a:solidFill>
            <a:srgbClr val="E0894F"/>
          </a:solidFill>
          <a:ln/>
        </p:spPr>
        <p:txBody>
          <a:bodyPr/>
          <a:lstStyle/>
          <a:p>
            <a:endParaRPr lang="en-US"/>
          </a:p>
        </p:txBody>
      </p:sp>
      <p:sp>
        <p:nvSpPr>
          <p:cNvPr id="114" name="Shape 110">
            <a:extLst>
              <a:ext uri="{FF2B5EF4-FFF2-40B4-BE49-F238E27FC236}">
                <a16:creationId xmlns:a16="http://schemas.microsoft.com/office/drawing/2014/main" id="{BEF899F9-5EFE-C203-16B6-DC1BAA34AE33}"/>
              </a:ext>
            </a:extLst>
          </p:cNvPr>
          <p:cNvSpPr/>
          <p:nvPr/>
        </p:nvSpPr>
        <p:spPr>
          <a:xfrm>
            <a:off x="10581084" y="6305550"/>
            <a:ext cx="461963" cy="104775"/>
          </a:xfrm>
          <a:prstGeom prst="rect">
            <a:avLst/>
          </a:prstGeom>
          <a:solidFill>
            <a:srgbClr val="B4472F"/>
          </a:solidFill>
          <a:ln/>
        </p:spPr>
        <p:txBody>
          <a:bodyPr/>
          <a:lstStyle/>
          <a:p>
            <a:endParaRPr lang="en-US"/>
          </a:p>
        </p:txBody>
      </p:sp>
      <p:sp>
        <p:nvSpPr>
          <p:cNvPr id="115" name="Text 111">
            <a:extLst>
              <a:ext uri="{FF2B5EF4-FFF2-40B4-BE49-F238E27FC236}">
                <a16:creationId xmlns:a16="http://schemas.microsoft.com/office/drawing/2014/main" id="{68E4CF25-0378-7B9C-3FF7-0554BBAE6B03}"/>
              </a:ext>
            </a:extLst>
          </p:cNvPr>
          <p:cNvSpPr/>
          <p:nvPr/>
        </p:nvSpPr>
        <p:spPr>
          <a:xfrm>
            <a:off x="10716816"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6p</a:t>
            </a:r>
            <a:endParaRPr lang="en-US" sz="1350" dirty="0"/>
          </a:p>
        </p:txBody>
      </p:sp>
      <p:sp>
        <p:nvSpPr>
          <p:cNvPr id="116" name="Shape 112">
            <a:extLst>
              <a:ext uri="{FF2B5EF4-FFF2-40B4-BE49-F238E27FC236}">
                <a16:creationId xmlns:a16="http://schemas.microsoft.com/office/drawing/2014/main" id="{8972CDE2-DF15-3530-A261-166F7D48C913}"/>
              </a:ext>
            </a:extLst>
          </p:cNvPr>
          <p:cNvSpPr/>
          <p:nvPr/>
        </p:nvSpPr>
        <p:spPr>
          <a:xfrm>
            <a:off x="11338620" y="6648450"/>
            <a:ext cx="461963" cy="47625"/>
          </a:xfrm>
          <a:prstGeom prst="rect">
            <a:avLst/>
          </a:prstGeom>
          <a:solidFill>
            <a:srgbClr val="1B3A44"/>
          </a:solidFill>
          <a:ln/>
        </p:spPr>
        <p:txBody>
          <a:bodyPr/>
          <a:lstStyle/>
          <a:p>
            <a:endParaRPr lang="en-US"/>
          </a:p>
        </p:txBody>
      </p:sp>
      <p:sp>
        <p:nvSpPr>
          <p:cNvPr id="117" name="Shape 113">
            <a:extLst>
              <a:ext uri="{FF2B5EF4-FFF2-40B4-BE49-F238E27FC236}">
                <a16:creationId xmlns:a16="http://schemas.microsoft.com/office/drawing/2014/main" id="{A9675073-5C0D-C621-E11F-6B9C722020DE}"/>
              </a:ext>
            </a:extLst>
          </p:cNvPr>
          <p:cNvSpPr/>
          <p:nvPr/>
        </p:nvSpPr>
        <p:spPr>
          <a:xfrm>
            <a:off x="11338620" y="6629400"/>
            <a:ext cx="461963" cy="19050"/>
          </a:xfrm>
          <a:prstGeom prst="rect">
            <a:avLst/>
          </a:prstGeom>
          <a:solidFill>
            <a:srgbClr val="35707A"/>
          </a:solidFill>
          <a:ln/>
        </p:spPr>
        <p:txBody>
          <a:bodyPr/>
          <a:lstStyle/>
          <a:p>
            <a:endParaRPr lang="en-US"/>
          </a:p>
        </p:txBody>
      </p:sp>
      <p:sp>
        <p:nvSpPr>
          <p:cNvPr id="118" name="Shape 114">
            <a:extLst>
              <a:ext uri="{FF2B5EF4-FFF2-40B4-BE49-F238E27FC236}">
                <a16:creationId xmlns:a16="http://schemas.microsoft.com/office/drawing/2014/main" id="{582C6BA3-C770-39AF-FCC8-6761C8B5B020}"/>
              </a:ext>
            </a:extLst>
          </p:cNvPr>
          <p:cNvSpPr/>
          <p:nvPr/>
        </p:nvSpPr>
        <p:spPr>
          <a:xfrm>
            <a:off x="11338620" y="6619875"/>
            <a:ext cx="461963" cy="9525"/>
          </a:xfrm>
          <a:prstGeom prst="rect">
            <a:avLst/>
          </a:prstGeom>
          <a:solidFill>
            <a:srgbClr val="8FB9AD"/>
          </a:solidFill>
          <a:ln/>
        </p:spPr>
        <p:txBody>
          <a:bodyPr/>
          <a:lstStyle/>
          <a:p>
            <a:endParaRPr lang="en-US"/>
          </a:p>
        </p:txBody>
      </p:sp>
      <p:sp>
        <p:nvSpPr>
          <p:cNvPr id="119" name="Shape 115">
            <a:extLst>
              <a:ext uri="{FF2B5EF4-FFF2-40B4-BE49-F238E27FC236}">
                <a16:creationId xmlns:a16="http://schemas.microsoft.com/office/drawing/2014/main" id="{2B5410DA-B3AA-5E28-B0AC-B6AB2689BDB6}"/>
              </a:ext>
            </a:extLst>
          </p:cNvPr>
          <p:cNvSpPr/>
          <p:nvPr/>
        </p:nvSpPr>
        <p:spPr>
          <a:xfrm>
            <a:off x="11338620" y="6515100"/>
            <a:ext cx="461963" cy="104775"/>
          </a:xfrm>
          <a:prstGeom prst="rect">
            <a:avLst/>
          </a:prstGeom>
          <a:solidFill>
            <a:srgbClr val="CBDAC0"/>
          </a:solidFill>
          <a:ln/>
        </p:spPr>
        <p:txBody>
          <a:bodyPr/>
          <a:lstStyle/>
          <a:p>
            <a:endParaRPr lang="en-US"/>
          </a:p>
        </p:txBody>
      </p:sp>
      <p:sp>
        <p:nvSpPr>
          <p:cNvPr id="120" name="Shape 116">
            <a:extLst>
              <a:ext uri="{FF2B5EF4-FFF2-40B4-BE49-F238E27FC236}">
                <a16:creationId xmlns:a16="http://schemas.microsoft.com/office/drawing/2014/main" id="{0B1C8A3B-C941-C8F7-61EF-0F6F11503DED}"/>
              </a:ext>
            </a:extLst>
          </p:cNvPr>
          <p:cNvSpPr/>
          <p:nvPr/>
        </p:nvSpPr>
        <p:spPr>
          <a:xfrm>
            <a:off x="11338620" y="6429375"/>
            <a:ext cx="461963" cy="85725"/>
          </a:xfrm>
          <a:prstGeom prst="rect">
            <a:avLst/>
          </a:prstGeom>
          <a:solidFill>
            <a:srgbClr val="E0894F"/>
          </a:solidFill>
          <a:ln/>
        </p:spPr>
        <p:txBody>
          <a:bodyPr/>
          <a:lstStyle/>
          <a:p>
            <a:endParaRPr lang="en-US"/>
          </a:p>
        </p:txBody>
      </p:sp>
      <p:sp>
        <p:nvSpPr>
          <p:cNvPr id="121" name="Shape 117">
            <a:extLst>
              <a:ext uri="{FF2B5EF4-FFF2-40B4-BE49-F238E27FC236}">
                <a16:creationId xmlns:a16="http://schemas.microsoft.com/office/drawing/2014/main" id="{D226BF04-249B-C24B-0F72-BC1C0A1B225C}"/>
              </a:ext>
            </a:extLst>
          </p:cNvPr>
          <p:cNvSpPr/>
          <p:nvPr/>
        </p:nvSpPr>
        <p:spPr>
          <a:xfrm>
            <a:off x="11338620" y="6324600"/>
            <a:ext cx="461963" cy="104775"/>
          </a:xfrm>
          <a:prstGeom prst="rect">
            <a:avLst/>
          </a:prstGeom>
          <a:solidFill>
            <a:srgbClr val="B4472F"/>
          </a:solidFill>
          <a:ln/>
        </p:spPr>
        <p:txBody>
          <a:bodyPr/>
          <a:lstStyle/>
          <a:p>
            <a:endParaRPr lang="en-US"/>
          </a:p>
        </p:txBody>
      </p:sp>
      <p:sp>
        <p:nvSpPr>
          <p:cNvPr id="122" name="Text 118">
            <a:extLst>
              <a:ext uri="{FF2B5EF4-FFF2-40B4-BE49-F238E27FC236}">
                <a16:creationId xmlns:a16="http://schemas.microsoft.com/office/drawing/2014/main" id="{4E0F9B75-01DE-4CC8-5AEE-FC8AE8641A29}"/>
              </a:ext>
            </a:extLst>
          </p:cNvPr>
          <p:cNvSpPr/>
          <p:nvPr/>
        </p:nvSpPr>
        <p:spPr>
          <a:xfrm>
            <a:off x="11474351"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7p</a:t>
            </a:r>
            <a:endParaRPr lang="en-US" sz="1350" dirty="0"/>
          </a:p>
        </p:txBody>
      </p:sp>
      <p:sp>
        <p:nvSpPr>
          <p:cNvPr id="123" name="Shape 119">
            <a:extLst>
              <a:ext uri="{FF2B5EF4-FFF2-40B4-BE49-F238E27FC236}">
                <a16:creationId xmlns:a16="http://schemas.microsoft.com/office/drawing/2014/main" id="{50F0CADB-BC61-F21F-E6FD-1A9C0217F413}"/>
              </a:ext>
            </a:extLst>
          </p:cNvPr>
          <p:cNvSpPr/>
          <p:nvPr/>
        </p:nvSpPr>
        <p:spPr>
          <a:xfrm>
            <a:off x="1371600" y="7191375"/>
            <a:ext cx="171450" cy="171450"/>
          </a:xfrm>
          <a:prstGeom prst="roundRect">
            <a:avLst>
              <a:gd name="adj" fmla="val 22222"/>
            </a:avLst>
          </a:prstGeom>
          <a:solidFill>
            <a:srgbClr val="1B3A44"/>
          </a:solidFill>
          <a:ln/>
        </p:spPr>
        <p:txBody>
          <a:bodyPr/>
          <a:lstStyle/>
          <a:p>
            <a:endParaRPr lang="en-US"/>
          </a:p>
        </p:txBody>
      </p:sp>
      <p:sp>
        <p:nvSpPr>
          <p:cNvPr id="124" name="Text 120">
            <a:extLst>
              <a:ext uri="{FF2B5EF4-FFF2-40B4-BE49-F238E27FC236}">
                <a16:creationId xmlns:a16="http://schemas.microsoft.com/office/drawing/2014/main" id="{9852F73B-67D9-9564-26D4-9E102B71E801}"/>
              </a:ext>
            </a:extLst>
          </p:cNvPr>
          <p:cNvSpPr/>
          <p:nvPr/>
        </p:nvSpPr>
        <p:spPr>
          <a:xfrm>
            <a:off x="1628775" y="7172325"/>
            <a:ext cx="1131987"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Coffee &amp; tea</a:t>
            </a:r>
            <a:endParaRPr lang="en-US" sz="1500" dirty="0"/>
          </a:p>
        </p:txBody>
      </p:sp>
      <p:sp>
        <p:nvSpPr>
          <p:cNvPr id="125" name="Shape 121">
            <a:extLst>
              <a:ext uri="{FF2B5EF4-FFF2-40B4-BE49-F238E27FC236}">
                <a16:creationId xmlns:a16="http://schemas.microsoft.com/office/drawing/2014/main" id="{FFCEB10A-EA61-A984-19B8-A2EC7314FF0F}"/>
              </a:ext>
            </a:extLst>
          </p:cNvPr>
          <p:cNvSpPr/>
          <p:nvPr/>
        </p:nvSpPr>
        <p:spPr>
          <a:xfrm>
            <a:off x="2932212" y="7191375"/>
            <a:ext cx="171450" cy="171450"/>
          </a:xfrm>
          <a:prstGeom prst="roundRect">
            <a:avLst>
              <a:gd name="adj" fmla="val 22222"/>
            </a:avLst>
          </a:prstGeom>
          <a:solidFill>
            <a:srgbClr val="35707A"/>
          </a:solidFill>
          <a:ln/>
        </p:spPr>
        <p:txBody>
          <a:bodyPr/>
          <a:lstStyle/>
          <a:p>
            <a:endParaRPr lang="en-US"/>
          </a:p>
        </p:txBody>
      </p:sp>
      <p:sp>
        <p:nvSpPr>
          <p:cNvPr id="126" name="Text 122">
            <a:extLst>
              <a:ext uri="{FF2B5EF4-FFF2-40B4-BE49-F238E27FC236}">
                <a16:creationId xmlns:a16="http://schemas.microsoft.com/office/drawing/2014/main" id="{7488D6D3-7BB9-A574-D062-C0C90338D9DB}"/>
              </a:ext>
            </a:extLst>
          </p:cNvPr>
          <p:cNvSpPr/>
          <p:nvPr/>
        </p:nvSpPr>
        <p:spPr>
          <a:xfrm>
            <a:off x="3189387" y="7172325"/>
            <a:ext cx="1103412"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Sandwiches</a:t>
            </a:r>
            <a:endParaRPr lang="en-US" sz="1500" dirty="0"/>
          </a:p>
        </p:txBody>
      </p:sp>
      <p:sp>
        <p:nvSpPr>
          <p:cNvPr id="127" name="Shape 123">
            <a:extLst>
              <a:ext uri="{FF2B5EF4-FFF2-40B4-BE49-F238E27FC236}">
                <a16:creationId xmlns:a16="http://schemas.microsoft.com/office/drawing/2014/main" id="{C1D00DB5-9978-7098-80AE-6810CF0B3A41}"/>
              </a:ext>
            </a:extLst>
          </p:cNvPr>
          <p:cNvSpPr/>
          <p:nvPr/>
        </p:nvSpPr>
        <p:spPr>
          <a:xfrm>
            <a:off x="4464248" y="7191375"/>
            <a:ext cx="171450" cy="171450"/>
          </a:xfrm>
          <a:prstGeom prst="roundRect">
            <a:avLst>
              <a:gd name="adj" fmla="val 22222"/>
            </a:avLst>
          </a:prstGeom>
          <a:solidFill>
            <a:srgbClr val="8FB9AD"/>
          </a:solidFill>
          <a:ln/>
        </p:spPr>
        <p:txBody>
          <a:bodyPr/>
          <a:lstStyle/>
          <a:p>
            <a:endParaRPr lang="en-US"/>
          </a:p>
        </p:txBody>
      </p:sp>
      <p:sp>
        <p:nvSpPr>
          <p:cNvPr id="128" name="Text 124">
            <a:extLst>
              <a:ext uri="{FF2B5EF4-FFF2-40B4-BE49-F238E27FC236}">
                <a16:creationId xmlns:a16="http://schemas.microsoft.com/office/drawing/2014/main" id="{4A73ACC7-56FB-8ADD-6691-372D7A1A85E2}"/>
              </a:ext>
            </a:extLst>
          </p:cNvPr>
          <p:cNvSpPr/>
          <p:nvPr/>
        </p:nvSpPr>
        <p:spPr>
          <a:xfrm>
            <a:off x="4721423" y="7172325"/>
            <a:ext cx="764381"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Pastries</a:t>
            </a:r>
            <a:endParaRPr lang="en-US" sz="1500" dirty="0"/>
          </a:p>
        </p:txBody>
      </p:sp>
      <p:sp>
        <p:nvSpPr>
          <p:cNvPr id="129" name="Shape 125">
            <a:extLst>
              <a:ext uri="{FF2B5EF4-FFF2-40B4-BE49-F238E27FC236}">
                <a16:creationId xmlns:a16="http://schemas.microsoft.com/office/drawing/2014/main" id="{39323D98-FE8B-763F-EA23-1899A13D5351}"/>
              </a:ext>
            </a:extLst>
          </p:cNvPr>
          <p:cNvSpPr/>
          <p:nvPr/>
        </p:nvSpPr>
        <p:spPr>
          <a:xfrm>
            <a:off x="5657255" y="7191375"/>
            <a:ext cx="171450" cy="171450"/>
          </a:xfrm>
          <a:prstGeom prst="roundRect">
            <a:avLst>
              <a:gd name="adj" fmla="val 22222"/>
            </a:avLst>
          </a:prstGeom>
          <a:solidFill>
            <a:srgbClr val="CBDAC0"/>
          </a:solidFill>
          <a:ln/>
        </p:spPr>
        <p:txBody>
          <a:bodyPr/>
          <a:lstStyle/>
          <a:p>
            <a:endParaRPr lang="en-US"/>
          </a:p>
        </p:txBody>
      </p:sp>
      <p:sp>
        <p:nvSpPr>
          <p:cNvPr id="130" name="Text 126">
            <a:extLst>
              <a:ext uri="{FF2B5EF4-FFF2-40B4-BE49-F238E27FC236}">
                <a16:creationId xmlns:a16="http://schemas.microsoft.com/office/drawing/2014/main" id="{E941BD8D-C188-17D9-B4D9-A7106B5E396F}"/>
              </a:ext>
            </a:extLst>
          </p:cNvPr>
          <p:cNvSpPr/>
          <p:nvPr/>
        </p:nvSpPr>
        <p:spPr>
          <a:xfrm>
            <a:off x="5914430" y="7172325"/>
            <a:ext cx="923330"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Cold case</a:t>
            </a:r>
            <a:endParaRPr lang="en-US" sz="1500" dirty="0"/>
          </a:p>
        </p:txBody>
      </p:sp>
      <p:sp>
        <p:nvSpPr>
          <p:cNvPr id="131" name="Shape 127">
            <a:extLst>
              <a:ext uri="{FF2B5EF4-FFF2-40B4-BE49-F238E27FC236}">
                <a16:creationId xmlns:a16="http://schemas.microsoft.com/office/drawing/2014/main" id="{F8C48D5F-B658-ED5C-3378-6477B03956F4}"/>
              </a:ext>
            </a:extLst>
          </p:cNvPr>
          <p:cNvSpPr/>
          <p:nvPr/>
        </p:nvSpPr>
        <p:spPr>
          <a:xfrm>
            <a:off x="7009209" y="7191375"/>
            <a:ext cx="171450" cy="171450"/>
          </a:xfrm>
          <a:prstGeom prst="roundRect">
            <a:avLst>
              <a:gd name="adj" fmla="val 22222"/>
            </a:avLst>
          </a:prstGeom>
          <a:solidFill>
            <a:srgbClr val="E0894F"/>
          </a:solidFill>
          <a:ln/>
        </p:spPr>
        <p:txBody>
          <a:bodyPr/>
          <a:lstStyle/>
          <a:p>
            <a:endParaRPr lang="en-US"/>
          </a:p>
        </p:txBody>
      </p:sp>
      <p:sp>
        <p:nvSpPr>
          <p:cNvPr id="132" name="Text 128">
            <a:extLst>
              <a:ext uri="{FF2B5EF4-FFF2-40B4-BE49-F238E27FC236}">
                <a16:creationId xmlns:a16="http://schemas.microsoft.com/office/drawing/2014/main" id="{B401ACD3-2FC6-56F0-9613-E43BD2401896}"/>
              </a:ext>
            </a:extLst>
          </p:cNvPr>
          <p:cNvSpPr/>
          <p:nvPr/>
        </p:nvSpPr>
        <p:spPr>
          <a:xfrm>
            <a:off x="7266384" y="7172325"/>
            <a:ext cx="1665923"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Snacks &amp; grab-go</a:t>
            </a:r>
            <a:endParaRPr lang="en-US" sz="1500" dirty="0"/>
          </a:p>
        </p:txBody>
      </p:sp>
      <p:sp>
        <p:nvSpPr>
          <p:cNvPr id="133" name="Shape 129">
            <a:extLst>
              <a:ext uri="{FF2B5EF4-FFF2-40B4-BE49-F238E27FC236}">
                <a16:creationId xmlns:a16="http://schemas.microsoft.com/office/drawing/2014/main" id="{0EC18342-7E58-A0EA-0CB8-060B64015ECC}"/>
              </a:ext>
            </a:extLst>
          </p:cNvPr>
          <p:cNvSpPr/>
          <p:nvPr/>
        </p:nvSpPr>
        <p:spPr>
          <a:xfrm>
            <a:off x="9028509" y="7191375"/>
            <a:ext cx="171450" cy="171450"/>
          </a:xfrm>
          <a:prstGeom prst="roundRect">
            <a:avLst>
              <a:gd name="adj" fmla="val 22222"/>
            </a:avLst>
          </a:prstGeom>
          <a:solidFill>
            <a:srgbClr val="B4472F"/>
          </a:solidFill>
          <a:ln/>
        </p:spPr>
        <p:txBody>
          <a:bodyPr/>
          <a:lstStyle/>
          <a:p>
            <a:endParaRPr lang="en-US"/>
          </a:p>
        </p:txBody>
      </p:sp>
      <p:sp>
        <p:nvSpPr>
          <p:cNvPr id="134" name="Text 130">
            <a:extLst>
              <a:ext uri="{FF2B5EF4-FFF2-40B4-BE49-F238E27FC236}">
                <a16:creationId xmlns:a16="http://schemas.microsoft.com/office/drawing/2014/main" id="{ED0AE388-87C5-F1C5-A3DF-A4BF5390D9D2}"/>
              </a:ext>
            </a:extLst>
          </p:cNvPr>
          <p:cNvSpPr/>
          <p:nvPr/>
        </p:nvSpPr>
        <p:spPr>
          <a:xfrm>
            <a:off x="9285684" y="7172325"/>
            <a:ext cx="1572607"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Wine, beer &amp; bar</a:t>
            </a:r>
            <a:endParaRPr lang="en-US" sz="1500" dirty="0"/>
          </a:p>
        </p:txBody>
      </p:sp>
      <p:sp>
        <p:nvSpPr>
          <p:cNvPr id="135" name="Shape 131">
            <a:extLst>
              <a:ext uri="{FF2B5EF4-FFF2-40B4-BE49-F238E27FC236}">
                <a16:creationId xmlns:a16="http://schemas.microsoft.com/office/drawing/2014/main" id="{BA55F2E9-1690-8A12-BD76-1D6B6040FC08}"/>
              </a:ext>
            </a:extLst>
          </p:cNvPr>
          <p:cNvSpPr/>
          <p:nvPr/>
        </p:nvSpPr>
        <p:spPr>
          <a:xfrm>
            <a:off x="12337256" y="3190875"/>
            <a:ext cx="5188744" cy="1504950"/>
          </a:xfrm>
          <a:prstGeom prst="roundRect">
            <a:avLst>
              <a:gd name="adj" fmla="val 7595"/>
            </a:avLst>
          </a:prstGeom>
          <a:solidFill>
            <a:srgbClr val="F0EEE6"/>
          </a:solidFill>
          <a:ln/>
        </p:spPr>
        <p:txBody>
          <a:bodyPr/>
          <a:lstStyle/>
          <a:p>
            <a:endParaRPr lang="en-US"/>
          </a:p>
        </p:txBody>
      </p:sp>
      <p:sp>
        <p:nvSpPr>
          <p:cNvPr id="136" name="Text 133">
            <a:extLst>
              <a:ext uri="{FF2B5EF4-FFF2-40B4-BE49-F238E27FC236}">
                <a16:creationId xmlns:a16="http://schemas.microsoft.com/office/drawing/2014/main" id="{45E20762-296B-B209-73FE-10E82FCC03E7}"/>
              </a:ext>
            </a:extLst>
          </p:cNvPr>
          <p:cNvSpPr/>
          <p:nvPr/>
        </p:nvSpPr>
        <p:spPr>
          <a:xfrm>
            <a:off x="12603956" y="3895725"/>
            <a:ext cx="4795004" cy="609600"/>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575" dirty="0">
                <a:solidFill>
                  <a:srgbClr val="4E5A5E"/>
                </a:solidFill>
                <a:latin typeface="Arial" pitchFamily="34" charset="0"/>
                <a:ea typeface="Arial" pitchFamily="34" charset="-122"/>
                <a:cs typeface="Arial" pitchFamily="34" charset="-120"/>
              </a:rPr>
              <a:t>The peak — the three biggest hours are ~34% of the day. One barista covers all of it under the plan.</a:t>
            </a:r>
            <a:endParaRPr lang="en-US" sz="1575" dirty="0"/>
          </a:p>
        </p:txBody>
      </p:sp>
      <p:sp>
        <p:nvSpPr>
          <p:cNvPr id="137" name="Shape 134">
            <a:extLst>
              <a:ext uri="{FF2B5EF4-FFF2-40B4-BE49-F238E27FC236}">
                <a16:creationId xmlns:a16="http://schemas.microsoft.com/office/drawing/2014/main" id="{A017F76A-2056-7881-BEE3-3C9A70A4EA5F}"/>
              </a:ext>
            </a:extLst>
          </p:cNvPr>
          <p:cNvSpPr/>
          <p:nvPr/>
        </p:nvSpPr>
        <p:spPr>
          <a:xfrm>
            <a:off x="12337256" y="4819650"/>
            <a:ext cx="5188744" cy="1504950"/>
          </a:xfrm>
          <a:prstGeom prst="roundRect">
            <a:avLst>
              <a:gd name="adj" fmla="val 7595"/>
            </a:avLst>
          </a:prstGeom>
          <a:solidFill>
            <a:srgbClr val="F0EEE6"/>
          </a:solidFill>
          <a:ln/>
        </p:spPr>
        <p:txBody>
          <a:bodyPr/>
          <a:lstStyle/>
          <a:p>
            <a:endParaRPr lang="en-US"/>
          </a:p>
        </p:txBody>
      </p:sp>
      <p:sp>
        <p:nvSpPr>
          <p:cNvPr id="138" name="Text 136">
            <a:extLst>
              <a:ext uri="{FF2B5EF4-FFF2-40B4-BE49-F238E27FC236}">
                <a16:creationId xmlns:a16="http://schemas.microsoft.com/office/drawing/2014/main" id="{0655A5A3-6393-6A40-D318-312693BC17E7}"/>
              </a:ext>
            </a:extLst>
          </p:cNvPr>
          <p:cNvSpPr/>
          <p:nvPr/>
        </p:nvSpPr>
        <p:spPr>
          <a:xfrm>
            <a:off x="12603956" y="5524500"/>
            <a:ext cx="4795004" cy="609600"/>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575" dirty="0">
                <a:solidFill>
                  <a:srgbClr val="4E5A5E"/>
                </a:solidFill>
                <a:latin typeface="Arial" pitchFamily="34" charset="0"/>
                <a:ea typeface="Arial" pitchFamily="34" charset="-122"/>
                <a:cs typeface="Arial" pitchFamily="34" charset="-120"/>
              </a:rPr>
              <a:t>Lunch runs food-led — sandwiches top the mix through midday, then taper hard after 2p.</a:t>
            </a:r>
            <a:endParaRPr lang="en-US" sz="1575" dirty="0"/>
          </a:p>
        </p:txBody>
      </p:sp>
      <p:sp>
        <p:nvSpPr>
          <p:cNvPr id="140" name="Shape 134">
            <a:extLst>
              <a:ext uri="{FF2B5EF4-FFF2-40B4-BE49-F238E27FC236}">
                <a16:creationId xmlns:a16="http://schemas.microsoft.com/office/drawing/2014/main" id="{B4D79CFD-AFE9-5DB1-7361-035DDD9389B0}"/>
              </a:ext>
            </a:extLst>
          </p:cNvPr>
          <p:cNvSpPr/>
          <p:nvPr/>
        </p:nvSpPr>
        <p:spPr>
          <a:xfrm>
            <a:off x="12337256" y="6602557"/>
            <a:ext cx="5188744" cy="1504950"/>
          </a:xfrm>
          <a:prstGeom prst="roundRect">
            <a:avLst>
              <a:gd name="adj" fmla="val 7595"/>
            </a:avLst>
          </a:prstGeom>
          <a:solidFill>
            <a:srgbClr val="F0EEE6"/>
          </a:solidFill>
          <a:ln/>
        </p:spPr>
        <p:txBody>
          <a:bodyPr/>
          <a:lstStyle/>
          <a:p>
            <a:endParaRPr lang="en-US"/>
          </a:p>
        </p:txBody>
      </p:sp>
      <p:sp>
        <p:nvSpPr>
          <p:cNvPr id="139" name="Text 139">
            <a:extLst>
              <a:ext uri="{FF2B5EF4-FFF2-40B4-BE49-F238E27FC236}">
                <a16:creationId xmlns:a16="http://schemas.microsoft.com/office/drawing/2014/main" id="{33CDB73C-A9D2-6642-6C5F-20968D862A50}"/>
              </a:ext>
            </a:extLst>
          </p:cNvPr>
          <p:cNvSpPr/>
          <p:nvPr/>
        </p:nvSpPr>
        <p:spPr>
          <a:xfrm>
            <a:off x="12603956" y="7011406"/>
            <a:ext cx="4795004" cy="895350"/>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575" dirty="0">
                <a:solidFill>
                  <a:srgbClr val="4E5A5E"/>
                </a:solidFill>
                <a:latin typeface="Arial" pitchFamily="34" charset="0"/>
                <a:ea typeface="Arial" pitchFamily="34" charset="-122"/>
                <a:cs typeface="Arial" pitchFamily="34" charset="-120"/>
              </a:rPr>
              <a:t>The tail skews beverage — coffee fades while the cold case, snacks, wine, beer &amp; canned cocktails carry the window. It sells itself.</a:t>
            </a:r>
            <a:endParaRPr lang="en-US" sz="1575" dirty="0"/>
          </a:p>
        </p:txBody>
      </p:sp>
      <p:sp>
        <p:nvSpPr>
          <p:cNvPr id="141" name="Text 132">
            <a:extLst>
              <a:ext uri="{FF2B5EF4-FFF2-40B4-BE49-F238E27FC236}">
                <a16:creationId xmlns:a16="http://schemas.microsoft.com/office/drawing/2014/main" id="{32C7F0D1-BD37-5630-CCC6-8ED21DEE7709}"/>
              </a:ext>
            </a:extLst>
          </p:cNvPr>
          <p:cNvSpPr/>
          <p:nvPr/>
        </p:nvSpPr>
        <p:spPr>
          <a:xfrm>
            <a:off x="12558414" y="3295650"/>
            <a:ext cx="5120878" cy="4191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22424B"/>
                </a:solidFill>
                <a:latin typeface="Georgia" pitchFamily="34" charset="0"/>
                <a:ea typeface="Georgia" pitchFamily="34" charset="-122"/>
                <a:cs typeface="Georgia" pitchFamily="34" charset="-120"/>
              </a:rPr>
              <a:t>7–9am</a:t>
            </a:r>
            <a:endParaRPr lang="en-US" sz="2550" dirty="0"/>
          </a:p>
        </p:txBody>
      </p:sp>
      <p:sp>
        <p:nvSpPr>
          <p:cNvPr id="142" name="Text 135">
            <a:extLst>
              <a:ext uri="{FF2B5EF4-FFF2-40B4-BE49-F238E27FC236}">
                <a16:creationId xmlns:a16="http://schemas.microsoft.com/office/drawing/2014/main" id="{0D3A4C1C-2CB8-9AE4-53F8-C5187D7F6FAF}"/>
              </a:ext>
            </a:extLst>
          </p:cNvPr>
          <p:cNvSpPr/>
          <p:nvPr/>
        </p:nvSpPr>
        <p:spPr>
          <a:xfrm>
            <a:off x="12603956" y="5057775"/>
            <a:ext cx="5120878" cy="4191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22424B"/>
                </a:solidFill>
                <a:latin typeface="Georgia" pitchFamily="34" charset="0"/>
                <a:ea typeface="Georgia" pitchFamily="34" charset="-122"/>
                <a:cs typeface="Georgia" pitchFamily="34" charset="-120"/>
              </a:rPr>
              <a:t>11am–1pm</a:t>
            </a:r>
            <a:endParaRPr lang="en-US" sz="2550" dirty="0"/>
          </a:p>
        </p:txBody>
      </p:sp>
      <p:sp>
        <p:nvSpPr>
          <p:cNvPr id="143" name="Text 138">
            <a:extLst>
              <a:ext uri="{FF2B5EF4-FFF2-40B4-BE49-F238E27FC236}">
                <a16:creationId xmlns:a16="http://schemas.microsoft.com/office/drawing/2014/main" id="{5F364150-E8D8-10F4-6AB9-672CE5FED334}"/>
              </a:ext>
            </a:extLst>
          </p:cNvPr>
          <p:cNvSpPr/>
          <p:nvPr/>
        </p:nvSpPr>
        <p:spPr>
          <a:xfrm>
            <a:off x="12603956" y="6629400"/>
            <a:ext cx="5120878" cy="4191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C1553B"/>
                </a:solidFill>
                <a:latin typeface="Georgia" pitchFamily="34" charset="0"/>
                <a:ea typeface="Georgia" pitchFamily="34" charset="-122"/>
                <a:cs typeface="Georgia" pitchFamily="34" charset="-120"/>
              </a:rPr>
              <a:t>4pm+</a:t>
            </a:r>
            <a:endParaRPr lang="en-US" sz="2550" dirty="0"/>
          </a:p>
        </p:txBody>
      </p:sp>
    </p:spTree>
    <p:extLst>
      <p:ext uri="{BB962C8B-B14F-4D97-AF65-F5344CB8AC3E}">
        <p14:creationId xmlns:p14="http://schemas.microsoft.com/office/powerpoint/2010/main" val="3296683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THE PLAYBOOK</a:t>
            </a:r>
            <a:endParaRPr lang="en-US" sz="1650" spc="300" dirty="0">
              <a:solidFill>
                <a:srgbClr val="1E7E8C"/>
              </a:solidFill>
            </a:endParaRPr>
          </a:p>
        </p:txBody>
      </p:sp>
      <p:sp>
        <p:nvSpPr>
          <p:cNvPr id="3" name="Text 1"/>
          <p:cNvSpPr/>
          <p:nvPr/>
        </p:nvSpPr>
        <p:spPr>
          <a:xfrm>
            <a:off x="952500" y="1200150"/>
            <a:ext cx="18021300" cy="666750"/>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4950" kern="0" spc="-37" dirty="0">
                <a:solidFill>
                  <a:srgbClr val="22424B"/>
                </a:solidFill>
                <a:latin typeface="Georgia" pitchFamily="34" charset="0"/>
                <a:ea typeface="Georgia" pitchFamily="34" charset="-122"/>
                <a:cs typeface="Georgia" pitchFamily="34" charset="-120"/>
              </a:rPr>
              <a:t>Structural levers to improve profitability </a:t>
            </a:r>
            <a:endParaRPr lang="en-US" sz="4950" dirty="0"/>
          </a:p>
        </p:txBody>
      </p:sp>
      <p:sp>
        <p:nvSpPr>
          <p:cNvPr id="5" name="Text 3"/>
          <p:cNvSpPr/>
          <p:nvPr/>
        </p:nvSpPr>
        <p:spPr>
          <a:xfrm>
            <a:off x="487768"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01</a:t>
            </a:r>
            <a:endParaRPr lang="en-US" sz="2850" dirty="0"/>
          </a:p>
        </p:txBody>
      </p:sp>
      <p:sp>
        <p:nvSpPr>
          <p:cNvPr id="6" name="Text 4"/>
          <p:cNvSpPr/>
          <p:nvPr/>
        </p:nvSpPr>
        <p:spPr>
          <a:xfrm>
            <a:off x="487768"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Labor model</a:t>
            </a:r>
            <a:endParaRPr lang="en-US" sz="2175" dirty="0"/>
          </a:p>
        </p:txBody>
      </p:sp>
      <p:sp>
        <p:nvSpPr>
          <p:cNvPr id="7" name="Text 5"/>
          <p:cNvSpPr/>
          <p:nvPr/>
        </p:nvSpPr>
        <p:spPr>
          <a:xfrm>
            <a:off x="487768"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Single shift</a:t>
            </a:r>
            <a:endParaRPr lang="en-US" sz="3750" dirty="0"/>
          </a:p>
        </p:txBody>
      </p:sp>
      <p:sp>
        <p:nvSpPr>
          <p:cNvPr id="9" name="Shape 7"/>
          <p:cNvSpPr/>
          <p:nvPr/>
        </p:nvSpPr>
        <p:spPr>
          <a:xfrm>
            <a:off x="487768" y="6161333"/>
            <a:ext cx="2794649" cy="45719"/>
          </a:xfrm>
          <a:prstGeom prst="rect">
            <a:avLst/>
          </a:prstGeom>
          <a:solidFill>
            <a:srgbClr val="D2D3CD"/>
          </a:solidFill>
          <a:ln/>
        </p:spPr>
        <p:txBody>
          <a:bodyPr/>
          <a:lstStyle/>
          <a:p>
            <a:endParaRPr lang="en-US"/>
          </a:p>
        </p:txBody>
      </p:sp>
      <p:sp>
        <p:nvSpPr>
          <p:cNvPr id="10" name="Text 8"/>
          <p:cNvSpPr/>
          <p:nvPr/>
        </p:nvSpPr>
        <p:spPr>
          <a:xfrm>
            <a:off x="531583" y="6561384"/>
            <a:ext cx="2949918" cy="197762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Shift 6:00a–4:00p · doors open 6:30a</a:t>
            </a:r>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Single barista shift</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Self-serve, cold case &amp; shelves after 4pm</a:t>
            </a:r>
            <a:endParaRPr lang="en-US" sz="1400" dirty="0"/>
          </a:p>
        </p:txBody>
      </p:sp>
      <p:sp>
        <p:nvSpPr>
          <p:cNvPr id="11" name="Shape 9"/>
          <p:cNvSpPr/>
          <p:nvPr/>
        </p:nvSpPr>
        <p:spPr>
          <a:xfrm>
            <a:off x="3701516" y="3162300"/>
            <a:ext cx="19050" cy="5486400"/>
          </a:xfrm>
          <a:prstGeom prst="rect">
            <a:avLst/>
          </a:prstGeom>
          <a:solidFill>
            <a:srgbClr val="D2D3CD"/>
          </a:solidFill>
          <a:ln/>
        </p:spPr>
        <p:txBody>
          <a:bodyPr/>
          <a:lstStyle/>
          <a:p>
            <a:endParaRPr lang="en-US"/>
          </a:p>
        </p:txBody>
      </p:sp>
      <p:sp>
        <p:nvSpPr>
          <p:cNvPr id="12" name="Text 10"/>
          <p:cNvSpPr/>
          <p:nvPr/>
        </p:nvSpPr>
        <p:spPr>
          <a:xfrm>
            <a:off x="4139665"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
        <p:nvSpPr>
          <p:cNvPr id="13" name="Text 11"/>
          <p:cNvSpPr/>
          <p:nvPr/>
        </p:nvSpPr>
        <p:spPr>
          <a:xfrm>
            <a:off x="4139665"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Increase pricing</a:t>
            </a:r>
            <a:endParaRPr lang="en-US" sz="2175" dirty="0"/>
          </a:p>
        </p:txBody>
      </p:sp>
      <p:sp>
        <p:nvSpPr>
          <p:cNvPr id="14" name="Text 12"/>
          <p:cNvSpPr/>
          <p:nvPr/>
        </p:nvSpPr>
        <p:spPr>
          <a:xfrm>
            <a:off x="4139665"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+$0.10–$1.00</a:t>
            </a:r>
            <a:endParaRPr lang="en-US" sz="3750" dirty="0"/>
          </a:p>
        </p:txBody>
      </p:sp>
      <p:sp>
        <p:nvSpPr>
          <p:cNvPr id="17" name="Text 15"/>
          <p:cNvSpPr/>
          <p:nvPr/>
        </p:nvSpPr>
        <p:spPr>
          <a:xfrm>
            <a:off x="4183481" y="6486970"/>
            <a:ext cx="2750834" cy="197762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Increase drink pricing $0.10–$0.50</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Increase sandwiches &amp; smoothies +$0.75–$1.00</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Adjust the top-selling latte $0.50 to hold volume</a:t>
            </a:r>
            <a:endParaRPr lang="en-US" sz="1400" dirty="0"/>
          </a:p>
        </p:txBody>
      </p:sp>
      <p:sp>
        <p:nvSpPr>
          <p:cNvPr id="18" name="Shape 16"/>
          <p:cNvSpPr/>
          <p:nvPr/>
        </p:nvSpPr>
        <p:spPr>
          <a:xfrm>
            <a:off x="7343572" y="3162300"/>
            <a:ext cx="19050" cy="5486400"/>
          </a:xfrm>
          <a:prstGeom prst="rect">
            <a:avLst/>
          </a:prstGeom>
          <a:solidFill>
            <a:srgbClr val="D2D3CD"/>
          </a:solidFill>
          <a:ln/>
        </p:spPr>
        <p:txBody>
          <a:bodyPr/>
          <a:lstStyle/>
          <a:p>
            <a:endParaRPr lang="en-US"/>
          </a:p>
        </p:txBody>
      </p:sp>
      <p:sp>
        <p:nvSpPr>
          <p:cNvPr id="19" name="Text 17"/>
          <p:cNvSpPr/>
          <p:nvPr/>
        </p:nvSpPr>
        <p:spPr>
          <a:xfrm>
            <a:off x="11279567"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04</a:t>
            </a:r>
            <a:endParaRPr lang="en-US" sz="2850" dirty="0"/>
          </a:p>
        </p:txBody>
      </p:sp>
      <p:sp>
        <p:nvSpPr>
          <p:cNvPr id="20" name="Text 18"/>
          <p:cNvSpPr/>
          <p:nvPr/>
        </p:nvSpPr>
        <p:spPr>
          <a:xfrm>
            <a:off x="11279567"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cs typeface="Arial" pitchFamily="34" charset="-120"/>
              </a:rPr>
              <a:t>Programming</a:t>
            </a:r>
            <a:endParaRPr lang="en-US" sz="2175" dirty="0"/>
          </a:p>
        </p:txBody>
      </p:sp>
      <p:sp>
        <p:nvSpPr>
          <p:cNvPr id="21" name="Text 19"/>
          <p:cNvSpPr/>
          <p:nvPr/>
        </p:nvSpPr>
        <p:spPr>
          <a:xfrm>
            <a:off x="11279567"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+$500 / wk</a:t>
            </a:r>
            <a:r>
              <a:rPr lang="en-US" sz="3750" kern="0" spc="-75" dirty="0" err="1">
                <a:solidFill>
                  <a:srgbClr val="22424B"/>
                </a:solidFill>
                <a:latin typeface="Georgia" pitchFamily="34" charset="0"/>
                <a:ea typeface="Georgia" pitchFamily="34" charset="-122"/>
                <a:cs typeface="Georgia" pitchFamily="34" charset="-120"/>
              </a:rPr>
              <a:t/>
            </a:r>
            <a:r>
              <a:rPr lang="en-US" sz="3750" kern="0" spc="-75" dirty="0">
                <a:solidFill>
                  <a:srgbClr val="22424B"/>
                </a:solidFill>
                <a:latin typeface="Georgia" pitchFamily="34" charset="0"/>
                <a:ea typeface="Georgia" pitchFamily="34" charset="-122"/>
                <a:cs typeface="Georgia" pitchFamily="34" charset="-120"/>
              </a:rPr>
              <a:t/>
            </a:r>
            <a:r>
              <a:rPr lang="en-US" sz="3750" kern="0" spc="-75" dirty="0" err="1">
                <a:solidFill>
                  <a:srgbClr val="22424B"/>
                </a:solidFill>
                <a:latin typeface="Georgia" pitchFamily="34" charset="0"/>
                <a:ea typeface="Georgia" pitchFamily="34" charset="-122"/>
                <a:cs typeface="Georgia" pitchFamily="34" charset="-120"/>
              </a:rPr>
              <a:t/>
            </a:r>
            <a:endParaRPr lang="en-US" sz="3750" dirty="0"/>
          </a:p>
        </p:txBody>
      </p:sp>
      <p:sp>
        <p:nvSpPr>
          <p:cNvPr id="24" name="Text 22"/>
          <p:cNvSpPr/>
          <p:nvPr/>
        </p:nvSpPr>
        <p:spPr>
          <a:xfrm>
            <a:off x="11323382" y="6486970"/>
            <a:ext cx="2944761" cy="1691878"/>
          </a:xfrm>
          <a:prstGeom prst="rect">
            <a:avLst/>
          </a:prstGeom>
          <a:noFill/>
          <a:ln/>
        </p:spPr>
        <p:txBody>
          <a:bodyPr wrap="square" lIns="25400" tIns="25400" rIns="25400" bIns="25400" rtlCol="0" anchor="t">
            <a:noAutofit/>
          </a:bodyPr>
          <a:lstStyle/>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Replace nightly/weekly programming with intentional 2x/month activations</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Focus on low-cost, high-impact events</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Use brand/vendor partnerships to offset costs and drive traffic</a:t>
            </a:r>
          </a:p>
          <a:p>
            <a:r>
              <a:rPr sz="1400">
                <a:solidFill>
                  <a:srgbClr val="4E5A5E"/>
                </a:solidFill>
                <a:latin typeface="Arial"/>
              </a:rPr>
              <a:t>Traffic support already reflected in the revenue plan — no incremental revenue claimed</a:t>
            </a:r>
          </a:p>
        </p:txBody>
      </p:sp>
      <p:sp>
        <p:nvSpPr>
          <p:cNvPr id="25" name="Shape 23"/>
          <p:cNvSpPr/>
          <p:nvPr/>
        </p:nvSpPr>
        <p:spPr>
          <a:xfrm>
            <a:off x="11010486" y="3162300"/>
            <a:ext cx="19050" cy="5486400"/>
          </a:xfrm>
          <a:prstGeom prst="rect">
            <a:avLst/>
          </a:prstGeom>
          <a:solidFill>
            <a:srgbClr val="D2D3CD"/>
          </a:solidFill>
          <a:ln/>
        </p:spPr>
        <p:txBody>
          <a:bodyPr/>
          <a:lstStyle/>
          <a:p>
            <a:endParaRPr lang="en-US"/>
          </a:p>
        </p:txBody>
      </p:sp>
      <p:sp>
        <p:nvSpPr>
          <p:cNvPr id="26" name="Text 24"/>
          <p:cNvSpPr/>
          <p:nvPr/>
        </p:nvSpPr>
        <p:spPr>
          <a:xfrm>
            <a:off x="777187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03</a:t>
            </a:r>
            <a:endParaRPr lang="en-US" sz="2850" dirty="0"/>
          </a:p>
        </p:txBody>
      </p:sp>
      <p:sp>
        <p:nvSpPr>
          <p:cNvPr id="27" name="Text 25"/>
          <p:cNvSpPr/>
          <p:nvPr/>
        </p:nvSpPr>
        <p:spPr>
          <a:xfrm>
            <a:off x="777187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Remerchandise</a:t>
            </a:r>
            <a:endParaRPr lang="en-US" sz="2175" dirty="0"/>
          </a:p>
        </p:txBody>
      </p:sp>
      <p:sp>
        <p:nvSpPr>
          <p:cNvPr id="28" name="Text 26"/>
          <p:cNvSpPr/>
          <p:nvPr/>
        </p:nvSpPr>
        <p:spPr>
          <a:xfrm>
            <a:off x="7771879"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+$24K GP</a:t>
            </a:r>
            <a:endParaRPr lang="en-US" sz="3750" dirty="0"/>
          </a:p>
        </p:txBody>
      </p:sp>
      <p:sp>
        <p:nvSpPr>
          <p:cNvPr id="31" name="Text 29"/>
          <p:cNvSpPr/>
          <p:nvPr/>
        </p:nvSpPr>
        <p:spPr>
          <a:xfrm>
            <a:off x="7771879" y="6486970"/>
            <a:ext cx="2775599" cy="169187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cs typeface="Arial" pitchFamily="34" charset="-120"/>
              </a:rPr>
              <a:t>More convenience items</a:t>
            </a:r>
          </a:p>
          <a:p>
            <a:pPr marL="146685" indent="-146685" algn="l">
              <a:lnSpc>
                <a:spcPct val="145000"/>
              </a:lnSpc>
              <a:buSzPct val="100000"/>
              <a:buChar char="•"/>
              <a:tabLst>
                <a:tab pos="146685" algn="l"/>
              </a:tabLst>
            </a:pPr>
            <a:r>
              <a:rPr lang="en-US" sz="1400" dirty="0">
                <a:solidFill>
                  <a:srgbClr val="4E5A5E"/>
                </a:solidFill>
                <a:latin typeface="Arial" pitchFamily="34" charset="0"/>
                <a:cs typeface="Arial" pitchFamily="34" charset="-120"/>
              </a:rPr>
              <a:t>Add travel category</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Add zero-labor everyday staples</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Frees ~200 barista hours a year</a:t>
            </a:r>
            <a:endParaRPr lang="en-US" sz="1400" dirty="0"/>
          </a:p>
        </p:txBody>
      </p:sp>
      <p:pic>
        <p:nvPicPr>
          <p:cNvPr id="34" name="Picture 33">
            <a:extLst>
              <a:ext uri="{FF2B5EF4-FFF2-40B4-BE49-F238E27FC236}">
                <a16:creationId xmlns:a16="http://schemas.microsoft.com/office/drawing/2014/main" id="{7CAADA67-AB8A-AB84-2F5F-3215ACD09D69}"/>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35" name="Text 7">
            <a:extLst>
              <a:ext uri="{FF2B5EF4-FFF2-40B4-BE49-F238E27FC236}">
                <a16:creationId xmlns:a16="http://schemas.microsoft.com/office/drawing/2014/main" id="{5B5C99FB-6EDE-A593-9DDA-21B420EE8A7D}"/>
              </a:ext>
            </a:extLst>
          </p:cNvPr>
          <p:cNvSpPr/>
          <p:nvPr/>
        </p:nvSpPr>
        <p:spPr>
          <a:xfrm>
            <a:off x="640168"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1E7E8C"/>
                </a:solidFill>
                <a:latin typeface="Arial" pitchFamily="34" charset="0"/>
                <a:ea typeface="Arial" pitchFamily="34" charset="-122"/>
                <a:cs typeface="Arial" pitchFamily="34" charset="-120"/>
              </a:rPr>
              <a:t>+$39K / yr</a:t>
            </a:r>
            <a:endParaRPr lang="en-US" sz="2000" i="1" dirty="0">
              <a:solidFill>
                <a:srgbClr val="1E7E8C"/>
              </a:solidFill>
            </a:endParaRPr>
          </a:p>
        </p:txBody>
      </p:sp>
      <p:sp>
        <p:nvSpPr>
          <p:cNvPr id="36" name="Text 7">
            <a:extLst>
              <a:ext uri="{FF2B5EF4-FFF2-40B4-BE49-F238E27FC236}">
                <a16:creationId xmlns:a16="http://schemas.microsoft.com/office/drawing/2014/main" id="{DC6DA773-7FB3-DD6E-DAC0-E113A296116B}"/>
              </a:ext>
            </a:extLst>
          </p:cNvPr>
          <p:cNvSpPr/>
          <p:nvPr/>
        </p:nvSpPr>
        <p:spPr>
          <a:xfrm>
            <a:off x="4249202"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1E7E8C"/>
                </a:solidFill>
                <a:latin typeface="Arial" pitchFamily="34" charset="0"/>
                <a:ea typeface="Arial" pitchFamily="34" charset="-122"/>
                <a:cs typeface="Arial" pitchFamily="34" charset="-120"/>
              </a:rPr>
              <a:t>+$24K / yr</a:t>
            </a:r>
            <a:endParaRPr lang="en-US" sz="2000" i="1" dirty="0">
              <a:solidFill>
                <a:srgbClr val="1E7E8C"/>
              </a:solidFill>
            </a:endParaRPr>
          </a:p>
        </p:txBody>
      </p:sp>
      <p:sp>
        <p:nvSpPr>
          <p:cNvPr id="37" name="Text 7">
            <a:extLst>
              <a:ext uri="{FF2B5EF4-FFF2-40B4-BE49-F238E27FC236}">
                <a16:creationId xmlns:a16="http://schemas.microsoft.com/office/drawing/2014/main" id="{FEC611F7-3921-CCAD-6BE6-822BF9784555}"/>
              </a:ext>
            </a:extLst>
          </p:cNvPr>
          <p:cNvSpPr/>
          <p:nvPr/>
        </p:nvSpPr>
        <p:spPr>
          <a:xfrm>
            <a:off x="11506663"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FF0000"/>
                </a:solidFill>
                <a:latin typeface="Arial" pitchFamily="34" charset="0"/>
                <a:ea typeface="Arial" pitchFamily="34" charset="-122"/>
                <a:cs typeface="Arial" pitchFamily="34" charset="-120"/>
              </a:rPr>
              <a:t>−$51K / yr</a:t>
            </a:r>
            <a:endParaRPr lang="en-US" sz="2000" i="1" dirty="0">
              <a:solidFill>
                <a:srgbClr val="FF0000"/>
              </a:solidFill>
            </a:endParaRPr>
          </a:p>
        </p:txBody>
      </p:sp>
      <p:sp>
        <p:nvSpPr>
          <p:cNvPr id="38" name="Text 7">
            <a:extLst>
              <a:ext uri="{FF2B5EF4-FFF2-40B4-BE49-F238E27FC236}">
                <a16:creationId xmlns:a16="http://schemas.microsoft.com/office/drawing/2014/main" id="{5DD2A855-B15B-1807-2D0D-8C6025F6F28A}"/>
              </a:ext>
            </a:extLst>
          </p:cNvPr>
          <p:cNvSpPr/>
          <p:nvPr/>
        </p:nvSpPr>
        <p:spPr>
          <a:xfrm>
            <a:off x="7907986"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FF0000"/>
                </a:solidFill>
                <a:latin typeface="Arial" pitchFamily="34" charset="0"/>
                <a:ea typeface="Arial" pitchFamily="34" charset="-122"/>
                <a:cs typeface="Arial" pitchFamily="34" charset="-120"/>
              </a:rPr>
              <a:t>+$9K / yr</a:t>
            </a:r>
            <a:endParaRPr lang="en-US" sz="2000" i="1" dirty="0">
              <a:solidFill>
                <a:srgbClr val="FF0000"/>
              </a:solidFill>
            </a:endParaRPr>
          </a:p>
        </p:txBody>
      </p:sp>
      <p:sp>
        <p:nvSpPr>
          <p:cNvPr id="41" name="Shape 7">
            <a:extLst>
              <a:ext uri="{FF2B5EF4-FFF2-40B4-BE49-F238E27FC236}">
                <a16:creationId xmlns:a16="http://schemas.microsoft.com/office/drawing/2014/main" id="{A16BC08D-F2FC-D51A-447B-6D9878D813AD}"/>
              </a:ext>
            </a:extLst>
          </p:cNvPr>
          <p:cNvSpPr/>
          <p:nvPr/>
        </p:nvSpPr>
        <p:spPr>
          <a:xfrm>
            <a:off x="4145368" y="6161333"/>
            <a:ext cx="2794649" cy="45719"/>
          </a:xfrm>
          <a:prstGeom prst="rect">
            <a:avLst/>
          </a:prstGeom>
          <a:solidFill>
            <a:srgbClr val="D2D3CD"/>
          </a:solidFill>
          <a:ln/>
        </p:spPr>
        <p:txBody>
          <a:bodyPr/>
          <a:lstStyle/>
          <a:p>
            <a:endParaRPr lang="en-US"/>
          </a:p>
        </p:txBody>
      </p:sp>
      <p:sp>
        <p:nvSpPr>
          <p:cNvPr id="42" name="Shape 7">
            <a:extLst>
              <a:ext uri="{FF2B5EF4-FFF2-40B4-BE49-F238E27FC236}">
                <a16:creationId xmlns:a16="http://schemas.microsoft.com/office/drawing/2014/main" id="{B7621963-42E8-3E3E-1DB6-F145708CEABA}"/>
              </a:ext>
            </a:extLst>
          </p:cNvPr>
          <p:cNvSpPr/>
          <p:nvPr/>
        </p:nvSpPr>
        <p:spPr>
          <a:xfrm>
            <a:off x="7763212" y="6161333"/>
            <a:ext cx="2794649" cy="45719"/>
          </a:xfrm>
          <a:prstGeom prst="rect">
            <a:avLst/>
          </a:prstGeom>
          <a:solidFill>
            <a:srgbClr val="D2D3CD"/>
          </a:solidFill>
          <a:ln/>
        </p:spPr>
        <p:txBody>
          <a:bodyPr/>
          <a:lstStyle/>
          <a:p>
            <a:endParaRPr lang="en-US"/>
          </a:p>
        </p:txBody>
      </p:sp>
      <p:sp>
        <p:nvSpPr>
          <p:cNvPr id="44" name="Text 17">
            <a:extLst>
              <a:ext uri="{FF2B5EF4-FFF2-40B4-BE49-F238E27FC236}">
                <a16:creationId xmlns:a16="http://schemas.microsoft.com/office/drawing/2014/main" id="{5499EB33-00FF-1509-4EB0-99B59F7B5507}"/>
              </a:ext>
            </a:extLst>
          </p:cNvPr>
          <p:cNvSpPr/>
          <p:nvPr/>
        </p:nvSpPr>
        <p:spPr>
          <a:xfrm>
            <a:off x="1491728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05</a:t>
            </a:r>
            <a:endParaRPr lang="en-US" sz="2850" dirty="0"/>
          </a:p>
        </p:txBody>
      </p:sp>
      <p:sp>
        <p:nvSpPr>
          <p:cNvPr id="45" name="Text 18">
            <a:extLst>
              <a:ext uri="{FF2B5EF4-FFF2-40B4-BE49-F238E27FC236}">
                <a16:creationId xmlns:a16="http://schemas.microsoft.com/office/drawing/2014/main" id="{21EC8912-30A2-7C54-EACA-9F76D1BF264A}"/>
              </a:ext>
            </a:extLst>
          </p:cNvPr>
          <p:cNvSpPr/>
          <p:nvPr/>
        </p:nvSpPr>
        <p:spPr>
          <a:xfrm>
            <a:off x="1491728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cs typeface="Arial" pitchFamily="34" charset="-120"/>
              </a:rPr>
              <a:t>Operating Expenses</a:t>
            </a:r>
            <a:endParaRPr lang="en-US" sz="2175" dirty="0"/>
          </a:p>
        </p:txBody>
      </p:sp>
      <p:sp>
        <p:nvSpPr>
          <p:cNvPr id="46" name="Text 19">
            <a:extLst>
              <a:ext uri="{FF2B5EF4-FFF2-40B4-BE49-F238E27FC236}">
                <a16:creationId xmlns:a16="http://schemas.microsoft.com/office/drawing/2014/main" id="{DBFA6686-0E4A-5F17-4D96-1522628E5215}"/>
              </a:ext>
            </a:extLst>
          </p:cNvPr>
          <p:cNvSpPr/>
          <p:nvPr/>
        </p:nvSpPr>
        <p:spPr>
          <a:xfrm>
            <a:off x="14917289"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$65.4K → $14.8K</a:t>
            </a:r>
            <a:endParaRPr lang="en-US" sz="3750" dirty="0"/>
          </a:p>
        </p:txBody>
      </p:sp>
      <p:sp>
        <p:nvSpPr>
          <p:cNvPr id="48" name="Text 22">
            <a:extLst>
              <a:ext uri="{FF2B5EF4-FFF2-40B4-BE49-F238E27FC236}">
                <a16:creationId xmlns:a16="http://schemas.microsoft.com/office/drawing/2014/main" id="{8C6D8B4F-0520-CFEF-7AE6-A5E57C1A2D98}"/>
              </a:ext>
            </a:extLst>
          </p:cNvPr>
          <p:cNvSpPr/>
          <p:nvPr/>
        </p:nvSpPr>
        <p:spPr>
          <a:xfrm>
            <a:off x="14961104" y="6486970"/>
            <a:ext cx="3030980" cy="169187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4% management fee replaces the $48K flat fee</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Rent waived</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Owner charges drop from 22.6% to 4.0% of revenue</a:t>
            </a:r>
            <a:endParaRPr lang="en-US" sz="1400" dirty="0"/>
          </a:p>
        </p:txBody>
      </p:sp>
      <p:sp>
        <p:nvSpPr>
          <p:cNvPr id="49" name="Shape 23">
            <a:extLst>
              <a:ext uri="{FF2B5EF4-FFF2-40B4-BE49-F238E27FC236}">
                <a16:creationId xmlns:a16="http://schemas.microsoft.com/office/drawing/2014/main" id="{A0260980-BFF0-371E-0E61-561C3F1E61D7}"/>
              </a:ext>
            </a:extLst>
          </p:cNvPr>
          <p:cNvSpPr/>
          <p:nvPr/>
        </p:nvSpPr>
        <p:spPr>
          <a:xfrm>
            <a:off x="14648208" y="3162300"/>
            <a:ext cx="19050" cy="5486400"/>
          </a:xfrm>
          <a:prstGeom prst="rect">
            <a:avLst/>
          </a:prstGeom>
          <a:solidFill>
            <a:srgbClr val="D2D3CD"/>
          </a:solidFill>
          <a:ln/>
        </p:spPr>
        <p:txBody>
          <a:bodyPr/>
          <a:lstStyle/>
          <a:p>
            <a:endParaRPr lang="en-US"/>
          </a:p>
        </p:txBody>
      </p:sp>
      <p:sp>
        <p:nvSpPr>
          <p:cNvPr id="50" name="Text 7">
            <a:extLst>
              <a:ext uri="{FF2B5EF4-FFF2-40B4-BE49-F238E27FC236}">
                <a16:creationId xmlns:a16="http://schemas.microsoft.com/office/drawing/2014/main" id="{F50723BC-EDF5-C456-116E-EFF1B5443156}"/>
              </a:ext>
            </a:extLst>
          </p:cNvPr>
          <p:cNvSpPr/>
          <p:nvPr/>
        </p:nvSpPr>
        <p:spPr>
          <a:xfrm>
            <a:off x="15144385"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FF0000"/>
                </a:solidFill>
                <a:latin typeface="Arial" pitchFamily="34" charset="0"/>
                <a:ea typeface="Arial" pitchFamily="34" charset="-122"/>
                <a:cs typeface="Arial" pitchFamily="34" charset="-120"/>
              </a:rPr>
              <a:t>−$51K / yr</a:t>
            </a:r>
            <a:endParaRPr lang="en-US" sz="2000" i="1" dirty="0">
              <a:solidFill>
                <a:srgbClr val="FF0000"/>
              </a:solidFill>
            </a:endParaRPr>
          </a:p>
        </p:txBody>
      </p:sp>
      <p:sp>
        <p:nvSpPr>
          <p:cNvPr id="51" name="Shape 7">
            <a:extLst>
              <a:ext uri="{FF2B5EF4-FFF2-40B4-BE49-F238E27FC236}">
                <a16:creationId xmlns:a16="http://schemas.microsoft.com/office/drawing/2014/main" id="{86EC74DA-255C-FA4C-09A5-660413409B65}"/>
              </a:ext>
            </a:extLst>
          </p:cNvPr>
          <p:cNvSpPr/>
          <p:nvPr/>
        </p:nvSpPr>
        <p:spPr>
          <a:xfrm>
            <a:off x="11361177" y="6161333"/>
            <a:ext cx="2794649" cy="45719"/>
          </a:xfrm>
          <a:prstGeom prst="rect">
            <a:avLst/>
          </a:prstGeom>
          <a:solidFill>
            <a:srgbClr val="D2D3CD"/>
          </a:solidFill>
          <a:ln/>
        </p:spPr>
        <p:txBody>
          <a:bodyPr/>
          <a:lstStyle/>
          <a:p>
            <a:endParaRPr lang="en-US"/>
          </a:p>
        </p:txBody>
      </p:sp>
      <p:sp>
        <p:nvSpPr>
          <p:cNvPr id="52" name="Shape 7">
            <a:extLst>
              <a:ext uri="{FF2B5EF4-FFF2-40B4-BE49-F238E27FC236}">
                <a16:creationId xmlns:a16="http://schemas.microsoft.com/office/drawing/2014/main" id="{B00907AA-21B9-2E56-B96D-460C578402F7}"/>
              </a:ext>
            </a:extLst>
          </p:cNvPr>
          <p:cNvSpPr/>
          <p:nvPr/>
        </p:nvSpPr>
        <p:spPr>
          <a:xfrm>
            <a:off x="15078412" y="6161333"/>
            <a:ext cx="2794649" cy="45719"/>
          </a:xfrm>
          <a:prstGeom prst="rect">
            <a:avLst/>
          </a:prstGeom>
          <a:solidFill>
            <a:srgbClr val="D2D3CD"/>
          </a:solidFill>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a:extLst>
            <a:ext uri="{FF2B5EF4-FFF2-40B4-BE49-F238E27FC236}">
              <a16:creationId xmlns:a16="http://schemas.microsoft.com/office/drawing/2014/main" id="{84DAB189-489B-9296-C14A-E244BD758CE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5BF9610-671B-688E-1A1B-7FFABCBEC213}"/>
              </a:ext>
            </a:extLst>
          </p:cNvPr>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01 | LABOR MODEL</a:t>
            </a:r>
            <a:endParaRPr lang="en-US" sz="1650" spc="300" dirty="0"/>
          </a:p>
        </p:txBody>
      </p:sp>
      <p:sp>
        <p:nvSpPr>
          <p:cNvPr id="3" name="Text 1">
            <a:extLst>
              <a:ext uri="{FF2B5EF4-FFF2-40B4-BE49-F238E27FC236}">
                <a16:creationId xmlns:a16="http://schemas.microsoft.com/office/drawing/2014/main" id="{20227806-3710-9466-9028-9F2BC1C7AEA6}"/>
              </a:ext>
            </a:extLst>
          </p:cNvPr>
          <p:cNvSpPr/>
          <p:nvPr/>
        </p:nvSpPr>
        <p:spPr>
          <a:xfrm>
            <a:off x="952500" y="1123950"/>
            <a:ext cx="18021300" cy="60960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500" kern="0" spc="-37" dirty="0">
                <a:solidFill>
                  <a:srgbClr val="22424B"/>
                </a:solidFill>
                <a:latin typeface="Georgia" pitchFamily="34" charset="0"/>
                <a:ea typeface="Georgia" pitchFamily="34" charset="-122"/>
                <a:cs typeface="Georgia" pitchFamily="34" charset="-120"/>
              </a:rPr>
              <a:t>Close staffed service at 4pm — keep the register open</a:t>
            </a:r>
            <a:endParaRPr lang="en-US" sz="4500" dirty="0"/>
          </a:p>
        </p:txBody>
      </p:sp>
      <p:sp>
        <p:nvSpPr>
          <p:cNvPr id="4" name="Shape 2">
            <a:extLst>
              <a:ext uri="{FF2B5EF4-FFF2-40B4-BE49-F238E27FC236}">
                <a16:creationId xmlns:a16="http://schemas.microsoft.com/office/drawing/2014/main" id="{BB25870D-5941-1B42-D0AF-F0A088180A11}"/>
              </a:ext>
            </a:extLst>
          </p:cNvPr>
          <p:cNvSpPr/>
          <p:nvPr/>
        </p:nvSpPr>
        <p:spPr>
          <a:xfrm>
            <a:off x="952500" y="2019300"/>
            <a:ext cx="10157222" cy="990600"/>
          </a:xfrm>
          <a:prstGeom prst="rect">
            <a:avLst/>
          </a:prstGeom>
          <a:solidFill>
            <a:srgbClr val="22424B"/>
          </a:solidFill>
          <a:ln/>
        </p:spPr>
        <p:txBody>
          <a:bodyPr/>
          <a:lstStyle/>
          <a:p>
            <a:endParaRPr lang="en-US"/>
          </a:p>
        </p:txBody>
      </p:sp>
      <p:sp>
        <p:nvSpPr>
          <p:cNvPr id="5" name="Text 3">
            <a:extLst>
              <a:ext uri="{FF2B5EF4-FFF2-40B4-BE49-F238E27FC236}">
                <a16:creationId xmlns:a16="http://schemas.microsoft.com/office/drawing/2014/main" id="{6484E12A-2CBA-5BDB-A789-26AA74A165DA}"/>
              </a:ext>
            </a:extLst>
          </p:cNvPr>
          <p:cNvSpPr/>
          <p:nvPr/>
        </p:nvSpPr>
        <p:spPr>
          <a:xfrm>
            <a:off x="1295400" y="2171700"/>
            <a:ext cx="10418564" cy="457200"/>
          </a:xfrm>
          <a:prstGeom prst="rect">
            <a:avLst/>
          </a:prstGeom>
          <a:noFill/>
          <a:ln/>
        </p:spPr>
        <p:txBody>
          <a:bodyPr wrap="square" lIns="25400" tIns="25400" rIns="25400" bIns="25400" rtlCol="0" anchor="t">
            <a:normAutofit fontScale="92500" lnSpcReduction="10000"/>
          </a:bodyPr>
          <a:lstStyle/>
          <a:p>
            <a:pPr marL="0" indent="0" algn="l">
              <a:buNone/>
            </a:pPr>
            <a:r>
              <a:rPr lang="en-US" sz="3000" kern="0" spc="-37" dirty="0">
                <a:solidFill>
                  <a:srgbClr val="EDF1F1"/>
                </a:solidFill>
                <a:latin typeface="Georgia" pitchFamily="34" charset="0"/>
                <a:ea typeface="Georgia" pitchFamily="34" charset="-122"/>
                <a:cs typeface="Georgia" pitchFamily="34" charset="-120"/>
              </a:rPr>
              <a:t>6:00a – 4:00p</a:t>
            </a:r>
            <a:endParaRPr lang="en-US" sz="3000" dirty="0"/>
          </a:p>
        </p:txBody>
      </p:sp>
      <p:sp>
        <p:nvSpPr>
          <p:cNvPr id="6" name="Text 4">
            <a:extLst>
              <a:ext uri="{FF2B5EF4-FFF2-40B4-BE49-F238E27FC236}">
                <a16:creationId xmlns:a16="http://schemas.microsoft.com/office/drawing/2014/main" id="{83123B94-8988-819F-C6AC-FE1B56D02DEF}"/>
              </a:ext>
            </a:extLst>
          </p:cNvPr>
          <p:cNvSpPr/>
          <p:nvPr/>
        </p:nvSpPr>
        <p:spPr>
          <a:xfrm>
            <a:off x="1295400" y="2628900"/>
            <a:ext cx="10418564"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dirty="0">
                <a:solidFill>
                  <a:srgbClr val="C2C8C8"/>
                </a:solidFill>
                <a:latin typeface="Arial" pitchFamily="34" charset="0"/>
                <a:ea typeface="Arial" pitchFamily="34" charset="-122"/>
                <a:cs typeface="Arial" pitchFamily="34" charset="-120"/>
              </a:rPr>
              <a:t>one barista · single 10-hour shift · doors 6:30a</a:t>
            </a:r>
            <a:endParaRPr lang="en-US" sz="1575" dirty="0"/>
          </a:p>
        </p:txBody>
      </p:sp>
      <p:sp>
        <p:nvSpPr>
          <p:cNvPr id="7" name="Shape 5">
            <a:extLst>
              <a:ext uri="{FF2B5EF4-FFF2-40B4-BE49-F238E27FC236}">
                <a16:creationId xmlns:a16="http://schemas.microsoft.com/office/drawing/2014/main" id="{E6DF4144-4394-3BB6-C73B-90E3A379DB6F}"/>
              </a:ext>
            </a:extLst>
          </p:cNvPr>
          <p:cNvSpPr/>
          <p:nvPr/>
        </p:nvSpPr>
        <p:spPr>
          <a:xfrm>
            <a:off x="11109722" y="2019300"/>
            <a:ext cx="6225778" cy="990600"/>
          </a:xfrm>
          <a:prstGeom prst="rect">
            <a:avLst/>
          </a:prstGeom>
          <a:solidFill>
            <a:srgbClr val="E4E9E5"/>
          </a:solidFill>
          <a:ln/>
        </p:spPr>
        <p:txBody>
          <a:bodyPr/>
          <a:lstStyle/>
          <a:p>
            <a:endParaRPr lang="en-US"/>
          </a:p>
        </p:txBody>
      </p:sp>
      <p:sp>
        <p:nvSpPr>
          <p:cNvPr id="8" name="Text 6">
            <a:extLst>
              <a:ext uri="{FF2B5EF4-FFF2-40B4-BE49-F238E27FC236}">
                <a16:creationId xmlns:a16="http://schemas.microsoft.com/office/drawing/2014/main" id="{81557D21-39F1-A132-A7DD-284C202C65FF}"/>
              </a:ext>
            </a:extLst>
          </p:cNvPr>
          <p:cNvSpPr/>
          <p:nvPr/>
        </p:nvSpPr>
        <p:spPr>
          <a:xfrm>
            <a:off x="11452622" y="2171700"/>
            <a:ext cx="6093976" cy="457200"/>
          </a:xfrm>
          <a:prstGeom prst="rect">
            <a:avLst/>
          </a:prstGeom>
          <a:noFill/>
          <a:ln/>
        </p:spPr>
        <p:txBody>
          <a:bodyPr wrap="square" lIns="25400" tIns="25400" rIns="25400" bIns="25400" rtlCol="0" anchor="t">
            <a:normAutofit fontScale="92500" lnSpcReduction="10000"/>
          </a:bodyPr>
          <a:lstStyle/>
          <a:p>
            <a:pPr marL="0" indent="0" algn="l">
              <a:buNone/>
            </a:pPr>
            <a:r>
              <a:rPr lang="en-US" sz="3000" kern="0" spc="-37" dirty="0">
                <a:solidFill>
                  <a:srgbClr val="22424B"/>
                </a:solidFill>
                <a:latin typeface="Georgia" pitchFamily="34" charset="0"/>
                <a:ea typeface="Georgia" pitchFamily="34" charset="-122"/>
                <a:cs typeface="Georgia" pitchFamily="34" charset="-120"/>
              </a:rPr>
              <a:t>4:00p – close</a:t>
            </a:r>
            <a:endParaRPr lang="en-US" sz="3000" dirty="0"/>
          </a:p>
        </p:txBody>
      </p:sp>
      <p:sp>
        <p:nvSpPr>
          <p:cNvPr id="9" name="Text 7">
            <a:extLst>
              <a:ext uri="{FF2B5EF4-FFF2-40B4-BE49-F238E27FC236}">
                <a16:creationId xmlns:a16="http://schemas.microsoft.com/office/drawing/2014/main" id="{C2E37A80-5965-863A-8B1F-FE55D63808C3}"/>
              </a:ext>
            </a:extLst>
          </p:cNvPr>
          <p:cNvSpPr/>
          <p:nvPr/>
        </p:nvSpPr>
        <p:spPr>
          <a:xfrm>
            <a:off x="11452622" y="2628900"/>
            <a:ext cx="609397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dirty="0">
                <a:solidFill>
                  <a:srgbClr val="5E6B70"/>
                </a:solidFill>
                <a:latin typeface="Arial" pitchFamily="34" charset="0"/>
                <a:ea typeface="Arial" pitchFamily="34" charset="-122"/>
                <a:cs typeface="Arial" pitchFamily="34" charset="-120"/>
              </a:rPr>
              <a:t>Self-serve · no added labor</a:t>
            </a:r>
            <a:endParaRPr lang="en-US" sz="1575" dirty="0"/>
          </a:p>
        </p:txBody>
      </p:sp>
      <p:sp>
        <p:nvSpPr>
          <p:cNvPr id="10" name="Text 8">
            <a:extLst>
              <a:ext uri="{FF2B5EF4-FFF2-40B4-BE49-F238E27FC236}">
                <a16:creationId xmlns:a16="http://schemas.microsoft.com/office/drawing/2014/main" id="{8AC1B988-50AB-3707-7191-92D8F7823A19}"/>
              </a:ext>
            </a:extLst>
          </p:cNvPr>
          <p:cNvSpPr/>
          <p:nvPr/>
        </p:nvSpPr>
        <p:spPr>
          <a:xfrm>
            <a:off x="952500" y="4023360"/>
            <a:ext cx="7208520" cy="247650"/>
          </a:xfrm>
          <a:prstGeom prst="rect">
            <a:avLst/>
          </a:prstGeom>
          <a:noFill/>
          <a:ln/>
        </p:spPr>
        <p:txBody>
          <a:bodyPr wrap="square" lIns="25400" tIns="25400" rIns="25400" bIns="25400" rtlCol="0" anchor="t">
            <a:normAutofit lnSpcReduction="10000"/>
          </a:bodyPr>
          <a:lstStyle/>
          <a:p>
            <a:pPr marL="0" indent="0" algn="l">
              <a:buNone/>
            </a:pPr>
            <a:r>
              <a:rPr lang="en-US" sz="1425" kern="0" spc="150" dirty="0">
                <a:solidFill>
                  <a:srgbClr val="93999B"/>
                </a:solidFill>
                <a:latin typeface="Arial" pitchFamily="34" charset="0"/>
                <a:ea typeface="Arial" pitchFamily="34" charset="-122"/>
                <a:cs typeface="Arial" pitchFamily="34" charset="-120"/>
              </a:rPr>
              <a:t>WHAT WE'D GIVE UP AFTER 4PM</a:t>
            </a:r>
            <a:endParaRPr lang="en-US" sz="1425" dirty="0"/>
          </a:p>
        </p:txBody>
      </p:sp>
      <p:sp>
        <p:nvSpPr>
          <p:cNvPr id="11" name="Text 9">
            <a:extLst>
              <a:ext uri="{FF2B5EF4-FFF2-40B4-BE49-F238E27FC236}">
                <a16:creationId xmlns:a16="http://schemas.microsoft.com/office/drawing/2014/main" id="{EE93917A-7829-5A02-9617-D39E0A775185}"/>
              </a:ext>
            </a:extLst>
          </p:cNvPr>
          <p:cNvSpPr/>
          <p:nvPr/>
        </p:nvSpPr>
        <p:spPr>
          <a:xfrm>
            <a:off x="952500" y="4404360"/>
            <a:ext cx="2646293" cy="838200"/>
          </a:xfrm>
          <a:prstGeom prst="rect">
            <a:avLst/>
          </a:prstGeom>
          <a:noFill/>
          <a:ln/>
        </p:spPr>
        <p:txBody>
          <a:bodyPr wrap="square" lIns="25400" tIns="25400" rIns="25400" bIns="25400" rtlCol="0" anchor="t">
            <a:normAutofit fontScale="92500" lnSpcReduction="10000"/>
          </a:bodyPr>
          <a:lstStyle/>
          <a:p>
            <a:pPr marL="0" indent="0" algn="l">
              <a:lnSpc>
                <a:spcPct val="100000"/>
              </a:lnSpc>
              <a:buNone/>
            </a:pPr>
            <a:r>
              <a:rPr lang="en-US" sz="5700" kern="0" spc="-150" dirty="0">
                <a:solidFill>
                  <a:srgbClr val="1E7E8C"/>
                </a:solidFill>
                <a:latin typeface="Georgia" pitchFamily="34" charset="0"/>
                <a:ea typeface="Georgia" pitchFamily="34" charset="-122"/>
                <a:cs typeface="Georgia" pitchFamily="34" charset="-120"/>
              </a:rPr>
              <a:t>~3.7%</a:t>
            </a:r>
            <a:endParaRPr lang="en-US" sz="5700" dirty="0">
              <a:solidFill>
                <a:srgbClr val="1E7E8C"/>
              </a:solidFill>
            </a:endParaRPr>
          </a:p>
        </p:txBody>
      </p:sp>
      <p:sp>
        <p:nvSpPr>
          <p:cNvPr id="14" name="Text 12">
            <a:extLst>
              <a:ext uri="{FF2B5EF4-FFF2-40B4-BE49-F238E27FC236}">
                <a16:creationId xmlns:a16="http://schemas.microsoft.com/office/drawing/2014/main" id="{BF0BEEF3-0BA9-4D91-3D81-DF08623B2D37}"/>
              </a:ext>
            </a:extLst>
          </p:cNvPr>
          <p:cNvSpPr/>
          <p:nvPr/>
        </p:nvSpPr>
        <p:spPr>
          <a:xfrm>
            <a:off x="952500" y="5242560"/>
            <a:ext cx="720852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1E7E8C"/>
                </a:solidFill>
                <a:latin typeface="Arial" pitchFamily="34" charset="0"/>
                <a:ea typeface="Arial" pitchFamily="34" charset="-122"/>
                <a:cs typeface="Arial" pitchFamily="34" charset="-120"/>
              </a:rPr>
              <a:t>of daily sales</a:t>
            </a:r>
            <a:endParaRPr lang="en-US" sz="1800" dirty="0">
              <a:solidFill>
                <a:srgbClr val="1E7E8C"/>
              </a:solidFill>
            </a:endParaRPr>
          </a:p>
        </p:txBody>
      </p:sp>
      <p:sp>
        <p:nvSpPr>
          <p:cNvPr id="15" name="Text 13">
            <a:extLst>
              <a:ext uri="{FF2B5EF4-FFF2-40B4-BE49-F238E27FC236}">
                <a16:creationId xmlns:a16="http://schemas.microsoft.com/office/drawing/2014/main" id="{224BFA3C-726D-B76C-8661-217B2DB21086}"/>
              </a:ext>
            </a:extLst>
          </p:cNvPr>
          <p:cNvSpPr/>
          <p:nvPr/>
        </p:nvSpPr>
        <p:spPr>
          <a:xfrm>
            <a:off x="952500" y="5756910"/>
            <a:ext cx="6749796" cy="2745406"/>
          </a:xfrm>
          <a:prstGeom prst="rect">
            <a:avLst/>
          </a:prstGeom>
          <a:noFill/>
          <a:ln/>
        </p:spPr>
        <p:txBody>
          <a:bodyPr wrap="square" lIns="25400" tIns="25400" rIns="25400" bIns="25400" rtlCol="0" anchor="t">
            <a:normAutofit/>
          </a:bodyPr>
          <a:lstStyle/>
          <a:p>
            <a:pPr>
              <a:lnSpc>
                <a:spcPct val="150000"/>
              </a:lnSpc>
            </a:pPr>
            <a:r>
              <a:rPr lang="en-US" sz="1650" dirty="0">
                <a:solidFill>
                  <a:srgbClr val="5E6B70"/>
                </a:solidFill>
                <a:latin typeface="Arial" pitchFamily="34" charset="0"/>
                <a:cs typeface="Arial" pitchFamily="34" charset="-120"/>
              </a:rPr>
              <a:t>Post-4pm sales = 17.3% of total sales (trailing 12 mo)</a:t>
            </a:r>
            <a:br>
              <a:rPr lang="en-US" sz="1650" dirty="0">
                <a:solidFill>
                  <a:srgbClr val="5E6B70"/>
                </a:solidFill>
                <a:latin typeface="Arial" pitchFamily="34" charset="0"/>
                <a:cs typeface="Arial" pitchFamily="34" charset="-120"/>
              </a:rPr>
            </a:br>
            <a:r>
              <a:rPr lang="en-US" sz="1650" dirty="0">
                <a:solidFill>
                  <a:srgbClr val="5E6B70"/>
                </a:solidFill>
                <a:latin typeface="Arial" pitchFamily="34" charset="0"/>
                <a:cs typeface="Arial" pitchFamily="34" charset="-120"/>
              </a:rPr>
              <a:t>Only 21.5% of those sales require a barista</a:t>
            </a:r>
            <a:br>
              <a:rPr lang="en-US" sz="1650" dirty="0">
                <a:solidFill>
                  <a:srgbClr val="5E6B70"/>
                </a:solidFill>
                <a:latin typeface="Arial" pitchFamily="34" charset="0"/>
                <a:cs typeface="Arial" pitchFamily="34" charset="-120"/>
              </a:rPr>
            </a:br>
            <a:r>
              <a:rPr lang="en-US" sz="1650" dirty="0">
                <a:solidFill>
                  <a:srgbClr val="5E6B70"/>
                </a:solidFill>
                <a:latin typeface="Arial" pitchFamily="34" charset="0"/>
                <a:cs typeface="Arial" pitchFamily="34" charset="-120"/>
              </a:rPr>
              <a:t>Net sales at risk = 3.7% of total revenue</a:t>
            </a:r>
          </a:p>
        </p:txBody>
      </p:sp>
      <p:sp>
        <p:nvSpPr>
          <p:cNvPr id="16" name="Shape 14">
            <a:extLst>
              <a:ext uri="{FF2B5EF4-FFF2-40B4-BE49-F238E27FC236}">
                <a16:creationId xmlns:a16="http://schemas.microsoft.com/office/drawing/2014/main" id="{6A581461-3C1E-825E-6FA7-D1637795EF60}"/>
              </a:ext>
            </a:extLst>
          </p:cNvPr>
          <p:cNvSpPr/>
          <p:nvPr/>
        </p:nvSpPr>
        <p:spPr>
          <a:xfrm>
            <a:off x="6157007" y="3442335"/>
            <a:ext cx="19050" cy="5276850"/>
          </a:xfrm>
          <a:prstGeom prst="rect">
            <a:avLst/>
          </a:prstGeom>
          <a:solidFill>
            <a:srgbClr val="D6D8D2"/>
          </a:solidFill>
          <a:ln/>
        </p:spPr>
        <p:txBody>
          <a:bodyPr/>
          <a:lstStyle/>
          <a:p>
            <a:endParaRPr lang="en-US"/>
          </a:p>
        </p:txBody>
      </p:sp>
      <p:sp>
        <p:nvSpPr>
          <p:cNvPr id="17" name="Text 15">
            <a:extLst>
              <a:ext uri="{FF2B5EF4-FFF2-40B4-BE49-F238E27FC236}">
                <a16:creationId xmlns:a16="http://schemas.microsoft.com/office/drawing/2014/main" id="{B1EE85F8-F64C-D529-0E92-9D20A1A4DE89}"/>
              </a:ext>
            </a:extLst>
          </p:cNvPr>
          <p:cNvSpPr/>
          <p:nvPr/>
        </p:nvSpPr>
        <p:spPr>
          <a:xfrm>
            <a:off x="7463952" y="4023360"/>
            <a:ext cx="9534525"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RECAPTURED WITH ZERO LABOR</a:t>
            </a:r>
            <a:endParaRPr lang="en-US" sz="1425" dirty="0">
              <a:solidFill>
                <a:srgbClr val="1E7E8C"/>
              </a:solidFill>
            </a:endParaRPr>
          </a:p>
        </p:txBody>
      </p:sp>
      <p:sp>
        <p:nvSpPr>
          <p:cNvPr id="18" name="Text 16">
            <a:extLst>
              <a:ext uri="{FF2B5EF4-FFF2-40B4-BE49-F238E27FC236}">
                <a16:creationId xmlns:a16="http://schemas.microsoft.com/office/drawing/2014/main" id="{91144212-1D63-0E04-D465-DB8F288BC264}"/>
              </a:ext>
            </a:extLst>
          </p:cNvPr>
          <p:cNvSpPr/>
          <p:nvPr/>
        </p:nvSpPr>
        <p:spPr>
          <a:xfrm>
            <a:off x="7463952" y="4423410"/>
            <a:ext cx="495300" cy="952500"/>
          </a:xfrm>
          <a:prstGeom prst="rect">
            <a:avLst/>
          </a:prstGeom>
          <a:noFill/>
          <a:ln/>
        </p:spPr>
        <p:txBody>
          <a:bodyPr wrap="square" lIns="25400" tIns="25400" rIns="25400" bIns="25400" rtlCol="0" anchor="t">
            <a:normAutofit/>
          </a:bodyPr>
          <a:lstStyle/>
          <a:p>
            <a:pPr marL="0" indent="0" algn="l">
              <a:buNone/>
            </a:pPr>
            <a:r>
              <a:rPr lang="en-US" sz="2550" dirty="0">
                <a:solidFill>
                  <a:srgbClr val="1E7E8C"/>
                </a:solidFill>
                <a:latin typeface="Georgia" pitchFamily="34" charset="0"/>
                <a:ea typeface="Georgia" pitchFamily="34" charset="-122"/>
                <a:cs typeface="Georgia" pitchFamily="34" charset="-120"/>
              </a:rPr>
              <a:t>1</a:t>
            </a:r>
            <a:endParaRPr lang="en-US" sz="2550" dirty="0"/>
          </a:p>
        </p:txBody>
      </p:sp>
      <p:sp>
        <p:nvSpPr>
          <p:cNvPr id="19" name="Text 17">
            <a:extLst>
              <a:ext uri="{FF2B5EF4-FFF2-40B4-BE49-F238E27FC236}">
                <a16:creationId xmlns:a16="http://schemas.microsoft.com/office/drawing/2014/main" id="{E493D465-EF08-2413-D2C1-54DDBB94F86F}"/>
              </a:ext>
            </a:extLst>
          </p:cNvPr>
          <p:cNvSpPr/>
          <p:nvPr/>
        </p:nvSpPr>
        <p:spPr>
          <a:xfrm>
            <a:off x="8073552" y="4423410"/>
            <a:ext cx="8863965" cy="323850"/>
          </a:xfrm>
          <a:prstGeom prst="rect">
            <a:avLst/>
          </a:prstGeom>
          <a:noFill/>
          <a:ln/>
        </p:spPr>
        <p:txBody>
          <a:bodyPr wrap="square" lIns="25400" tIns="25400" rIns="25400" bIns="25400" rtlCol="0" anchor="t">
            <a:normAutofit fontScale="92500" lnSpcReduction="10000"/>
          </a:bodyPr>
          <a:lstStyle/>
          <a:p>
            <a:pPr marL="0" indent="0" algn="l">
              <a:buNone/>
            </a:pPr>
            <a:r>
              <a:rPr lang="en-US" sz="2025" b="1" dirty="0">
                <a:solidFill>
                  <a:srgbClr val="22424B"/>
                </a:solidFill>
                <a:latin typeface="Arial" pitchFamily="34" charset="0"/>
                <a:ea typeface="Arial" pitchFamily="34" charset="-122"/>
                <a:cs typeface="Arial" pitchFamily="34" charset="-120"/>
              </a:rPr>
              <a:t>Toast self-serve kiosk</a:t>
            </a:r>
            <a:endParaRPr lang="en-US" sz="2025" dirty="0"/>
          </a:p>
        </p:txBody>
      </p:sp>
      <p:sp>
        <p:nvSpPr>
          <p:cNvPr id="20" name="Text 18">
            <a:extLst>
              <a:ext uri="{FF2B5EF4-FFF2-40B4-BE49-F238E27FC236}">
                <a16:creationId xmlns:a16="http://schemas.microsoft.com/office/drawing/2014/main" id="{15DBA68F-6299-B358-7C45-00F7B6E908BD}"/>
              </a:ext>
            </a:extLst>
          </p:cNvPr>
          <p:cNvSpPr/>
          <p:nvPr/>
        </p:nvSpPr>
        <p:spPr>
          <a:xfrm>
            <a:off x="8073552" y="4766310"/>
            <a:ext cx="8299894" cy="609600"/>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650" dirty="0">
                <a:solidFill>
                  <a:srgbClr val="4E5A5E"/>
                </a:solidFill>
                <a:latin typeface="Arial" pitchFamily="34" charset="0"/>
                <a:ea typeface="Arial" pitchFamily="34" charset="-122"/>
                <a:cs typeface="Arial" pitchFamily="34" charset="-120"/>
              </a:rPr>
              <a:t>Guests ring up cooler drinks, grab-and-go, cans &amp; retail themselves — no one behind the counter.</a:t>
            </a:r>
            <a:endParaRPr lang="en-US" sz="1650" dirty="0"/>
          </a:p>
        </p:txBody>
      </p:sp>
      <p:sp>
        <p:nvSpPr>
          <p:cNvPr id="21" name="Shape 19">
            <a:extLst>
              <a:ext uri="{FF2B5EF4-FFF2-40B4-BE49-F238E27FC236}">
                <a16:creationId xmlns:a16="http://schemas.microsoft.com/office/drawing/2014/main" id="{27965B7E-FD11-0279-7176-1D1A005D3BEB}"/>
              </a:ext>
            </a:extLst>
          </p:cNvPr>
          <p:cNvSpPr/>
          <p:nvPr/>
        </p:nvSpPr>
        <p:spPr>
          <a:xfrm>
            <a:off x="7463952" y="5528310"/>
            <a:ext cx="8667750" cy="19050"/>
          </a:xfrm>
          <a:prstGeom prst="rect">
            <a:avLst/>
          </a:prstGeom>
          <a:solidFill>
            <a:srgbClr val="DEE0DA"/>
          </a:solidFill>
          <a:ln/>
        </p:spPr>
        <p:txBody>
          <a:bodyPr/>
          <a:lstStyle/>
          <a:p>
            <a:endParaRPr lang="en-US"/>
          </a:p>
        </p:txBody>
      </p:sp>
      <p:sp>
        <p:nvSpPr>
          <p:cNvPr id="22" name="Text 20">
            <a:extLst>
              <a:ext uri="{FF2B5EF4-FFF2-40B4-BE49-F238E27FC236}">
                <a16:creationId xmlns:a16="http://schemas.microsoft.com/office/drawing/2014/main" id="{6949D15E-D31C-0472-9DF1-521BF4368397}"/>
              </a:ext>
            </a:extLst>
          </p:cNvPr>
          <p:cNvSpPr/>
          <p:nvPr/>
        </p:nvSpPr>
        <p:spPr>
          <a:xfrm>
            <a:off x="7463952" y="5737860"/>
            <a:ext cx="495300" cy="952500"/>
          </a:xfrm>
          <a:prstGeom prst="rect">
            <a:avLst/>
          </a:prstGeom>
          <a:noFill/>
          <a:ln/>
        </p:spPr>
        <p:txBody>
          <a:bodyPr wrap="square" lIns="25400" tIns="25400" rIns="25400" bIns="25400" rtlCol="0" anchor="t">
            <a:normAutofit/>
          </a:bodyPr>
          <a:lstStyle/>
          <a:p>
            <a:pPr marL="0" indent="0" algn="l">
              <a:buNone/>
            </a:pPr>
            <a:r>
              <a:rPr lang="en-US" sz="2550" dirty="0">
                <a:solidFill>
                  <a:srgbClr val="1E7E8C"/>
                </a:solidFill>
                <a:latin typeface="Georgia" pitchFamily="34" charset="0"/>
                <a:ea typeface="Georgia" pitchFamily="34" charset="-122"/>
                <a:cs typeface="Georgia" pitchFamily="34" charset="-120"/>
              </a:rPr>
              <a:t>2</a:t>
            </a:r>
            <a:endParaRPr lang="en-US" sz="2550" dirty="0"/>
          </a:p>
        </p:txBody>
      </p:sp>
      <p:sp>
        <p:nvSpPr>
          <p:cNvPr id="23" name="Text 21">
            <a:extLst>
              <a:ext uri="{FF2B5EF4-FFF2-40B4-BE49-F238E27FC236}">
                <a16:creationId xmlns:a16="http://schemas.microsoft.com/office/drawing/2014/main" id="{1C0A3350-C3E0-2ABE-9604-27A06075FF14}"/>
              </a:ext>
            </a:extLst>
          </p:cNvPr>
          <p:cNvSpPr/>
          <p:nvPr/>
        </p:nvSpPr>
        <p:spPr>
          <a:xfrm>
            <a:off x="8073552" y="5737860"/>
            <a:ext cx="8863965" cy="323850"/>
          </a:xfrm>
          <a:prstGeom prst="rect">
            <a:avLst/>
          </a:prstGeom>
          <a:noFill/>
          <a:ln/>
        </p:spPr>
        <p:txBody>
          <a:bodyPr wrap="square" lIns="25400" tIns="25400" rIns="25400" bIns="25400" rtlCol="0" anchor="t">
            <a:normAutofit fontScale="92500" lnSpcReduction="10000"/>
          </a:bodyPr>
          <a:lstStyle/>
          <a:p>
            <a:pPr marL="0" indent="0" algn="l">
              <a:buNone/>
            </a:pPr>
            <a:r>
              <a:rPr lang="en-US" sz="2025" b="1" dirty="0">
                <a:solidFill>
                  <a:srgbClr val="22424B"/>
                </a:solidFill>
                <a:latin typeface="Arial" pitchFamily="34" charset="0"/>
                <a:ea typeface="Arial" pitchFamily="34" charset="-122"/>
                <a:cs typeface="Arial" pitchFamily="34" charset="-120"/>
              </a:rPr>
              <a:t>ROOST front-desk checkout</a:t>
            </a:r>
            <a:endParaRPr lang="en-US" sz="2025" dirty="0"/>
          </a:p>
        </p:txBody>
      </p:sp>
      <p:sp>
        <p:nvSpPr>
          <p:cNvPr id="24" name="Text 22">
            <a:extLst>
              <a:ext uri="{FF2B5EF4-FFF2-40B4-BE49-F238E27FC236}">
                <a16:creationId xmlns:a16="http://schemas.microsoft.com/office/drawing/2014/main" id="{4F8F8FCE-C825-4627-0FE0-E05C6FC410D3}"/>
              </a:ext>
            </a:extLst>
          </p:cNvPr>
          <p:cNvSpPr/>
          <p:nvPr/>
        </p:nvSpPr>
        <p:spPr>
          <a:xfrm>
            <a:off x="8073552" y="6080760"/>
            <a:ext cx="8299894" cy="609600"/>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650" dirty="0">
                <a:solidFill>
                  <a:srgbClr val="4E5A5E"/>
                </a:solidFill>
                <a:latin typeface="Arial" pitchFamily="34" charset="0"/>
                <a:ea typeface="Arial" pitchFamily="34" charset="-122"/>
                <a:cs typeface="Arial" pitchFamily="34" charset="-120"/>
              </a:rPr>
              <a:t>The hotel desk is staffed 24/7 anyway — it rings the sale or charges it straight to the room.</a:t>
            </a:r>
            <a:endParaRPr lang="en-US" sz="1650" dirty="0"/>
          </a:p>
        </p:txBody>
      </p:sp>
      <p:pic>
        <p:nvPicPr>
          <p:cNvPr id="27" name="Picture 26">
            <a:extLst>
              <a:ext uri="{FF2B5EF4-FFF2-40B4-BE49-F238E27FC236}">
                <a16:creationId xmlns:a16="http://schemas.microsoft.com/office/drawing/2014/main" id="{D23723BF-9A9E-48A5-98D3-14E14F66A7E9}"/>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8" name="TextBox 27"/>
          <p:cNvSpPr txBox="1"/>
          <p:nvPr/>
        </p:nvSpPr>
        <p:spPr>
          <a:xfrm>
            <a:off x="7461504" y="7059168"/>
            <a:ext cx="493776" cy="950976"/>
          </a:xfrm>
          <a:prstGeom prst="rect">
            <a:avLst/>
          </a:prstGeom>
          <a:noFill/>
        </p:spPr>
        <p:txBody>
          <a:bodyPr wrap="square">
            <a:spAutoFit/>
          </a:bodyPr>
          <a:lstStyle/>
          <a:p>
            <a:r>
              <a:rPr sz="2550" b="0">
                <a:solidFill>
                  <a:srgbClr val="1E7E8C"/>
                </a:solidFill>
                <a:latin typeface="Georgia"/>
              </a:rPr>
              <a:t>3</a:t>
            </a:r>
          </a:p>
        </p:txBody>
      </p:sp>
      <p:sp>
        <p:nvSpPr>
          <p:cNvPr id="29" name="TextBox 28"/>
          <p:cNvSpPr txBox="1"/>
          <p:nvPr/>
        </p:nvSpPr>
        <p:spPr>
          <a:xfrm>
            <a:off x="8074152" y="7059168"/>
            <a:ext cx="8860536" cy="320040"/>
          </a:xfrm>
          <a:prstGeom prst="rect">
            <a:avLst/>
          </a:prstGeom>
          <a:noFill/>
        </p:spPr>
        <p:txBody>
          <a:bodyPr wrap="square">
            <a:spAutoFit/>
          </a:bodyPr>
          <a:lstStyle/>
          <a:p>
            <a:r>
              <a:rPr sz="2025" b="0">
                <a:solidFill>
                  <a:srgbClr val="22424B"/>
                </a:solidFill>
                <a:latin typeface="Arial"/>
              </a:rPr>
              <a:t>The math is lopsided</a:t>
            </a:r>
          </a:p>
        </p:txBody>
      </p:sp>
      <p:sp>
        <p:nvSpPr>
          <p:cNvPr id="30" name="TextBox 29"/>
          <p:cNvSpPr txBox="1"/>
          <p:nvPr/>
        </p:nvSpPr>
        <p:spPr>
          <a:xfrm>
            <a:off x="8074152" y="7397496"/>
            <a:ext cx="8302752" cy="777240"/>
          </a:xfrm>
          <a:prstGeom prst="rect">
            <a:avLst/>
          </a:prstGeom>
          <a:noFill/>
        </p:spPr>
        <p:txBody>
          <a:bodyPr wrap="square">
            <a:spAutoFit/>
          </a:bodyPr>
          <a:lstStyle/>
          <a:p>
            <a:r>
              <a:rPr sz="1650" b="0">
                <a:solidFill>
                  <a:srgbClr val="4E5A5E"/>
                </a:solidFill>
                <a:latin typeface="Arial"/>
              </a:rPr>
              <a:t>Staffing 4–8pm would cost ~$33.8K/yr in labor to defend just $9.1K of barista-required sales (~$6.2K of margin). Even if every made-to-order sale walks, closing at 4pm comes out ~$27.5K/yr ahead.</a:t>
            </a:r>
          </a:p>
        </p:txBody>
      </p:sp>
    </p:spTree>
    <p:extLst>
      <p:ext uri="{BB962C8B-B14F-4D97-AF65-F5344CB8AC3E}">
        <p14:creationId xmlns:p14="http://schemas.microsoft.com/office/powerpoint/2010/main" val="2543818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01 | LABOR MODEL</a:t>
            </a:r>
            <a:endParaRPr lang="en-US" sz="1650" spc="300" dirty="0"/>
          </a:p>
        </p:txBody>
      </p:sp>
      <p:sp>
        <p:nvSpPr>
          <p:cNvPr id="3" name="Text 1"/>
          <p:cNvSpPr/>
          <p:nvPr/>
        </p:nvSpPr>
        <p:spPr>
          <a:xfrm>
            <a:off x="952500" y="1123950"/>
            <a:ext cx="18021300" cy="60960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500" kern="0" spc="-37" dirty="0">
                <a:solidFill>
                  <a:srgbClr val="22424B"/>
                </a:solidFill>
                <a:latin typeface="Georgia" pitchFamily="34" charset="0"/>
                <a:ea typeface="Georgia" pitchFamily="34" charset="-122"/>
                <a:cs typeface="Georgia" pitchFamily="34" charset="-120"/>
              </a:rPr>
              <a:t>Impact of transitioning to a single shift</a:t>
            </a:r>
            <a:endParaRPr lang="en-US" sz="4500" dirty="0"/>
          </a:p>
        </p:txBody>
      </p:sp>
      <p:pic>
        <p:nvPicPr>
          <p:cNvPr id="27" name="Picture 26">
            <a:extLst>
              <a:ext uri="{FF2B5EF4-FFF2-40B4-BE49-F238E27FC236}">
                <a16:creationId xmlns:a16="http://schemas.microsoft.com/office/drawing/2014/main" id="{A5BE38D2-58FE-CE4A-40F1-C68F69EAF42D}"/>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34" name="Shape 7">
            <a:extLst>
              <a:ext uri="{FF2B5EF4-FFF2-40B4-BE49-F238E27FC236}">
                <a16:creationId xmlns:a16="http://schemas.microsoft.com/office/drawing/2014/main" id="{7A0170E0-E74E-E021-ED74-786AEC1BFC96}"/>
              </a:ext>
            </a:extLst>
          </p:cNvPr>
          <p:cNvSpPr/>
          <p:nvPr/>
        </p:nvSpPr>
        <p:spPr>
          <a:xfrm>
            <a:off x="952500" y="2828925"/>
            <a:ext cx="9298186" cy="19050"/>
          </a:xfrm>
          <a:prstGeom prst="rect">
            <a:avLst/>
          </a:prstGeom>
          <a:solidFill>
            <a:srgbClr val="DEE0DA"/>
          </a:solidFill>
          <a:ln/>
        </p:spPr>
        <p:txBody>
          <a:bodyPr/>
          <a:lstStyle/>
          <a:p>
            <a:endParaRPr lang="en-US"/>
          </a:p>
        </p:txBody>
      </p:sp>
      <p:sp>
        <p:nvSpPr>
          <p:cNvPr id="35" name="Text 8">
            <a:extLst>
              <a:ext uri="{FF2B5EF4-FFF2-40B4-BE49-F238E27FC236}">
                <a16:creationId xmlns:a16="http://schemas.microsoft.com/office/drawing/2014/main" id="{365DA748-A21C-C5AD-60B5-FA7BC4893AC7}"/>
              </a:ext>
            </a:extLst>
          </p:cNvPr>
          <p:cNvSpPr/>
          <p:nvPr/>
        </p:nvSpPr>
        <p:spPr>
          <a:xfrm>
            <a:off x="990600" y="29146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FOH coverage hours / day</a:t>
            </a:r>
            <a:endParaRPr lang="en-US" sz="1725" dirty="0"/>
          </a:p>
        </p:txBody>
      </p:sp>
      <p:sp>
        <p:nvSpPr>
          <p:cNvPr id="36" name="Text 9">
            <a:extLst>
              <a:ext uri="{FF2B5EF4-FFF2-40B4-BE49-F238E27FC236}">
                <a16:creationId xmlns:a16="http://schemas.microsoft.com/office/drawing/2014/main" id="{DED7099B-D822-B7D6-D4BF-17E85BA0FF8B}"/>
              </a:ext>
            </a:extLst>
          </p:cNvPr>
          <p:cNvSpPr/>
          <p:nvPr/>
        </p:nvSpPr>
        <p:spPr>
          <a:xfrm>
            <a:off x="4839322" y="29146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~16 </a:t>
            </a:r>
            <a:r>
              <a:rPr lang="en-US" sz="1350" dirty="0">
                <a:solidFill>
                  <a:srgbClr val="93999B"/>
                </a:solidFill>
                <a:latin typeface="Arial" pitchFamily="34" charset="0"/>
                <a:ea typeface="Arial" pitchFamily="34" charset="-122"/>
                <a:cs typeface="Arial" pitchFamily="34" charset="-120"/>
              </a:rPr>
              <a:t>(2 shifts)</a:t>
            </a:r>
            <a:endParaRPr lang="en-US" sz="1725" dirty="0"/>
          </a:p>
        </p:txBody>
      </p:sp>
      <p:sp>
        <p:nvSpPr>
          <p:cNvPr id="37" name="Text 10">
            <a:extLst>
              <a:ext uri="{FF2B5EF4-FFF2-40B4-BE49-F238E27FC236}">
                <a16:creationId xmlns:a16="http://schemas.microsoft.com/office/drawing/2014/main" id="{F7460ABA-CDE8-09DF-7E33-6B4460368215}"/>
              </a:ext>
            </a:extLst>
          </p:cNvPr>
          <p:cNvSpPr/>
          <p:nvPr/>
        </p:nvSpPr>
        <p:spPr>
          <a:xfrm>
            <a:off x="8809360" y="29146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11.1</a:t>
            </a:r>
            <a:endParaRPr lang="en-US" sz="1725" dirty="0"/>
          </a:p>
        </p:txBody>
      </p:sp>
      <p:sp>
        <p:nvSpPr>
          <p:cNvPr id="38" name="Shape 11">
            <a:extLst>
              <a:ext uri="{FF2B5EF4-FFF2-40B4-BE49-F238E27FC236}">
                <a16:creationId xmlns:a16="http://schemas.microsoft.com/office/drawing/2014/main" id="{533684A8-06AA-78E4-4845-4957ED97E56C}"/>
              </a:ext>
            </a:extLst>
          </p:cNvPr>
          <p:cNvSpPr/>
          <p:nvPr/>
        </p:nvSpPr>
        <p:spPr>
          <a:xfrm>
            <a:off x="952500" y="3248025"/>
            <a:ext cx="9298186" cy="19050"/>
          </a:xfrm>
          <a:prstGeom prst="rect">
            <a:avLst/>
          </a:prstGeom>
          <a:solidFill>
            <a:srgbClr val="DEE0DA"/>
          </a:solidFill>
          <a:ln/>
        </p:spPr>
        <p:txBody>
          <a:bodyPr/>
          <a:lstStyle/>
          <a:p>
            <a:endParaRPr lang="en-US"/>
          </a:p>
        </p:txBody>
      </p:sp>
      <p:sp>
        <p:nvSpPr>
          <p:cNvPr id="39" name="Text 12">
            <a:extLst>
              <a:ext uri="{FF2B5EF4-FFF2-40B4-BE49-F238E27FC236}">
                <a16:creationId xmlns:a16="http://schemas.microsoft.com/office/drawing/2014/main" id="{F6F74368-6DC1-5C1C-A7BF-A73053839100}"/>
              </a:ext>
            </a:extLst>
          </p:cNvPr>
          <p:cNvSpPr/>
          <p:nvPr/>
        </p:nvSpPr>
        <p:spPr>
          <a:xfrm>
            <a:off x="990600" y="3333750"/>
            <a:ext cx="4046238" cy="276225"/>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Days open / week</a:t>
            </a:r>
            <a:endParaRPr lang="en-US" sz="1725" dirty="0"/>
          </a:p>
        </p:txBody>
      </p:sp>
      <p:sp>
        <p:nvSpPr>
          <p:cNvPr id="40" name="Text 13">
            <a:extLst>
              <a:ext uri="{FF2B5EF4-FFF2-40B4-BE49-F238E27FC236}">
                <a16:creationId xmlns:a16="http://schemas.microsoft.com/office/drawing/2014/main" id="{1C5363A3-EB28-41E2-6DFE-D0E47EAB1476}"/>
              </a:ext>
            </a:extLst>
          </p:cNvPr>
          <p:cNvSpPr/>
          <p:nvPr/>
        </p:nvSpPr>
        <p:spPr>
          <a:xfrm>
            <a:off x="4839322" y="3333750"/>
            <a:ext cx="2697036"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7</a:t>
            </a:r>
            <a:endParaRPr lang="en-US" sz="1725" dirty="0"/>
          </a:p>
        </p:txBody>
      </p:sp>
      <p:sp>
        <p:nvSpPr>
          <p:cNvPr id="41" name="Text 14">
            <a:extLst>
              <a:ext uri="{FF2B5EF4-FFF2-40B4-BE49-F238E27FC236}">
                <a16:creationId xmlns:a16="http://schemas.microsoft.com/office/drawing/2014/main" id="{43B655AD-E76C-ED7D-5392-ADE642D3E7DB}"/>
              </a:ext>
            </a:extLst>
          </p:cNvPr>
          <p:cNvSpPr/>
          <p:nvPr/>
        </p:nvSpPr>
        <p:spPr>
          <a:xfrm>
            <a:off x="8809360" y="3333750"/>
            <a:ext cx="1314450"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7</a:t>
            </a:r>
            <a:endParaRPr lang="en-US" sz="1725" dirty="0"/>
          </a:p>
        </p:txBody>
      </p:sp>
      <p:sp>
        <p:nvSpPr>
          <p:cNvPr id="42" name="Shape 16">
            <a:extLst>
              <a:ext uri="{FF2B5EF4-FFF2-40B4-BE49-F238E27FC236}">
                <a16:creationId xmlns:a16="http://schemas.microsoft.com/office/drawing/2014/main" id="{BA724402-AC5B-73FD-F056-2BB7E018789E}"/>
              </a:ext>
            </a:extLst>
          </p:cNvPr>
          <p:cNvSpPr/>
          <p:nvPr/>
        </p:nvSpPr>
        <p:spPr>
          <a:xfrm>
            <a:off x="952500" y="4124325"/>
            <a:ext cx="9298186" cy="19050"/>
          </a:xfrm>
          <a:prstGeom prst="rect">
            <a:avLst/>
          </a:prstGeom>
          <a:solidFill>
            <a:srgbClr val="DEE0DA"/>
          </a:solidFill>
          <a:ln/>
        </p:spPr>
        <p:txBody>
          <a:bodyPr/>
          <a:lstStyle/>
          <a:p>
            <a:endParaRPr lang="en-US"/>
          </a:p>
        </p:txBody>
      </p:sp>
      <p:sp>
        <p:nvSpPr>
          <p:cNvPr id="43" name="Text 17">
            <a:extLst>
              <a:ext uri="{FF2B5EF4-FFF2-40B4-BE49-F238E27FC236}">
                <a16:creationId xmlns:a16="http://schemas.microsoft.com/office/drawing/2014/main" id="{8828D155-D856-90FF-FD99-4AB9033B2A90}"/>
              </a:ext>
            </a:extLst>
          </p:cNvPr>
          <p:cNvSpPr/>
          <p:nvPr/>
        </p:nvSpPr>
        <p:spPr>
          <a:xfrm>
            <a:off x="990600" y="42100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FOH counter + supervisor</a:t>
            </a:r>
            <a:endParaRPr lang="en-US" sz="1725" dirty="0"/>
          </a:p>
        </p:txBody>
      </p:sp>
      <p:sp>
        <p:nvSpPr>
          <p:cNvPr id="44" name="Text 18">
            <a:extLst>
              <a:ext uri="{FF2B5EF4-FFF2-40B4-BE49-F238E27FC236}">
                <a16:creationId xmlns:a16="http://schemas.microsoft.com/office/drawing/2014/main" id="{4C71A5BC-C9AB-2751-4BFB-110932060DE1}"/>
              </a:ext>
            </a:extLst>
          </p:cNvPr>
          <p:cNvSpPr/>
          <p:nvPr/>
        </p:nvSpPr>
        <p:spPr>
          <a:xfrm>
            <a:off x="4839322" y="42100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111.8</a:t>
            </a:r>
            <a:endParaRPr lang="en-US" sz="1725" dirty="0"/>
          </a:p>
        </p:txBody>
      </p:sp>
      <p:sp>
        <p:nvSpPr>
          <p:cNvPr id="45" name="Text 19">
            <a:extLst>
              <a:ext uri="{FF2B5EF4-FFF2-40B4-BE49-F238E27FC236}">
                <a16:creationId xmlns:a16="http://schemas.microsoft.com/office/drawing/2014/main" id="{1B885EC4-B192-26E1-D6A2-0B55F1FDA1A5}"/>
              </a:ext>
            </a:extLst>
          </p:cNvPr>
          <p:cNvSpPr/>
          <p:nvPr/>
        </p:nvSpPr>
        <p:spPr>
          <a:xfrm>
            <a:off x="8809360" y="42100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78.0</a:t>
            </a:r>
            <a:endParaRPr lang="en-US" sz="1725" dirty="0"/>
          </a:p>
        </p:txBody>
      </p:sp>
      <p:sp>
        <p:nvSpPr>
          <p:cNvPr id="46" name="Shape 20">
            <a:extLst>
              <a:ext uri="{FF2B5EF4-FFF2-40B4-BE49-F238E27FC236}">
                <a16:creationId xmlns:a16="http://schemas.microsoft.com/office/drawing/2014/main" id="{DFB302C1-7092-4E81-DBD5-0718A7C817CC}"/>
              </a:ext>
            </a:extLst>
          </p:cNvPr>
          <p:cNvSpPr/>
          <p:nvPr/>
        </p:nvSpPr>
        <p:spPr>
          <a:xfrm>
            <a:off x="952500" y="4543425"/>
            <a:ext cx="9298186" cy="19050"/>
          </a:xfrm>
          <a:prstGeom prst="rect">
            <a:avLst/>
          </a:prstGeom>
          <a:solidFill>
            <a:srgbClr val="DEE0DA"/>
          </a:solidFill>
          <a:ln/>
        </p:spPr>
        <p:txBody>
          <a:bodyPr/>
          <a:lstStyle/>
          <a:p>
            <a:endParaRPr lang="en-US"/>
          </a:p>
        </p:txBody>
      </p:sp>
      <p:sp>
        <p:nvSpPr>
          <p:cNvPr id="47" name="Text 21">
            <a:extLst>
              <a:ext uri="{FF2B5EF4-FFF2-40B4-BE49-F238E27FC236}">
                <a16:creationId xmlns:a16="http://schemas.microsoft.com/office/drawing/2014/main" id="{42DCE0D4-C17D-716A-063A-258AD003A205}"/>
              </a:ext>
            </a:extLst>
          </p:cNvPr>
          <p:cNvSpPr/>
          <p:nvPr/>
        </p:nvSpPr>
        <p:spPr>
          <a:xfrm>
            <a:off x="990600" y="46291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BOH cook</a:t>
            </a:r>
            <a:endParaRPr lang="en-US" sz="1725" dirty="0"/>
          </a:p>
        </p:txBody>
      </p:sp>
      <p:sp>
        <p:nvSpPr>
          <p:cNvPr id="48" name="Text 22">
            <a:extLst>
              <a:ext uri="{FF2B5EF4-FFF2-40B4-BE49-F238E27FC236}">
                <a16:creationId xmlns:a16="http://schemas.microsoft.com/office/drawing/2014/main" id="{CBB974CD-F35D-5BE8-57CF-DE6B4780B3E8}"/>
              </a:ext>
            </a:extLst>
          </p:cNvPr>
          <p:cNvSpPr/>
          <p:nvPr/>
        </p:nvSpPr>
        <p:spPr>
          <a:xfrm>
            <a:off x="4839322" y="46291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13.3</a:t>
            </a:r>
            <a:endParaRPr lang="en-US" sz="1725" dirty="0"/>
          </a:p>
        </p:txBody>
      </p:sp>
      <p:sp>
        <p:nvSpPr>
          <p:cNvPr id="49" name="Text 23">
            <a:extLst>
              <a:ext uri="{FF2B5EF4-FFF2-40B4-BE49-F238E27FC236}">
                <a16:creationId xmlns:a16="http://schemas.microsoft.com/office/drawing/2014/main" id="{F66D515E-D39B-8152-DF1F-26AB71A88455}"/>
              </a:ext>
            </a:extLst>
          </p:cNvPr>
          <p:cNvSpPr/>
          <p:nvPr/>
        </p:nvSpPr>
        <p:spPr>
          <a:xfrm>
            <a:off x="8809360" y="46291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13.3</a:t>
            </a:r>
            <a:endParaRPr lang="en-US" sz="1725" dirty="0"/>
          </a:p>
        </p:txBody>
      </p:sp>
      <p:sp>
        <p:nvSpPr>
          <p:cNvPr id="50" name="Shape 24">
            <a:extLst>
              <a:ext uri="{FF2B5EF4-FFF2-40B4-BE49-F238E27FC236}">
                <a16:creationId xmlns:a16="http://schemas.microsoft.com/office/drawing/2014/main" id="{A2BC2841-8049-83A4-0537-B0ED3F752B91}"/>
              </a:ext>
            </a:extLst>
          </p:cNvPr>
          <p:cNvSpPr/>
          <p:nvPr/>
        </p:nvSpPr>
        <p:spPr>
          <a:xfrm>
            <a:off x="952500" y="4962525"/>
            <a:ext cx="9298186" cy="485775"/>
          </a:xfrm>
          <a:prstGeom prst="rect">
            <a:avLst/>
          </a:prstGeom>
          <a:solidFill>
            <a:srgbClr val="EAECE6"/>
          </a:solidFill>
          <a:ln/>
        </p:spPr>
        <p:txBody>
          <a:bodyPr/>
          <a:lstStyle/>
          <a:p>
            <a:endParaRPr lang="en-US"/>
          </a:p>
        </p:txBody>
      </p:sp>
      <p:sp>
        <p:nvSpPr>
          <p:cNvPr id="51" name="Shape 25">
            <a:extLst>
              <a:ext uri="{FF2B5EF4-FFF2-40B4-BE49-F238E27FC236}">
                <a16:creationId xmlns:a16="http://schemas.microsoft.com/office/drawing/2014/main" id="{93689EBC-55A8-9B9A-51AD-4ADE45B73378}"/>
              </a:ext>
            </a:extLst>
          </p:cNvPr>
          <p:cNvSpPr/>
          <p:nvPr/>
        </p:nvSpPr>
        <p:spPr>
          <a:xfrm>
            <a:off x="952500" y="4962525"/>
            <a:ext cx="9298186" cy="19050"/>
          </a:xfrm>
          <a:prstGeom prst="rect">
            <a:avLst/>
          </a:prstGeom>
          <a:solidFill>
            <a:srgbClr val="C6C9C3"/>
          </a:solidFill>
          <a:ln/>
        </p:spPr>
        <p:txBody>
          <a:bodyPr/>
          <a:lstStyle/>
          <a:p>
            <a:endParaRPr lang="en-US"/>
          </a:p>
        </p:txBody>
      </p:sp>
      <p:sp>
        <p:nvSpPr>
          <p:cNvPr id="52" name="Text 26">
            <a:extLst>
              <a:ext uri="{FF2B5EF4-FFF2-40B4-BE49-F238E27FC236}">
                <a16:creationId xmlns:a16="http://schemas.microsoft.com/office/drawing/2014/main" id="{37129FE8-C29B-66DD-E53B-6F87D5749833}"/>
              </a:ext>
            </a:extLst>
          </p:cNvPr>
          <p:cNvSpPr/>
          <p:nvPr/>
        </p:nvSpPr>
        <p:spPr>
          <a:xfrm>
            <a:off x="1028700" y="5067300"/>
            <a:ext cx="3931938" cy="314325"/>
          </a:xfrm>
          <a:prstGeom prst="rect">
            <a:avLst/>
          </a:prstGeom>
          <a:noFill/>
          <a:ln/>
        </p:spPr>
        <p:txBody>
          <a:bodyPr wrap="square" lIns="25400" tIns="25400" rIns="25400" bIns="25400" rtlCol="0" anchor="ctr">
            <a:normAutofit/>
          </a:bodyPr>
          <a:lstStyle/>
          <a:p>
            <a:pPr marL="0" indent="0" algn="l">
              <a:buNone/>
            </a:pPr>
            <a:r>
              <a:rPr lang="en-US" sz="1725" b="1" dirty="0">
                <a:solidFill>
                  <a:srgbClr val="22424B"/>
                </a:solidFill>
                <a:latin typeface="Arial" pitchFamily="34" charset="0"/>
                <a:ea typeface="Arial" pitchFamily="34" charset="-122"/>
                <a:cs typeface="Arial" pitchFamily="34" charset="-120"/>
              </a:rPr>
              <a:t>Total hourly staff-hours</a:t>
            </a:r>
            <a:endParaRPr lang="en-US" sz="1725" dirty="0"/>
          </a:p>
        </p:txBody>
      </p:sp>
      <p:sp>
        <p:nvSpPr>
          <p:cNvPr id="53" name="Text 27">
            <a:extLst>
              <a:ext uri="{FF2B5EF4-FFF2-40B4-BE49-F238E27FC236}">
                <a16:creationId xmlns:a16="http://schemas.microsoft.com/office/drawing/2014/main" id="{E8F77547-F379-9F97-F940-70C226F17DEC}"/>
              </a:ext>
            </a:extLst>
          </p:cNvPr>
          <p:cNvSpPr/>
          <p:nvPr/>
        </p:nvSpPr>
        <p:spPr>
          <a:xfrm>
            <a:off x="4915522" y="5067300"/>
            <a:ext cx="2544636"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125.1</a:t>
            </a:r>
            <a:endParaRPr lang="en-US" sz="1725" dirty="0"/>
          </a:p>
        </p:txBody>
      </p:sp>
      <p:sp>
        <p:nvSpPr>
          <p:cNvPr id="54" name="Text 28">
            <a:extLst>
              <a:ext uri="{FF2B5EF4-FFF2-40B4-BE49-F238E27FC236}">
                <a16:creationId xmlns:a16="http://schemas.microsoft.com/office/drawing/2014/main" id="{685E7804-9BFB-B700-18E8-8C0FDB408122}"/>
              </a:ext>
            </a:extLst>
          </p:cNvPr>
          <p:cNvSpPr/>
          <p:nvPr/>
        </p:nvSpPr>
        <p:spPr>
          <a:xfrm>
            <a:off x="8885560" y="5067300"/>
            <a:ext cx="1162050"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91.3</a:t>
            </a:r>
            <a:endParaRPr lang="en-US" sz="1725" dirty="0"/>
          </a:p>
        </p:txBody>
      </p:sp>
      <p:sp>
        <p:nvSpPr>
          <p:cNvPr id="55" name="Text 29">
            <a:extLst>
              <a:ext uri="{FF2B5EF4-FFF2-40B4-BE49-F238E27FC236}">
                <a16:creationId xmlns:a16="http://schemas.microsoft.com/office/drawing/2014/main" id="{B7341CDE-0B7A-B365-FAE5-9B63F2D42D12}"/>
              </a:ext>
            </a:extLst>
          </p:cNvPr>
          <p:cNvSpPr/>
          <p:nvPr/>
        </p:nvSpPr>
        <p:spPr>
          <a:xfrm>
            <a:off x="10123810" y="5067300"/>
            <a:ext cx="1400473" cy="314325"/>
          </a:xfrm>
          <a:prstGeom prst="rect">
            <a:avLst/>
          </a:prstGeom>
          <a:noFill/>
          <a:ln/>
        </p:spPr>
        <p:txBody>
          <a:bodyPr wrap="square" lIns="25400" tIns="25400" rIns="25400" bIns="25400" rtlCol="0" anchor="ctr">
            <a:normAutofit lnSpcReduction="10000"/>
          </a:bodyPr>
          <a:lstStyle/>
          <a:p>
            <a:pPr marL="0" indent="0" algn="r">
              <a:buNone/>
            </a:pPr>
            <a:r>
              <a:rPr lang="en-US" sz="1800" b="1" dirty="0">
                <a:solidFill>
                  <a:srgbClr val="2E6B50"/>
                </a:solidFill>
                <a:latin typeface="Georgia" pitchFamily="34" charset="0"/>
                <a:ea typeface="Georgia" pitchFamily="34" charset="-122"/>
                <a:cs typeface="Georgia" pitchFamily="34" charset="-120"/>
              </a:rPr>
              <a:t>−33.8 hrs</a:t>
            </a:r>
            <a:endParaRPr lang="en-US" sz="1800" dirty="0"/>
          </a:p>
        </p:txBody>
      </p:sp>
      <p:sp>
        <p:nvSpPr>
          <p:cNvPr id="56" name="Shape 31">
            <a:extLst>
              <a:ext uri="{FF2B5EF4-FFF2-40B4-BE49-F238E27FC236}">
                <a16:creationId xmlns:a16="http://schemas.microsoft.com/office/drawing/2014/main" id="{9E3C6240-16F3-D8CD-DD4A-23EA0557FC70}"/>
              </a:ext>
            </a:extLst>
          </p:cNvPr>
          <p:cNvSpPr/>
          <p:nvPr/>
        </p:nvSpPr>
        <p:spPr>
          <a:xfrm>
            <a:off x="952500" y="5915025"/>
            <a:ext cx="9298186" cy="19050"/>
          </a:xfrm>
          <a:prstGeom prst="rect">
            <a:avLst/>
          </a:prstGeom>
          <a:solidFill>
            <a:srgbClr val="DEE0DA"/>
          </a:solidFill>
          <a:ln/>
        </p:spPr>
        <p:txBody>
          <a:bodyPr/>
          <a:lstStyle/>
          <a:p>
            <a:endParaRPr lang="en-US"/>
          </a:p>
        </p:txBody>
      </p:sp>
      <p:sp>
        <p:nvSpPr>
          <p:cNvPr id="57" name="Text 32">
            <a:extLst>
              <a:ext uri="{FF2B5EF4-FFF2-40B4-BE49-F238E27FC236}">
                <a16:creationId xmlns:a16="http://schemas.microsoft.com/office/drawing/2014/main" id="{6A93693D-D770-1BD4-A1E8-4D14365C15AD}"/>
              </a:ext>
            </a:extLst>
          </p:cNvPr>
          <p:cNvSpPr/>
          <p:nvPr/>
        </p:nvSpPr>
        <p:spPr>
          <a:xfrm>
            <a:off x="990600" y="60007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FOH hourly (counter + supervisor)</a:t>
            </a:r>
            <a:endParaRPr lang="en-US" sz="1725" dirty="0"/>
          </a:p>
        </p:txBody>
      </p:sp>
      <p:sp>
        <p:nvSpPr>
          <p:cNvPr id="58" name="Text 33">
            <a:extLst>
              <a:ext uri="{FF2B5EF4-FFF2-40B4-BE49-F238E27FC236}">
                <a16:creationId xmlns:a16="http://schemas.microsoft.com/office/drawing/2014/main" id="{B14F91C3-A486-18B5-83C3-E44C287D933F}"/>
              </a:ext>
            </a:extLst>
          </p:cNvPr>
          <p:cNvSpPr/>
          <p:nvPr/>
        </p:nvSpPr>
        <p:spPr>
          <a:xfrm>
            <a:off x="4839322" y="60007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$2,207</a:t>
            </a:r>
            <a:endParaRPr lang="en-US" sz="1725" dirty="0"/>
          </a:p>
        </p:txBody>
      </p:sp>
      <p:sp>
        <p:nvSpPr>
          <p:cNvPr id="59" name="Text 34">
            <a:extLst>
              <a:ext uri="{FF2B5EF4-FFF2-40B4-BE49-F238E27FC236}">
                <a16:creationId xmlns:a16="http://schemas.microsoft.com/office/drawing/2014/main" id="{CE843FB7-2299-1A67-992F-3F9FD848CBEF}"/>
              </a:ext>
            </a:extLst>
          </p:cNvPr>
          <p:cNvSpPr/>
          <p:nvPr/>
        </p:nvSpPr>
        <p:spPr>
          <a:xfrm>
            <a:off x="8809360" y="60007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$1,560</a:t>
            </a:r>
            <a:endParaRPr lang="en-US" sz="1725" dirty="0"/>
          </a:p>
        </p:txBody>
      </p:sp>
      <p:sp>
        <p:nvSpPr>
          <p:cNvPr id="60" name="Shape 35">
            <a:extLst>
              <a:ext uri="{FF2B5EF4-FFF2-40B4-BE49-F238E27FC236}">
                <a16:creationId xmlns:a16="http://schemas.microsoft.com/office/drawing/2014/main" id="{7E6FC44C-0BF2-DCEC-7752-C3C7F71865BB}"/>
              </a:ext>
            </a:extLst>
          </p:cNvPr>
          <p:cNvSpPr/>
          <p:nvPr/>
        </p:nvSpPr>
        <p:spPr>
          <a:xfrm>
            <a:off x="952500" y="6334125"/>
            <a:ext cx="9298186" cy="19050"/>
          </a:xfrm>
          <a:prstGeom prst="rect">
            <a:avLst/>
          </a:prstGeom>
          <a:solidFill>
            <a:srgbClr val="DEE0DA"/>
          </a:solidFill>
          <a:ln/>
        </p:spPr>
        <p:txBody>
          <a:bodyPr/>
          <a:lstStyle/>
          <a:p>
            <a:endParaRPr lang="en-US"/>
          </a:p>
        </p:txBody>
      </p:sp>
      <p:sp>
        <p:nvSpPr>
          <p:cNvPr id="61" name="Text 36">
            <a:extLst>
              <a:ext uri="{FF2B5EF4-FFF2-40B4-BE49-F238E27FC236}">
                <a16:creationId xmlns:a16="http://schemas.microsoft.com/office/drawing/2014/main" id="{BC1E8590-2C5B-0894-AD94-A54192600861}"/>
              </a:ext>
            </a:extLst>
          </p:cNvPr>
          <p:cNvSpPr/>
          <p:nvPr/>
        </p:nvSpPr>
        <p:spPr>
          <a:xfrm>
            <a:off x="990600" y="64198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BOH hourly (cook)</a:t>
            </a:r>
            <a:endParaRPr lang="en-US" sz="1725" dirty="0"/>
          </a:p>
        </p:txBody>
      </p:sp>
      <p:sp>
        <p:nvSpPr>
          <p:cNvPr id="62" name="Text 37">
            <a:extLst>
              <a:ext uri="{FF2B5EF4-FFF2-40B4-BE49-F238E27FC236}">
                <a16:creationId xmlns:a16="http://schemas.microsoft.com/office/drawing/2014/main" id="{FD03C78D-4248-2F87-B32E-A043B6B159C8}"/>
              </a:ext>
            </a:extLst>
          </p:cNvPr>
          <p:cNvSpPr/>
          <p:nvPr/>
        </p:nvSpPr>
        <p:spPr>
          <a:xfrm>
            <a:off x="4839322" y="64198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$296</a:t>
            </a:r>
            <a:endParaRPr lang="en-US" sz="1725" dirty="0"/>
          </a:p>
        </p:txBody>
      </p:sp>
      <p:sp>
        <p:nvSpPr>
          <p:cNvPr id="63" name="Text 38">
            <a:extLst>
              <a:ext uri="{FF2B5EF4-FFF2-40B4-BE49-F238E27FC236}">
                <a16:creationId xmlns:a16="http://schemas.microsoft.com/office/drawing/2014/main" id="{1A717E3A-B98D-51EE-BD7D-3A95159091EE}"/>
              </a:ext>
            </a:extLst>
          </p:cNvPr>
          <p:cNvSpPr/>
          <p:nvPr/>
        </p:nvSpPr>
        <p:spPr>
          <a:xfrm>
            <a:off x="8809360" y="64198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$296</a:t>
            </a:r>
            <a:endParaRPr lang="en-US" sz="1725" dirty="0"/>
          </a:p>
        </p:txBody>
      </p:sp>
      <p:sp>
        <p:nvSpPr>
          <p:cNvPr id="64" name="Shape 39">
            <a:extLst>
              <a:ext uri="{FF2B5EF4-FFF2-40B4-BE49-F238E27FC236}">
                <a16:creationId xmlns:a16="http://schemas.microsoft.com/office/drawing/2014/main" id="{45056DC8-1FD2-94C9-7EBA-41FB2C10186E}"/>
              </a:ext>
            </a:extLst>
          </p:cNvPr>
          <p:cNvSpPr/>
          <p:nvPr/>
        </p:nvSpPr>
        <p:spPr>
          <a:xfrm>
            <a:off x="952500" y="6753225"/>
            <a:ext cx="9298186" cy="19050"/>
          </a:xfrm>
          <a:prstGeom prst="rect">
            <a:avLst/>
          </a:prstGeom>
          <a:solidFill>
            <a:srgbClr val="DEE0DA"/>
          </a:solidFill>
          <a:ln/>
        </p:spPr>
        <p:txBody>
          <a:bodyPr/>
          <a:lstStyle/>
          <a:p>
            <a:endParaRPr lang="en-US"/>
          </a:p>
        </p:txBody>
      </p:sp>
      <p:sp>
        <p:nvSpPr>
          <p:cNvPr id="65" name="Text 40">
            <a:extLst>
              <a:ext uri="{FF2B5EF4-FFF2-40B4-BE49-F238E27FC236}">
                <a16:creationId xmlns:a16="http://schemas.microsoft.com/office/drawing/2014/main" id="{3C609C15-F7E2-364E-EAB0-51E6459FE648}"/>
              </a:ext>
            </a:extLst>
          </p:cNvPr>
          <p:cNvSpPr/>
          <p:nvPr/>
        </p:nvSpPr>
        <p:spPr>
          <a:xfrm>
            <a:off x="952500" y="6838950"/>
            <a:ext cx="4084338" cy="323850"/>
          </a:xfrm>
          <a:prstGeom prst="rect">
            <a:avLst/>
          </a:prstGeom>
          <a:noFill/>
          <a:ln/>
        </p:spPr>
        <p:txBody>
          <a:bodyPr wrap="square" lIns="25400" tIns="25400" rIns="25400" bIns="25400" rtlCol="0" anchor="ctr">
            <a:normAutofit/>
          </a:bodyPr>
          <a:lstStyle/>
          <a:p>
            <a:pPr marL="0" indent="0" algn="l">
              <a:buNone/>
            </a:pPr>
            <a:r>
              <a:rPr lang="en-US" sz="1725" b="1" dirty="0">
                <a:solidFill>
                  <a:srgbClr val="22424B"/>
                </a:solidFill>
                <a:latin typeface="Arial" pitchFamily="34" charset="0"/>
                <a:ea typeface="Arial" pitchFamily="34" charset="-122"/>
                <a:cs typeface="Arial" pitchFamily="34" charset="-120"/>
              </a:rPr>
              <a:t>Hourly labor subtotal</a:t>
            </a:r>
            <a:endParaRPr lang="en-US" sz="1725" dirty="0"/>
          </a:p>
        </p:txBody>
      </p:sp>
      <p:sp>
        <p:nvSpPr>
          <p:cNvPr id="66" name="Text 41">
            <a:extLst>
              <a:ext uri="{FF2B5EF4-FFF2-40B4-BE49-F238E27FC236}">
                <a16:creationId xmlns:a16="http://schemas.microsoft.com/office/drawing/2014/main" id="{8E47CF2A-52AF-2015-9C0E-61631BEE44D6}"/>
              </a:ext>
            </a:extLst>
          </p:cNvPr>
          <p:cNvSpPr/>
          <p:nvPr/>
        </p:nvSpPr>
        <p:spPr>
          <a:xfrm>
            <a:off x="4839322" y="6838950"/>
            <a:ext cx="2697036" cy="3238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$2,503</a:t>
            </a:r>
            <a:endParaRPr lang="en-US" sz="1725" dirty="0"/>
          </a:p>
        </p:txBody>
      </p:sp>
      <p:sp>
        <p:nvSpPr>
          <p:cNvPr id="67" name="Text 42">
            <a:extLst>
              <a:ext uri="{FF2B5EF4-FFF2-40B4-BE49-F238E27FC236}">
                <a16:creationId xmlns:a16="http://schemas.microsoft.com/office/drawing/2014/main" id="{377BB319-EFFC-ED9F-4FD7-F350E9F5993D}"/>
              </a:ext>
            </a:extLst>
          </p:cNvPr>
          <p:cNvSpPr/>
          <p:nvPr/>
        </p:nvSpPr>
        <p:spPr>
          <a:xfrm>
            <a:off x="8809360" y="6838950"/>
            <a:ext cx="1314450" cy="3238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$1,856</a:t>
            </a:r>
            <a:endParaRPr lang="en-US" sz="1725" dirty="0"/>
          </a:p>
        </p:txBody>
      </p:sp>
      <p:sp>
        <p:nvSpPr>
          <p:cNvPr id="68" name="Text 43">
            <a:extLst>
              <a:ext uri="{FF2B5EF4-FFF2-40B4-BE49-F238E27FC236}">
                <a16:creationId xmlns:a16="http://schemas.microsoft.com/office/drawing/2014/main" id="{A8CC4ADA-1AF5-0A37-5414-86048C695053}"/>
              </a:ext>
            </a:extLst>
          </p:cNvPr>
          <p:cNvSpPr/>
          <p:nvPr/>
        </p:nvSpPr>
        <p:spPr>
          <a:xfrm>
            <a:off x="10047610" y="6838950"/>
            <a:ext cx="1552873" cy="323850"/>
          </a:xfrm>
          <a:prstGeom prst="rect">
            <a:avLst/>
          </a:prstGeom>
          <a:noFill/>
          <a:ln/>
        </p:spPr>
        <p:txBody>
          <a:bodyPr wrap="square" lIns="25400" tIns="25400" rIns="25400" bIns="25400" rtlCol="0" anchor="ctr">
            <a:normAutofit lnSpcReduction="10000"/>
          </a:bodyPr>
          <a:lstStyle/>
          <a:p>
            <a:pPr marL="0" indent="0" algn="r">
              <a:buNone/>
            </a:pPr>
            <a:r>
              <a:rPr lang="en-US" sz="1800" b="1" dirty="0">
                <a:solidFill>
                  <a:srgbClr val="2E6B50"/>
                </a:solidFill>
                <a:latin typeface="Georgia" pitchFamily="34" charset="0"/>
                <a:ea typeface="Georgia" pitchFamily="34" charset="-122"/>
                <a:cs typeface="Georgia" pitchFamily="34" charset="-120"/>
              </a:rPr>
              <a:t>−$647</a:t>
            </a:r>
            <a:endParaRPr lang="en-US" sz="1800" dirty="0"/>
          </a:p>
        </p:txBody>
      </p:sp>
      <p:sp>
        <p:nvSpPr>
          <p:cNvPr id="69" name="Shape 44">
            <a:extLst>
              <a:ext uri="{FF2B5EF4-FFF2-40B4-BE49-F238E27FC236}">
                <a16:creationId xmlns:a16="http://schemas.microsoft.com/office/drawing/2014/main" id="{4672E77B-7C95-BF00-2DB2-C4A7A8CFF6E8}"/>
              </a:ext>
            </a:extLst>
          </p:cNvPr>
          <p:cNvSpPr/>
          <p:nvPr/>
        </p:nvSpPr>
        <p:spPr>
          <a:xfrm>
            <a:off x="952500" y="7210425"/>
            <a:ext cx="9298186" cy="19050"/>
          </a:xfrm>
          <a:prstGeom prst="rect">
            <a:avLst/>
          </a:prstGeom>
          <a:solidFill>
            <a:srgbClr val="DEE0DA"/>
          </a:solidFill>
          <a:ln/>
        </p:spPr>
        <p:txBody>
          <a:bodyPr/>
          <a:lstStyle/>
          <a:p>
            <a:endParaRPr lang="en-US"/>
          </a:p>
        </p:txBody>
      </p:sp>
      <p:sp>
        <p:nvSpPr>
          <p:cNvPr id="70" name="Text 45">
            <a:extLst>
              <a:ext uri="{FF2B5EF4-FFF2-40B4-BE49-F238E27FC236}">
                <a16:creationId xmlns:a16="http://schemas.microsoft.com/office/drawing/2014/main" id="{347EDE03-FEBE-252F-9854-43743C3B1EA2}"/>
              </a:ext>
            </a:extLst>
          </p:cNvPr>
          <p:cNvSpPr/>
          <p:nvPr/>
        </p:nvSpPr>
        <p:spPr>
          <a:xfrm>
            <a:off x="990600" y="72961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Management labor</a:t>
            </a:r>
            <a:endParaRPr lang="en-US" sz="1725" dirty="0"/>
          </a:p>
        </p:txBody>
      </p:sp>
      <p:sp>
        <p:nvSpPr>
          <p:cNvPr id="71" name="Text 46">
            <a:extLst>
              <a:ext uri="{FF2B5EF4-FFF2-40B4-BE49-F238E27FC236}">
                <a16:creationId xmlns:a16="http://schemas.microsoft.com/office/drawing/2014/main" id="{79A17114-128A-862E-1268-95BC26413239}"/>
              </a:ext>
            </a:extLst>
          </p:cNvPr>
          <p:cNvSpPr/>
          <p:nvPr/>
        </p:nvSpPr>
        <p:spPr>
          <a:xfrm>
            <a:off x="4839322" y="72961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$248</a:t>
            </a:r>
            <a:endParaRPr lang="en-US" sz="1725" dirty="0"/>
          </a:p>
        </p:txBody>
      </p:sp>
      <p:sp>
        <p:nvSpPr>
          <p:cNvPr id="72" name="Text 47">
            <a:extLst>
              <a:ext uri="{FF2B5EF4-FFF2-40B4-BE49-F238E27FC236}">
                <a16:creationId xmlns:a16="http://schemas.microsoft.com/office/drawing/2014/main" id="{0D4AF447-24AA-7CB2-7F82-DCD91676007F}"/>
              </a:ext>
            </a:extLst>
          </p:cNvPr>
          <p:cNvSpPr/>
          <p:nvPr/>
        </p:nvSpPr>
        <p:spPr>
          <a:xfrm>
            <a:off x="8809360" y="72961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$248</a:t>
            </a:r>
            <a:endParaRPr lang="en-US" sz="1725" dirty="0"/>
          </a:p>
        </p:txBody>
      </p:sp>
      <p:sp>
        <p:nvSpPr>
          <p:cNvPr id="73" name="Shape 48">
            <a:extLst>
              <a:ext uri="{FF2B5EF4-FFF2-40B4-BE49-F238E27FC236}">
                <a16:creationId xmlns:a16="http://schemas.microsoft.com/office/drawing/2014/main" id="{19A3A70D-1C88-6B25-8248-E9ED158EBF69}"/>
              </a:ext>
            </a:extLst>
          </p:cNvPr>
          <p:cNvSpPr/>
          <p:nvPr/>
        </p:nvSpPr>
        <p:spPr>
          <a:xfrm>
            <a:off x="952500" y="7629525"/>
            <a:ext cx="9298186" cy="19050"/>
          </a:xfrm>
          <a:prstGeom prst="rect">
            <a:avLst/>
          </a:prstGeom>
          <a:solidFill>
            <a:srgbClr val="DEE0DA"/>
          </a:solidFill>
          <a:ln/>
        </p:spPr>
        <p:txBody>
          <a:bodyPr/>
          <a:lstStyle/>
          <a:p>
            <a:endParaRPr lang="en-US"/>
          </a:p>
        </p:txBody>
      </p:sp>
      <p:sp>
        <p:nvSpPr>
          <p:cNvPr id="74" name="Text 49">
            <a:extLst>
              <a:ext uri="{FF2B5EF4-FFF2-40B4-BE49-F238E27FC236}">
                <a16:creationId xmlns:a16="http://schemas.microsoft.com/office/drawing/2014/main" id="{4775D588-FB82-D1CB-5287-D160BE378FC1}"/>
              </a:ext>
            </a:extLst>
          </p:cNvPr>
          <p:cNvSpPr/>
          <p:nvPr/>
        </p:nvSpPr>
        <p:spPr>
          <a:xfrm>
            <a:off x="990600" y="77152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Payroll taxes &amp; benefits (16%)</a:t>
            </a:r>
            <a:endParaRPr lang="en-US" sz="1725" dirty="0"/>
          </a:p>
        </p:txBody>
      </p:sp>
      <p:sp>
        <p:nvSpPr>
          <p:cNvPr id="75" name="Text 50">
            <a:extLst>
              <a:ext uri="{FF2B5EF4-FFF2-40B4-BE49-F238E27FC236}">
                <a16:creationId xmlns:a16="http://schemas.microsoft.com/office/drawing/2014/main" id="{03DB701E-3CA1-FC6B-0D25-E6F0946D6DFC}"/>
              </a:ext>
            </a:extLst>
          </p:cNvPr>
          <p:cNvSpPr/>
          <p:nvPr/>
        </p:nvSpPr>
        <p:spPr>
          <a:xfrm>
            <a:off x="4839322" y="77152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$440</a:t>
            </a:r>
            <a:endParaRPr lang="en-US" sz="1725" dirty="0"/>
          </a:p>
        </p:txBody>
      </p:sp>
      <p:sp>
        <p:nvSpPr>
          <p:cNvPr id="76" name="Text 51">
            <a:extLst>
              <a:ext uri="{FF2B5EF4-FFF2-40B4-BE49-F238E27FC236}">
                <a16:creationId xmlns:a16="http://schemas.microsoft.com/office/drawing/2014/main" id="{574B1A15-6E08-B2EE-5AC0-8E362421AF8A}"/>
              </a:ext>
            </a:extLst>
          </p:cNvPr>
          <p:cNvSpPr/>
          <p:nvPr/>
        </p:nvSpPr>
        <p:spPr>
          <a:xfrm>
            <a:off x="8809360" y="77152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$337</a:t>
            </a:r>
            <a:endParaRPr lang="en-US" sz="1725" dirty="0"/>
          </a:p>
        </p:txBody>
      </p:sp>
      <p:sp>
        <p:nvSpPr>
          <p:cNvPr id="77" name="Shape 52">
            <a:extLst>
              <a:ext uri="{FF2B5EF4-FFF2-40B4-BE49-F238E27FC236}">
                <a16:creationId xmlns:a16="http://schemas.microsoft.com/office/drawing/2014/main" id="{D479713B-CBDE-52FC-4D91-13E4AA038AE2}"/>
              </a:ext>
            </a:extLst>
          </p:cNvPr>
          <p:cNvSpPr/>
          <p:nvPr/>
        </p:nvSpPr>
        <p:spPr>
          <a:xfrm>
            <a:off x="952500" y="8048625"/>
            <a:ext cx="9298186" cy="485775"/>
          </a:xfrm>
          <a:prstGeom prst="rect">
            <a:avLst/>
          </a:prstGeom>
          <a:solidFill>
            <a:srgbClr val="EAECE6"/>
          </a:solidFill>
          <a:ln/>
        </p:spPr>
        <p:txBody>
          <a:bodyPr/>
          <a:lstStyle/>
          <a:p>
            <a:endParaRPr lang="en-US"/>
          </a:p>
        </p:txBody>
      </p:sp>
      <p:sp>
        <p:nvSpPr>
          <p:cNvPr id="78" name="Shape 53">
            <a:extLst>
              <a:ext uri="{FF2B5EF4-FFF2-40B4-BE49-F238E27FC236}">
                <a16:creationId xmlns:a16="http://schemas.microsoft.com/office/drawing/2014/main" id="{2A7DFACF-B9D0-D88E-2FAE-031FF4D9B3E7}"/>
              </a:ext>
            </a:extLst>
          </p:cNvPr>
          <p:cNvSpPr/>
          <p:nvPr/>
        </p:nvSpPr>
        <p:spPr>
          <a:xfrm>
            <a:off x="952500" y="8048625"/>
            <a:ext cx="9298186" cy="19050"/>
          </a:xfrm>
          <a:prstGeom prst="rect">
            <a:avLst/>
          </a:prstGeom>
          <a:solidFill>
            <a:srgbClr val="C6C9C3"/>
          </a:solidFill>
          <a:ln/>
        </p:spPr>
        <p:txBody>
          <a:bodyPr/>
          <a:lstStyle/>
          <a:p>
            <a:endParaRPr lang="en-US"/>
          </a:p>
        </p:txBody>
      </p:sp>
      <p:sp>
        <p:nvSpPr>
          <p:cNvPr id="79" name="Text 54">
            <a:extLst>
              <a:ext uri="{FF2B5EF4-FFF2-40B4-BE49-F238E27FC236}">
                <a16:creationId xmlns:a16="http://schemas.microsoft.com/office/drawing/2014/main" id="{E8D8FFB5-2E8D-B9AD-6E64-52A70A6F6E0D}"/>
              </a:ext>
            </a:extLst>
          </p:cNvPr>
          <p:cNvSpPr/>
          <p:nvPr/>
        </p:nvSpPr>
        <p:spPr>
          <a:xfrm>
            <a:off x="1028700" y="8153400"/>
            <a:ext cx="3931938" cy="314325"/>
          </a:xfrm>
          <a:prstGeom prst="rect">
            <a:avLst/>
          </a:prstGeom>
          <a:noFill/>
          <a:ln/>
        </p:spPr>
        <p:txBody>
          <a:bodyPr wrap="square" lIns="25400" tIns="25400" rIns="25400" bIns="25400" rtlCol="0" anchor="ctr">
            <a:normAutofit/>
          </a:bodyPr>
          <a:lstStyle/>
          <a:p>
            <a:pPr marL="0" indent="0" algn="l">
              <a:buNone/>
            </a:pPr>
            <a:r>
              <a:rPr lang="en-US" sz="1725" b="1" dirty="0">
                <a:solidFill>
                  <a:srgbClr val="22424B"/>
                </a:solidFill>
                <a:latin typeface="Arial" pitchFamily="34" charset="0"/>
                <a:ea typeface="Arial" pitchFamily="34" charset="-122"/>
                <a:cs typeface="Arial" pitchFamily="34" charset="-120"/>
              </a:rPr>
              <a:t>Total loaded labor / week</a:t>
            </a:r>
            <a:endParaRPr lang="en-US" sz="1725" dirty="0"/>
          </a:p>
        </p:txBody>
      </p:sp>
      <p:sp>
        <p:nvSpPr>
          <p:cNvPr id="80" name="Text 55">
            <a:extLst>
              <a:ext uri="{FF2B5EF4-FFF2-40B4-BE49-F238E27FC236}">
                <a16:creationId xmlns:a16="http://schemas.microsoft.com/office/drawing/2014/main" id="{8B117E00-1ECB-1987-6BD6-05DCC846825E}"/>
              </a:ext>
            </a:extLst>
          </p:cNvPr>
          <p:cNvSpPr/>
          <p:nvPr/>
        </p:nvSpPr>
        <p:spPr>
          <a:xfrm>
            <a:off x="4915522" y="8153400"/>
            <a:ext cx="2544636"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$3,191</a:t>
            </a:r>
            <a:endParaRPr lang="en-US" sz="1725" dirty="0"/>
          </a:p>
        </p:txBody>
      </p:sp>
      <p:sp>
        <p:nvSpPr>
          <p:cNvPr id="81" name="Text 56">
            <a:extLst>
              <a:ext uri="{FF2B5EF4-FFF2-40B4-BE49-F238E27FC236}">
                <a16:creationId xmlns:a16="http://schemas.microsoft.com/office/drawing/2014/main" id="{0D2EAB14-1BFF-4489-123A-2025B3D18B41}"/>
              </a:ext>
            </a:extLst>
          </p:cNvPr>
          <p:cNvSpPr/>
          <p:nvPr/>
        </p:nvSpPr>
        <p:spPr>
          <a:xfrm>
            <a:off x="8885560" y="8153400"/>
            <a:ext cx="1162050"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$2,441</a:t>
            </a:r>
            <a:endParaRPr lang="en-US" sz="1725" dirty="0"/>
          </a:p>
        </p:txBody>
      </p:sp>
      <p:sp>
        <p:nvSpPr>
          <p:cNvPr id="82" name="Text 57">
            <a:extLst>
              <a:ext uri="{FF2B5EF4-FFF2-40B4-BE49-F238E27FC236}">
                <a16:creationId xmlns:a16="http://schemas.microsoft.com/office/drawing/2014/main" id="{AF18F7E4-14DE-2808-232E-1CA53F4DA36C}"/>
              </a:ext>
            </a:extLst>
          </p:cNvPr>
          <p:cNvSpPr/>
          <p:nvPr/>
        </p:nvSpPr>
        <p:spPr>
          <a:xfrm>
            <a:off x="10123810" y="8153400"/>
            <a:ext cx="1400473" cy="314325"/>
          </a:xfrm>
          <a:prstGeom prst="rect">
            <a:avLst/>
          </a:prstGeom>
          <a:noFill/>
          <a:ln/>
        </p:spPr>
        <p:txBody>
          <a:bodyPr wrap="square" lIns="25400" tIns="25400" rIns="25400" bIns="25400" rtlCol="0" anchor="ctr">
            <a:normAutofit lnSpcReduction="10000"/>
          </a:bodyPr>
          <a:lstStyle/>
          <a:p>
            <a:pPr marL="0" indent="0" algn="r">
              <a:buNone/>
            </a:pPr>
            <a:r>
              <a:rPr lang="en-US" sz="1800" b="1" dirty="0">
                <a:solidFill>
                  <a:srgbClr val="2E6B50"/>
                </a:solidFill>
                <a:latin typeface="Georgia" pitchFamily="34" charset="0"/>
                <a:ea typeface="Georgia" pitchFamily="34" charset="-122"/>
                <a:cs typeface="Georgia" pitchFamily="34" charset="-120"/>
              </a:rPr>
              <a:t>−$750</a:t>
            </a:r>
            <a:endParaRPr lang="en-US" sz="1800" dirty="0"/>
          </a:p>
        </p:txBody>
      </p:sp>
      <p:sp>
        <p:nvSpPr>
          <p:cNvPr id="83" name="Text 3">
            <a:extLst>
              <a:ext uri="{FF2B5EF4-FFF2-40B4-BE49-F238E27FC236}">
                <a16:creationId xmlns:a16="http://schemas.microsoft.com/office/drawing/2014/main" id="{34C8EDA3-FE1B-1121-C909-3870176AF6F4}"/>
              </a:ext>
            </a:extLst>
          </p:cNvPr>
          <p:cNvSpPr/>
          <p:nvPr/>
        </p:nvSpPr>
        <p:spPr>
          <a:xfrm>
            <a:off x="4839322" y="2452688"/>
            <a:ext cx="2697036" cy="228600"/>
          </a:xfrm>
          <a:prstGeom prst="rect">
            <a:avLst/>
          </a:prstGeom>
          <a:noFill/>
          <a:ln/>
        </p:spPr>
        <p:txBody>
          <a:bodyPr wrap="square" lIns="25400" tIns="25400" rIns="25400" bIns="25400" rtlCol="0" anchor="ctr">
            <a:normAutofit fontScale="92500" lnSpcReduction="10000"/>
          </a:bodyPr>
          <a:lstStyle/>
          <a:p>
            <a:pPr marL="0" indent="0" algn="r">
              <a:buNone/>
            </a:pPr>
            <a:r>
              <a:rPr lang="en-US" sz="1350" b="1" kern="0" spc="75" dirty="0">
                <a:solidFill>
                  <a:srgbClr val="93999B"/>
                </a:solidFill>
                <a:latin typeface="Arial" pitchFamily="34" charset="0"/>
                <a:ea typeface="Arial" pitchFamily="34" charset="-122"/>
                <a:cs typeface="Arial" pitchFamily="34" charset="-120"/>
              </a:rPr>
              <a:t>CURRENT (ACTUAL WK)</a:t>
            </a:r>
            <a:endParaRPr lang="en-US" sz="1350" dirty="0"/>
          </a:p>
        </p:txBody>
      </p:sp>
      <p:sp>
        <p:nvSpPr>
          <p:cNvPr id="84" name="Text 4">
            <a:extLst>
              <a:ext uri="{FF2B5EF4-FFF2-40B4-BE49-F238E27FC236}">
                <a16:creationId xmlns:a16="http://schemas.microsoft.com/office/drawing/2014/main" id="{8726287D-E9F3-4BEE-98B4-1353A1C1E4C5}"/>
              </a:ext>
            </a:extLst>
          </p:cNvPr>
          <p:cNvSpPr/>
          <p:nvPr/>
        </p:nvSpPr>
        <p:spPr>
          <a:xfrm>
            <a:off x="8809360" y="2452688"/>
            <a:ext cx="1314450" cy="228600"/>
          </a:xfrm>
          <a:prstGeom prst="rect">
            <a:avLst/>
          </a:prstGeom>
          <a:noFill/>
          <a:ln/>
        </p:spPr>
        <p:txBody>
          <a:bodyPr wrap="square" lIns="25400" tIns="25400" rIns="25400" bIns="25400" rtlCol="0" anchor="ctr">
            <a:normAutofit fontScale="92500" lnSpcReduction="10000"/>
          </a:bodyPr>
          <a:lstStyle/>
          <a:p>
            <a:pPr marL="0" indent="0" algn="r">
              <a:buNone/>
            </a:pPr>
            <a:r>
              <a:rPr lang="en-US" sz="1350" b="1" kern="0" spc="75" dirty="0">
                <a:solidFill>
                  <a:srgbClr val="93999B"/>
                </a:solidFill>
                <a:latin typeface="Arial" pitchFamily="34" charset="0"/>
                <a:ea typeface="Arial" pitchFamily="34" charset="-122"/>
                <a:cs typeface="Arial" pitchFamily="34" charset="-120"/>
              </a:rPr>
              <a:t>PROPOSED</a:t>
            </a:r>
            <a:endParaRPr lang="en-US" sz="1350" dirty="0"/>
          </a:p>
        </p:txBody>
      </p:sp>
      <p:sp>
        <p:nvSpPr>
          <p:cNvPr id="85" name="Shape 23">
            <a:extLst>
              <a:ext uri="{FF2B5EF4-FFF2-40B4-BE49-F238E27FC236}">
                <a16:creationId xmlns:a16="http://schemas.microsoft.com/office/drawing/2014/main" id="{71C3B286-7092-8EDC-8B98-F715A0FF2EAC}"/>
              </a:ext>
            </a:extLst>
          </p:cNvPr>
          <p:cNvSpPr/>
          <p:nvPr/>
        </p:nvSpPr>
        <p:spPr>
          <a:xfrm flipH="1">
            <a:off x="12217096" y="1847850"/>
            <a:ext cx="60068" cy="7258049"/>
          </a:xfrm>
          <a:prstGeom prst="rect">
            <a:avLst/>
          </a:prstGeom>
          <a:solidFill>
            <a:srgbClr val="D2D3CD"/>
          </a:solidFill>
          <a:ln/>
        </p:spPr>
        <p:txBody>
          <a:bodyPr/>
          <a:lstStyle/>
          <a:p>
            <a:endParaRPr lang="en-US"/>
          </a:p>
        </p:txBody>
      </p:sp>
      <p:sp>
        <p:nvSpPr>
          <p:cNvPr id="86" name="Text 9">
            <a:extLst>
              <a:ext uri="{FF2B5EF4-FFF2-40B4-BE49-F238E27FC236}">
                <a16:creationId xmlns:a16="http://schemas.microsoft.com/office/drawing/2014/main" id="{61771A62-073D-86AB-28C8-8EEB8D8B691C}"/>
              </a:ext>
            </a:extLst>
          </p:cNvPr>
          <p:cNvSpPr/>
          <p:nvPr/>
        </p:nvSpPr>
        <p:spPr>
          <a:xfrm>
            <a:off x="13393469" y="3568976"/>
            <a:ext cx="3204879" cy="815837"/>
          </a:xfrm>
          <a:prstGeom prst="rect">
            <a:avLst/>
          </a:prstGeom>
          <a:noFill/>
          <a:ln/>
        </p:spPr>
        <p:txBody>
          <a:bodyPr wrap="square" lIns="25400" tIns="25400" rIns="25400" bIns="25400" rtlCol="0" anchor="t">
            <a:noAutofit/>
          </a:bodyPr>
          <a:lstStyle/>
          <a:p>
            <a:pPr marL="0" indent="0" algn="l">
              <a:lnSpc>
                <a:spcPct val="100000"/>
              </a:lnSpc>
              <a:buNone/>
            </a:pPr>
            <a:r>
              <a:rPr lang="en-US" sz="6000" kern="0" spc="-150" dirty="0">
                <a:solidFill>
                  <a:srgbClr val="1E7E8C"/>
                </a:solidFill>
                <a:latin typeface="Georgia" pitchFamily="34" charset="0"/>
                <a:ea typeface="Georgia" pitchFamily="34" charset="-122"/>
                <a:cs typeface="Georgia" pitchFamily="34" charset="-120"/>
              </a:rPr>
              <a:t>~$39.0k</a:t>
            </a:r>
            <a:endParaRPr lang="en-US" sz="6000" dirty="0">
              <a:solidFill>
                <a:srgbClr val="1E7E8C"/>
              </a:solidFill>
            </a:endParaRPr>
          </a:p>
        </p:txBody>
      </p:sp>
      <p:sp>
        <p:nvSpPr>
          <p:cNvPr id="87" name="Text 12">
            <a:extLst>
              <a:ext uri="{FF2B5EF4-FFF2-40B4-BE49-F238E27FC236}">
                <a16:creationId xmlns:a16="http://schemas.microsoft.com/office/drawing/2014/main" id="{C43E9CD0-2F04-5E2E-2189-A2BF965189F4}"/>
              </a:ext>
            </a:extLst>
          </p:cNvPr>
          <p:cNvSpPr/>
          <p:nvPr/>
        </p:nvSpPr>
        <p:spPr>
          <a:xfrm>
            <a:off x="13393469" y="4667250"/>
            <a:ext cx="7208520" cy="304800"/>
          </a:xfrm>
          <a:prstGeom prst="rect">
            <a:avLst/>
          </a:prstGeom>
          <a:noFill/>
          <a:ln/>
        </p:spPr>
        <p:txBody>
          <a:bodyPr wrap="square" lIns="25400" tIns="25400" rIns="25400" bIns="25400" rtlCol="0" anchor="t">
            <a:normAutofit fontScale="92500" lnSpcReduction="20000"/>
          </a:bodyPr>
          <a:lstStyle/>
          <a:p>
            <a:pPr marL="0" indent="0" algn="l">
              <a:buNone/>
            </a:pPr>
            <a:r>
              <a:rPr lang="en-US" sz="2000" dirty="0">
                <a:solidFill>
                  <a:srgbClr val="1E7E8C"/>
                </a:solidFill>
                <a:latin typeface="Arial" pitchFamily="34" charset="0"/>
                <a:ea typeface="Arial" pitchFamily="34" charset="-122"/>
                <a:cs typeface="Arial" pitchFamily="34" charset="-120"/>
              </a:rPr>
              <a:t>Loaded labor / year</a:t>
            </a:r>
            <a:endParaRPr lang="en-US" sz="2000" dirty="0">
              <a:solidFill>
                <a:srgbClr val="1E7E8C"/>
              </a:solidFill>
            </a:endParaRPr>
          </a:p>
        </p:txBody>
      </p:sp>
      <p:sp>
        <p:nvSpPr>
          <p:cNvPr id="88" name="Text 29">
            <a:extLst>
              <a:ext uri="{FF2B5EF4-FFF2-40B4-BE49-F238E27FC236}">
                <a16:creationId xmlns:a16="http://schemas.microsoft.com/office/drawing/2014/main" id="{7E722185-9BCE-F203-D51C-5841D1055FAF}"/>
              </a:ext>
            </a:extLst>
          </p:cNvPr>
          <p:cNvSpPr/>
          <p:nvPr/>
        </p:nvSpPr>
        <p:spPr>
          <a:xfrm>
            <a:off x="13313008" y="5254487"/>
            <a:ext cx="3644894" cy="3768199"/>
          </a:xfrm>
          <a:prstGeom prst="rect">
            <a:avLst/>
          </a:prstGeom>
          <a:noFill/>
          <a:ln/>
        </p:spPr>
        <p:txBody>
          <a:bodyPr wrap="square" lIns="25400" tIns="25400" rIns="25400" bIns="25400" rtlCol="0" anchor="t">
            <a:normAutofit/>
          </a:bodyPr>
          <a:lstStyle/>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Eliminate duplicate opening and closing FOH shifts</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Maintain kitchen support for specialty menu items and prep</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Improve labor efficiency while preserving guest experience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02 | PRICING ADJUSTMENTS</a:t>
            </a:r>
            <a:endParaRPr lang="en-US" sz="1650" spc="300" dirty="0"/>
          </a:p>
        </p:txBody>
      </p:sp>
      <p:sp>
        <p:nvSpPr>
          <p:cNvPr id="3" name="Text 1"/>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rgbClr val="22424B"/>
                </a:solidFill>
                <a:latin typeface="Georgia" pitchFamily="34" charset="0"/>
              </a:rPr>
              <a:t>Reprice top sellers &amp; lean into premium</a:t>
            </a:r>
            <a:endParaRPr lang="en-US" sz="4200" dirty="0"/>
          </a:p>
        </p:txBody>
      </p:sp>
      <p:sp>
        <p:nvSpPr>
          <p:cNvPr id="6" name="Text 4"/>
          <p:cNvSpPr/>
          <p:nvPr/>
        </p:nvSpPr>
        <p:spPr>
          <a:xfrm>
            <a:off x="952500" y="1924050"/>
            <a:ext cx="3694667" cy="238125"/>
          </a:xfrm>
          <a:prstGeom prst="rect">
            <a:avLst/>
          </a:prstGeom>
          <a:noFill/>
          <a:ln/>
        </p:spPr>
        <p:txBody>
          <a:bodyPr wrap="square" lIns="25400" tIns="25400" rIns="25400" bIns="25400" rtlCol="0" anchor="ctr">
            <a:normAutofit lnSpcReduction="10000"/>
          </a:bodyPr>
          <a:lstStyle/>
          <a:p>
            <a:pPr marL="0" indent="0" algn="l">
              <a:buNone/>
            </a:pPr>
            <a:r>
              <a:rPr lang="en-US" sz="1350" b="1" kern="0" spc="90" dirty="0">
                <a:solidFill>
                  <a:srgbClr val="93999B"/>
                </a:solidFill>
                <a:latin typeface="Arial" pitchFamily="34" charset="0"/>
                <a:ea typeface="Arial" pitchFamily="34" charset="-122"/>
                <a:cs typeface="Arial" pitchFamily="34" charset="-120"/>
              </a:rPr>
              <a:t>HIGH-VOLUME ITEM</a:t>
            </a:r>
            <a:endParaRPr lang="en-US" sz="1350" dirty="0"/>
          </a:p>
        </p:txBody>
      </p:sp>
      <p:sp>
        <p:nvSpPr>
          <p:cNvPr id="7" name="Text 5"/>
          <p:cNvSpPr/>
          <p:nvPr/>
        </p:nvSpPr>
        <p:spPr>
          <a:xfrm>
            <a:off x="3564195" y="1924050"/>
            <a:ext cx="2509838"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UNITS / 12MO</a:t>
            </a:r>
            <a:endParaRPr lang="en-US" sz="1350" dirty="0"/>
          </a:p>
        </p:txBody>
      </p:sp>
      <p:sp>
        <p:nvSpPr>
          <p:cNvPr id="8" name="Text 6"/>
          <p:cNvSpPr/>
          <p:nvPr/>
        </p:nvSpPr>
        <p:spPr>
          <a:xfrm>
            <a:off x="5994719" y="1924050"/>
            <a:ext cx="2723096"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CURRENT</a:t>
            </a:r>
            <a:endParaRPr lang="en-US" sz="1350" dirty="0"/>
          </a:p>
        </p:txBody>
      </p:sp>
      <p:sp>
        <p:nvSpPr>
          <p:cNvPr id="9" name="Text 7"/>
          <p:cNvSpPr/>
          <p:nvPr/>
        </p:nvSpPr>
        <p:spPr>
          <a:xfrm>
            <a:off x="8641616" y="1924050"/>
            <a:ext cx="1642170"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CHANGE</a:t>
            </a:r>
            <a:endParaRPr lang="en-US" sz="1350" dirty="0"/>
          </a:p>
        </p:txBody>
      </p:sp>
      <p:sp>
        <p:nvSpPr>
          <p:cNvPr id="10" name="Text 8"/>
          <p:cNvSpPr/>
          <p:nvPr/>
        </p:nvSpPr>
        <p:spPr>
          <a:xfrm>
            <a:off x="9804753" y="1924050"/>
            <a:ext cx="2149078"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NEW PRICE</a:t>
            </a:r>
            <a:endParaRPr lang="en-US" sz="1350" dirty="0"/>
          </a:p>
        </p:txBody>
      </p:sp>
      <p:sp>
        <p:nvSpPr>
          <p:cNvPr id="11" name="Text 9"/>
          <p:cNvSpPr/>
          <p:nvPr/>
        </p:nvSpPr>
        <p:spPr>
          <a:xfrm>
            <a:off x="11397764" y="1924050"/>
            <a:ext cx="4203293"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STARBUCKS</a:t>
            </a:r>
            <a:endParaRPr lang="en-US" sz="1350" dirty="0"/>
          </a:p>
        </p:txBody>
      </p:sp>
      <p:sp>
        <p:nvSpPr>
          <p:cNvPr id="12" name="Shape 10"/>
          <p:cNvSpPr/>
          <p:nvPr/>
        </p:nvSpPr>
        <p:spPr>
          <a:xfrm>
            <a:off x="952500" y="2228850"/>
            <a:ext cx="16383000" cy="19050"/>
          </a:xfrm>
          <a:prstGeom prst="rect">
            <a:avLst/>
          </a:prstGeom>
          <a:solidFill>
            <a:srgbClr val="DEE0DA"/>
          </a:solidFill>
          <a:ln/>
        </p:spPr>
        <p:txBody>
          <a:bodyPr/>
          <a:lstStyle/>
          <a:p>
            <a:endParaRPr lang="en-US"/>
          </a:p>
        </p:txBody>
      </p:sp>
      <p:sp>
        <p:nvSpPr>
          <p:cNvPr id="13" name="Text 11"/>
          <p:cNvSpPr/>
          <p:nvPr/>
        </p:nvSpPr>
        <p:spPr>
          <a:xfrm>
            <a:off x="952500" y="2333625"/>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Latte </a:t>
            </a:r>
            <a:r>
              <a:rPr lang="en-US" sz="1350" dirty="0">
                <a:solidFill>
                  <a:srgbClr val="93999B"/>
                </a:solidFill>
                <a:latin typeface="Arial" pitchFamily="34" charset="0"/>
                <a:ea typeface="Arial" pitchFamily="34" charset="-122"/>
                <a:cs typeface="Arial" pitchFamily="34" charset="-120"/>
              </a:rPr>
              <a:t>· top seller</a:t>
            </a:r>
            <a:endParaRPr lang="en-US" sz="1725" dirty="0"/>
          </a:p>
        </p:txBody>
      </p:sp>
      <p:sp>
        <p:nvSpPr>
          <p:cNvPr id="14" name="Text 12"/>
          <p:cNvSpPr/>
          <p:nvPr/>
        </p:nvSpPr>
        <p:spPr>
          <a:xfrm>
            <a:off x="3573720" y="2238375"/>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5,728</a:t>
            </a:r>
            <a:endParaRPr lang="en-US" sz="1725" dirty="0"/>
          </a:p>
        </p:txBody>
      </p:sp>
      <p:sp>
        <p:nvSpPr>
          <p:cNvPr id="15" name="Text 13"/>
          <p:cNvSpPr/>
          <p:nvPr/>
        </p:nvSpPr>
        <p:spPr>
          <a:xfrm>
            <a:off x="6004244" y="2238375"/>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$4.50</a:t>
            </a:r>
            <a:endParaRPr lang="en-US" sz="1725" dirty="0"/>
          </a:p>
        </p:txBody>
      </p:sp>
      <p:sp>
        <p:nvSpPr>
          <p:cNvPr id="16" name="Text 14"/>
          <p:cNvSpPr/>
          <p:nvPr/>
        </p:nvSpPr>
        <p:spPr>
          <a:xfrm>
            <a:off x="8651141" y="2238375"/>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17" name="Text 15"/>
          <p:cNvSpPr/>
          <p:nvPr/>
        </p:nvSpPr>
        <p:spPr>
          <a:xfrm>
            <a:off x="9814278" y="2238375"/>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cs typeface="Arial" pitchFamily="34" charset="-120"/>
              </a:rPr>
              <a:t>$5.00</a:t>
            </a:r>
            <a:endParaRPr lang="en-US" sz="1725" dirty="0"/>
          </a:p>
        </p:txBody>
      </p:sp>
      <p:sp>
        <p:nvSpPr>
          <p:cNvPr id="18" name="Text 16"/>
          <p:cNvSpPr/>
          <p:nvPr/>
        </p:nvSpPr>
        <p:spPr>
          <a:xfrm>
            <a:off x="11407289" y="22383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$5.45</a:t>
            </a:r>
            <a:endParaRPr lang="en-US" sz="1725" dirty="0"/>
          </a:p>
        </p:txBody>
      </p:sp>
      <p:sp>
        <p:nvSpPr>
          <p:cNvPr id="19" name="Shape 17"/>
          <p:cNvSpPr/>
          <p:nvPr/>
        </p:nvSpPr>
        <p:spPr>
          <a:xfrm>
            <a:off x="952500" y="2686050"/>
            <a:ext cx="16383000" cy="19050"/>
          </a:xfrm>
          <a:prstGeom prst="rect">
            <a:avLst/>
          </a:prstGeom>
          <a:solidFill>
            <a:srgbClr val="DEE0DA"/>
          </a:solidFill>
          <a:ln/>
        </p:spPr>
        <p:txBody>
          <a:bodyPr/>
          <a:lstStyle/>
          <a:p>
            <a:endParaRPr lang="en-US"/>
          </a:p>
        </p:txBody>
      </p:sp>
      <p:sp>
        <p:nvSpPr>
          <p:cNvPr id="20" name="Text 18"/>
          <p:cNvSpPr/>
          <p:nvPr/>
        </p:nvSpPr>
        <p:spPr>
          <a:xfrm>
            <a:off x="952500" y="2790825"/>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Drip coffee</a:t>
            </a:r>
            <a:endParaRPr lang="en-US" sz="1725" dirty="0"/>
          </a:p>
        </p:txBody>
      </p:sp>
      <p:sp>
        <p:nvSpPr>
          <p:cNvPr id="21" name="Text 19"/>
          <p:cNvSpPr/>
          <p:nvPr/>
        </p:nvSpPr>
        <p:spPr>
          <a:xfrm>
            <a:off x="3573720" y="2695575"/>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3,537</a:t>
            </a:r>
            <a:endParaRPr lang="en-US" sz="1725" dirty="0"/>
          </a:p>
        </p:txBody>
      </p:sp>
      <p:sp>
        <p:nvSpPr>
          <p:cNvPr id="22" name="Text 20"/>
          <p:cNvSpPr/>
          <p:nvPr/>
        </p:nvSpPr>
        <p:spPr>
          <a:xfrm>
            <a:off x="6004244" y="2695575"/>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$3.00</a:t>
            </a:r>
            <a:endParaRPr lang="en-US" sz="1725" dirty="0"/>
          </a:p>
        </p:txBody>
      </p:sp>
      <p:sp>
        <p:nvSpPr>
          <p:cNvPr id="23" name="Text 21"/>
          <p:cNvSpPr/>
          <p:nvPr/>
        </p:nvSpPr>
        <p:spPr>
          <a:xfrm>
            <a:off x="8651141" y="2695575"/>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24" name="Text 22"/>
          <p:cNvSpPr/>
          <p:nvPr/>
        </p:nvSpPr>
        <p:spPr>
          <a:xfrm>
            <a:off x="9814278" y="2695575"/>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$3.50</a:t>
            </a:r>
            <a:endParaRPr lang="en-US" sz="1725" dirty="0"/>
          </a:p>
        </p:txBody>
      </p:sp>
      <p:sp>
        <p:nvSpPr>
          <p:cNvPr id="25" name="Text 23"/>
          <p:cNvSpPr/>
          <p:nvPr/>
        </p:nvSpPr>
        <p:spPr>
          <a:xfrm>
            <a:off x="11407289" y="26955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$3.45</a:t>
            </a:r>
            <a:endParaRPr lang="en-US" sz="1725" dirty="0"/>
          </a:p>
        </p:txBody>
      </p:sp>
      <p:sp>
        <p:nvSpPr>
          <p:cNvPr id="26" name="Shape 24"/>
          <p:cNvSpPr/>
          <p:nvPr/>
        </p:nvSpPr>
        <p:spPr>
          <a:xfrm>
            <a:off x="952500" y="3143250"/>
            <a:ext cx="16383000" cy="19050"/>
          </a:xfrm>
          <a:prstGeom prst="rect">
            <a:avLst/>
          </a:prstGeom>
          <a:solidFill>
            <a:srgbClr val="DEE0DA"/>
          </a:solidFill>
          <a:ln/>
        </p:spPr>
        <p:txBody>
          <a:bodyPr/>
          <a:lstStyle/>
          <a:p>
            <a:endParaRPr lang="en-US"/>
          </a:p>
        </p:txBody>
      </p:sp>
      <p:sp>
        <p:nvSpPr>
          <p:cNvPr id="27" name="Text 25"/>
          <p:cNvSpPr/>
          <p:nvPr/>
        </p:nvSpPr>
        <p:spPr>
          <a:xfrm>
            <a:off x="952500" y="3248025"/>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Cold brew</a:t>
            </a:r>
            <a:endParaRPr lang="en-US" sz="1725" dirty="0"/>
          </a:p>
        </p:txBody>
      </p:sp>
      <p:sp>
        <p:nvSpPr>
          <p:cNvPr id="28" name="Text 26"/>
          <p:cNvSpPr/>
          <p:nvPr/>
        </p:nvSpPr>
        <p:spPr>
          <a:xfrm>
            <a:off x="3573720" y="3152775"/>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1,869</a:t>
            </a:r>
            <a:endParaRPr lang="en-US" sz="1725" dirty="0"/>
          </a:p>
        </p:txBody>
      </p:sp>
      <p:sp>
        <p:nvSpPr>
          <p:cNvPr id="29" name="Text 27"/>
          <p:cNvSpPr/>
          <p:nvPr/>
        </p:nvSpPr>
        <p:spPr>
          <a:xfrm>
            <a:off x="6004244" y="3152775"/>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$4.50</a:t>
            </a:r>
            <a:endParaRPr lang="en-US" sz="1725" dirty="0"/>
          </a:p>
        </p:txBody>
      </p:sp>
      <p:sp>
        <p:nvSpPr>
          <p:cNvPr id="30" name="Text 28"/>
          <p:cNvSpPr/>
          <p:nvPr/>
        </p:nvSpPr>
        <p:spPr>
          <a:xfrm>
            <a:off x="8651141" y="3152775"/>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+$0.45</a:t>
            </a:r>
            <a:endParaRPr lang="en-US" sz="1725" dirty="0"/>
          </a:p>
        </p:txBody>
      </p:sp>
      <p:sp>
        <p:nvSpPr>
          <p:cNvPr id="31" name="Text 29"/>
          <p:cNvSpPr/>
          <p:nvPr/>
        </p:nvSpPr>
        <p:spPr>
          <a:xfrm>
            <a:off x="9814278" y="3152775"/>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$4.95</a:t>
            </a:r>
            <a:endParaRPr lang="en-US" sz="1725" dirty="0"/>
          </a:p>
        </p:txBody>
      </p:sp>
      <p:sp>
        <p:nvSpPr>
          <p:cNvPr id="32" name="Text 30"/>
          <p:cNvSpPr/>
          <p:nvPr/>
        </p:nvSpPr>
        <p:spPr>
          <a:xfrm>
            <a:off x="11407289" y="31527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$4.95</a:t>
            </a:r>
            <a:endParaRPr lang="en-US" sz="1725" dirty="0"/>
          </a:p>
        </p:txBody>
      </p:sp>
      <p:sp>
        <p:nvSpPr>
          <p:cNvPr id="33" name="Shape 31"/>
          <p:cNvSpPr/>
          <p:nvPr/>
        </p:nvSpPr>
        <p:spPr>
          <a:xfrm>
            <a:off x="952500" y="3977943"/>
            <a:ext cx="16383000" cy="19050"/>
          </a:xfrm>
          <a:prstGeom prst="rect">
            <a:avLst/>
          </a:prstGeom>
          <a:solidFill>
            <a:srgbClr val="DEE0DA"/>
          </a:solidFill>
          <a:ln/>
        </p:spPr>
        <p:txBody>
          <a:bodyPr/>
          <a:lstStyle/>
          <a:p>
            <a:endParaRPr lang="en-US"/>
          </a:p>
        </p:txBody>
      </p:sp>
      <p:sp>
        <p:nvSpPr>
          <p:cNvPr id="34" name="Text 32"/>
          <p:cNvSpPr/>
          <p:nvPr/>
        </p:nvSpPr>
        <p:spPr>
          <a:xfrm>
            <a:off x="952500" y="4082718"/>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Cappuccino</a:t>
            </a:r>
            <a:endParaRPr lang="en-US" sz="1725" dirty="0"/>
          </a:p>
        </p:txBody>
      </p:sp>
      <p:sp>
        <p:nvSpPr>
          <p:cNvPr id="35" name="Text 33"/>
          <p:cNvSpPr/>
          <p:nvPr/>
        </p:nvSpPr>
        <p:spPr>
          <a:xfrm>
            <a:off x="3573720" y="3987468"/>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1,305</a:t>
            </a:r>
            <a:endParaRPr lang="en-US" sz="1725" dirty="0"/>
          </a:p>
        </p:txBody>
      </p:sp>
      <p:sp>
        <p:nvSpPr>
          <p:cNvPr id="36" name="Text 34"/>
          <p:cNvSpPr/>
          <p:nvPr/>
        </p:nvSpPr>
        <p:spPr>
          <a:xfrm>
            <a:off x="6004244" y="3987468"/>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$4.75</a:t>
            </a:r>
            <a:endParaRPr lang="en-US" sz="1725" dirty="0"/>
          </a:p>
        </p:txBody>
      </p:sp>
      <p:sp>
        <p:nvSpPr>
          <p:cNvPr id="37" name="Text 35"/>
          <p:cNvSpPr/>
          <p:nvPr/>
        </p:nvSpPr>
        <p:spPr>
          <a:xfrm>
            <a:off x="8651141" y="3987468"/>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38" name="Text 36"/>
          <p:cNvSpPr/>
          <p:nvPr/>
        </p:nvSpPr>
        <p:spPr>
          <a:xfrm>
            <a:off x="9814278" y="3987468"/>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$4.75</a:t>
            </a:r>
            <a:endParaRPr lang="en-US" sz="1725" dirty="0"/>
          </a:p>
        </p:txBody>
      </p:sp>
      <p:sp>
        <p:nvSpPr>
          <p:cNvPr id="39" name="Text 37"/>
          <p:cNvSpPr/>
          <p:nvPr/>
        </p:nvSpPr>
        <p:spPr>
          <a:xfrm>
            <a:off x="11407289" y="39874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$4.95</a:t>
            </a:r>
            <a:endParaRPr lang="en-US" sz="1725" dirty="0"/>
          </a:p>
        </p:txBody>
      </p:sp>
      <p:sp>
        <p:nvSpPr>
          <p:cNvPr id="40" name="Shape 38"/>
          <p:cNvSpPr/>
          <p:nvPr/>
        </p:nvSpPr>
        <p:spPr>
          <a:xfrm>
            <a:off x="952500" y="4435143"/>
            <a:ext cx="16383000" cy="19050"/>
          </a:xfrm>
          <a:prstGeom prst="rect">
            <a:avLst/>
          </a:prstGeom>
          <a:solidFill>
            <a:srgbClr val="DEE0DA"/>
          </a:solidFill>
          <a:ln/>
        </p:spPr>
        <p:txBody>
          <a:bodyPr/>
          <a:lstStyle/>
          <a:p>
            <a:endParaRPr lang="en-US"/>
          </a:p>
        </p:txBody>
      </p:sp>
      <p:sp>
        <p:nvSpPr>
          <p:cNvPr id="41" name="Text 39"/>
          <p:cNvSpPr/>
          <p:nvPr/>
        </p:nvSpPr>
        <p:spPr>
          <a:xfrm>
            <a:off x="952500" y="4539918"/>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Americano</a:t>
            </a:r>
            <a:endParaRPr lang="en-US" sz="1725" dirty="0"/>
          </a:p>
        </p:txBody>
      </p:sp>
      <p:sp>
        <p:nvSpPr>
          <p:cNvPr id="42" name="Text 40"/>
          <p:cNvSpPr/>
          <p:nvPr/>
        </p:nvSpPr>
        <p:spPr>
          <a:xfrm>
            <a:off x="3573720" y="4444668"/>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1,212</a:t>
            </a:r>
            <a:endParaRPr lang="en-US" sz="1725" dirty="0"/>
          </a:p>
        </p:txBody>
      </p:sp>
      <p:sp>
        <p:nvSpPr>
          <p:cNvPr id="43" name="Text 41"/>
          <p:cNvSpPr/>
          <p:nvPr/>
        </p:nvSpPr>
        <p:spPr>
          <a:xfrm>
            <a:off x="6004244" y="4444668"/>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$4.00</a:t>
            </a:r>
            <a:endParaRPr lang="en-US" sz="1725" dirty="0"/>
          </a:p>
        </p:txBody>
      </p:sp>
      <p:sp>
        <p:nvSpPr>
          <p:cNvPr id="44" name="Text 42"/>
          <p:cNvSpPr/>
          <p:nvPr/>
        </p:nvSpPr>
        <p:spPr>
          <a:xfrm>
            <a:off x="8651141" y="4444668"/>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+$0.25</a:t>
            </a:r>
            <a:endParaRPr lang="en-US" sz="1725" dirty="0"/>
          </a:p>
        </p:txBody>
      </p:sp>
      <p:sp>
        <p:nvSpPr>
          <p:cNvPr id="45" name="Text 43"/>
          <p:cNvSpPr/>
          <p:nvPr/>
        </p:nvSpPr>
        <p:spPr>
          <a:xfrm>
            <a:off x="9814278" y="4444668"/>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$4.25</a:t>
            </a:r>
            <a:endParaRPr lang="en-US" sz="1725" dirty="0"/>
          </a:p>
        </p:txBody>
      </p:sp>
      <p:sp>
        <p:nvSpPr>
          <p:cNvPr id="46" name="Text 44"/>
          <p:cNvSpPr/>
          <p:nvPr/>
        </p:nvSpPr>
        <p:spPr>
          <a:xfrm>
            <a:off x="11407289" y="44446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$4.45</a:t>
            </a:r>
            <a:endParaRPr lang="en-US" sz="1725" dirty="0"/>
          </a:p>
        </p:txBody>
      </p:sp>
      <p:sp>
        <p:nvSpPr>
          <p:cNvPr id="47" name="Shape 45"/>
          <p:cNvSpPr/>
          <p:nvPr/>
        </p:nvSpPr>
        <p:spPr>
          <a:xfrm>
            <a:off x="952500" y="4892343"/>
            <a:ext cx="16383000" cy="19050"/>
          </a:xfrm>
          <a:prstGeom prst="rect">
            <a:avLst/>
          </a:prstGeom>
          <a:solidFill>
            <a:srgbClr val="DEE0DA"/>
          </a:solidFill>
          <a:ln/>
        </p:spPr>
        <p:txBody>
          <a:bodyPr/>
          <a:lstStyle/>
          <a:p>
            <a:endParaRPr lang="en-US"/>
          </a:p>
        </p:txBody>
      </p:sp>
      <p:sp>
        <p:nvSpPr>
          <p:cNvPr id="48" name="Text 46"/>
          <p:cNvSpPr/>
          <p:nvPr/>
        </p:nvSpPr>
        <p:spPr>
          <a:xfrm>
            <a:off x="952500" y="4997118"/>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Matcha latte</a:t>
            </a:r>
            <a:endParaRPr lang="en-US" sz="1725" dirty="0"/>
          </a:p>
        </p:txBody>
      </p:sp>
      <p:sp>
        <p:nvSpPr>
          <p:cNvPr id="49" name="Text 47"/>
          <p:cNvSpPr/>
          <p:nvPr/>
        </p:nvSpPr>
        <p:spPr>
          <a:xfrm>
            <a:off x="3573720" y="4901868"/>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888</a:t>
            </a:r>
            <a:endParaRPr lang="en-US" sz="1725" dirty="0"/>
          </a:p>
        </p:txBody>
      </p:sp>
      <p:sp>
        <p:nvSpPr>
          <p:cNvPr id="50" name="Text 48"/>
          <p:cNvSpPr/>
          <p:nvPr/>
        </p:nvSpPr>
        <p:spPr>
          <a:xfrm>
            <a:off x="6004244" y="4901868"/>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$6.00</a:t>
            </a:r>
            <a:endParaRPr lang="en-US" sz="1725" dirty="0"/>
          </a:p>
        </p:txBody>
      </p:sp>
      <p:sp>
        <p:nvSpPr>
          <p:cNvPr id="51" name="Text 49"/>
          <p:cNvSpPr/>
          <p:nvPr/>
        </p:nvSpPr>
        <p:spPr>
          <a:xfrm>
            <a:off x="8651141" y="4901868"/>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52" name="Text 50"/>
          <p:cNvSpPr/>
          <p:nvPr/>
        </p:nvSpPr>
        <p:spPr>
          <a:xfrm>
            <a:off x="9814278" y="4901868"/>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$6.50</a:t>
            </a:r>
            <a:endParaRPr lang="en-US" sz="1725" dirty="0"/>
          </a:p>
        </p:txBody>
      </p:sp>
      <p:sp>
        <p:nvSpPr>
          <p:cNvPr id="53" name="Text 51"/>
          <p:cNvSpPr/>
          <p:nvPr/>
        </p:nvSpPr>
        <p:spPr>
          <a:xfrm>
            <a:off x="11407289" y="49018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$5.95</a:t>
            </a:r>
            <a:endParaRPr lang="en-US" sz="1725" dirty="0"/>
          </a:p>
        </p:txBody>
      </p:sp>
      <p:sp>
        <p:nvSpPr>
          <p:cNvPr id="54" name="Shape 52"/>
          <p:cNvSpPr/>
          <p:nvPr/>
        </p:nvSpPr>
        <p:spPr>
          <a:xfrm>
            <a:off x="952500" y="5379384"/>
            <a:ext cx="16383000" cy="19050"/>
          </a:xfrm>
          <a:prstGeom prst="rect">
            <a:avLst/>
          </a:prstGeom>
          <a:solidFill>
            <a:srgbClr val="DEE0DA"/>
          </a:solidFill>
          <a:ln/>
        </p:spPr>
        <p:txBody>
          <a:bodyPr/>
          <a:lstStyle/>
          <a:p>
            <a:endParaRPr lang="en-US"/>
          </a:p>
        </p:txBody>
      </p:sp>
      <p:sp>
        <p:nvSpPr>
          <p:cNvPr id="55" name="Text 53"/>
          <p:cNvSpPr/>
          <p:nvPr/>
        </p:nvSpPr>
        <p:spPr>
          <a:xfrm>
            <a:off x="952500" y="5484159"/>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Egg &amp; Cheese</a:t>
            </a:r>
            <a:endParaRPr lang="en-US" sz="1725" dirty="0"/>
          </a:p>
        </p:txBody>
      </p:sp>
      <p:sp>
        <p:nvSpPr>
          <p:cNvPr id="56" name="Text 54"/>
          <p:cNvSpPr/>
          <p:nvPr/>
        </p:nvSpPr>
        <p:spPr>
          <a:xfrm>
            <a:off x="3573720" y="5388909"/>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cs typeface="Arial" pitchFamily="34" charset="-120"/>
              </a:rPr>
              <a:t>2,352</a:t>
            </a:r>
            <a:endParaRPr lang="en-US" sz="1725" dirty="0"/>
          </a:p>
        </p:txBody>
      </p:sp>
      <p:sp>
        <p:nvSpPr>
          <p:cNvPr id="57" name="Text 55"/>
          <p:cNvSpPr/>
          <p:nvPr/>
        </p:nvSpPr>
        <p:spPr>
          <a:xfrm>
            <a:off x="6004244" y="5388909"/>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$10.00</a:t>
            </a:r>
            <a:endParaRPr lang="en-US" sz="1725" dirty="0"/>
          </a:p>
        </p:txBody>
      </p:sp>
      <p:sp>
        <p:nvSpPr>
          <p:cNvPr id="58" name="Text 56"/>
          <p:cNvSpPr/>
          <p:nvPr/>
        </p:nvSpPr>
        <p:spPr>
          <a:xfrm>
            <a:off x="8651141" y="5388909"/>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+$1.00</a:t>
            </a:r>
            <a:endParaRPr lang="en-US" sz="1725" dirty="0"/>
          </a:p>
        </p:txBody>
      </p:sp>
      <p:sp>
        <p:nvSpPr>
          <p:cNvPr id="59" name="Text 57"/>
          <p:cNvSpPr/>
          <p:nvPr/>
        </p:nvSpPr>
        <p:spPr>
          <a:xfrm>
            <a:off x="9814278" y="5388909"/>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$11.00</a:t>
            </a:r>
            <a:endParaRPr lang="en-US" sz="1725" dirty="0"/>
          </a:p>
        </p:txBody>
      </p:sp>
      <p:sp>
        <p:nvSpPr>
          <p:cNvPr id="61" name="Shape 59"/>
          <p:cNvSpPr/>
          <p:nvPr/>
        </p:nvSpPr>
        <p:spPr>
          <a:xfrm>
            <a:off x="952500" y="5836584"/>
            <a:ext cx="16383000" cy="19050"/>
          </a:xfrm>
          <a:prstGeom prst="rect">
            <a:avLst/>
          </a:prstGeom>
          <a:solidFill>
            <a:srgbClr val="DEE0DA"/>
          </a:solidFill>
          <a:ln/>
        </p:spPr>
        <p:txBody>
          <a:bodyPr/>
          <a:lstStyle/>
          <a:p>
            <a:endParaRPr lang="en-US"/>
          </a:p>
        </p:txBody>
      </p:sp>
      <p:sp>
        <p:nvSpPr>
          <p:cNvPr id="62" name="Text 60"/>
          <p:cNvSpPr/>
          <p:nvPr/>
        </p:nvSpPr>
        <p:spPr>
          <a:xfrm>
            <a:off x="952500" y="5941359"/>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Smoothies</a:t>
            </a:r>
            <a:endParaRPr lang="en-US" sz="1725" dirty="0"/>
          </a:p>
        </p:txBody>
      </p:sp>
      <p:sp>
        <p:nvSpPr>
          <p:cNvPr id="63" name="Text 61"/>
          <p:cNvSpPr/>
          <p:nvPr/>
        </p:nvSpPr>
        <p:spPr>
          <a:xfrm>
            <a:off x="3573720" y="5846109"/>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619</a:t>
            </a:r>
            <a:endParaRPr lang="en-US" sz="1725" dirty="0"/>
          </a:p>
        </p:txBody>
      </p:sp>
      <p:sp>
        <p:nvSpPr>
          <p:cNvPr id="64" name="Text 62"/>
          <p:cNvSpPr/>
          <p:nvPr/>
        </p:nvSpPr>
        <p:spPr>
          <a:xfrm>
            <a:off x="6004244" y="5846109"/>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$8.00</a:t>
            </a:r>
            <a:endParaRPr lang="en-US" sz="1725" dirty="0"/>
          </a:p>
        </p:txBody>
      </p:sp>
      <p:sp>
        <p:nvSpPr>
          <p:cNvPr id="65" name="Text 63"/>
          <p:cNvSpPr/>
          <p:nvPr/>
        </p:nvSpPr>
        <p:spPr>
          <a:xfrm>
            <a:off x="8651141" y="5846109"/>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+$1.00</a:t>
            </a:r>
            <a:endParaRPr lang="en-US" sz="1725" dirty="0"/>
          </a:p>
        </p:txBody>
      </p:sp>
      <p:sp>
        <p:nvSpPr>
          <p:cNvPr id="66" name="Text 64"/>
          <p:cNvSpPr/>
          <p:nvPr/>
        </p:nvSpPr>
        <p:spPr>
          <a:xfrm>
            <a:off x="9967846" y="5846109"/>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$9.00+</a:t>
            </a:r>
            <a:endParaRPr lang="en-US" sz="1725" dirty="0"/>
          </a:p>
        </p:txBody>
      </p:sp>
      <p:sp>
        <p:nvSpPr>
          <p:cNvPr id="67" name="Text 65"/>
          <p:cNvSpPr/>
          <p:nvPr/>
        </p:nvSpPr>
        <p:spPr>
          <a:xfrm>
            <a:off x="11407289" y="5846109"/>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$5.95</a:t>
            </a:r>
            <a:endParaRPr lang="en-US" sz="1725" dirty="0"/>
          </a:p>
        </p:txBody>
      </p:sp>
      <p:sp>
        <p:nvSpPr>
          <p:cNvPr id="68" name="Shape 66"/>
          <p:cNvSpPr/>
          <p:nvPr/>
        </p:nvSpPr>
        <p:spPr>
          <a:xfrm>
            <a:off x="952500" y="6293784"/>
            <a:ext cx="16383000" cy="19050"/>
          </a:xfrm>
          <a:prstGeom prst="rect">
            <a:avLst/>
          </a:prstGeom>
          <a:solidFill>
            <a:srgbClr val="DEE0DA"/>
          </a:solidFill>
          <a:ln/>
        </p:spPr>
        <p:txBody>
          <a:bodyPr/>
          <a:lstStyle/>
          <a:p>
            <a:endParaRPr lang="en-US"/>
          </a:p>
        </p:txBody>
      </p:sp>
      <p:sp>
        <p:nvSpPr>
          <p:cNvPr id="69" name="Text 67"/>
          <p:cNvSpPr/>
          <p:nvPr/>
        </p:nvSpPr>
        <p:spPr>
          <a:xfrm>
            <a:off x="952500" y="6398559"/>
            <a:ext cx="3694667" cy="276225"/>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Daily specials</a:t>
            </a:r>
            <a:endParaRPr lang="en-US" sz="1725" dirty="0"/>
          </a:p>
        </p:txBody>
      </p:sp>
      <p:sp>
        <p:nvSpPr>
          <p:cNvPr id="70" name="Text 68"/>
          <p:cNvSpPr/>
          <p:nvPr/>
        </p:nvSpPr>
        <p:spPr>
          <a:xfrm>
            <a:off x="3573720" y="6303309"/>
            <a:ext cx="249078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510</a:t>
            </a:r>
            <a:endParaRPr lang="en-US" sz="1725" dirty="0"/>
          </a:p>
        </p:txBody>
      </p:sp>
      <p:sp>
        <p:nvSpPr>
          <p:cNvPr id="71" name="Text 69"/>
          <p:cNvSpPr/>
          <p:nvPr/>
        </p:nvSpPr>
        <p:spPr>
          <a:xfrm>
            <a:off x="6004244" y="6303309"/>
            <a:ext cx="2704046"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$6.00</a:t>
            </a:r>
            <a:endParaRPr lang="en-US" sz="1725" dirty="0"/>
          </a:p>
        </p:txBody>
      </p:sp>
      <p:sp>
        <p:nvSpPr>
          <p:cNvPr id="72" name="Text 70"/>
          <p:cNvSpPr/>
          <p:nvPr/>
        </p:nvSpPr>
        <p:spPr>
          <a:xfrm>
            <a:off x="8651141" y="6303309"/>
            <a:ext cx="1623120" cy="466725"/>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73" name="Text 71"/>
          <p:cNvSpPr/>
          <p:nvPr/>
        </p:nvSpPr>
        <p:spPr>
          <a:xfrm>
            <a:off x="9814278" y="6303309"/>
            <a:ext cx="2130028" cy="4667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$6.50</a:t>
            </a:r>
            <a:endParaRPr lang="en-US" sz="1725" dirty="0"/>
          </a:p>
        </p:txBody>
      </p:sp>
      <p:sp>
        <p:nvSpPr>
          <p:cNvPr id="74" name="Text 72"/>
          <p:cNvSpPr/>
          <p:nvPr/>
        </p:nvSpPr>
        <p:spPr>
          <a:xfrm>
            <a:off x="12963736" y="6303309"/>
            <a:ext cx="247051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75" name="Shape 73"/>
          <p:cNvSpPr/>
          <p:nvPr/>
        </p:nvSpPr>
        <p:spPr>
          <a:xfrm>
            <a:off x="952500" y="6989109"/>
            <a:ext cx="16383000" cy="19050"/>
          </a:xfrm>
          <a:prstGeom prst="rect">
            <a:avLst/>
          </a:prstGeom>
          <a:solidFill>
            <a:srgbClr val="22424B"/>
          </a:solidFill>
          <a:ln/>
        </p:spPr>
        <p:txBody>
          <a:bodyPr/>
          <a:lstStyle/>
          <a:p>
            <a:endParaRPr lang="en-US"/>
          </a:p>
        </p:txBody>
      </p:sp>
      <p:sp>
        <p:nvSpPr>
          <p:cNvPr id="83" name="Text 9">
            <a:extLst>
              <a:ext uri="{FF2B5EF4-FFF2-40B4-BE49-F238E27FC236}">
                <a16:creationId xmlns:a16="http://schemas.microsoft.com/office/drawing/2014/main" id="{7F9B4C33-87A7-B262-24B6-159AA4F4B6C4}"/>
              </a:ext>
            </a:extLst>
          </p:cNvPr>
          <p:cNvSpPr/>
          <p:nvPr/>
        </p:nvSpPr>
        <p:spPr>
          <a:xfrm>
            <a:off x="12962588" y="1924050"/>
            <a:ext cx="4203293"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DAILY GRIND</a:t>
            </a:r>
            <a:endParaRPr lang="en-US" sz="1350" dirty="0"/>
          </a:p>
        </p:txBody>
      </p:sp>
      <p:sp>
        <p:nvSpPr>
          <p:cNvPr id="84" name="Text 16">
            <a:extLst>
              <a:ext uri="{FF2B5EF4-FFF2-40B4-BE49-F238E27FC236}">
                <a16:creationId xmlns:a16="http://schemas.microsoft.com/office/drawing/2014/main" id="{0504EA29-ECFD-C455-6CCD-9F3D2C2D181D}"/>
              </a:ext>
            </a:extLst>
          </p:cNvPr>
          <p:cNvSpPr/>
          <p:nvPr/>
        </p:nvSpPr>
        <p:spPr>
          <a:xfrm>
            <a:off x="12972113" y="22383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$3.95</a:t>
            </a:r>
            <a:endParaRPr lang="en-US" sz="1725" dirty="0"/>
          </a:p>
        </p:txBody>
      </p:sp>
      <p:sp>
        <p:nvSpPr>
          <p:cNvPr id="85" name="Text 23">
            <a:extLst>
              <a:ext uri="{FF2B5EF4-FFF2-40B4-BE49-F238E27FC236}">
                <a16:creationId xmlns:a16="http://schemas.microsoft.com/office/drawing/2014/main" id="{C9857176-9188-378C-C450-9E96BBCBED0A}"/>
              </a:ext>
            </a:extLst>
          </p:cNvPr>
          <p:cNvSpPr/>
          <p:nvPr/>
        </p:nvSpPr>
        <p:spPr>
          <a:xfrm>
            <a:off x="12972113" y="26955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$2.30</a:t>
            </a:r>
            <a:endParaRPr lang="en-US" sz="1725" dirty="0"/>
          </a:p>
        </p:txBody>
      </p:sp>
      <p:sp>
        <p:nvSpPr>
          <p:cNvPr id="86" name="Text 30">
            <a:extLst>
              <a:ext uri="{FF2B5EF4-FFF2-40B4-BE49-F238E27FC236}">
                <a16:creationId xmlns:a16="http://schemas.microsoft.com/office/drawing/2014/main" id="{2D2CBE9A-B531-95E9-A739-78EF7A5F5561}"/>
              </a:ext>
            </a:extLst>
          </p:cNvPr>
          <p:cNvSpPr/>
          <p:nvPr/>
        </p:nvSpPr>
        <p:spPr>
          <a:xfrm>
            <a:off x="12972113" y="31527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$3.95</a:t>
            </a:r>
            <a:endParaRPr lang="en-US" sz="1725" dirty="0"/>
          </a:p>
        </p:txBody>
      </p:sp>
      <p:sp>
        <p:nvSpPr>
          <p:cNvPr id="87" name="Text 37">
            <a:extLst>
              <a:ext uri="{FF2B5EF4-FFF2-40B4-BE49-F238E27FC236}">
                <a16:creationId xmlns:a16="http://schemas.microsoft.com/office/drawing/2014/main" id="{2CE06CC2-4A52-0DBE-9134-0348338F6925}"/>
              </a:ext>
            </a:extLst>
          </p:cNvPr>
          <p:cNvSpPr/>
          <p:nvPr/>
        </p:nvSpPr>
        <p:spPr>
          <a:xfrm>
            <a:off x="12972113" y="39874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$3.95</a:t>
            </a:r>
            <a:endParaRPr lang="en-US" sz="1725" dirty="0"/>
          </a:p>
        </p:txBody>
      </p:sp>
      <p:sp>
        <p:nvSpPr>
          <p:cNvPr id="88" name="Text 44">
            <a:extLst>
              <a:ext uri="{FF2B5EF4-FFF2-40B4-BE49-F238E27FC236}">
                <a16:creationId xmlns:a16="http://schemas.microsoft.com/office/drawing/2014/main" id="{C91FE509-D9AD-53AB-6FEC-9B1853A8C352}"/>
              </a:ext>
            </a:extLst>
          </p:cNvPr>
          <p:cNvSpPr/>
          <p:nvPr/>
        </p:nvSpPr>
        <p:spPr>
          <a:xfrm>
            <a:off x="12972113" y="44446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$3.50</a:t>
            </a:r>
            <a:endParaRPr lang="en-US" sz="1725" dirty="0"/>
          </a:p>
        </p:txBody>
      </p:sp>
      <p:sp>
        <p:nvSpPr>
          <p:cNvPr id="89" name="Text 51">
            <a:extLst>
              <a:ext uri="{FF2B5EF4-FFF2-40B4-BE49-F238E27FC236}">
                <a16:creationId xmlns:a16="http://schemas.microsoft.com/office/drawing/2014/main" id="{D8710B04-469C-EA2A-823A-E23E0F0A5558}"/>
              </a:ext>
            </a:extLst>
          </p:cNvPr>
          <p:cNvSpPr/>
          <p:nvPr/>
        </p:nvSpPr>
        <p:spPr>
          <a:xfrm>
            <a:off x="12972113" y="49018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$4.50</a:t>
            </a:r>
            <a:endParaRPr lang="en-US" sz="1725" dirty="0"/>
          </a:p>
        </p:txBody>
      </p:sp>
      <p:sp>
        <p:nvSpPr>
          <p:cNvPr id="90" name="Text 58">
            <a:extLst>
              <a:ext uri="{FF2B5EF4-FFF2-40B4-BE49-F238E27FC236}">
                <a16:creationId xmlns:a16="http://schemas.microsoft.com/office/drawing/2014/main" id="{E60BCB7C-FBCB-313E-7CE5-3635159F9335}"/>
              </a:ext>
            </a:extLst>
          </p:cNvPr>
          <p:cNvSpPr/>
          <p:nvPr/>
        </p:nvSpPr>
        <p:spPr>
          <a:xfrm>
            <a:off x="12972113" y="5388909"/>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$4.95</a:t>
            </a:r>
            <a:endParaRPr lang="en-US" sz="1725" dirty="0"/>
          </a:p>
        </p:txBody>
      </p:sp>
      <p:sp>
        <p:nvSpPr>
          <p:cNvPr id="91" name="Text 65">
            <a:extLst>
              <a:ext uri="{FF2B5EF4-FFF2-40B4-BE49-F238E27FC236}">
                <a16:creationId xmlns:a16="http://schemas.microsoft.com/office/drawing/2014/main" id="{E14196AD-7689-24EC-1B1E-5D6D8C4F715C}"/>
              </a:ext>
            </a:extLst>
          </p:cNvPr>
          <p:cNvSpPr/>
          <p:nvPr/>
        </p:nvSpPr>
        <p:spPr>
          <a:xfrm>
            <a:off x="12972113" y="5846109"/>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$6.00</a:t>
            </a:r>
            <a:endParaRPr lang="en-US" sz="1725" dirty="0"/>
          </a:p>
        </p:txBody>
      </p:sp>
      <p:pic>
        <p:nvPicPr>
          <p:cNvPr id="92" name="Picture 91">
            <a:extLst>
              <a:ext uri="{FF2B5EF4-FFF2-40B4-BE49-F238E27FC236}">
                <a16:creationId xmlns:a16="http://schemas.microsoft.com/office/drawing/2014/main" id="{CB04771C-9DD1-10E9-9B9C-FAEF738787FD}"/>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93" name="Text 72">
            <a:extLst>
              <a:ext uri="{FF2B5EF4-FFF2-40B4-BE49-F238E27FC236}">
                <a16:creationId xmlns:a16="http://schemas.microsoft.com/office/drawing/2014/main" id="{5D2BD564-B4ED-C95E-B1CC-04E1957E018B}"/>
              </a:ext>
            </a:extLst>
          </p:cNvPr>
          <p:cNvSpPr/>
          <p:nvPr/>
        </p:nvSpPr>
        <p:spPr>
          <a:xfrm>
            <a:off x="14651683" y="6303309"/>
            <a:ext cx="247051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94" name="Text 25">
            <a:extLst>
              <a:ext uri="{FF2B5EF4-FFF2-40B4-BE49-F238E27FC236}">
                <a16:creationId xmlns:a16="http://schemas.microsoft.com/office/drawing/2014/main" id="{5E5F55FA-4F73-19CA-446F-FE5184208ECE}"/>
              </a:ext>
            </a:extLst>
          </p:cNvPr>
          <p:cNvSpPr/>
          <p:nvPr/>
        </p:nvSpPr>
        <p:spPr>
          <a:xfrm>
            <a:off x="952500" y="3657600"/>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Draft Latte</a:t>
            </a:r>
            <a:endParaRPr lang="en-US" sz="1725" dirty="0"/>
          </a:p>
        </p:txBody>
      </p:sp>
      <p:sp>
        <p:nvSpPr>
          <p:cNvPr id="95" name="Text 26">
            <a:extLst>
              <a:ext uri="{FF2B5EF4-FFF2-40B4-BE49-F238E27FC236}">
                <a16:creationId xmlns:a16="http://schemas.microsoft.com/office/drawing/2014/main" id="{4F44F7DE-BA8E-74C6-7C52-4E37D943009E}"/>
              </a:ext>
            </a:extLst>
          </p:cNvPr>
          <p:cNvSpPr/>
          <p:nvPr/>
        </p:nvSpPr>
        <p:spPr>
          <a:xfrm>
            <a:off x="3573720" y="3562350"/>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319</a:t>
            </a:r>
            <a:endParaRPr lang="en-US" sz="1725" dirty="0"/>
          </a:p>
        </p:txBody>
      </p:sp>
      <p:sp>
        <p:nvSpPr>
          <p:cNvPr id="96" name="Text 27">
            <a:extLst>
              <a:ext uri="{FF2B5EF4-FFF2-40B4-BE49-F238E27FC236}">
                <a16:creationId xmlns:a16="http://schemas.microsoft.com/office/drawing/2014/main" id="{9638CBEC-A6E2-B069-ABFE-7C3B4C345135}"/>
              </a:ext>
            </a:extLst>
          </p:cNvPr>
          <p:cNvSpPr/>
          <p:nvPr/>
        </p:nvSpPr>
        <p:spPr>
          <a:xfrm>
            <a:off x="6004244" y="3562350"/>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$5.25</a:t>
            </a:r>
            <a:endParaRPr lang="en-US" sz="1725" dirty="0"/>
          </a:p>
        </p:txBody>
      </p:sp>
      <p:sp>
        <p:nvSpPr>
          <p:cNvPr id="97" name="Text 28">
            <a:extLst>
              <a:ext uri="{FF2B5EF4-FFF2-40B4-BE49-F238E27FC236}">
                <a16:creationId xmlns:a16="http://schemas.microsoft.com/office/drawing/2014/main" id="{80CA5FC2-AABA-B233-3DCE-F38D233D6FB9}"/>
              </a:ext>
            </a:extLst>
          </p:cNvPr>
          <p:cNvSpPr/>
          <p:nvPr/>
        </p:nvSpPr>
        <p:spPr>
          <a:xfrm>
            <a:off x="8651141" y="3562350"/>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+$0.25</a:t>
            </a:r>
            <a:endParaRPr lang="en-US" sz="1725" dirty="0"/>
          </a:p>
        </p:txBody>
      </p:sp>
      <p:sp>
        <p:nvSpPr>
          <p:cNvPr id="98" name="Text 29">
            <a:extLst>
              <a:ext uri="{FF2B5EF4-FFF2-40B4-BE49-F238E27FC236}">
                <a16:creationId xmlns:a16="http://schemas.microsoft.com/office/drawing/2014/main" id="{03FF9968-C579-29BF-2F80-E49B0AAA8C18}"/>
              </a:ext>
            </a:extLst>
          </p:cNvPr>
          <p:cNvSpPr/>
          <p:nvPr/>
        </p:nvSpPr>
        <p:spPr>
          <a:xfrm>
            <a:off x="9814278" y="3562350"/>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$5.50</a:t>
            </a:r>
            <a:endParaRPr lang="en-US" sz="1725" dirty="0"/>
          </a:p>
        </p:txBody>
      </p:sp>
      <p:sp>
        <p:nvSpPr>
          <p:cNvPr id="99" name="Text 30">
            <a:extLst>
              <a:ext uri="{FF2B5EF4-FFF2-40B4-BE49-F238E27FC236}">
                <a16:creationId xmlns:a16="http://schemas.microsoft.com/office/drawing/2014/main" id="{2C753C12-5D29-80A8-2E74-9C1CC49D4983}"/>
              </a:ext>
            </a:extLst>
          </p:cNvPr>
          <p:cNvSpPr/>
          <p:nvPr/>
        </p:nvSpPr>
        <p:spPr>
          <a:xfrm>
            <a:off x="11407289" y="3562350"/>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0" name="Text 30">
            <a:extLst>
              <a:ext uri="{FF2B5EF4-FFF2-40B4-BE49-F238E27FC236}">
                <a16:creationId xmlns:a16="http://schemas.microsoft.com/office/drawing/2014/main" id="{E9DA926C-629C-71CE-C52D-E17B0894DE24}"/>
              </a:ext>
            </a:extLst>
          </p:cNvPr>
          <p:cNvSpPr/>
          <p:nvPr/>
        </p:nvSpPr>
        <p:spPr>
          <a:xfrm>
            <a:off x="12972113" y="3562350"/>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1" name="Text 9">
            <a:extLst>
              <a:ext uri="{FF2B5EF4-FFF2-40B4-BE49-F238E27FC236}">
                <a16:creationId xmlns:a16="http://schemas.microsoft.com/office/drawing/2014/main" id="{58E894EA-8C1B-72D3-EA81-3AA95DBB02C7}"/>
              </a:ext>
            </a:extLst>
          </p:cNvPr>
          <p:cNvSpPr/>
          <p:nvPr/>
        </p:nvSpPr>
        <p:spPr>
          <a:xfrm>
            <a:off x="9784117" y="1924050"/>
            <a:ext cx="4203293"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LA COLOMBE</a:t>
            </a:r>
            <a:endParaRPr lang="en-US" sz="1350" dirty="0"/>
          </a:p>
        </p:txBody>
      </p:sp>
      <p:sp>
        <p:nvSpPr>
          <p:cNvPr id="102" name="Text 16">
            <a:extLst>
              <a:ext uri="{FF2B5EF4-FFF2-40B4-BE49-F238E27FC236}">
                <a16:creationId xmlns:a16="http://schemas.microsoft.com/office/drawing/2014/main" id="{EE78203D-E782-2E1A-41AC-E9CEC7BF645C}"/>
              </a:ext>
            </a:extLst>
          </p:cNvPr>
          <p:cNvSpPr/>
          <p:nvPr/>
        </p:nvSpPr>
        <p:spPr>
          <a:xfrm>
            <a:off x="9793642" y="22383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$5.00</a:t>
            </a:r>
            <a:endParaRPr lang="en-US" sz="1725" dirty="0"/>
          </a:p>
        </p:txBody>
      </p:sp>
      <p:sp>
        <p:nvSpPr>
          <p:cNvPr id="103" name="Text 23">
            <a:extLst>
              <a:ext uri="{FF2B5EF4-FFF2-40B4-BE49-F238E27FC236}">
                <a16:creationId xmlns:a16="http://schemas.microsoft.com/office/drawing/2014/main" id="{708FF600-6C4D-D521-1B6B-DC5B07DDA452}"/>
              </a:ext>
            </a:extLst>
          </p:cNvPr>
          <p:cNvSpPr/>
          <p:nvPr/>
        </p:nvSpPr>
        <p:spPr>
          <a:xfrm>
            <a:off x="9793642" y="26955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$3.25</a:t>
            </a:r>
            <a:endParaRPr lang="en-US" sz="1725" dirty="0"/>
          </a:p>
        </p:txBody>
      </p:sp>
      <p:sp>
        <p:nvSpPr>
          <p:cNvPr id="104" name="Text 30">
            <a:extLst>
              <a:ext uri="{FF2B5EF4-FFF2-40B4-BE49-F238E27FC236}">
                <a16:creationId xmlns:a16="http://schemas.microsoft.com/office/drawing/2014/main" id="{5B1656EE-246E-A949-713E-5A51859ADA96}"/>
              </a:ext>
            </a:extLst>
          </p:cNvPr>
          <p:cNvSpPr/>
          <p:nvPr/>
        </p:nvSpPr>
        <p:spPr>
          <a:xfrm>
            <a:off x="9793642" y="31527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$4.75</a:t>
            </a:r>
            <a:endParaRPr lang="en-US" sz="1725" dirty="0"/>
          </a:p>
        </p:txBody>
      </p:sp>
      <p:sp>
        <p:nvSpPr>
          <p:cNvPr id="105" name="Text 37">
            <a:extLst>
              <a:ext uri="{FF2B5EF4-FFF2-40B4-BE49-F238E27FC236}">
                <a16:creationId xmlns:a16="http://schemas.microsoft.com/office/drawing/2014/main" id="{5D695FC9-1952-B5C3-AFA5-C275171D4E92}"/>
              </a:ext>
            </a:extLst>
          </p:cNvPr>
          <p:cNvSpPr/>
          <p:nvPr/>
        </p:nvSpPr>
        <p:spPr>
          <a:xfrm>
            <a:off x="9793642" y="39874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$4.75</a:t>
            </a:r>
            <a:endParaRPr lang="en-US" sz="1725" dirty="0"/>
          </a:p>
        </p:txBody>
      </p:sp>
      <p:sp>
        <p:nvSpPr>
          <p:cNvPr id="106" name="Text 44">
            <a:extLst>
              <a:ext uri="{FF2B5EF4-FFF2-40B4-BE49-F238E27FC236}">
                <a16:creationId xmlns:a16="http://schemas.microsoft.com/office/drawing/2014/main" id="{D950D539-A791-64C3-343C-747047D3E44A}"/>
              </a:ext>
            </a:extLst>
          </p:cNvPr>
          <p:cNvSpPr/>
          <p:nvPr/>
        </p:nvSpPr>
        <p:spPr>
          <a:xfrm>
            <a:off x="9793642" y="44446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$4.25</a:t>
            </a:r>
            <a:endParaRPr lang="en-US" sz="1725" dirty="0"/>
          </a:p>
        </p:txBody>
      </p:sp>
      <p:sp>
        <p:nvSpPr>
          <p:cNvPr id="107" name="Text 51">
            <a:extLst>
              <a:ext uri="{FF2B5EF4-FFF2-40B4-BE49-F238E27FC236}">
                <a16:creationId xmlns:a16="http://schemas.microsoft.com/office/drawing/2014/main" id="{AC21D1ED-6CE5-9DCB-021E-9E171F3EED43}"/>
              </a:ext>
            </a:extLst>
          </p:cNvPr>
          <p:cNvSpPr/>
          <p:nvPr/>
        </p:nvSpPr>
        <p:spPr>
          <a:xfrm>
            <a:off x="9793642" y="4901868"/>
            <a:ext cx="4184243" cy="476250"/>
          </a:xfrm>
          <a:prstGeom prst="rect">
            <a:avLst/>
          </a:prstGeom>
          <a:noFill/>
          <a:ln/>
        </p:spPr>
        <p:txBody>
          <a:bodyPr wrap="square" lIns="25400" tIns="25400" rIns="25400" bIns="25400" rtlCol="0" anchor="ctr">
            <a:normAutofit/>
          </a:bodyPr>
          <a:lstStyle/>
          <a:p>
            <a:pPr algn="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8" name="Text 65">
            <a:extLst>
              <a:ext uri="{FF2B5EF4-FFF2-40B4-BE49-F238E27FC236}">
                <a16:creationId xmlns:a16="http://schemas.microsoft.com/office/drawing/2014/main" id="{E3BE29AE-D287-98C7-2EF9-82825076718A}"/>
              </a:ext>
            </a:extLst>
          </p:cNvPr>
          <p:cNvSpPr/>
          <p:nvPr/>
        </p:nvSpPr>
        <p:spPr>
          <a:xfrm>
            <a:off x="9793642" y="5846109"/>
            <a:ext cx="4184243" cy="476250"/>
          </a:xfrm>
          <a:prstGeom prst="rect">
            <a:avLst/>
          </a:prstGeom>
          <a:noFill/>
          <a:ln/>
        </p:spPr>
        <p:txBody>
          <a:bodyPr wrap="square" lIns="25400" tIns="25400" rIns="25400" bIns="25400" rtlCol="0" anchor="ctr">
            <a:normAutofit/>
          </a:bodyPr>
          <a:lstStyle/>
          <a:p>
            <a:pPr algn="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9" name="Text 72">
            <a:extLst>
              <a:ext uri="{FF2B5EF4-FFF2-40B4-BE49-F238E27FC236}">
                <a16:creationId xmlns:a16="http://schemas.microsoft.com/office/drawing/2014/main" id="{7F5123DF-1733-F773-2DAD-92616240D2EF}"/>
              </a:ext>
            </a:extLst>
          </p:cNvPr>
          <p:cNvSpPr/>
          <p:nvPr/>
        </p:nvSpPr>
        <p:spPr>
          <a:xfrm>
            <a:off x="11350089" y="6303309"/>
            <a:ext cx="260795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10" name="Text 30">
            <a:extLst>
              <a:ext uri="{FF2B5EF4-FFF2-40B4-BE49-F238E27FC236}">
                <a16:creationId xmlns:a16="http://schemas.microsoft.com/office/drawing/2014/main" id="{2E3EC572-498B-9E04-8731-D1793282336B}"/>
              </a:ext>
            </a:extLst>
          </p:cNvPr>
          <p:cNvSpPr/>
          <p:nvPr/>
        </p:nvSpPr>
        <p:spPr>
          <a:xfrm>
            <a:off x="9793642" y="3562350"/>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$5.50</a:t>
            </a:r>
            <a:endParaRPr lang="en-US" sz="1725" dirty="0"/>
          </a:p>
        </p:txBody>
      </p:sp>
      <p:sp>
        <p:nvSpPr>
          <p:cNvPr id="113" name="Text 44">
            <a:extLst>
              <a:ext uri="{FF2B5EF4-FFF2-40B4-BE49-F238E27FC236}">
                <a16:creationId xmlns:a16="http://schemas.microsoft.com/office/drawing/2014/main" id="{AE3BBE63-2A03-87B2-AA59-84B6E1AF3BED}"/>
              </a:ext>
            </a:extLst>
          </p:cNvPr>
          <p:cNvSpPr/>
          <p:nvPr/>
        </p:nvSpPr>
        <p:spPr>
          <a:xfrm>
            <a:off x="9793642" y="5402356"/>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$8.95</a:t>
            </a:r>
            <a:endParaRPr lang="en-US" sz="1725" dirty="0"/>
          </a:p>
        </p:txBody>
      </p:sp>
      <p:sp>
        <p:nvSpPr>
          <p:cNvPr id="116" name="Text 6">
            <a:extLst>
              <a:ext uri="{FF2B5EF4-FFF2-40B4-BE49-F238E27FC236}">
                <a16:creationId xmlns:a16="http://schemas.microsoft.com/office/drawing/2014/main" id="{248399E9-360D-50C1-BC6C-A4142A69454E}"/>
              </a:ext>
            </a:extLst>
          </p:cNvPr>
          <p:cNvSpPr/>
          <p:nvPr/>
        </p:nvSpPr>
        <p:spPr>
          <a:xfrm>
            <a:off x="952499" y="7591425"/>
            <a:ext cx="4084721" cy="723900"/>
          </a:xfrm>
          <a:prstGeom prst="rect">
            <a:avLst/>
          </a:prstGeom>
          <a:noFill/>
          <a:ln/>
        </p:spPr>
        <p:txBody>
          <a:bodyPr wrap="square" lIns="25400" tIns="25400" rIns="25400" bIns="25400" rtlCol="0" anchor="t">
            <a:normAutofit/>
          </a:bodyPr>
          <a:lstStyle/>
          <a:p>
            <a:pPr marL="0" indent="0" algn="l">
              <a:lnSpc>
                <a:spcPct val="100000"/>
              </a:lnSpc>
              <a:buNone/>
            </a:pPr>
            <a:r>
              <a:rPr lang="en-US" sz="2800" kern="0" dirty="0">
                <a:solidFill>
                  <a:srgbClr val="1E7E8C"/>
                </a:solidFill>
                <a:latin typeface="Georgia" pitchFamily="34" charset="0"/>
                <a:ea typeface="Georgia" pitchFamily="34" charset="-122"/>
                <a:cs typeface="Georgia" pitchFamily="34" charset="-120"/>
              </a:rPr>
              <a:t>Lean into La Colombe</a:t>
            </a:r>
            <a:endParaRPr lang="en-US" sz="2800" dirty="0">
              <a:solidFill>
                <a:srgbClr val="1E7E8C"/>
              </a:solidFill>
            </a:endParaRPr>
          </a:p>
        </p:txBody>
      </p:sp>
      <p:sp>
        <p:nvSpPr>
          <p:cNvPr id="117" name="Text 8">
            <a:extLst>
              <a:ext uri="{FF2B5EF4-FFF2-40B4-BE49-F238E27FC236}">
                <a16:creationId xmlns:a16="http://schemas.microsoft.com/office/drawing/2014/main" id="{C1A054C8-DF23-CC54-9C33-E78C72EA7F16}"/>
              </a:ext>
            </a:extLst>
          </p:cNvPr>
          <p:cNvSpPr/>
          <p:nvPr/>
        </p:nvSpPr>
        <p:spPr>
          <a:xfrm>
            <a:off x="952501" y="8079441"/>
            <a:ext cx="7934826" cy="685800"/>
          </a:xfrm>
          <a:prstGeom prst="rect">
            <a:avLst/>
          </a:prstGeom>
          <a:noFill/>
          <a:ln/>
        </p:spPr>
        <p:txBody>
          <a:bodyPr wrap="square" lIns="25400" tIns="25400" rIns="25400" bIns="25400" rtlCol="0" anchor="t">
            <a:normAutofit/>
          </a:bodyPr>
          <a:lstStyle/>
          <a:p>
            <a:pPr marL="0" indent="0" algn="l">
              <a:buNone/>
            </a:pPr>
            <a:r>
              <a:rPr lang="en-US" sz="1400" dirty="0">
                <a:solidFill>
                  <a:srgbClr val="4E5A5E"/>
                </a:solidFill>
                <a:latin typeface="Arial" pitchFamily="34" charset="0"/>
                <a:ea typeface="Arial" pitchFamily="34" charset="-122"/>
                <a:cs typeface="Arial" pitchFamily="34" charset="-120"/>
              </a:rPr>
              <a:t>Match La Colombe pricing &amp; lead with their branding where possible. The customer already knows it’s a premium product and pricing is matched</a:t>
            </a:r>
            <a:endParaRPr lang="en-US" sz="1400" dirty="0"/>
          </a:p>
        </p:txBody>
      </p:sp>
      <p:sp>
        <p:nvSpPr>
          <p:cNvPr id="118" name="Text 6">
            <a:extLst>
              <a:ext uri="{FF2B5EF4-FFF2-40B4-BE49-F238E27FC236}">
                <a16:creationId xmlns:a16="http://schemas.microsoft.com/office/drawing/2014/main" id="{9B2BAB33-ADF7-0A66-6982-7EE10E12B4E1}"/>
              </a:ext>
            </a:extLst>
          </p:cNvPr>
          <p:cNvSpPr/>
          <p:nvPr/>
        </p:nvSpPr>
        <p:spPr>
          <a:xfrm>
            <a:off x="9583152" y="7591425"/>
            <a:ext cx="4084721" cy="723900"/>
          </a:xfrm>
          <a:prstGeom prst="rect">
            <a:avLst/>
          </a:prstGeom>
          <a:noFill/>
          <a:ln/>
        </p:spPr>
        <p:txBody>
          <a:bodyPr wrap="square" lIns="25400" tIns="25400" rIns="25400" bIns="25400" rtlCol="0" anchor="t">
            <a:normAutofit/>
          </a:bodyPr>
          <a:lstStyle/>
          <a:p>
            <a:pPr marL="0" indent="0" algn="l">
              <a:lnSpc>
                <a:spcPct val="100000"/>
              </a:lnSpc>
              <a:buNone/>
            </a:pPr>
            <a:r>
              <a:rPr lang="en-US" sz="2800" kern="0" dirty="0">
                <a:solidFill>
                  <a:srgbClr val="1E7E8C"/>
                </a:solidFill>
                <a:latin typeface="Georgia" pitchFamily="34" charset="0"/>
                <a:ea typeface="Georgia" pitchFamily="34" charset="-122"/>
                <a:cs typeface="Georgia" pitchFamily="34" charset="-120"/>
              </a:rPr>
              <a:t>Priced for Convenience</a:t>
            </a:r>
            <a:endParaRPr lang="en-US" sz="2800" dirty="0">
              <a:solidFill>
                <a:srgbClr val="1E7E8C"/>
              </a:solidFill>
            </a:endParaRPr>
          </a:p>
        </p:txBody>
      </p:sp>
      <p:sp>
        <p:nvSpPr>
          <p:cNvPr id="119" name="Text 8">
            <a:extLst>
              <a:ext uri="{FF2B5EF4-FFF2-40B4-BE49-F238E27FC236}">
                <a16:creationId xmlns:a16="http://schemas.microsoft.com/office/drawing/2014/main" id="{7C26B9B9-EF66-15D5-83A0-8F02B72C983A}"/>
              </a:ext>
            </a:extLst>
          </p:cNvPr>
          <p:cNvSpPr/>
          <p:nvPr/>
        </p:nvSpPr>
        <p:spPr>
          <a:xfrm>
            <a:off x="9583153" y="8079441"/>
            <a:ext cx="7752347" cy="685800"/>
          </a:xfrm>
          <a:prstGeom prst="rect">
            <a:avLst/>
          </a:prstGeom>
          <a:noFill/>
          <a:ln/>
        </p:spPr>
        <p:txBody>
          <a:bodyPr wrap="square" lIns="25400" tIns="25400" rIns="25400" bIns="25400" rtlCol="0" anchor="t">
            <a:normAutofit/>
          </a:bodyPr>
          <a:lstStyle/>
          <a:p>
            <a:pPr marL="0" indent="0" algn="l">
              <a:buNone/>
            </a:pPr>
            <a:r>
              <a:rPr lang="en-US" sz="1400" dirty="0">
                <a:solidFill>
                  <a:srgbClr val="4E5A5E"/>
                </a:solidFill>
                <a:latin typeface="Arial" pitchFamily="34" charset="0"/>
                <a:ea typeface="Arial" pitchFamily="34" charset="-122"/>
                <a:cs typeface="Arial" pitchFamily="34" charset="-120"/>
              </a:rPr>
              <a:t>Premium reflects paid-for hotel convenience and a customer base that is 60% internal who have no premium nearby alternative. </a:t>
            </a:r>
            <a:endParaRPr lang="en-US" sz="1400" dirty="0"/>
          </a:p>
        </p:txBody>
      </p:sp>
      <p:sp>
        <p:nvSpPr>
          <p:cNvPr id="121" name="Text 3">
            <a:extLst>
              <a:ext uri="{FF2B5EF4-FFF2-40B4-BE49-F238E27FC236}">
                <a16:creationId xmlns:a16="http://schemas.microsoft.com/office/drawing/2014/main" id="{40BE9CB0-FF13-F427-1356-58EE259DCF1F}"/>
              </a:ext>
            </a:extLst>
          </p:cNvPr>
          <p:cNvSpPr/>
          <p:nvPr/>
        </p:nvSpPr>
        <p:spPr>
          <a:xfrm>
            <a:off x="529304" y="9496565"/>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E323B"/>
        </a:solidFill>
        <a:effectLst/>
      </p:bgPr>
    </p:bg>
    <p:spTree>
      <p:nvGrpSpPr>
        <p:cNvPr id="1" name="">
          <a:extLst>
            <a:ext uri="{FF2B5EF4-FFF2-40B4-BE49-F238E27FC236}">
              <a16:creationId xmlns:a16="http://schemas.microsoft.com/office/drawing/2014/main" id="{A7DF61E2-2F49-DDAE-D26C-9CBE6064C99D}"/>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C94E8E03-E3A9-4437-1140-7EB401EE61E6}"/>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 0">
            <a:extLst>
              <a:ext uri="{FF2B5EF4-FFF2-40B4-BE49-F238E27FC236}">
                <a16:creationId xmlns:a16="http://schemas.microsoft.com/office/drawing/2014/main" id="{BC2440DC-C389-B242-F215-08F3841D58EE}"/>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03 | RETAIL ADJUSTMENTS</a:t>
            </a:r>
            <a:endParaRPr lang="en-US" sz="1650" dirty="0"/>
          </a:p>
        </p:txBody>
      </p:sp>
      <p:sp>
        <p:nvSpPr>
          <p:cNvPr id="26" name="Text 1">
            <a:extLst>
              <a:ext uri="{FF2B5EF4-FFF2-40B4-BE49-F238E27FC236}">
                <a16:creationId xmlns:a16="http://schemas.microsoft.com/office/drawing/2014/main" id="{3DC00ED5-79D2-63FD-CDCF-F0E8E3C346E5}"/>
              </a:ext>
            </a:extLst>
          </p:cNvPr>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chemeClr val="bg1"/>
                </a:solidFill>
                <a:latin typeface="Georgia" pitchFamily="34" charset="0"/>
              </a:rPr>
              <a:t>Shelf strategy</a:t>
            </a:r>
            <a:endParaRPr lang="en-US" sz="4200" dirty="0">
              <a:solidFill>
                <a:schemeClr val="bg1"/>
              </a:solidFill>
            </a:endParaRPr>
          </a:p>
        </p:txBody>
      </p:sp>
      <p:sp>
        <p:nvSpPr>
          <p:cNvPr id="27" name="Text 3">
            <a:extLst>
              <a:ext uri="{FF2B5EF4-FFF2-40B4-BE49-F238E27FC236}">
                <a16:creationId xmlns:a16="http://schemas.microsoft.com/office/drawing/2014/main" id="{BEF9F9E1-4C47-7D10-CCC8-96FD20B9967D}"/>
              </a:ext>
            </a:extLst>
          </p:cNvPr>
          <p:cNvSpPr/>
          <p:nvPr/>
        </p:nvSpPr>
        <p:spPr>
          <a:xfrm>
            <a:off x="952500"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01</a:t>
            </a:r>
            <a:endParaRPr lang="en-US" sz="2850" dirty="0"/>
          </a:p>
        </p:txBody>
      </p:sp>
      <p:sp>
        <p:nvSpPr>
          <p:cNvPr id="28" name="Text 4">
            <a:extLst>
              <a:ext uri="{FF2B5EF4-FFF2-40B4-BE49-F238E27FC236}">
                <a16:creationId xmlns:a16="http://schemas.microsoft.com/office/drawing/2014/main" id="{84AA6886-3766-D308-4DCA-9325C026EED7}"/>
              </a:ext>
            </a:extLst>
          </p:cNvPr>
          <p:cNvSpPr/>
          <p:nvPr/>
        </p:nvSpPr>
        <p:spPr>
          <a:xfrm>
            <a:off x="952500"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ea typeface="Arial" pitchFamily="34" charset="-122"/>
                <a:cs typeface="Arial" pitchFamily="34" charset="-120"/>
              </a:rPr>
              <a:t>More Beverage &amp; Alcohol</a:t>
            </a:r>
            <a:endParaRPr lang="en-US" sz="2175" dirty="0">
              <a:solidFill>
                <a:schemeClr val="bg1"/>
              </a:solidFill>
            </a:endParaRPr>
          </a:p>
        </p:txBody>
      </p:sp>
      <p:sp>
        <p:nvSpPr>
          <p:cNvPr id="30" name="Shape 7">
            <a:extLst>
              <a:ext uri="{FF2B5EF4-FFF2-40B4-BE49-F238E27FC236}">
                <a16:creationId xmlns:a16="http://schemas.microsoft.com/office/drawing/2014/main" id="{238C24BD-8107-FF64-39F8-C60AAA942DF7}"/>
              </a:ext>
            </a:extLst>
          </p:cNvPr>
          <p:cNvSpPr/>
          <p:nvPr/>
        </p:nvSpPr>
        <p:spPr>
          <a:xfrm>
            <a:off x="952500" y="4459238"/>
            <a:ext cx="3452813" cy="19050"/>
          </a:xfrm>
          <a:prstGeom prst="rect">
            <a:avLst/>
          </a:prstGeom>
          <a:solidFill>
            <a:srgbClr val="D2D3CD"/>
          </a:solidFill>
          <a:ln/>
        </p:spPr>
        <p:txBody>
          <a:bodyPr/>
          <a:lstStyle/>
          <a:p>
            <a:endParaRPr lang="en-US"/>
          </a:p>
        </p:txBody>
      </p:sp>
      <p:sp>
        <p:nvSpPr>
          <p:cNvPr id="31" name="Text 8">
            <a:extLst>
              <a:ext uri="{FF2B5EF4-FFF2-40B4-BE49-F238E27FC236}">
                <a16:creationId xmlns:a16="http://schemas.microsoft.com/office/drawing/2014/main" id="{FC569615-201E-7A3B-B3F0-D8B5C2F2BEF4}"/>
              </a:ext>
            </a:extLst>
          </p:cNvPr>
          <p:cNvSpPr/>
          <p:nvPr/>
        </p:nvSpPr>
        <p:spPr>
          <a:xfrm>
            <a:off x="996314" y="4859287"/>
            <a:ext cx="3623811" cy="2849317"/>
          </a:xfrm>
          <a:prstGeom prst="rect">
            <a:avLst/>
          </a:prstGeom>
          <a:noFill/>
          <a:ln/>
        </p:spPr>
        <p:txBody>
          <a:bodyPr wrap="square" lIns="25400" tIns="25400" rIns="25400" bIns="25400" rtlCol="0" anchor="t">
            <a:normAutofit/>
          </a:bodyPr>
          <a:lstStyle/>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Curated wine selection merchandised like a neighborhood market</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Small &amp; large format spirits, RTDs &amp; canned cocktails</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6- &amp; 12-pack beer with grab-and-go convenience</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Highest sales and margin per square foot</a:t>
            </a:r>
          </a:p>
        </p:txBody>
      </p:sp>
      <p:sp>
        <p:nvSpPr>
          <p:cNvPr id="32" name="Text 10">
            <a:extLst>
              <a:ext uri="{FF2B5EF4-FFF2-40B4-BE49-F238E27FC236}">
                <a16:creationId xmlns:a16="http://schemas.microsoft.com/office/drawing/2014/main" id="{A9FED521-F38B-4511-0FDB-4256D36F970B}"/>
              </a:ext>
            </a:extLst>
          </p:cNvPr>
          <p:cNvSpPr/>
          <p:nvPr/>
        </p:nvSpPr>
        <p:spPr>
          <a:xfrm>
            <a:off x="5262563"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
        <p:nvSpPr>
          <p:cNvPr id="33" name="Text 11">
            <a:extLst>
              <a:ext uri="{FF2B5EF4-FFF2-40B4-BE49-F238E27FC236}">
                <a16:creationId xmlns:a16="http://schemas.microsoft.com/office/drawing/2014/main" id="{EF1D171E-C71A-597C-62C9-98D1E847C535}"/>
              </a:ext>
            </a:extLst>
          </p:cNvPr>
          <p:cNvSpPr/>
          <p:nvPr/>
        </p:nvSpPr>
        <p:spPr>
          <a:xfrm>
            <a:off x="5262563"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ea typeface="Arial" pitchFamily="34" charset="-122"/>
                <a:cs typeface="Arial" pitchFamily="34" charset="-120"/>
              </a:rPr>
              <a:t>Smarter SKU Mix</a:t>
            </a:r>
            <a:endParaRPr lang="en-US" sz="2175" dirty="0">
              <a:solidFill>
                <a:schemeClr val="bg1"/>
              </a:solidFill>
            </a:endParaRPr>
          </a:p>
        </p:txBody>
      </p:sp>
      <p:sp>
        <p:nvSpPr>
          <p:cNvPr id="35" name="Shape 14">
            <a:extLst>
              <a:ext uri="{FF2B5EF4-FFF2-40B4-BE49-F238E27FC236}">
                <a16:creationId xmlns:a16="http://schemas.microsoft.com/office/drawing/2014/main" id="{A039CF67-4BF8-A558-6AEF-9DA8FDC6054A}"/>
              </a:ext>
            </a:extLst>
          </p:cNvPr>
          <p:cNvSpPr/>
          <p:nvPr/>
        </p:nvSpPr>
        <p:spPr>
          <a:xfrm>
            <a:off x="5262563" y="4468763"/>
            <a:ext cx="3452813" cy="19050"/>
          </a:xfrm>
          <a:prstGeom prst="rect">
            <a:avLst/>
          </a:prstGeom>
          <a:solidFill>
            <a:srgbClr val="D2D3CD"/>
          </a:solidFill>
          <a:ln/>
        </p:spPr>
        <p:txBody>
          <a:bodyPr/>
          <a:lstStyle/>
          <a:p>
            <a:endParaRPr lang="en-US"/>
          </a:p>
        </p:txBody>
      </p:sp>
      <p:sp>
        <p:nvSpPr>
          <p:cNvPr id="36" name="Text 15">
            <a:extLst>
              <a:ext uri="{FF2B5EF4-FFF2-40B4-BE49-F238E27FC236}">
                <a16:creationId xmlns:a16="http://schemas.microsoft.com/office/drawing/2014/main" id="{B8AAC091-EBCF-E049-0827-540C01A2B154}"/>
              </a:ext>
            </a:extLst>
          </p:cNvPr>
          <p:cNvSpPr/>
          <p:nvPr/>
        </p:nvSpPr>
        <p:spPr>
          <a:xfrm>
            <a:off x="5262563" y="4859287"/>
            <a:ext cx="3485198" cy="2495549"/>
          </a:xfrm>
          <a:prstGeom prst="rect">
            <a:avLst/>
          </a:prstGeom>
          <a:noFill/>
          <a:ln/>
        </p:spPr>
        <p:txBody>
          <a:bodyPr wrap="square" lIns="25400" tIns="25400" rIns="25400" bIns="25400" rtlCol="0" anchor="t">
            <a:normAutofit/>
          </a:bodyPr>
          <a:lstStyle/>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Eliminate slow-moving, specialty products</a:t>
            </a:r>
          </a:p>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Expand core everyday essentials with proven demand</a:t>
            </a:r>
          </a:p>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Curate assortment using sales data and guest behavior</a:t>
            </a:r>
          </a:p>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Increase turns while simplifying operations</a:t>
            </a:r>
          </a:p>
        </p:txBody>
      </p:sp>
      <p:sp>
        <p:nvSpPr>
          <p:cNvPr id="37" name="Text 17">
            <a:extLst>
              <a:ext uri="{FF2B5EF4-FFF2-40B4-BE49-F238E27FC236}">
                <a16:creationId xmlns:a16="http://schemas.microsoft.com/office/drawing/2014/main" id="{933A9174-0D0E-FEBE-F0E4-6D1C28E3C1EF}"/>
              </a:ext>
            </a:extLst>
          </p:cNvPr>
          <p:cNvSpPr/>
          <p:nvPr/>
        </p:nvSpPr>
        <p:spPr>
          <a:xfrm>
            <a:off x="1401090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04</a:t>
            </a:r>
            <a:endParaRPr lang="en-US" sz="2850" dirty="0"/>
          </a:p>
        </p:txBody>
      </p:sp>
      <p:sp>
        <p:nvSpPr>
          <p:cNvPr id="38" name="Text 18">
            <a:extLst>
              <a:ext uri="{FF2B5EF4-FFF2-40B4-BE49-F238E27FC236}">
                <a16:creationId xmlns:a16="http://schemas.microsoft.com/office/drawing/2014/main" id="{8F826DF9-B416-94D6-6F7E-D04665F77DE4}"/>
              </a:ext>
            </a:extLst>
          </p:cNvPr>
          <p:cNvSpPr/>
          <p:nvPr/>
        </p:nvSpPr>
        <p:spPr>
          <a:xfrm>
            <a:off x="1401090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cs typeface="Arial" pitchFamily="34" charset="-120"/>
              </a:rPr>
              <a:t>Everyday Essentials</a:t>
            </a:r>
            <a:endParaRPr lang="en-US" sz="2175" dirty="0">
              <a:solidFill>
                <a:schemeClr val="bg1"/>
              </a:solidFill>
            </a:endParaRPr>
          </a:p>
        </p:txBody>
      </p:sp>
      <p:sp>
        <p:nvSpPr>
          <p:cNvPr id="40" name="Shape 21">
            <a:extLst>
              <a:ext uri="{FF2B5EF4-FFF2-40B4-BE49-F238E27FC236}">
                <a16:creationId xmlns:a16="http://schemas.microsoft.com/office/drawing/2014/main" id="{76CC2C7B-B624-258C-1612-0D792A8356BF}"/>
              </a:ext>
            </a:extLst>
          </p:cNvPr>
          <p:cNvSpPr/>
          <p:nvPr/>
        </p:nvSpPr>
        <p:spPr>
          <a:xfrm>
            <a:off x="14010909" y="4459238"/>
            <a:ext cx="3452813" cy="19050"/>
          </a:xfrm>
          <a:prstGeom prst="rect">
            <a:avLst/>
          </a:prstGeom>
          <a:solidFill>
            <a:srgbClr val="D2D3CD"/>
          </a:solidFill>
          <a:ln/>
        </p:spPr>
        <p:txBody>
          <a:bodyPr/>
          <a:lstStyle/>
          <a:p>
            <a:endParaRPr lang="en-US"/>
          </a:p>
        </p:txBody>
      </p:sp>
      <p:sp>
        <p:nvSpPr>
          <p:cNvPr id="41" name="Text 22">
            <a:extLst>
              <a:ext uri="{FF2B5EF4-FFF2-40B4-BE49-F238E27FC236}">
                <a16:creationId xmlns:a16="http://schemas.microsoft.com/office/drawing/2014/main" id="{0640A253-28EE-B3E7-C761-A818DF792A63}"/>
              </a:ext>
            </a:extLst>
          </p:cNvPr>
          <p:cNvSpPr/>
          <p:nvPr/>
        </p:nvSpPr>
        <p:spPr>
          <a:xfrm>
            <a:off x="14054724" y="4784874"/>
            <a:ext cx="3485198" cy="2535716"/>
          </a:xfrm>
          <a:prstGeom prst="rect">
            <a:avLst/>
          </a:prstGeom>
          <a:noFill/>
          <a:ln/>
        </p:spPr>
        <p:txBody>
          <a:bodyPr wrap="square" lIns="25400" tIns="25400" rIns="25400" bIns="25400" rtlCol="0" anchor="t">
            <a:normAutofit/>
          </a:bodyPr>
          <a:lstStyle/>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Grocery essentials that drive repeat neighborhood visits</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Pantry, household &amp; personal care basics</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Capture convenience spend</a:t>
            </a:r>
          </a:p>
        </p:txBody>
      </p:sp>
      <p:sp>
        <p:nvSpPr>
          <p:cNvPr id="42" name="Text 24">
            <a:extLst>
              <a:ext uri="{FF2B5EF4-FFF2-40B4-BE49-F238E27FC236}">
                <a16:creationId xmlns:a16="http://schemas.microsoft.com/office/drawing/2014/main" id="{ED751131-CE7A-BAAB-44F6-462E76E8B816}"/>
              </a:ext>
            </a:extLst>
          </p:cNvPr>
          <p:cNvSpPr/>
          <p:nvPr/>
        </p:nvSpPr>
        <p:spPr>
          <a:xfrm>
            <a:off x="963008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03</a:t>
            </a:r>
            <a:endParaRPr lang="en-US" sz="2850" dirty="0"/>
          </a:p>
        </p:txBody>
      </p:sp>
      <p:sp>
        <p:nvSpPr>
          <p:cNvPr id="43" name="Text 25">
            <a:extLst>
              <a:ext uri="{FF2B5EF4-FFF2-40B4-BE49-F238E27FC236}">
                <a16:creationId xmlns:a16="http://schemas.microsoft.com/office/drawing/2014/main" id="{5CB62EE8-6453-53C1-6ECB-E37C0D834AD2}"/>
              </a:ext>
            </a:extLst>
          </p:cNvPr>
          <p:cNvSpPr/>
          <p:nvPr/>
        </p:nvSpPr>
        <p:spPr>
          <a:xfrm>
            <a:off x="963008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ea typeface="Arial" pitchFamily="34" charset="-122"/>
                <a:cs typeface="Arial" pitchFamily="34" charset="-120"/>
              </a:rPr>
              <a:t>Maximize Shelf Productivity</a:t>
            </a:r>
            <a:endParaRPr lang="en-US" sz="2175" dirty="0">
              <a:solidFill>
                <a:schemeClr val="bg1"/>
              </a:solidFill>
            </a:endParaRPr>
          </a:p>
        </p:txBody>
      </p:sp>
      <p:sp>
        <p:nvSpPr>
          <p:cNvPr id="45" name="Shape 28">
            <a:extLst>
              <a:ext uri="{FF2B5EF4-FFF2-40B4-BE49-F238E27FC236}">
                <a16:creationId xmlns:a16="http://schemas.microsoft.com/office/drawing/2014/main" id="{13D1C27A-9164-6A3A-D8A6-84C517F9211A}"/>
              </a:ext>
            </a:extLst>
          </p:cNvPr>
          <p:cNvSpPr/>
          <p:nvPr/>
        </p:nvSpPr>
        <p:spPr>
          <a:xfrm>
            <a:off x="9630089" y="4457333"/>
            <a:ext cx="3452813" cy="19050"/>
          </a:xfrm>
          <a:prstGeom prst="rect">
            <a:avLst/>
          </a:prstGeom>
          <a:solidFill>
            <a:srgbClr val="D2D3CD"/>
          </a:solidFill>
          <a:ln/>
        </p:spPr>
        <p:txBody>
          <a:bodyPr/>
          <a:lstStyle/>
          <a:p>
            <a:endParaRPr lang="en-US"/>
          </a:p>
        </p:txBody>
      </p:sp>
      <p:sp>
        <p:nvSpPr>
          <p:cNvPr id="46" name="Text 29">
            <a:extLst>
              <a:ext uri="{FF2B5EF4-FFF2-40B4-BE49-F238E27FC236}">
                <a16:creationId xmlns:a16="http://schemas.microsoft.com/office/drawing/2014/main" id="{6E276E76-D324-80E9-B585-20829A6830E4}"/>
              </a:ext>
            </a:extLst>
          </p:cNvPr>
          <p:cNvSpPr/>
          <p:nvPr/>
        </p:nvSpPr>
        <p:spPr>
          <a:xfrm>
            <a:off x="9673904" y="4859287"/>
            <a:ext cx="3485198" cy="2461303"/>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Deeper, denser inventory of top performing products</a:t>
            </a:r>
          </a:p>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More facings for best sellers &amp; impulse purchasing</a:t>
            </a:r>
          </a:p>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Increased sales per SF without labor</a:t>
            </a:r>
          </a:p>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Improved visual merchandising</a:t>
            </a:r>
          </a:p>
        </p:txBody>
      </p:sp>
    </p:spTree>
    <p:extLst>
      <p:ext uri="{BB962C8B-B14F-4D97-AF65-F5344CB8AC3E}">
        <p14:creationId xmlns:p14="http://schemas.microsoft.com/office/powerpoint/2010/main" val="2464990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E323B"/>
        </a:solidFill>
        <a:effectLst/>
      </p:bgPr>
    </p:bg>
    <p:spTree>
      <p:nvGrpSpPr>
        <p:cNvPr id="1" name="">
          <a:extLst>
            <a:ext uri="{FF2B5EF4-FFF2-40B4-BE49-F238E27FC236}">
              <a16:creationId xmlns:a16="http://schemas.microsoft.com/office/drawing/2014/main" id="{F160F6EC-1DB4-BF05-8F70-26475B6B09DE}"/>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87C8F8FA-3E40-54C3-D14A-33A8E54EDE8E}"/>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 0">
            <a:extLst>
              <a:ext uri="{FF2B5EF4-FFF2-40B4-BE49-F238E27FC236}">
                <a16:creationId xmlns:a16="http://schemas.microsoft.com/office/drawing/2014/main" id="{B11E7E89-5304-9F70-EEE1-F37F44C9281A}"/>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03 | RETAIL ADJUSTMENTS</a:t>
            </a:r>
            <a:endParaRPr lang="en-US" sz="1650" dirty="0"/>
          </a:p>
        </p:txBody>
      </p:sp>
      <p:sp>
        <p:nvSpPr>
          <p:cNvPr id="26" name="Text 1">
            <a:extLst>
              <a:ext uri="{FF2B5EF4-FFF2-40B4-BE49-F238E27FC236}">
                <a16:creationId xmlns:a16="http://schemas.microsoft.com/office/drawing/2014/main" id="{D84D3C75-7DA5-3C72-A8C5-24062FC99D84}"/>
              </a:ext>
            </a:extLst>
          </p:cNvPr>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chemeClr val="bg1"/>
                </a:solidFill>
                <a:latin typeface="Georgia" pitchFamily="34" charset="0"/>
              </a:rPr>
              <a:t>Shelf strategy</a:t>
            </a:r>
            <a:endParaRPr lang="en-US" sz="4200" dirty="0">
              <a:solidFill>
                <a:schemeClr val="bg1"/>
              </a:solidFill>
            </a:endParaRPr>
          </a:p>
        </p:txBody>
      </p:sp>
      <p:pic>
        <p:nvPicPr>
          <p:cNvPr id="2" name="Picture 1">
            <a:extLst>
              <a:ext uri="{FF2B5EF4-FFF2-40B4-BE49-F238E27FC236}">
                <a16:creationId xmlns:a16="http://schemas.microsoft.com/office/drawing/2014/main" id="{ADA66AB7-624A-60B3-79B6-124C273D55F3}"/>
              </a:ext>
            </a:extLst>
          </p:cNvPr>
          <p:cNvPicPr>
            <a:picLocks noChangeAspect="1"/>
          </p:cNvPicPr>
          <p:nvPr/>
        </p:nvPicPr>
        <p:blipFill>
          <a:blip r:embed="rId4"/>
          <a:stretch>
            <a:fillRect/>
          </a:stretch>
        </p:blipFill>
        <p:spPr>
          <a:xfrm>
            <a:off x="1840157" y="1947093"/>
            <a:ext cx="14607685" cy="7422070"/>
          </a:xfrm>
          <a:prstGeom prst="rect">
            <a:avLst/>
          </a:prstGeom>
        </p:spPr>
      </p:pic>
      <p:sp>
        <p:nvSpPr>
          <p:cNvPr id="27" name="Rectangle 26"/>
          <p:cNvSpPr/>
          <p:nvPr/>
        </p:nvSpPr>
        <p:spPr>
          <a:xfrm>
            <a:off x="1097280" y="1600200"/>
            <a:ext cx="16093440" cy="8229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54480" y="1874519"/>
            <a:ext cx="7315200" cy="320040"/>
          </a:xfrm>
          <a:prstGeom prst="rect">
            <a:avLst/>
          </a:prstGeom>
          <a:noFill/>
        </p:spPr>
        <p:txBody>
          <a:bodyPr wrap="none">
            <a:spAutoFit/>
          </a:bodyPr>
          <a:lstStyle/>
          <a:p>
            <a:r>
              <a:rPr sz="1300" b="1">
                <a:solidFill>
                  <a:srgbClr val="C0392B"/>
                </a:solidFill>
                <a:latin typeface="Arial"/>
              </a:rPr>
              <a:t>R E T A I L   M I X</a:t>
            </a:r>
          </a:p>
        </p:txBody>
      </p:sp>
      <p:sp>
        <p:nvSpPr>
          <p:cNvPr id="29" name="TextBox 28"/>
          <p:cNvSpPr txBox="1"/>
          <p:nvPr/>
        </p:nvSpPr>
        <p:spPr>
          <a:xfrm>
            <a:off x="1508760" y="2212848"/>
            <a:ext cx="10058400" cy="640080"/>
          </a:xfrm>
          <a:prstGeom prst="rect">
            <a:avLst/>
          </a:prstGeom>
          <a:noFill/>
        </p:spPr>
        <p:txBody>
          <a:bodyPr wrap="none">
            <a:spAutoFit/>
          </a:bodyPr>
          <a:lstStyle/>
          <a:p>
            <a:r>
              <a:rPr sz="3000">
                <a:solidFill>
                  <a:srgbClr val="2E3A23"/>
                </a:solidFill>
                <a:latin typeface="Georgia"/>
              </a:rPr>
              <a:t>Where retail is today, and where it goes</a:t>
            </a:r>
          </a:p>
        </p:txBody>
      </p:sp>
      <p:graphicFrame>
        <p:nvGraphicFramePr>
          <p:cNvPr id="30" name="Chart 29"/>
          <p:cNvGraphicFramePr>
            <a:graphicFrameLocks noGrp="1"/>
          </p:cNvGraphicFramePr>
          <p:nvPr/>
        </p:nvGraphicFramePr>
        <p:xfrm>
          <a:off x="1554480" y="3017520"/>
          <a:ext cx="9509760" cy="6492240"/>
        </p:xfrm>
        <a:graphic>
          <a:graphicData uri="http://schemas.openxmlformats.org/drawingml/2006/chart">
            <c:chart xmlns:c="http://schemas.openxmlformats.org/drawingml/2006/chart" r:id="rId5"/>
          </a:graphicData>
        </a:graphic>
      </p:graphicFrame>
      <p:sp>
        <p:nvSpPr>
          <p:cNvPr id="31" name="Rounded Rectangle 30"/>
          <p:cNvSpPr/>
          <p:nvPr/>
        </p:nvSpPr>
        <p:spPr>
          <a:xfrm>
            <a:off x="11521440" y="3017520"/>
            <a:ext cx="5212080" cy="1417320"/>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C0392B"/>
                </a:solidFill>
                <a:latin typeface="Georgia"/>
              </a:rPr>
              <a:t>$1,346 → $2,210 /wk</a:t>
            </a:r>
          </a:p>
          <a:p>
            <a:r>
              <a:rPr sz="1150">
                <a:solidFill>
                  <a:srgbClr val="4E5A5E"/>
                </a:solidFill>
                <a:latin typeface="Arial"/>
              </a:rPr>
              <a:t>today’s actual shelf run-rate (TTM) to the stabilized plan target</a:t>
            </a:r>
          </a:p>
        </p:txBody>
      </p:sp>
      <p:sp>
        <p:nvSpPr>
          <p:cNvPr id="32" name="Rounded Rectangle 31"/>
          <p:cNvSpPr/>
          <p:nvPr/>
        </p:nvSpPr>
        <p:spPr>
          <a:xfrm>
            <a:off x="11521440" y="4663440"/>
            <a:ext cx="5212080" cy="1417320"/>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C0392B"/>
                </a:solidFill>
                <a:latin typeface="Georgia"/>
              </a:rPr>
              <a:t>$114.9K / yr</a:t>
            </a:r>
          </a:p>
          <a:p>
            <a:r>
              <a:rPr sz="1150">
                <a:solidFill>
                  <a:srgbClr val="4E5A5E"/>
                </a:solidFill>
                <a:latin typeface="Arial"/>
              </a:rPr>
              <a:t>plan-year shelf &amp; packaged revenue — 31.7% of the $362.1K go-forward top line</a:t>
            </a:r>
          </a:p>
        </p:txBody>
      </p:sp>
      <p:sp>
        <p:nvSpPr>
          <p:cNvPr id="33" name="Rounded Rectangle 32"/>
          <p:cNvSpPr/>
          <p:nvPr/>
        </p:nvSpPr>
        <p:spPr>
          <a:xfrm>
            <a:off x="11521440" y="6309359"/>
            <a:ext cx="5212080" cy="1417320"/>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C0392B"/>
                </a:solidFill>
                <a:latin typeface="Georgia"/>
              </a:rPr>
              <a:t>~50%</a:t>
            </a:r>
          </a:p>
          <a:p>
            <a:r>
              <a:rPr sz="1150">
                <a:solidFill>
                  <a:srgbClr val="4E5A5E"/>
                </a:solidFill>
                <a:latin typeface="Arial"/>
              </a:rPr>
              <a:t>product margin on the new assortment (model COGS input) — +$44.9K new revenue in the plan</a:t>
            </a:r>
          </a:p>
        </p:txBody>
      </p:sp>
      <p:sp>
        <p:nvSpPr>
          <p:cNvPr id="34" name="Rounded Rectangle 33"/>
          <p:cNvSpPr/>
          <p:nvPr/>
        </p:nvSpPr>
        <p:spPr>
          <a:xfrm>
            <a:off x="11521440" y="7955279"/>
            <a:ext cx="5212080" cy="1417320"/>
          </a:xfrm>
          <a:prstGeom prst="roundRect">
            <a:avLst/>
          </a:prstGeom>
          <a:solidFill>
            <a:srgbClr val="E4ED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2E3A23"/>
                </a:solidFill>
                <a:latin typeface="Georgia"/>
              </a:rPr>
              <a:t>$23.9K / yr</a:t>
            </a:r>
          </a:p>
          <a:p>
            <a:r>
              <a:rPr sz="1150">
                <a:solidFill>
                  <a:srgbClr val="4E5A5E"/>
                </a:solidFill>
                <a:latin typeface="Arial"/>
              </a:rPr>
              <a:t>incremental gross profit in the model, with no added labor, rent, or equipment against it</a:t>
            </a:r>
          </a:p>
        </p:txBody>
      </p:sp>
      <p:sp>
        <p:nvSpPr>
          <p:cNvPr id="35" name="TextBox 34"/>
          <p:cNvSpPr txBox="1"/>
          <p:nvPr/>
        </p:nvSpPr>
        <p:spPr>
          <a:xfrm>
            <a:off x="1554480" y="9464040"/>
            <a:ext cx="15087600" cy="320040"/>
          </a:xfrm>
          <a:prstGeom prst="rect">
            <a:avLst/>
          </a:prstGeom>
          <a:noFill/>
        </p:spPr>
        <p:txBody>
          <a:bodyPr wrap="none">
            <a:spAutoFit/>
          </a:bodyPr>
          <a:lstStyle/>
          <a:p>
            <a:r>
              <a:rPr sz="1050">
                <a:solidFill>
                  <a:srgbClr val="4E5A5E"/>
                </a:solidFill>
                <a:latin typeface="Arial"/>
              </a:rPr>
              <a:t>Today = trailing-12-month Toast item detail (Jul 2025–Jun 2026), 404 shelf SKUs, $70.0K. Plan = today + the $44.9K remerchandising increment in the operating model, allocated per the shelf map. 54% of current SKUs sell &lt;$50/yr (6.6% of retail $) — the space funding the new categories.</a:t>
            </a:r>
          </a:p>
        </p:txBody>
      </p:sp>
    </p:spTree>
    <p:extLst>
      <p:ext uri="{BB962C8B-B14F-4D97-AF65-F5344CB8AC3E}">
        <p14:creationId xmlns:p14="http://schemas.microsoft.com/office/powerpoint/2010/main" val="425369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E323B"/>
        </a:solidFill>
        <a:effectLst/>
      </p:bgPr>
    </p:bg>
    <p:spTree>
      <p:nvGrpSpPr>
        <p:cNvPr id="1" name="">
          <a:extLst>
            <a:ext uri="{FF2B5EF4-FFF2-40B4-BE49-F238E27FC236}">
              <a16:creationId xmlns:a16="http://schemas.microsoft.com/office/drawing/2014/main" id="{C1E6F37A-9F55-C9A4-D815-F65DAB4ECE7F}"/>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1292371A-6EF8-01CD-1951-7A3C6BF501C8}"/>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 0">
            <a:extLst>
              <a:ext uri="{FF2B5EF4-FFF2-40B4-BE49-F238E27FC236}">
                <a16:creationId xmlns:a16="http://schemas.microsoft.com/office/drawing/2014/main" id="{B70E04CC-4829-02B0-2400-2A48E57D53A6}"/>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03 | RETAIL ADJUSTMENTS</a:t>
            </a:r>
            <a:endParaRPr lang="en-US" sz="1650" dirty="0"/>
          </a:p>
        </p:txBody>
      </p:sp>
      <p:sp>
        <p:nvSpPr>
          <p:cNvPr id="26" name="Text 1">
            <a:extLst>
              <a:ext uri="{FF2B5EF4-FFF2-40B4-BE49-F238E27FC236}">
                <a16:creationId xmlns:a16="http://schemas.microsoft.com/office/drawing/2014/main" id="{E3F11B52-1CA6-F0F9-5103-170090C0769E}"/>
              </a:ext>
            </a:extLst>
          </p:cNvPr>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chemeClr val="bg1"/>
                </a:solidFill>
                <a:latin typeface="Georgia" pitchFamily="34" charset="0"/>
              </a:rPr>
              <a:t>Shelf strategy</a:t>
            </a:r>
            <a:endParaRPr lang="en-US" sz="4200" dirty="0">
              <a:solidFill>
                <a:schemeClr val="bg1"/>
              </a:solidFill>
            </a:endParaRPr>
          </a:p>
        </p:txBody>
      </p:sp>
      <p:pic>
        <p:nvPicPr>
          <p:cNvPr id="4" name="Picture 3">
            <a:extLst>
              <a:ext uri="{FF2B5EF4-FFF2-40B4-BE49-F238E27FC236}">
                <a16:creationId xmlns:a16="http://schemas.microsoft.com/office/drawing/2014/main" id="{53D495ED-9BB2-731C-8DA3-731ED6FC3931}"/>
              </a:ext>
            </a:extLst>
          </p:cNvPr>
          <p:cNvPicPr>
            <a:picLocks noChangeAspect="1"/>
          </p:cNvPicPr>
          <p:nvPr/>
        </p:nvPicPr>
        <p:blipFill>
          <a:blip r:embed="rId4">
            <a:alphaModFix amt="50000"/>
          </a:blip>
          <a:stretch>
            <a:fillRect/>
          </a:stretch>
        </p:blipFill>
        <p:spPr>
          <a:xfrm>
            <a:off x="3770897" y="2188750"/>
            <a:ext cx="10250906" cy="6833937"/>
          </a:xfrm>
          <a:prstGeom prst="rect">
            <a:avLst/>
          </a:prstGeom>
        </p:spPr>
      </p:pic>
      <p:sp>
        <p:nvSpPr>
          <p:cNvPr id="5" name="Shape 2">
            <a:extLst>
              <a:ext uri="{FF2B5EF4-FFF2-40B4-BE49-F238E27FC236}">
                <a16:creationId xmlns:a16="http://schemas.microsoft.com/office/drawing/2014/main" id="{338526F2-AE70-46E1-625B-8CC31EC8CFA5}"/>
              </a:ext>
            </a:extLst>
          </p:cNvPr>
          <p:cNvSpPr/>
          <p:nvPr/>
        </p:nvSpPr>
        <p:spPr>
          <a:xfrm>
            <a:off x="11798902"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 name="Text 3">
            <a:extLst>
              <a:ext uri="{FF2B5EF4-FFF2-40B4-BE49-F238E27FC236}">
                <a16:creationId xmlns:a16="http://schemas.microsoft.com/office/drawing/2014/main" id="{182185D2-3F5E-087F-03D4-D7425CFE4A3A}"/>
              </a:ext>
            </a:extLst>
          </p:cNvPr>
          <p:cNvSpPr/>
          <p:nvPr/>
        </p:nvSpPr>
        <p:spPr>
          <a:xfrm>
            <a:off x="11895154"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LIQUOR</a:t>
            </a:r>
            <a:endParaRPr lang="en-US" sz="1350" dirty="0"/>
          </a:p>
        </p:txBody>
      </p:sp>
      <p:sp>
        <p:nvSpPr>
          <p:cNvPr id="7" name="Shape 2">
            <a:extLst>
              <a:ext uri="{FF2B5EF4-FFF2-40B4-BE49-F238E27FC236}">
                <a16:creationId xmlns:a16="http://schemas.microsoft.com/office/drawing/2014/main" id="{B5AA50C4-D10F-8FF8-36C0-3E87AFE1EC19}"/>
              </a:ext>
            </a:extLst>
          </p:cNvPr>
          <p:cNvSpPr/>
          <p:nvPr/>
        </p:nvSpPr>
        <p:spPr>
          <a:xfrm>
            <a:off x="11798902" y="4189002"/>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8" name="Text 3">
            <a:extLst>
              <a:ext uri="{FF2B5EF4-FFF2-40B4-BE49-F238E27FC236}">
                <a16:creationId xmlns:a16="http://schemas.microsoft.com/office/drawing/2014/main" id="{7B613921-65ED-B9F0-69DD-EB49D7940468}"/>
              </a:ext>
            </a:extLst>
          </p:cNvPr>
          <p:cNvSpPr/>
          <p:nvPr/>
        </p:nvSpPr>
        <p:spPr>
          <a:xfrm>
            <a:off x="11895154" y="4236126"/>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SPARKLING</a:t>
            </a:r>
            <a:endParaRPr lang="en-US" sz="1350" dirty="0"/>
          </a:p>
        </p:txBody>
      </p:sp>
      <p:sp>
        <p:nvSpPr>
          <p:cNvPr id="9" name="Shape 2">
            <a:extLst>
              <a:ext uri="{FF2B5EF4-FFF2-40B4-BE49-F238E27FC236}">
                <a16:creationId xmlns:a16="http://schemas.microsoft.com/office/drawing/2014/main" id="{CFC2FB35-8A16-7580-29EB-5E5FFE9FB9C8}"/>
              </a:ext>
            </a:extLst>
          </p:cNvPr>
          <p:cNvSpPr/>
          <p:nvPr/>
        </p:nvSpPr>
        <p:spPr>
          <a:xfrm>
            <a:off x="11798902" y="5295908"/>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0" name="Text 3">
            <a:extLst>
              <a:ext uri="{FF2B5EF4-FFF2-40B4-BE49-F238E27FC236}">
                <a16:creationId xmlns:a16="http://schemas.microsoft.com/office/drawing/2014/main" id="{BF2D365F-37F4-1923-1891-59DED30FF97F}"/>
              </a:ext>
            </a:extLst>
          </p:cNvPr>
          <p:cNvSpPr/>
          <p:nvPr/>
        </p:nvSpPr>
        <p:spPr>
          <a:xfrm>
            <a:off x="11895154" y="5343032"/>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WHITE</a:t>
            </a:r>
            <a:endParaRPr lang="en-US" sz="1350" dirty="0"/>
          </a:p>
        </p:txBody>
      </p:sp>
      <p:sp>
        <p:nvSpPr>
          <p:cNvPr id="11" name="Shape 2">
            <a:extLst>
              <a:ext uri="{FF2B5EF4-FFF2-40B4-BE49-F238E27FC236}">
                <a16:creationId xmlns:a16="http://schemas.microsoft.com/office/drawing/2014/main" id="{1C606FC4-C30D-5449-4AA2-C566888BE2D7}"/>
              </a:ext>
            </a:extLst>
          </p:cNvPr>
          <p:cNvSpPr/>
          <p:nvPr/>
        </p:nvSpPr>
        <p:spPr>
          <a:xfrm>
            <a:off x="11798902" y="6354686"/>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2" name="Text 3">
            <a:extLst>
              <a:ext uri="{FF2B5EF4-FFF2-40B4-BE49-F238E27FC236}">
                <a16:creationId xmlns:a16="http://schemas.microsoft.com/office/drawing/2014/main" id="{E73E745A-FB39-CA4B-95B4-8B112795FC7E}"/>
              </a:ext>
            </a:extLst>
          </p:cNvPr>
          <p:cNvSpPr/>
          <p:nvPr/>
        </p:nvSpPr>
        <p:spPr>
          <a:xfrm>
            <a:off x="11895154" y="6401810"/>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RED</a:t>
            </a:r>
            <a:endParaRPr lang="en-US" sz="1350" dirty="0"/>
          </a:p>
        </p:txBody>
      </p:sp>
      <p:sp>
        <p:nvSpPr>
          <p:cNvPr id="13" name="Shape 2">
            <a:extLst>
              <a:ext uri="{FF2B5EF4-FFF2-40B4-BE49-F238E27FC236}">
                <a16:creationId xmlns:a16="http://schemas.microsoft.com/office/drawing/2014/main" id="{2A31A719-D636-CDD6-FF22-40181C5B0B72}"/>
              </a:ext>
            </a:extLst>
          </p:cNvPr>
          <p:cNvSpPr/>
          <p:nvPr/>
        </p:nvSpPr>
        <p:spPr>
          <a:xfrm>
            <a:off x="9456755"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4" name="Text 3">
            <a:extLst>
              <a:ext uri="{FF2B5EF4-FFF2-40B4-BE49-F238E27FC236}">
                <a16:creationId xmlns:a16="http://schemas.microsoft.com/office/drawing/2014/main" id="{147D9967-795B-347E-C943-538EC80F5816}"/>
              </a:ext>
            </a:extLst>
          </p:cNvPr>
          <p:cNvSpPr/>
          <p:nvPr/>
        </p:nvSpPr>
        <p:spPr>
          <a:xfrm>
            <a:off x="9553007"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MERCH</a:t>
            </a:r>
            <a:endParaRPr lang="en-US" sz="1350" dirty="0"/>
          </a:p>
        </p:txBody>
      </p:sp>
      <p:sp>
        <p:nvSpPr>
          <p:cNvPr id="15" name="Shape 2">
            <a:extLst>
              <a:ext uri="{FF2B5EF4-FFF2-40B4-BE49-F238E27FC236}">
                <a16:creationId xmlns:a16="http://schemas.microsoft.com/office/drawing/2014/main" id="{241BA39C-7984-9F60-BFB3-DE218E912EA8}"/>
              </a:ext>
            </a:extLst>
          </p:cNvPr>
          <p:cNvSpPr/>
          <p:nvPr/>
        </p:nvSpPr>
        <p:spPr>
          <a:xfrm>
            <a:off x="9456755" y="4189002"/>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6" name="Text 3">
            <a:extLst>
              <a:ext uri="{FF2B5EF4-FFF2-40B4-BE49-F238E27FC236}">
                <a16:creationId xmlns:a16="http://schemas.microsoft.com/office/drawing/2014/main" id="{AA5F8CAB-EDAF-B0ED-BD36-465AE694BA19}"/>
              </a:ext>
            </a:extLst>
          </p:cNvPr>
          <p:cNvSpPr/>
          <p:nvPr/>
        </p:nvSpPr>
        <p:spPr>
          <a:xfrm>
            <a:off x="9553007" y="4236126"/>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cs typeface="Arial" pitchFamily="34" charset="-120"/>
              </a:rPr>
              <a:t>BARS</a:t>
            </a:r>
            <a:endParaRPr lang="en-US" sz="1350" dirty="0"/>
          </a:p>
        </p:txBody>
      </p:sp>
      <p:sp>
        <p:nvSpPr>
          <p:cNvPr id="17" name="Shape 2">
            <a:extLst>
              <a:ext uri="{FF2B5EF4-FFF2-40B4-BE49-F238E27FC236}">
                <a16:creationId xmlns:a16="http://schemas.microsoft.com/office/drawing/2014/main" id="{78760BC2-B8D5-D1EB-3B13-858EF4BB7461}"/>
              </a:ext>
            </a:extLst>
          </p:cNvPr>
          <p:cNvSpPr/>
          <p:nvPr/>
        </p:nvSpPr>
        <p:spPr>
          <a:xfrm>
            <a:off x="9456755" y="515153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56" name="Shape 2">
            <a:extLst>
              <a:ext uri="{FF2B5EF4-FFF2-40B4-BE49-F238E27FC236}">
                <a16:creationId xmlns:a16="http://schemas.microsoft.com/office/drawing/2014/main" id="{38E81D2B-02C5-FA4E-20E2-E3471BF56A1F}"/>
              </a:ext>
            </a:extLst>
          </p:cNvPr>
          <p:cNvSpPr/>
          <p:nvPr/>
        </p:nvSpPr>
        <p:spPr>
          <a:xfrm>
            <a:off x="9456755" y="6242393"/>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59" name="Shape 2">
            <a:extLst>
              <a:ext uri="{FF2B5EF4-FFF2-40B4-BE49-F238E27FC236}">
                <a16:creationId xmlns:a16="http://schemas.microsoft.com/office/drawing/2014/main" id="{66B3B15E-3BFE-C11C-7EC1-6F1C25F735AF}"/>
              </a:ext>
            </a:extLst>
          </p:cNvPr>
          <p:cNvSpPr/>
          <p:nvPr/>
        </p:nvSpPr>
        <p:spPr>
          <a:xfrm>
            <a:off x="6970229"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0" name="Text 3">
            <a:extLst>
              <a:ext uri="{FF2B5EF4-FFF2-40B4-BE49-F238E27FC236}">
                <a16:creationId xmlns:a16="http://schemas.microsoft.com/office/drawing/2014/main" id="{4D6EC464-7901-12E5-6C9C-C918D3DA414B}"/>
              </a:ext>
            </a:extLst>
          </p:cNvPr>
          <p:cNvSpPr/>
          <p:nvPr/>
        </p:nvSpPr>
        <p:spPr>
          <a:xfrm>
            <a:off x="7066481"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MERCH</a:t>
            </a:r>
            <a:endParaRPr lang="en-US" sz="1350" dirty="0"/>
          </a:p>
        </p:txBody>
      </p:sp>
      <p:sp>
        <p:nvSpPr>
          <p:cNvPr id="63" name="Shape 2">
            <a:extLst>
              <a:ext uri="{FF2B5EF4-FFF2-40B4-BE49-F238E27FC236}">
                <a16:creationId xmlns:a16="http://schemas.microsoft.com/office/drawing/2014/main" id="{E04A2158-B41C-22EC-55C9-D16611723EE1}"/>
              </a:ext>
            </a:extLst>
          </p:cNvPr>
          <p:cNvSpPr/>
          <p:nvPr/>
        </p:nvSpPr>
        <p:spPr>
          <a:xfrm>
            <a:off x="6970229" y="515153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5" name="Shape 2">
            <a:extLst>
              <a:ext uri="{FF2B5EF4-FFF2-40B4-BE49-F238E27FC236}">
                <a16:creationId xmlns:a16="http://schemas.microsoft.com/office/drawing/2014/main" id="{9A73192C-E247-9826-765F-0A0B16732FF0}"/>
              </a:ext>
            </a:extLst>
          </p:cNvPr>
          <p:cNvSpPr/>
          <p:nvPr/>
        </p:nvSpPr>
        <p:spPr>
          <a:xfrm>
            <a:off x="6970229" y="6242393"/>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7" name="Shape 2">
            <a:extLst>
              <a:ext uri="{FF2B5EF4-FFF2-40B4-BE49-F238E27FC236}">
                <a16:creationId xmlns:a16="http://schemas.microsoft.com/office/drawing/2014/main" id="{5B323F10-F6A8-5DB0-5496-56ADEBA16CA8}"/>
              </a:ext>
            </a:extLst>
          </p:cNvPr>
          <p:cNvSpPr/>
          <p:nvPr/>
        </p:nvSpPr>
        <p:spPr>
          <a:xfrm>
            <a:off x="6970229" y="401254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9" name="TextBox 68">
            <a:extLst>
              <a:ext uri="{FF2B5EF4-FFF2-40B4-BE49-F238E27FC236}">
                <a16:creationId xmlns:a16="http://schemas.microsoft.com/office/drawing/2014/main" id="{EB067A4E-0C57-0135-7682-16374B268908}"/>
              </a:ext>
            </a:extLst>
          </p:cNvPr>
          <p:cNvSpPr txBox="1"/>
          <p:nvPr/>
        </p:nvSpPr>
        <p:spPr>
          <a:xfrm>
            <a:off x="6848143" y="4020859"/>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DRIED PASTA, SAUCE, OLIVE OIL, VINEGAR, RICE, ETC</a:t>
            </a:r>
          </a:p>
        </p:txBody>
      </p:sp>
      <p:sp>
        <p:nvSpPr>
          <p:cNvPr id="70" name="TextBox 69">
            <a:extLst>
              <a:ext uri="{FF2B5EF4-FFF2-40B4-BE49-F238E27FC236}">
                <a16:creationId xmlns:a16="http://schemas.microsoft.com/office/drawing/2014/main" id="{9C2A79F7-8F6B-5B56-6A3E-764DEA9738AC}"/>
              </a:ext>
            </a:extLst>
          </p:cNvPr>
          <p:cNvSpPr txBox="1"/>
          <p:nvPr/>
        </p:nvSpPr>
        <p:spPr>
          <a:xfrm>
            <a:off x="6848143" y="5159848"/>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PEANUT BUTTER, NUTELLA, SALSA, HOT SAUCE, ETC</a:t>
            </a:r>
          </a:p>
        </p:txBody>
      </p:sp>
      <p:sp>
        <p:nvSpPr>
          <p:cNvPr id="71" name="TextBox 70">
            <a:extLst>
              <a:ext uri="{FF2B5EF4-FFF2-40B4-BE49-F238E27FC236}">
                <a16:creationId xmlns:a16="http://schemas.microsoft.com/office/drawing/2014/main" id="{1AED25F2-F755-9219-A05E-3C3C35940126}"/>
              </a:ext>
            </a:extLst>
          </p:cNvPr>
          <p:cNvSpPr txBox="1"/>
          <p:nvPr/>
        </p:nvSpPr>
        <p:spPr>
          <a:xfrm>
            <a:off x="6848143" y="6250711"/>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PANCAKE MIX, CEREAL, OATMEAL, GRANOLA, ETC</a:t>
            </a:r>
          </a:p>
        </p:txBody>
      </p:sp>
      <p:sp>
        <p:nvSpPr>
          <p:cNvPr id="73" name="Shape 2">
            <a:extLst>
              <a:ext uri="{FF2B5EF4-FFF2-40B4-BE49-F238E27FC236}">
                <a16:creationId xmlns:a16="http://schemas.microsoft.com/office/drawing/2014/main" id="{212C6EF8-2687-853B-7423-33CB8B70E6C2}"/>
              </a:ext>
            </a:extLst>
          </p:cNvPr>
          <p:cNvSpPr/>
          <p:nvPr/>
        </p:nvSpPr>
        <p:spPr>
          <a:xfrm>
            <a:off x="4275155"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4" name="Text 3">
            <a:extLst>
              <a:ext uri="{FF2B5EF4-FFF2-40B4-BE49-F238E27FC236}">
                <a16:creationId xmlns:a16="http://schemas.microsoft.com/office/drawing/2014/main" id="{3CA8F99E-89FC-3B49-FB07-6E76FA43F499}"/>
              </a:ext>
            </a:extLst>
          </p:cNvPr>
          <p:cNvSpPr/>
          <p:nvPr/>
        </p:nvSpPr>
        <p:spPr>
          <a:xfrm>
            <a:off x="4371407"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MERCH</a:t>
            </a:r>
            <a:endParaRPr lang="en-US" sz="1350" dirty="0"/>
          </a:p>
        </p:txBody>
      </p:sp>
      <p:sp>
        <p:nvSpPr>
          <p:cNvPr id="75" name="Shape 2">
            <a:extLst>
              <a:ext uri="{FF2B5EF4-FFF2-40B4-BE49-F238E27FC236}">
                <a16:creationId xmlns:a16="http://schemas.microsoft.com/office/drawing/2014/main" id="{212BFBE5-BAB8-610D-811F-8965DECC127A}"/>
              </a:ext>
            </a:extLst>
          </p:cNvPr>
          <p:cNvSpPr/>
          <p:nvPr/>
        </p:nvSpPr>
        <p:spPr>
          <a:xfrm>
            <a:off x="4275155" y="515153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6" name="Shape 2">
            <a:extLst>
              <a:ext uri="{FF2B5EF4-FFF2-40B4-BE49-F238E27FC236}">
                <a16:creationId xmlns:a16="http://schemas.microsoft.com/office/drawing/2014/main" id="{1445BD5D-BB96-058C-494D-72917473EDDB}"/>
              </a:ext>
            </a:extLst>
          </p:cNvPr>
          <p:cNvSpPr/>
          <p:nvPr/>
        </p:nvSpPr>
        <p:spPr>
          <a:xfrm>
            <a:off x="4275155" y="6242393"/>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7" name="Shape 2">
            <a:extLst>
              <a:ext uri="{FF2B5EF4-FFF2-40B4-BE49-F238E27FC236}">
                <a16:creationId xmlns:a16="http://schemas.microsoft.com/office/drawing/2014/main" id="{E5589951-56DD-CF23-1D0D-4E5D64DCE69E}"/>
              </a:ext>
            </a:extLst>
          </p:cNvPr>
          <p:cNvSpPr/>
          <p:nvPr/>
        </p:nvSpPr>
        <p:spPr>
          <a:xfrm>
            <a:off x="4275155" y="401254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8" name="TextBox 77">
            <a:extLst>
              <a:ext uri="{FF2B5EF4-FFF2-40B4-BE49-F238E27FC236}">
                <a16:creationId xmlns:a16="http://schemas.microsoft.com/office/drawing/2014/main" id="{CE73BD17-7D48-0169-6BBB-A9D45AB89F53}"/>
              </a:ext>
            </a:extLst>
          </p:cNvPr>
          <p:cNvSpPr txBox="1"/>
          <p:nvPr/>
        </p:nvSpPr>
        <p:spPr>
          <a:xfrm>
            <a:off x="4153069" y="4020859"/>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TOOTHBRUSH, DEODORANT, SLEEP AIDS, ETC</a:t>
            </a:r>
          </a:p>
        </p:txBody>
      </p:sp>
      <p:sp>
        <p:nvSpPr>
          <p:cNvPr id="79" name="TextBox 78">
            <a:extLst>
              <a:ext uri="{FF2B5EF4-FFF2-40B4-BE49-F238E27FC236}">
                <a16:creationId xmlns:a16="http://schemas.microsoft.com/office/drawing/2014/main" id="{3E4DAB4A-6329-2B35-4DB3-7D5F73D34BB0}"/>
              </a:ext>
            </a:extLst>
          </p:cNvPr>
          <p:cNvSpPr txBox="1"/>
          <p:nvPr/>
        </p:nvSpPr>
        <p:spPr>
          <a:xfrm>
            <a:off x="4153069" y="5159848"/>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ADVIL, TYLENOL, PROTEIN, LIQUID IV, PROTEIN BARS, ETC</a:t>
            </a:r>
          </a:p>
        </p:txBody>
      </p:sp>
      <p:sp>
        <p:nvSpPr>
          <p:cNvPr id="80" name="TextBox 79">
            <a:extLst>
              <a:ext uri="{FF2B5EF4-FFF2-40B4-BE49-F238E27FC236}">
                <a16:creationId xmlns:a16="http://schemas.microsoft.com/office/drawing/2014/main" id="{A8056857-C90D-0C2E-1D1C-B193B9F5EDE7}"/>
              </a:ext>
            </a:extLst>
          </p:cNvPr>
          <p:cNvSpPr txBox="1"/>
          <p:nvPr/>
        </p:nvSpPr>
        <p:spPr>
          <a:xfrm>
            <a:off x="4153069" y="6250711"/>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CHAPSTICK, SUNSCREEN, EYE MASK, WIPES, ETC</a:t>
            </a:r>
          </a:p>
        </p:txBody>
      </p:sp>
      <p:sp>
        <p:nvSpPr>
          <p:cNvPr id="81" name="TextBox 80">
            <a:extLst>
              <a:ext uri="{FF2B5EF4-FFF2-40B4-BE49-F238E27FC236}">
                <a16:creationId xmlns:a16="http://schemas.microsoft.com/office/drawing/2014/main" id="{6D073133-3B32-1BE6-156C-0588211A8298}"/>
              </a:ext>
            </a:extLst>
          </p:cNvPr>
          <p:cNvSpPr txBox="1"/>
          <p:nvPr/>
        </p:nvSpPr>
        <p:spPr>
          <a:xfrm>
            <a:off x="9334670" y="5216699"/>
            <a:ext cx="1952724" cy="430887"/>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CHIPS, PRETZELS, POPCORN, ETC</a:t>
            </a:r>
          </a:p>
        </p:txBody>
      </p:sp>
      <p:sp>
        <p:nvSpPr>
          <p:cNvPr id="82" name="TextBox 81">
            <a:extLst>
              <a:ext uri="{FF2B5EF4-FFF2-40B4-BE49-F238E27FC236}">
                <a16:creationId xmlns:a16="http://schemas.microsoft.com/office/drawing/2014/main" id="{E7B11AD0-47B6-6BF2-BE5A-8256A6A838FF}"/>
              </a:ext>
            </a:extLst>
          </p:cNvPr>
          <p:cNvSpPr txBox="1"/>
          <p:nvPr/>
        </p:nvSpPr>
        <p:spPr>
          <a:xfrm>
            <a:off x="9334670" y="6250711"/>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LARGE BAG SNACKS, BEEF JERKY, CANDY, ETC</a:t>
            </a:r>
          </a:p>
        </p:txBody>
      </p:sp>
      <p:sp>
        <p:nvSpPr>
          <p:cNvPr id="85" name="TextBox 84">
            <a:extLst>
              <a:ext uri="{FF2B5EF4-FFF2-40B4-BE49-F238E27FC236}">
                <a16:creationId xmlns:a16="http://schemas.microsoft.com/office/drawing/2014/main" id="{CA6B09B6-5237-483D-3E72-DA11BC2C8B3F}"/>
              </a:ext>
            </a:extLst>
          </p:cNvPr>
          <p:cNvSpPr txBox="1"/>
          <p:nvPr/>
        </p:nvSpPr>
        <p:spPr>
          <a:xfrm>
            <a:off x="6848143"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PANTRY</a:t>
            </a:r>
          </a:p>
        </p:txBody>
      </p:sp>
      <p:sp>
        <p:nvSpPr>
          <p:cNvPr id="86" name="TextBox 85">
            <a:extLst>
              <a:ext uri="{FF2B5EF4-FFF2-40B4-BE49-F238E27FC236}">
                <a16:creationId xmlns:a16="http://schemas.microsoft.com/office/drawing/2014/main" id="{CA877ED9-7CE8-4779-5981-243681C1A407}"/>
              </a:ext>
            </a:extLst>
          </p:cNvPr>
          <p:cNvSpPr txBox="1"/>
          <p:nvPr/>
        </p:nvSpPr>
        <p:spPr>
          <a:xfrm>
            <a:off x="9398837"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SNACKS</a:t>
            </a:r>
          </a:p>
        </p:txBody>
      </p:sp>
      <p:sp>
        <p:nvSpPr>
          <p:cNvPr id="87" name="TextBox 86">
            <a:extLst>
              <a:ext uri="{FF2B5EF4-FFF2-40B4-BE49-F238E27FC236}">
                <a16:creationId xmlns:a16="http://schemas.microsoft.com/office/drawing/2014/main" id="{82424E2F-6B53-3B34-7F49-8CECEAA196BB}"/>
              </a:ext>
            </a:extLst>
          </p:cNvPr>
          <p:cNvSpPr txBox="1"/>
          <p:nvPr/>
        </p:nvSpPr>
        <p:spPr>
          <a:xfrm>
            <a:off x="11821195"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ALCOHOL</a:t>
            </a:r>
          </a:p>
        </p:txBody>
      </p:sp>
      <p:sp>
        <p:nvSpPr>
          <p:cNvPr id="88" name="TextBox 87">
            <a:extLst>
              <a:ext uri="{FF2B5EF4-FFF2-40B4-BE49-F238E27FC236}">
                <a16:creationId xmlns:a16="http://schemas.microsoft.com/office/drawing/2014/main" id="{D48286CC-DA33-F4CF-2191-FA30D96B7C56}"/>
              </a:ext>
            </a:extLst>
          </p:cNvPr>
          <p:cNvSpPr txBox="1"/>
          <p:nvPr/>
        </p:nvSpPr>
        <p:spPr>
          <a:xfrm>
            <a:off x="4217237"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HOUSEHOLD</a:t>
            </a:r>
          </a:p>
        </p:txBody>
      </p:sp>
    </p:spTree>
    <p:extLst>
      <p:ext uri="{BB962C8B-B14F-4D97-AF65-F5344CB8AC3E}">
        <p14:creationId xmlns:p14="http://schemas.microsoft.com/office/powerpoint/2010/main" val="1792870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a:extLst>
            <a:ext uri="{FF2B5EF4-FFF2-40B4-BE49-F238E27FC236}">
              <a16:creationId xmlns:a16="http://schemas.microsoft.com/office/drawing/2014/main" id="{573662B1-7DD1-B9FA-3FEA-4DE14A9B75E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DC001D6-0735-D06D-9B32-4B971A664A39}"/>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04 | PROGRAMMING</a:t>
            </a:r>
            <a:endParaRPr lang="en-US" sz="1650" dirty="0"/>
          </a:p>
        </p:txBody>
      </p:sp>
      <p:sp>
        <p:nvSpPr>
          <p:cNvPr id="3" name="Text 1">
            <a:extLst>
              <a:ext uri="{FF2B5EF4-FFF2-40B4-BE49-F238E27FC236}">
                <a16:creationId xmlns:a16="http://schemas.microsoft.com/office/drawing/2014/main" id="{65E7B12A-0977-32FF-5A9A-E16391707FDD}"/>
              </a:ext>
            </a:extLst>
          </p:cNvPr>
          <p:cNvSpPr/>
          <p:nvPr/>
        </p:nvSpPr>
        <p:spPr>
          <a:xfrm>
            <a:off x="952500" y="1104899"/>
            <a:ext cx="10497378" cy="617043"/>
          </a:xfrm>
          <a:prstGeom prst="rect">
            <a:avLst/>
          </a:prstGeom>
          <a:noFill/>
          <a:ln/>
        </p:spPr>
        <p:txBody>
          <a:bodyPr wrap="square" lIns="25400" tIns="25400" rIns="25400" bIns="25400" rtlCol="0" anchor="t">
            <a:normAutofit fontScale="92500" lnSpcReduction="10000"/>
          </a:bodyPr>
          <a:lstStyle/>
          <a:p>
            <a:pPr marL="0" indent="0" algn="l">
              <a:lnSpc>
                <a:spcPct val="100000"/>
              </a:lnSpc>
              <a:buNone/>
            </a:pPr>
            <a:r>
              <a:rPr lang="en-US" sz="4200" kern="0" spc="-37" dirty="0">
                <a:solidFill>
                  <a:srgbClr val="22424B"/>
                </a:solidFill>
                <a:latin typeface="Georgia" pitchFamily="34" charset="0"/>
                <a:ea typeface="Georgia" pitchFamily="34" charset="-122"/>
                <a:cs typeface="Georgia" pitchFamily="34" charset="-120"/>
              </a:rPr>
              <a:t>Give people a reason to come….and to buy</a:t>
            </a:r>
            <a:endParaRPr lang="en-US" sz="4200" dirty="0"/>
          </a:p>
        </p:txBody>
      </p:sp>
      <p:pic>
        <p:nvPicPr>
          <p:cNvPr id="92" name="Picture 91">
            <a:extLst>
              <a:ext uri="{FF2B5EF4-FFF2-40B4-BE49-F238E27FC236}">
                <a16:creationId xmlns:a16="http://schemas.microsoft.com/office/drawing/2014/main" id="{992D03D0-EC08-C806-E4EC-B087D373F953}"/>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9" name="Text 8">
            <a:extLst>
              <a:ext uri="{FF2B5EF4-FFF2-40B4-BE49-F238E27FC236}">
                <a16:creationId xmlns:a16="http://schemas.microsoft.com/office/drawing/2014/main" id="{933EC567-F9C1-BB9C-2F94-4C936F3C626C}"/>
              </a:ext>
            </a:extLst>
          </p:cNvPr>
          <p:cNvSpPr/>
          <p:nvPr/>
        </p:nvSpPr>
        <p:spPr>
          <a:xfrm>
            <a:off x="952500" y="2532497"/>
            <a:ext cx="7208520"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LITTLE WING AFTER DARK</a:t>
            </a:r>
            <a:endParaRPr lang="en-US" sz="1425" b="1" dirty="0">
              <a:solidFill>
                <a:srgbClr val="1E7E8C"/>
              </a:solidFill>
            </a:endParaRPr>
          </a:p>
        </p:txBody>
      </p:sp>
      <p:sp>
        <p:nvSpPr>
          <p:cNvPr id="10" name="Text 9">
            <a:extLst>
              <a:ext uri="{FF2B5EF4-FFF2-40B4-BE49-F238E27FC236}">
                <a16:creationId xmlns:a16="http://schemas.microsoft.com/office/drawing/2014/main" id="{6191EB00-30EA-A825-D633-B2E10BE4CB99}"/>
              </a:ext>
            </a:extLst>
          </p:cNvPr>
          <p:cNvSpPr/>
          <p:nvPr/>
        </p:nvSpPr>
        <p:spPr>
          <a:xfrm>
            <a:off x="952500" y="2913497"/>
            <a:ext cx="4068679"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700" kern="0" spc="-150" dirty="0">
                <a:solidFill>
                  <a:srgbClr val="22424B"/>
                </a:solidFill>
                <a:latin typeface="Georgia" pitchFamily="34" charset="0"/>
              </a:rPr>
              <a:t>(+) 2x/month</a:t>
            </a:r>
            <a:endParaRPr lang="en-US" sz="5700" dirty="0"/>
          </a:p>
        </p:txBody>
      </p:sp>
      <p:sp>
        <p:nvSpPr>
          <p:cNvPr id="12" name="Text 13">
            <a:extLst>
              <a:ext uri="{FF2B5EF4-FFF2-40B4-BE49-F238E27FC236}">
                <a16:creationId xmlns:a16="http://schemas.microsoft.com/office/drawing/2014/main" id="{38FA5174-78C6-D8D9-EA02-0B53CC23AD93}"/>
              </a:ext>
            </a:extLst>
          </p:cNvPr>
          <p:cNvSpPr/>
          <p:nvPr/>
        </p:nvSpPr>
        <p:spPr>
          <a:xfrm>
            <a:off x="952500" y="3808847"/>
            <a:ext cx="6749796" cy="3336483"/>
          </a:xfrm>
          <a:prstGeom prst="rect">
            <a:avLst/>
          </a:prstGeom>
          <a:noFill/>
          <a:ln/>
        </p:spPr>
        <p:txBody>
          <a:bodyPr wrap="square" lIns="25400" tIns="25400" rIns="25400" bIns="25400" rtlCol="0" anchor="t">
            <a:normAutofit/>
          </a:bodyPr>
          <a:lstStyle/>
          <a:p>
            <a:r>
              <a:rPr lang="en-US" sz="1650" dirty="0">
                <a:solidFill>
                  <a:srgbClr val="5E6B70"/>
                </a:solidFill>
                <a:latin typeface="Arial" pitchFamily="34" charset="0"/>
                <a:cs typeface="Arial" pitchFamily="34" charset="-120"/>
              </a:rPr>
              <a:t>Transition from weekly evening programming to curated events twice per month. Programming that brings people into the door:</a:t>
            </a:r>
          </a:p>
          <a:p>
            <a:pPr marL="285750" indent="-285750">
              <a:lnSpc>
                <a:spcPct val="150000"/>
              </a:lnSpc>
              <a:buFont typeface="Arial" panose="020B0604020202020204" pitchFamily="34" charset="0"/>
              <a:buChar char="•"/>
            </a:pPr>
            <a:endParaRPr lang="en-US" sz="1650" dirty="0">
              <a:solidFill>
                <a:srgbClr val="5E6B70"/>
              </a:solidFill>
              <a:latin typeface="Arial" pitchFamily="34" charset="0"/>
              <a:cs typeface="Arial" pitchFamily="34" charset="-120"/>
            </a:endParaRP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Blossom Martini × La Colombe Pop-Up</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Wine Wednesday (monthly)</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Acoustic Music Night</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Poetry &amp; Spoken Word</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Local Artist Showcase</a:t>
            </a:r>
          </a:p>
          <a:p>
            <a:pPr marL="0" indent="0" algn="l">
              <a:lnSpc>
                <a:spcPct val="150000"/>
              </a:lnSpc>
              <a:buNone/>
            </a:pPr>
            <a:endParaRPr lang="en-US" sz="1650" dirty="0"/>
          </a:p>
        </p:txBody>
      </p:sp>
      <p:sp>
        <p:nvSpPr>
          <p:cNvPr id="13" name="Text 15">
            <a:extLst>
              <a:ext uri="{FF2B5EF4-FFF2-40B4-BE49-F238E27FC236}">
                <a16:creationId xmlns:a16="http://schemas.microsoft.com/office/drawing/2014/main" id="{44D7F71E-8129-EEA1-474F-9AF3600A5612}"/>
              </a:ext>
            </a:extLst>
          </p:cNvPr>
          <p:cNvSpPr/>
          <p:nvPr/>
        </p:nvSpPr>
        <p:spPr>
          <a:xfrm>
            <a:off x="8667750" y="2532497"/>
            <a:ext cx="9534525"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POS MARKETING</a:t>
            </a:r>
            <a:endParaRPr lang="en-US" sz="1425" dirty="0">
              <a:solidFill>
                <a:srgbClr val="1E7E8C"/>
              </a:solidFill>
            </a:endParaRPr>
          </a:p>
        </p:txBody>
      </p:sp>
      <p:pic>
        <p:nvPicPr>
          <p:cNvPr id="21" name="Picture 20">
            <a:extLst>
              <a:ext uri="{FF2B5EF4-FFF2-40B4-BE49-F238E27FC236}">
                <a16:creationId xmlns:a16="http://schemas.microsoft.com/office/drawing/2014/main" id="{95F9E3D0-9858-0141-65C2-CEE0A9BAC8E8}"/>
              </a:ext>
            </a:extLst>
          </p:cNvPr>
          <p:cNvPicPr>
            <a:picLocks noChangeAspect="1"/>
          </p:cNvPicPr>
          <p:nvPr/>
        </p:nvPicPr>
        <p:blipFill>
          <a:blip r:embed="rId4"/>
          <a:stretch>
            <a:fillRect/>
          </a:stretch>
        </p:blipFill>
        <p:spPr>
          <a:xfrm>
            <a:off x="8828174" y="6076834"/>
            <a:ext cx="3094006" cy="3521355"/>
          </a:xfrm>
          <a:prstGeom prst="rect">
            <a:avLst/>
          </a:prstGeom>
        </p:spPr>
      </p:pic>
      <p:sp>
        <p:nvSpPr>
          <p:cNvPr id="22" name="Text 13">
            <a:extLst>
              <a:ext uri="{FF2B5EF4-FFF2-40B4-BE49-F238E27FC236}">
                <a16:creationId xmlns:a16="http://schemas.microsoft.com/office/drawing/2014/main" id="{8FED11EF-88D8-A4E3-236C-E48A6E2499AB}"/>
              </a:ext>
            </a:extLst>
          </p:cNvPr>
          <p:cNvSpPr/>
          <p:nvPr/>
        </p:nvSpPr>
        <p:spPr>
          <a:xfrm>
            <a:off x="8667750" y="3764843"/>
            <a:ext cx="7998994" cy="3336483"/>
          </a:xfrm>
          <a:prstGeom prst="rect">
            <a:avLst/>
          </a:prstGeom>
          <a:noFill/>
          <a:ln/>
        </p:spPr>
        <p:txBody>
          <a:bodyPr wrap="square" lIns="25400" tIns="25400" rIns="25400" bIns="25400" rtlCol="0" anchor="t">
            <a:normAutofit/>
          </a:bodyPr>
          <a:lstStyle/>
          <a:p>
            <a:r>
              <a:rPr lang="en-US" sz="1650" dirty="0">
                <a:solidFill>
                  <a:srgbClr val="5E6B70"/>
                </a:solidFill>
                <a:latin typeface="Arial" pitchFamily="34" charset="0"/>
                <a:cs typeface="Arial" pitchFamily="34" charset="-120"/>
              </a:rPr>
              <a:t>Increase awareness with dynamic digital displays at key guest touchpoints (front desk &amp; Little Wing POS station)</a:t>
            </a:r>
          </a:p>
          <a:p>
            <a:pPr marL="285750" indent="-285750">
              <a:lnSpc>
                <a:spcPct val="150000"/>
              </a:lnSpc>
              <a:buFont typeface="Arial" panose="020B0604020202020204" pitchFamily="34" charset="0"/>
              <a:buChar char="•"/>
            </a:pPr>
            <a:endParaRPr lang="en-US" sz="1650" dirty="0">
              <a:solidFill>
                <a:srgbClr val="5E6B70"/>
              </a:solidFill>
              <a:latin typeface="Arial" pitchFamily="34" charset="0"/>
              <a:cs typeface="Arial" pitchFamily="34" charset="-120"/>
            </a:endParaRP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Showcase Little Wing menu items and daily specials.</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Highlight upcoming events and resident programming.</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Promote seasonal offerings and limited-time products.</a:t>
            </a:r>
          </a:p>
        </p:txBody>
      </p:sp>
      <p:sp>
        <p:nvSpPr>
          <p:cNvPr id="23" name="Text 9">
            <a:extLst>
              <a:ext uri="{FF2B5EF4-FFF2-40B4-BE49-F238E27FC236}">
                <a16:creationId xmlns:a16="http://schemas.microsoft.com/office/drawing/2014/main" id="{182E7942-9157-5A11-8A01-DD1F8872A21F}"/>
              </a:ext>
            </a:extLst>
          </p:cNvPr>
          <p:cNvSpPr/>
          <p:nvPr/>
        </p:nvSpPr>
        <p:spPr>
          <a:xfrm>
            <a:off x="8636668" y="2913497"/>
            <a:ext cx="4068679"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endParaRPr lang="en-US" sz="5700" dirty="0"/>
          </a:p>
        </p:txBody>
      </p:sp>
      <p:sp>
        <p:nvSpPr>
          <p:cNvPr id="24" name="Text 9">
            <a:extLst>
              <a:ext uri="{FF2B5EF4-FFF2-40B4-BE49-F238E27FC236}">
                <a16:creationId xmlns:a16="http://schemas.microsoft.com/office/drawing/2014/main" id="{46097782-5BFD-5209-B41F-60931DD0CA58}"/>
              </a:ext>
            </a:extLst>
          </p:cNvPr>
          <p:cNvSpPr/>
          <p:nvPr/>
        </p:nvSpPr>
        <p:spPr>
          <a:xfrm>
            <a:off x="8668753" y="2913497"/>
            <a:ext cx="4726405"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700" kern="0" spc="-150" dirty="0">
                <a:solidFill>
                  <a:srgbClr val="22424B"/>
                </a:solidFill>
                <a:latin typeface="Georgia" pitchFamily="34" charset="0"/>
              </a:rPr>
              <a:t>mobile displays</a:t>
            </a:r>
            <a:endParaRPr lang="en-US" sz="5700" dirty="0"/>
          </a:p>
        </p:txBody>
      </p:sp>
      <p:pic>
        <p:nvPicPr>
          <p:cNvPr id="25" name="Picture 24" descr="Pro Player Digital Signage Player angled view of front">
            <a:extLst>
              <a:ext uri="{FF2B5EF4-FFF2-40B4-BE49-F238E27FC236}">
                <a16:creationId xmlns:a16="http://schemas.microsoft.com/office/drawing/2014/main" id="{E8C97B5B-4373-D640-B4EB-61B32739ED7D}"/>
              </a:ext>
            </a:extLst>
          </p:cNvPr>
          <p:cNvPicPr>
            <a:picLocks noChangeAspect="1"/>
          </p:cNvPicPr>
          <p:nvPr/>
        </p:nvPicPr>
        <p:blipFill>
          <a:blip r:embed="rId5"/>
          <a:stretch>
            <a:fillRect/>
          </a:stretch>
        </p:blipFill>
        <p:spPr>
          <a:xfrm>
            <a:off x="11922180" y="5959382"/>
            <a:ext cx="3756258" cy="3756258"/>
          </a:xfrm>
          <a:prstGeom prst="rect">
            <a:avLst/>
          </a:prstGeom>
        </p:spPr>
      </p:pic>
      <p:sp>
        <p:nvSpPr>
          <p:cNvPr id="27" name="Shape 16">
            <a:extLst>
              <a:ext uri="{FF2B5EF4-FFF2-40B4-BE49-F238E27FC236}">
                <a16:creationId xmlns:a16="http://schemas.microsoft.com/office/drawing/2014/main" id="{4B825243-9C87-8941-02C4-862842E2D9D4}"/>
              </a:ext>
            </a:extLst>
          </p:cNvPr>
          <p:cNvSpPr/>
          <p:nvPr/>
        </p:nvSpPr>
        <p:spPr>
          <a:xfrm>
            <a:off x="8077238" y="3162300"/>
            <a:ext cx="19050" cy="5486400"/>
          </a:xfrm>
          <a:prstGeom prst="rect">
            <a:avLst/>
          </a:prstGeom>
          <a:solidFill>
            <a:srgbClr val="D2D3CD"/>
          </a:solidFill>
          <a:ln/>
        </p:spPr>
        <p:txBody>
          <a:bodyPr/>
          <a:lstStyle/>
          <a:p>
            <a:endParaRPr lang="en-US"/>
          </a:p>
        </p:txBody>
      </p:sp>
    </p:spTree>
    <p:extLst>
      <p:ext uri="{BB962C8B-B14F-4D97-AF65-F5344CB8AC3E}">
        <p14:creationId xmlns:p14="http://schemas.microsoft.com/office/powerpoint/2010/main" val="92758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a:effectLst/>
      </p:bgPr>
    </p:bg>
    <p:spTree>
      <p:nvGrpSpPr>
        <p:cNvPr id="1" name=""/>
        <p:cNvGrpSpPr/>
        <p:nvPr/>
      </p:nvGrpSpPr>
      <p:grpSpPr>
        <a:xfrm>
          <a:off x="0" y="0"/>
          <a:ext cx="0" cy="0"/>
          <a:chOff x="0" y="0"/>
          <a:chExt cx="0" cy="0"/>
        </a:xfrm>
      </p:grpSpPr>
      <p:sp>
        <p:nvSpPr>
          <p:cNvPr id="120" name="Text 1">
            <a:extLst>
              <a:ext uri="{FF2B5EF4-FFF2-40B4-BE49-F238E27FC236}">
                <a16:creationId xmlns:a16="http://schemas.microsoft.com/office/drawing/2014/main" id="{86BF14AD-F9BB-3F8F-9C19-936C340F2ED7}"/>
              </a:ext>
            </a:extLst>
          </p:cNvPr>
          <p:cNvSpPr/>
          <p:nvPr/>
        </p:nvSpPr>
        <p:spPr>
          <a:xfrm>
            <a:off x="952500" y="1104900"/>
            <a:ext cx="9018181"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rgbClr val="22424B"/>
                </a:solidFill>
                <a:latin typeface="Georgia" pitchFamily="34" charset="0"/>
              </a:rPr>
              <a:t>The go-forward plan</a:t>
            </a:r>
            <a:endParaRPr lang="en-US" sz="4200" dirty="0"/>
          </a:p>
        </p:txBody>
      </p:sp>
      <p:sp>
        <p:nvSpPr>
          <p:cNvPr id="121" name="Text 0">
            <a:extLst>
              <a:ext uri="{FF2B5EF4-FFF2-40B4-BE49-F238E27FC236}">
                <a16:creationId xmlns:a16="http://schemas.microsoft.com/office/drawing/2014/main" id="{259E4A94-4244-284B-BFA6-92705ABAB9DA}"/>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05 | P&amp;L</a:t>
            </a:r>
            <a:endParaRPr lang="en-US" sz="1650" dirty="0"/>
          </a:p>
        </p:txBody>
      </p:sp>
      <p:pic>
        <p:nvPicPr>
          <p:cNvPr id="122" name="Picture 121">
            <a:extLst>
              <a:ext uri="{FF2B5EF4-FFF2-40B4-BE49-F238E27FC236}">
                <a16:creationId xmlns:a16="http://schemas.microsoft.com/office/drawing/2014/main" id="{8C3F3AE3-58DC-2BE9-BAE8-8014C9873AFA}"/>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124" name="TextBox 123"/>
          <p:cNvSpPr txBox="1"/>
          <p:nvPr/>
        </p:nvSpPr>
        <p:spPr>
          <a:xfrm>
            <a:off x="12893040" y="2468880"/>
            <a:ext cx="4572000" cy="4572000"/>
          </a:xfrm>
          <a:prstGeom prst="rect">
            <a:avLst/>
          </a:prstGeom>
          <a:noFill/>
        </p:spPr>
        <p:txBody>
          <a:bodyPr wrap="square">
            <a:spAutoFit/>
          </a:bodyPr>
          <a:lstStyle/>
          <a:p>
            <a:pPr>
              <a:spcAft>
                <a:spcPts val="800"/>
              </a:spcAft>
            </a:pPr>
            <a:r>
              <a:rPr sz="1300" b="1">
                <a:solidFill>
                  <a:srgbClr val="63BACB"/>
                </a:solidFill>
                <a:latin typeface="Arial"/>
              </a:rPr>
              <a:t>OWNER TERMS — DECIDED</a:t>
            </a:r>
          </a:p>
          <a:p>
            <a:pPr>
              <a:spcAft>
                <a:spcPts val="800"/>
              </a:spcAft>
            </a:pPr>
            <a:r>
              <a:rPr sz="1400" b="0">
                <a:solidFill>
                  <a:srgbClr val="3F4A4E"/>
                </a:solidFill>
                <a:latin typeface="Arial"/>
              </a:rPr>
              <a:t>4% management fee replaces the $48K flat fee</a:t>
            </a:r>
          </a:p>
          <a:p>
            <a:pPr>
              <a:spcAft>
                <a:spcPts val="800"/>
              </a:spcAft>
            </a:pPr>
            <a:r>
              <a:rPr sz="1400" b="0">
                <a:solidFill>
                  <a:srgbClr val="3F4A4E"/>
                </a:solidFill>
                <a:latin typeface="Arial"/>
              </a:rPr>
              <a:t>Rent waived (was 6% of revenue)</a:t>
            </a:r>
          </a:p>
          <a:p>
            <a:pPr>
              <a:spcAft>
                <a:spcPts val="800"/>
              </a:spcAft>
            </a:pPr>
            <a:r>
              <a:rPr sz="1400" b="0">
                <a:solidFill>
                  <a:srgbClr val="3F4A4E"/>
                </a:solidFill>
                <a:latin typeface="Arial"/>
              </a:rPr>
              <a:t>All levers live 8/1/2026 — actuals through June untouched</a:t>
            </a:r>
          </a:p>
          <a:p>
            <a:pPr>
              <a:spcAft>
                <a:spcPts val="800"/>
              </a:spcAft>
            </a:pPr>
            <a:r>
              <a:rPr sz="1400" b="0">
                <a:solidFill>
                  <a:srgbClr val="3F4A4E"/>
                </a:solidFill>
                <a:latin typeface="Arial"/>
              </a:rPr>
              <a:t/>
            </a:r>
          </a:p>
          <a:p>
            <a:pPr>
              <a:spcAft>
                <a:spcPts val="800"/>
              </a:spcAft>
            </a:pPr>
            <a:r>
              <a:rPr sz="1300" b="1">
                <a:solidFill>
                  <a:srgbClr val="63BACB"/>
                </a:solidFill>
                <a:latin typeface="Arial"/>
              </a:rPr>
              <a:t>THE RESULT</a:t>
            </a:r>
          </a:p>
          <a:p>
            <a:pPr>
              <a:spcAft>
                <a:spcPts val="800"/>
              </a:spcAft>
            </a:pPr>
            <a:r>
              <a:rPr sz="1400" b="0">
                <a:solidFill>
                  <a:srgbClr val="3F4A4E"/>
                </a:solidFill>
                <a:latin typeface="Arial"/>
              </a:rPr>
              <a:t>Full-year loss ELIMINATED — from ($164K) to a $1.0K profit</a:t>
            </a:r>
          </a:p>
          <a:p>
            <a:pPr>
              <a:spcAft>
                <a:spcPts val="800"/>
              </a:spcAft>
            </a:pPr>
            <a:r>
              <a:rPr sz="1400" b="0">
                <a:solidFill>
                  <a:srgbClr val="3F4A4E"/>
                </a:solidFill>
                <a:latin typeface="Arial"/>
              </a:rPr>
              <a:t>Combined with Vessel (+$54.2K), the portfolio turns positive in 2027: +$82.4K</a:t>
            </a:r>
          </a:p>
          <a:p>
            <a:pPr>
              <a:spcAft>
                <a:spcPts val="800"/>
              </a:spcAft>
            </a:pPr>
            <a:r>
              <a:rPr sz="1400" b="0">
                <a:solidFill>
                  <a:srgbClr val="3F4A4E"/>
                </a:solidFill>
                <a:latin typeface="Arial"/>
              </a:rPr>
              <a:t/>
            </a:r>
          </a:p>
          <a:p>
            <a:pPr>
              <a:spcAft>
                <a:spcPts val="800"/>
              </a:spcAft>
            </a:pPr>
            <a:r>
              <a:rPr sz="1300" b="1">
                <a:solidFill>
                  <a:srgbClr val="63BACB"/>
                </a:solidFill>
                <a:latin typeface="Arial"/>
              </a:rPr>
              <a:t>IMMEDIATE IMPACT — AUG 1 THROUGH YEAR-END</a:t>
            </a:r>
          </a:p>
          <a:p>
            <a:pPr>
              <a:spcAft>
                <a:spcPts val="800"/>
              </a:spcAft>
            </a:pPr>
            <a:r>
              <a:rPr sz="1400" b="0">
                <a:solidFill>
                  <a:srgbClr val="3F4A4E"/>
                </a:solidFill>
                <a:latin typeface="Arial"/>
              </a:rPr>
              <a:t>($1.2K) with the changes vs ($67.8K) with no changes → +$66.6K in five months</a:t>
            </a:r>
          </a:p>
        </p:txBody>
      </p:sp>
      <p:graphicFrame>
        <p:nvGraphicFramePr>
          <p:cNvPr id="125" name="Table 124"/>
          <p:cNvGraphicFramePr>
            <a:graphicFrameLocks noGrp="1"/>
          </p:cNvGraphicFramePr>
          <p:nvPr/>
        </p:nvGraphicFramePr>
        <p:xfrm>
          <a:off x="950976" y="2377440"/>
          <a:ext cx="11521440" cy="5669280"/>
        </p:xfrm>
        <a:graphic>
          <a:graphicData uri="http://schemas.openxmlformats.org/drawingml/2006/table">
            <a:tbl>
              <a:tblPr firstRow="1" bandRow="1">
                <a:tableStyleId>{5C22544A-7EE6-4342-B048-85BDC9FD1C3A}</a:tableStyleId>
              </a:tblPr>
              <a:tblGrid>
                <a:gridCol w="3840480"/>
                <a:gridCol w="2560320"/>
                <a:gridCol w="2560320"/>
                <a:gridCol w="2560320"/>
              </a:tblGrid>
              <a:tr h="566928">
                <a:tc>
                  <a:txBody>
                    <a:bodyPr/>
                    <a:lstStyle/>
                    <a:p>
                      <a:pPr>
                        <a:defRPr sz="1100" b="1">
                          <a:solidFill>
                            <a:srgbClr val="FFFFFF"/>
                          </a:solidFill>
                          <a:latin typeface="Arial"/>
                        </a:defRPr>
                      </a:pPr>
                    </a:p>
                  </a:txBody>
                  <a:tcPr>
                    <a:solidFill>
                      <a:srgbClr val="22424B"/>
                    </a:solidFill>
                  </a:tcPr>
                </a:tc>
                <a:tc>
                  <a:txBody>
                    <a:bodyPr/>
                    <a:lstStyle/>
                    <a:p>
                      <a:pPr algn="r"/>
                      <a:r>
                        <a:rPr sz="1100" b="1">
                          <a:solidFill>
                            <a:srgbClr val="FFFFFF"/>
                          </a:solidFill>
                          <a:latin typeface="Arial"/>
                        </a:rPr>
                        <a:t>2026 ACT/FOR</a:t>
                      </a:r>
                    </a:p>
                  </a:txBody>
                  <a:tcPr>
                    <a:solidFill>
                      <a:srgbClr val="22424B"/>
                    </a:solidFill>
                  </a:tcPr>
                </a:tc>
                <a:tc>
                  <a:txBody>
                    <a:bodyPr/>
                    <a:lstStyle/>
                    <a:p>
                      <a:pPr algn="r"/>
                      <a:r>
                        <a:rPr sz="1100" b="1">
                          <a:solidFill>
                            <a:srgbClr val="FFFFFF"/>
                          </a:solidFill>
                          <a:latin typeface="Arial"/>
                        </a:rPr>
                        <a:t>2026 MODIFIED · 8/1 GO-LIVE</a:t>
                      </a:r>
                    </a:p>
                  </a:txBody>
                  <a:tcPr>
                    <a:solidFill>
                      <a:srgbClr val="22424B"/>
                    </a:solidFill>
                  </a:tcPr>
                </a:tc>
                <a:tc>
                  <a:txBody>
                    <a:bodyPr/>
                    <a:lstStyle/>
                    <a:p>
                      <a:pPr algn="r"/>
                      <a:r>
                        <a:rPr sz="1100" b="1">
                          <a:solidFill>
                            <a:srgbClr val="FFFFFF"/>
                          </a:solidFill>
                          <a:latin typeface="Arial"/>
                        </a:rPr>
                        <a:t>2027 PLAN</a:t>
                      </a:r>
                    </a:p>
                  </a:txBody>
                  <a:tcPr>
                    <a:solidFill>
                      <a:srgbClr val="22424B"/>
                    </a:solidFill>
                  </a:tcPr>
                </a:tc>
              </a:tr>
              <a:tr h="566928">
                <a:tc>
                  <a:txBody>
                    <a:bodyPr/>
                    <a:lstStyle/>
                    <a:p>
                      <a:r>
                        <a:rPr sz="1300" b="0">
                          <a:solidFill>
                            <a:srgbClr val="3F4A4E"/>
                          </a:solidFill>
                          <a:latin typeface="Arial"/>
                        </a:rPr>
                        <a:t>Total income</a:t>
                      </a:r>
                    </a:p>
                  </a:txBody>
                  <a:tcPr>
                    <a:solidFill>
                      <a:srgbClr val="F7F6F2"/>
                    </a:solidFill>
                  </a:tcPr>
                </a:tc>
                <a:tc>
                  <a:txBody>
                    <a:bodyPr/>
                    <a:lstStyle/>
                    <a:p>
                      <a:pPr algn="r"/>
                      <a:r>
                        <a:rPr sz="1300" b="0">
                          <a:solidFill>
                            <a:srgbClr val="3F4A4E"/>
                          </a:solidFill>
                          <a:latin typeface="Arial"/>
                        </a:rPr>
                        <a:t>$288.7K</a:t>
                      </a:r>
                    </a:p>
                  </a:txBody>
                  <a:tcPr>
                    <a:solidFill>
                      <a:srgbClr val="F7F6F2"/>
                    </a:solidFill>
                  </a:tcPr>
                </a:tc>
                <a:tc>
                  <a:txBody>
                    <a:bodyPr/>
                    <a:lstStyle/>
                    <a:p>
                      <a:pPr algn="r"/>
                      <a:r>
                        <a:rPr sz="1300" b="0">
                          <a:solidFill>
                            <a:srgbClr val="3F4A4E"/>
                          </a:solidFill>
                          <a:latin typeface="Arial"/>
                        </a:rPr>
                        <a:t>$314.9K</a:t>
                      </a:r>
                    </a:p>
                  </a:txBody>
                  <a:tcPr>
                    <a:solidFill>
                      <a:srgbClr val="F7F6F2"/>
                    </a:solidFill>
                  </a:tcPr>
                </a:tc>
                <a:tc>
                  <a:txBody>
                    <a:bodyPr/>
                    <a:lstStyle/>
                    <a:p>
                      <a:pPr algn="r"/>
                      <a:r>
                        <a:rPr sz="1300" b="0">
                          <a:solidFill>
                            <a:srgbClr val="3F4A4E"/>
                          </a:solidFill>
                          <a:latin typeface="Arial"/>
                        </a:rPr>
                        <a:t>$370.9K</a:t>
                      </a:r>
                    </a:p>
                  </a:txBody>
                  <a:tcPr>
                    <a:solidFill>
                      <a:srgbClr val="F7F6F2"/>
                    </a:solidFill>
                  </a:tcPr>
                </a:tc>
              </a:tr>
              <a:tr h="566928">
                <a:tc>
                  <a:txBody>
                    <a:bodyPr/>
                    <a:lstStyle/>
                    <a:p>
                      <a:r>
                        <a:rPr sz="1300" b="0">
                          <a:solidFill>
                            <a:srgbClr val="3F4A4E"/>
                          </a:solidFill>
                          <a:latin typeface="Arial"/>
                        </a:rPr>
                        <a:t>Cost of goods sold</a:t>
                      </a:r>
                    </a:p>
                  </a:txBody>
                  <a:tcPr>
                    <a:solidFill>
                      <a:srgbClr val="FFFFFF"/>
                    </a:solidFill>
                  </a:tcPr>
                </a:tc>
                <a:tc>
                  <a:txBody>
                    <a:bodyPr/>
                    <a:lstStyle/>
                    <a:p>
                      <a:pPr algn="r"/>
                      <a:r>
                        <a:rPr sz="1300" b="0">
                          <a:solidFill>
                            <a:srgbClr val="3F4A4E"/>
                          </a:solidFill>
                          <a:latin typeface="Arial"/>
                        </a:rPr>
                        <a:t>$104.6K</a:t>
                      </a:r>
                    </a:p>
                  </a:txBody>
                  <a:tcPr>
                    <a:solidFill>
                      <a:srgbClr val="FFFFFF"/>
                    </a:solidFill>
                  </a:tcPr>
                </a:tc>
                <a:tc>
                  <a:txBody>
                    <a:bodyPr/>
                    <a:lstStyle/>
                    <a:p>
                      <a:pPr algn="r"/>
                      <a:r>
                        <a:rPr sz="1300" b="0">
                          <a:solidFill>
                            <a:srgbClr val="3F4A4E"/>
                          </a:solidFill>
                          <a:latin typeface="Arial"/>
                        </a:rPr>
                        <a:t>$103.8K</a:t>
                      </a:r>
                    </a:p>
                  </a:txBody>
                  <a:tcPr>
                    <a:solidFill>
                      <a:srgbClr val="FFFFFF"/>
                    </a:solidFill>
                  </a:tcPr>
                </a:tc>
                <a:tc>
                  <a:txBody>
                    <a:bodyPr/>
                    <a:lstStyle/>
                    <a:p>
                      <a:pPr algn="r"/>
                      <a:r>
                        <a:rPr sz="1300" b="0">
                          <a:solidFill>
                            <a:srgbClr val="3F4A4E"/>
                          </a:solidFill>
                          <a:latin typeface="Arial"/>
                        </a:rPr>
                        <a:t>$112.3K</a:t>
                      </a:r>
                    </a:p>
                  </a:txBody>
                  <a:tcPr>
                    <a:solidFill>
                      <a:srgbClr val="FFFFFF"/>
                    </a:solidFill>
                  </a:tcPr>
                </a:tc>
              </a:tr>
              <a:tr h="566928">
                <a:tc>
                  <a:txBody>
                    <a:bodyPr/>
                    <a:lstStyle/>
                    <a:p>
                      <a:r>
                        <a:rPr sz="1300" b="0">
                          <a:solidFill>
                            <a:srgbClr val="3F4A4E"/>
                          </a:solidFill>
                          <a:latin typeface="Arial"/>
                        </a:rPr>
                        <a:t>Labor</a:t>
                      </a:r>
                    </a:p>
                  </a:txBody>
                  <a:tcPr>
                    <a:solidFill>
                      <a:srgbClr val="F7F6F2"/>
                    </a:solidFill>
                  </a:tcPr>
                </a:tc>
                <a:tc>
                  <a:txBody>
                    <a:bodyPr/>
                    <a:lstStyle/>
                    <a:p>
                      <a:pPr algn="r"/>
                      <a:r>
                        <a:rPr sz="1300" b="0">
                          <a:solidFill>
                            <a:srgbClr val="3F4A4E"/>
                          </a:solidFill>
                          <a:latin typeface="Arial"/>
                        </a:rPr>
                        <a:t>$170.3K</a:t>
                      </a:r>
                    </a:p>
                  </a:txBody>
                  <a:tcPr>
                    <a:solidFill>
                      <a:srgbClr val="F7F6F2"/>
                    </a:solidFill>
                  </a:tcPr>
                </a:tc>
                <a:tc>
                  <a:txBody>
                    <a:bodyPr/>
                    <a:lstStyle/>
                    <a:p>
                      <a:pPr algn="r"/>
                      <a:r>
                        <a:rPr sz="1300" b="0">
                          <a:solidFill>
                            <a:srgbClr val="3F4A4E"/>
                          </a:solidFill>
                          <a:latin typeface="Arial"/>
                        </a:rPr>
                        <a:t>$155.5K</a:t>
                      </a:r>
                    </a:p>
                  </a:txBody>
                  <a:tcPr>
                    <a:solidFill>
                      <a:srgbClr val="F7F6F2"/>
                    </a:solidFill>
                  </a:tcPr>
                </a:tc>
                <a:tc>
                  <a:txBody>
                    <a:bodyPr/>
                    <a:lstStyle/>
                    <a:p>
                      <a:pPr algn="r"/>
                      <a:r>
                        <a:rPr sz="1300" b="0">
                          <a:solidFill>
                            <a:srgbClr val="3F4A4E"/>
                          </a:solidFill>
                          <a:latin typeface="Arial"/>
                        </a:rPr>
                        <a:t>$131.2K</a:t>
                      </a:r>
                    </a:p>
                  </a:txBody>
                  <a:tcPr>
                    <a:solidFill>
                      <a:srgbClr val="F7F6F2"/>
                    </a:solidFill>
                  </a:tcPr>
                </a:tc>
              </a:tr>
              <a:tr h="566928">
                <a:tc>
                  <a:txBody>
                    <a:bodyPr/>
                    <a:lstStyle/>
                    <a:p>
                      <a:r>
                        <a:rPr sz="1300" b="1">
                          <a:solidFill>
                            <a:srgbClr val="22424B"/>
                          </a:solidFill>
                          <a:latin typeface="Arial"/>
                        </a:rPr>
                        <a:t>Prime cost</a:t>
                      </a:r>
                    </a:p>
                  </a:txBody>
                  <a:tcPr>
                    <a:solidFill>
                      <a:srgbClr val="FFFFFF"/>
                    </a:solidFill>
                  </a:tcPr>
                </a:tc>
                <a:tc>
                  <a:txBody>
                    <a:bodyPr/>
                    <a:lstStyle/>
                    <a:p>
                      <a:pPr algn="r"/>
                      <a:r>
                        <a:rPr sz="1300" b="1">
                          <a:solidFill>
                            <a:srgbClr val="22424B"/>
                          </a:solidFill>
                          <a:latin typeface="Arial"/>
                        </a:rPr>
                        <a:t>$274.9K</a:t>
                      </a:r>
                    </a:p>
                  </a:txBody>
                  <a:tcPr>
                    <a:solidFill>
                      <a:srgbClr val="FFFFFF"/>
                    </a:solidFill>
                  </a:tcPr>
                </a:tc>
                <a:tc>
                  <a:txBody>
                    <a:bodyPr/>
                    <a:lstStyle/>
                    <a:p>
                      <a:pPr algn="r"/>
                      <a:r>
                        <a:rPr sz="1300" b="1">
                          <a:solidFill>
                            <a:srgbClr val="22424B"/>
                          </a:solidFill>
                          <a:latin typeface="Arial"/>
                        </a:rPr>
                        <a:t>$259.2K</a:t>
                      </a:r>
                    </a:p>
                  </a:txBody>
                  <a:tcPr>
                    <a:solidFill>
                      <a:srgbClr val="FFFFFF"/>
                    </a:solidFill>
                  </a:tcPr>
                </a:tc>
                <a:tc>
                  <a:txBody>
                    <a:bodyPr/>
                    <a:lstStyle/>
                    <a:p>
                      <a:pPr algn="r"/>
                      <a:r>
                        <a:rPr sz="1300" b="1">
                          <a:solidFill>
                            <a:srgbClr val="22424B"/>
                          </a:solidFill>
                          <a:latin typeface="Arial"/>
                        </a:rPr>
                        <a:t>$243.6K</a:t>
                      </a:r>
                    </a:p>
                  </a:txBody>
                  <a:tcPr>
                    <a:solidFill>
                      <a:srgbClr val="FFFFFF"/>
                    </a:solidFill>
                  </a:tcPr>
                </a:tc>
              </a:tr>
              <a:tr h="566928">
                <a:tc>
                  <a:txBody>
                    <a:bodyPr/>
                    <a:lstStyle/>
                    <a:p>
                      <a:r>
                        <a:rPr sz="1300" b="1">
                          <a:solidFill>
                            <a:srgbClr val="22424B"/>
                          </a:solidFill>
                          <a:latin typeface="Arial"/>
                        </a:rPr>
                        <a:t>Operating profit</a:t>
                      </a:r>
                    </a:p>
                  </a:txBody>
                  <a:tcPr>
                    <a:solidFill>
                      <a:srgbClr val="F7F6F2"/>
                    </a:solidFill>
                  </a:tcPr>
                </a:tc>
                <a:tc>
                  <a:txBody>
                    <a:bodyPr/>
                    <a:lstStyle/>
                    <a:p>
                      <a:pPr algn="r"/>
                      <a:r>
                        <a:rPr sz="1300" b="1">
                          <a:solidFill>
                            <a:srgbClr val="22424B"/>
                          </a:solidFill>
                          <a:latin typeface="Arial"/>
                        </a:rPr>
                        <a:t>$13.8K</a:t>
                      </a:r>
                    </a:p>
                  </a:txBody>
                  <a:tcPr>
                    <a:solidFill>
                      <a:srgbClr val="F7F6F2"/>
                    </a:solidFill>
                  </a:tcPr>
                </a:tc>
                <a:tc>
                  <a:txBody>
                    <a:bodyPr/>
                    <a:lstStyle/>
                    <a:p>
                      <a:pPr algn="r"/>
                      <a:r>
                        <a:rPr sz="1300" b="1">
                          <a:solidFill>
                            <a:srgbClr val="22424B"/>
                          </a:solidFill>
                          <a:latin typeface="Arial"/>
                        </a:rPr>
                        <a:t>$55.6K</a:t>
                      </a:r>
                    </a:p>
                  </a:txBody>
                  <a:tcPr>
                    <a:solidFill>
                      <a:srgbClr val="F7F6F2"/>
                    </a:solidFill>
                  </a:tcPr>
                </a:tc>
                <a:tc>
                  <a:txBody>
                    <a:bodyPr/>
                    <a:lstStyle/>
                    <a:p>
                      <a:pPr algn="r"/>
                      <a:r>
                        <a:rPr sz="1300" b="1">
                          <a:solidFill>
                            <a:srgbClr val="22424B"/>
                          </a:solidFill>
                          <a:latin typeface="Arial"/>
                        </a:rPr>
                        <a:t>$127.3K</a:t>
                      </a:r>
                    </a:p>
                  </a:txBody>
                  <a:tcPr>
                    <a:solidFill>
                      <a:srgbClr val="F7F6F2"/>
                    </a:solidFill>
                  </a:tcPr>
                </a:tc>
              </a:tr>
              <a:tr h="566928">
                <a:tc>
                  <a:txBody>
                    <a:bodyPr/>
                    <a:lstStyle/>
                    <a:p>
                      <a:r>
                        <a:rPr sz="1300" b="0">
                          <a:solidFill>
                            <a:srgbClr val="3F4A4E"/>
                          </a:solidFill>
                          <a:latin typeface="Arial"/>
                        </a:rPr>
                        <a:t>Operating expenses</a:t>
                      </a:r>
                    </a:p>
                  </a:txBody>
                  <a:tcPr>
                    <a:solidFill>
                      <a:srgbClr val="FFFFFF"/>
                    </a:solidFill>
                  </a:tcPr>
                </a:tc>
                <a:tc>
                  <a:txBody>
                    <a:bodyPr/>
                    <a:lstStyle/>
                    <a:p>
                      <a:pPr algn="r"/>
                      <a:r>
                        <a:rPr sz="1300" b="0">
                          <a:solidFill>
                            <a:srgbClr val="3F4A4E"/>
                          </a:solidFill>
                          <a:latin typeface="Arial"/>
                        </a:rPr>
                        <a:t>$112.4K</a:t>
                      </a:r>
                    </a:p>
                  </a:txBody>
                  <a:tcPr>
                    <a:solidFill>
                      <a:srgbClr val="FFFFFF"/>
                    </a:solidFill>
                  </a:tcPr>
                </a:tc>
                <a:tc>
                  <a:txBody>
                    <a:bodyPr/>
                    <a:lstStyle/>
                    <a:p>
                      <a:pPr algn="r"/>
                      <a:r>
                        <a:rPr sz="1300" b="0">
                          <a:solidFill>
                            <a:srgbClr val="3F4A4E"/>
                          </a:solidFill>
                          <a:latin typeface="Arial"/>
                        </a:rPr>
                        <a:t>$109.1K</a:t>
                      </a:r>
                    </a:p>
                  </a:txBody>
                  <a:tcPr>
                    <a:solidFill>
                      <a:srgbClr val="FFFFFF"/>
                    </a:solidFill>
                  </a:tcPr>
                </a:tc>
                <a:tc>
                  <a:txBody>
                    <a:bodyPr/>
                    <a:lstStyle/>
                    <a:p>
                      <a:pPr algn="r"/>
                      <a:r>
                        <a:rPr sz="1300" b="0">
                          <a:solidFill>
                            <a:srgbClr val="3F4A4E"/>
                          </a:solidFill>
                          <a:latin typeface="Arial"/>
                        </a:rPr>
                        <a:t>$111.4K</a:t>
                      </a:r>
                    </a:p>
                  </a:txBody>
                  <a:tcPr>
                    <a:solidFill>
                      <a:srgbClr val="FFFFFF"/>
                    </a:solidFill>
                  </a:tcPr>
                </a:tc>
              </a:tr>
              <a:tr h="566928">
                <a:tc>
                  <a:txBody>
                    <a:bodyPr/>
                    <a:lstStyle/>
                    <a:p>
                      <a:r>
                        <a:rPr sz="1300" b="0">
                          <a:solidFill>
                            <a:srgbClr val="3F4A4E"/>
                          </a:solidFill>
                          <a:latin typeface="Arial"/>
                        </a:rPr>
                        <a:t>Management fee</a:t>
                      </a:r>
                    </a:p>
                  </a:txBody>
                  <a:tcPr>
                    <a:solidFill>
                      <a:srgbClr val="F7F6F2"/>
                    </a:solidFill>
                  </a:tcPr>
                </a:tc>
                <a:tc>
                  <a:txBody>
                    <a:bodyPr/>
                    <a:lstStyle/>
                    <a:p>
                      <a:pPr algn="r"/>
                      <a:r>
                        <a:rPr sz="1300" b="0">
                          <a:solidFill>
                            <a:srgbClr val="3F4A4E"/>
                          </a:solidFill>
                          <a:latin typeface="Arial"/>
                        </a:rPr>
                        <a:t>$48.0K</a:t>
                      </a:r>
                    </a:p>
                  </a:txBody>
                  <a:tcPr>
                    <a:solidFill>
                      <a:srgbClr val="F7F6F2"/>
                    </a:solidFill>
                  </a:tcPr>
                </a:tc>
                <a:tc>
                  <a:txBody>
                    <a:bodyPr/>
                    <a:lstStyle/>
                    <a:p>
                      <a:pPr algn="r"/>
                      <a:r>
                        <a:rPr sz="1300" b="0">
                          <a:solidFill>
                            <a:srgbClr val="3F4A4E"/>
                          </a:solidFill>
                          <a:latin typeface="Arial"/>
                        </a:rPr>
                        <a:t>$34.2K</a:t>
                      </a:r>
                    </a:p>
                  </a:txBody>
                  <a:tcPr>
                    <a:solidFill>
                      <a:srgbClr val="F7F6F2"/>
                    </a:solidFill>
                  </a:tcPr>
                </a:tc>
                <a:tc>
                  <a:txBody>
                    <a:bodyPr/>
                    <a:lstStyle/>
                    <a:p>
                      <a:pPr algn="r"/>
                      <a:r>
                        <a:rPr sz="1300" b="0">
                          <a:solidFill>
                            <a:srgbClr val="3F4A4E"/>
                          </a:solidFill>
                          <a:latin typeface="Arial"/>
                        </a:rPr>
                        <a:t>$14.8K</a:t>
                      </a:r>
                    </a:p>
                  </a:txBody>
                  <a:tcPr>
                    <a:solidFill>
                      <a:srgbClr val="F7F6F2"/>
                    </a:solidFill>
                  </a:tcPr>
                </a:tc>
              </a:tr>
              <a:tr h="566928">
                <a:tc>
                  <a:txBody>
                    <a:bodyPr/>
                    <a:lstStyle/>
                    <a:p>
                      <a:r>
                        <a:rPr sz="1300" b="0">
                          <a:solidFill>
                            <a:srgbClr val="3F4A4E"/>
                          </a:solidFill>
                          <a:latin typeface="Arial"/>
                        </a:rPr>
                        <a:t>Rent / occupancy</a:t>
                      </a:r>
                    </a:p>
                  </a:txBody>
                  <a:tcPr>
                    <a:solidFill>
                      <a:srgbClr val="FFFFFF"/>
                    </a:solidFill>
                  </a:tcPr>
                </a:tc>
                <a:tc>
                  <a:txBody>
                    <a:bodyPr/>
                    <a:lstStyle/>
                    <a:p>
                      <a:pPr algn="r"/>
                      <a:r>
                        <a:rPr sz="1300" b="0">
                          <a:solidFill>
                            <a:srgbClr val="3F4A4E"/>
                          </a:solidFill>
                          <a:latin typeface="Arial"/>
                        </a:rPr>
                        <a:t>$17.4K</a:t>
                      </a:r>
                    </a:p>
                  </a:txBody>
                  <a:tcPr>
                    <a:solidFill>
                      <a:srgbClr val="FFFFFF"/>
                    </a:solidFill>
                  </a:tcPr>
                </a:tc>
                <a:tc>
                  <a:txBody>
                    <a:bodyPr/>
                    <a:lstStyle/>
                    <a:p>
                      <a:pPr algn="r"/>
                      <a:r>
                        <a:rPr sz="1300" b="0">
                          <a:solidFill>
                            <a:srgbClr val="3F4A4E"/>
                          </a:solidFill>
                          <a:latin typeface="Arial"/>
                        </a:rPr>
                        <a:t>$9.7K</a:t>
                      </a:r>
                    </a:p>
                  </a:txBody>
                  <a:tcPr>
                    <a:solidFill>
                      <a:srgbClr val="FFFFFF"/>
                    </a:solidFill>
                  </a:tcPr>
                </a:tc>
                <a:tc>
                  <a:txBody>
                    <a:bodyPr/>
                    <a:lstStyle/>
                    <a:p>
                      <a:pPr algn="r"/>
                      <a:r>
                        <a:rPr sz="1300" b="0">
                          <a:solidFill>
                            <a:srgbClr val="3F4A4E"/>
                          </a:solidFill>
                          <a:latin typeface="Arial"/>
                        </a:rPr>
                        <a:t>$0</a:t>
                      </a:r>
                    </a:p>
                  </a:txBody>
                  <a:tcPr>
                    <a:solidFill>
                      <a:srgbClr val="FFFFFF"/>
                    </a:solidFill>
                  </a:tcPr>
                </a:tc>
              </a:tr>
              <a:tr h="566928">
                <a:tc>
                  <a:txBody>
                    <a:bodyPr/>
                    <a:lstStyle/>
                    <a:p>
                      <a:r>
                        <a:rPr sz="1300" b="1">
                          <a:solidFill>
                            <a:srgbClr val="22424B"/>
                          </a:solidFill>
                          <a:latin typeface="Arial"/>
                        </a:rPr>
                        <a:t>NET OPERATING PROFIT</a:t>
                      </a:r>
                    </a:p>
                  </a:txBody>
                  <a:tcPr>
                    <a:solidFill>
                      <a:srgbClr val="F7F6F2"/>
                    </a:solidFill>
                  </a:tcPr>
                </a:tc>
                <a:tc>
                  <a:txBody>
                    <a:bodyPr/>
                    <a:lstStyle/>
                    <a:p>
                      <a:pPr algn="r"/>
                      <a:r>
                        <a:rPr sz="1300" b="1">
                          <a:solidFill>
                            <a:srgbClr val="22424B"/>
                          </a:solidFill>
                          <a:latin typeface="Arial"/>
                        </a:rPr>
                        <a:t>($164.0K)</a:t>
                      </a:r>
                    </a:p>
                  </a:txBody>
                  <a:tcPr>
                    <a:solidFill>
                      <a:srgbClr val="F7F6F2"/>
                    </a:solidFill>
                  </a:tcPr>
                </a:tc>
                <a:tc>
                  <a:txBody>
                    <a:bodyPr/>
                    <a:lstStyle/>
                    <a:p>
                      <a:pPr algn="r"/>
                      <a:r>
                        <a:rPr sz="1300" b="1">
                          <a:solidFill>
                            <a:srgbClr val="22424B"/>
                          </a:solidFill>
                          <a:latin typeface="Arial"/>
                        </a:rPr>
                        <a:t>($97.4K)</a:t>
                      </a:r>
                    </a:p>
                  </a:txBody>
                  <a:tcPr>
                    <a:solidFill>
                      <a:srgbClr val="F7F6F2"/>
                    </a:solidFill>
                  </a:tcPr>
                </a:tc>
                <a:tc>
                  <a:txBody>
                    <a:bodyPr/>
                    <a:lstStyle/>
                    <a:p>
                      <a:pPr algn="r"/>
                      <a:r>
                        <a:rPr sz="1300" b="1">
                          <a:solidFill>
                            <a:srgbClr val="22424B"/>
                          </a:solidFill>
                          <a:latin typeface="Arial"/>
                        </a:rPr>
                        <a:t>+$1.0K</a:t>
                      </a:r>
                    </a:p>
                  </a:txBody>
                  <a:tcPr>
                    <a:solidFill>
                      <a:srgbClr val="F7F6F2"/>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0E323B"/>
        </a:solidFill>
        <a:effectLst/>
      </p:bgPr>
    </p:bg>
    <p:spTree>
      <p:nvGrpSpPr>
        <p:cNvPr id="1" name=""/>
        <p:cNvGrpSpPr/>
        <p:nvPr/>
      </p:nvGrpSpPr>
      <p:grpSpPr>
        <a:xfrm>
          <a:off x="0" y="0"/>
          <a:ext cx="0" cy="0"/>
          <a:chOff x="0" y="0"/>
          <a:chExt cx="0" cy="0"/>
        </a:xfrm>
      </p:grpSpPr>
      <p:sp>
        <p:nvSpPr>
          <p:cNvPr id="5" name="Text 3"/>
          <p:cNvSpPr/>
          <p:nvPr/>
        </p:nvSpPr>
        <p:spPr>
          <a:xfrm>
            <a:off x="1028700" y="6417779"/>
            <a:ext cx="17853660" cy="131445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11250" kern="0" spc="-225" dirty="0">
                <a:solidFill>
                  <a:srgbClr val="F2EDE4"/>
                </a:solidFill>
                <a:latin typeface="Georgia" pitchFamily="34" charset="0"/>
                <a:ea typeface="Georgia" pitchFamily="34" charset="-122"/>
                <a:cs typeface="Georgia" pitchFamily="34" charset="-120"/>
              </a:rPr>
              <a:t>Vessel</a:t>
            </a:r>
            <a:endParaRPr lang="en-US" sz="11250" dirty="0"/>
          </a:p>
        </p:txBody>
      </p:sp>
      <p:pic>
        <p:nvPicPr>
          <p:cNvPr id="18" name="Picture 17">
            <a:extLst>
              <a:ext uri="{FF2B5EF4-FFF2-40B4-BE49-F238E27FC236}">
                <a16:creationId xmlns:a16="http://schemas.microsoft.com/office/drawing/2014/main" id="{8BC40580-F7A4-A6C3-555A-B8105F180959}"/>
              </a:ext>
            </a:extLst>
          </p:cNvPr>
          <p:cNvPicPr>
            <a:picLocks noChangeAspect="1"/>
          </p:cNvPicPr>
          <p:nvPr/>
        </p:nvPicPr>
        <p:blipFill>
          <a:blip r:embed="rId3"/>
          <a:srcRect l="11144" t="614" r="35594"/>
          <a:stretch>
            <a:fillRect/>
          </a:stretch>
        </p:blipFill>
        <p:spPr>
          <a:xfrm>
            <a:off x="10018643" y="0"/>
            <a:ext cx="8269357" cy="10287000"/>
          </a:xfrm>
          <a:prstGeom prst="rect">
            <a:avLst/>
          </a:prstGeom>
        </p:spPr>
      </p:pic>
      <p:sp>
        <p:nvSpPr>
          <p:cNvPr id="19" name="Text 0">
            <a:extLst>
              <a:ext uri="{FF2B5EF4-FFF2-40B4-BE49-F238E27FC236}">
                <a16:creationId xmlns:a16="http://schemas.microsoft.com/office/drawing/2014/main" id="{354B01DD-076F-8797-EEB3-89F5B9D5E50D}"/>
              </a:ext>
            </a:extLst>
          </p:cNvPr>
          <p:cNvSpPr/>
          <p:nvPr/>
        </p:nvSpPr>
        <p:spPr>
          <a:xfrm>
            <a:off x="1028700" y="1104900"/>
            <a:ext cx="566603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ROOST BALTIMORE</a:t>
            </a:r>
            <a:endParaRPr lang="en-US" sz="1650" dirty="0"/>
          </a:p>
        </p:txBody>
      </p:sp>
      <p:sp>
        <p:nvSpPr>
          <p:cNvPr id="20" name="Text 13">
            <a:extLst>
              <a:ext uri="{FF2B5EF4-FFF2-40B4-BE49-F238E27FC236}">
                <a16:creationId xmlns:a16="http://schemas.microsoft.com/office/drawing/2014/main" id="{A155601A-280B-1B20-39A6-7DE27EF86D7A}"/>
              </a:ext>
            </a:extLst>
          </p:cNvPr>
          <p:cNvSpPr/>
          <p:nvPr/>
        </p:nvSpPr>
        <p:spPr>
          <a:xfrm>
            <a:off x="1028700" y="9334500"/>
            <a:ext cx="100584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75" dirty="0">
                <a:solidFill>
                  <a:srgbClr val="5E6B70"/>
                </a:solidFill>
                <a:latin typeface="Arial" pitchFamily="34" charset="0"/>
                <a:ea typeface="Arial" pitchFamily="34" charset="-122"/>
                <a:cs typeface="Arial" pitchFamily="34" charset="-120"/>
              </a:rPr>
              <a:t>July 2026</a:t>
            </a:r>
            <a:endParaRPr lang="en-US" sz="1650" dirty="0"/>
          </a:p>
        </p:txBody>
      </p:sp>
      <p:pic>
        <p:nvPicPr>
          <p:cNvPr id="21" name="Picture 20">
            <a:extLst>
              <a:ext uri="{FF2B5EF4-FFF2-40B4-BE49-F238E27FC236}">
                <a16:creationId xmlns:a16="http://schemas.microsoft.com/office/drawing/2014/main" id="{4DC95F6E-3F2D-2477-5816-072090D856AC}"/>
              </a:ext>
            </a:extLst>
          </p:cNvPr>
          <p:cNvPicPr>
            <a:picLocks noChangeAspect="1"/>
          </p:cNvPicPr>
          <p:nvPr/>
        </p:nvPicPr>
        <p:blipFill>
          <a:blip r:embed="rId4"/>
          <a:stretch>
            <a:fillRect/>
          </a:stretch>
        </p:blipFill>
        <p:spPr>
          <a:xfrm>
            <a:off x="1028700" y="8302223"/>
            <a:ext cx="702372" cy="69295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cs typeface="Arial" pitchFamily="34" charset="-120"/>
              </a:rPr>
              <a:t>EVENT TERMS</a:t>
            </a:r>
            <a:endParaRPr lang="en-US" sz="1650" dirty="0"/>
          </a:p>
        </p:txBody>
      </p:sp>
      <p:sp>
        <p:nvSpPr>
          <p:cNvPr id="3" name="Text 1"/>
          <p:cNvSpPr/>
          <p:nvPr/>
        </p:nvSpPr>
        <p:spPr>
          <a:xfrm>
            <a:off x="952500" y="1200150"/>
            <a:ext cx="18021300" cy="647700"/>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4800" kern="0" spc="-37" dirty="0">
                <a:solidFill>
                  <a:srgbClr val="22424B"/>
                </a:solidFill>
                <a:latin typeface="Georgia" pitchFamily="34" charset="0"/>
                <a:ea typeface="Georgia" pitchFamily="34" charset="-122"/>
                <a:cs typeface="Georgia" pitchFamily="34" charset="-120"/>
              </a:rPr>
              <a:t>Economic restructure</a:t>
            </a:r>
            <a:endParaRPr lang="en-US" sz="4800" dirty="0"/>
          </a:p>
        </p:txBody>
      </p:sp>
      <p:sp>
        <p:nvSpPr>
          <p:cNvPr id="4" name="Text 2"/>
          <p:cNvSpPr/>
          <p:nvPr/>
        </p:nvSpPr>
        <p:spPr>
          <a:xfrm>
            <a:off x="952500"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01</a:t>
            </a:r>
            <a:endParaRPr lang="en-US" sz="2850" dirty="0"/>
          </a:p>
        </p:txBody>
      </p:sp>
      <p:sp>
        <p:nvSpPr>
          <p:cNvPr id="5" name="Text 3"/>
          <p:cNvSpPr/>
          <p:nvPr/>
        </p:nvSpPr>
        <p:spPr>
          <a:xfrm>
            <a:off x="952500"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F&amp;B minimum</a:t>
            </a:r>
            <a:endParaRPr lang="en-US" sz="2175" dirty="0"/>
          </a:p>
        </p:txBody>
      </p:sp>
      <p:sp>
        <p:nvSpPr>
          <p:cNvPr id="6" name="Text 4"/>
          <p:cNvSpPr/>
          <p:nvPr/>
        </p:nvSpPr>
        <p:spPr>
          <a:xfrm>
            <a:off x="952500"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$4,000</a:t>
            </a:r>
            <a:endParaRPr lang="en-US" sz="3750" dirty="0">
              <a:solidFill>
                <a:srgbClr val="FF0000"/>
              </a:solidFill>
            </a:endParaRPr>
          </a:p>
        </p:txBody>
      </p:sp>
      <p:sp>
        <p:nvSpPr>
          <p:cNvPr id="7" name="Text 5"/>
          <p:cNvSpPr/>
          <p:nvPr/>
        </p:nvSpPr>
        <p:spPr>
          <a:xfrm>
            <a:off x="952500"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PER 4-HOUR EVENT · WAS NONE</a:t>
            </a:r>
            <a:endParaRPr lang="en-US" sz="1425" dirty="0"/>
          </a:p>
        </p:txBody>
      </p:sp>
      <p:sp>
        <p:nvSpPr>
          <p:cNvPr id="8" name="Shape 6"/>
          <p:cNvSpPr/>
          <p:nvPr/>
        </p:nvSpPr>
        <p:spPr>
          <a:xfrm>
            <a:off x="952500" y="5330190"/>
            <a:ext cx="3452813" cy="19050"/>
          </a:xfrm>
          <a:prstGeom prst="rect">
            <a:avLst/>
          </a:prstGeom>
          <a:solidFill>
            <a:srgbClr val="D2D3CD"/>
          </a:solidFill>
          <a:ln/>
        </p:spPr>
        <p:txBody>
          <a:bodyPr/>
          <a:lstStyle/>
          <a:p>
            <a:endParaRPr lang="en-US"/>
          </a:p>
        </p:txBody>
      </p:sp>
      <p:sp>
        <p:nvSpPr>
          <p:cNvPr id="9" name="Text 7"/>
          <p:cNvSpPr/>
          <p:nvPr/>
        </p:nvSpPr>
        <p:spPr>
          <a:xfrm>
            <a:off x="996315" y="5520690"/>
            <a:ext cx="3485198" cy="1302544"/>
          </a:xfrm>
          <a:prstGeom prst="rect">
            <a:avLst/>
          </a:prstGeom>
          <a:noFill/>
          <a:ln/>
        </p:spPr>
        <p:txBody>
          <a:bodyPr wrap="square" lIns="25400" tIns="25400" rIns="25400" bIns="25400" rtlCol="0" anchor="t">
            <a:normAutofit fontScale="92500" lnSpcReduction="10000"/>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Replaces open-ended, no-minimum bookings</a:t>
            </a:r>
            <a:endParaRPr lang="en-US" sz="1650" dirty="0"/>
          </a:p>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Guarantees revenue before a room is staffed</a:t>
            </a:r>
            <a:endParaRPr lang="en-US" sz="1650" dirty="0"/>
          </a:p>
        </p:txBody>
      </p:sp>
      <p:sp>
        <p:nvSpPr>
          <p:cNvPr id="10" name="Shape 8"/>
          <p:cNvSpPr/>
          <p:nvPr/>
        </p:nvSpPr>
        <p:spPr>
          <a:xfrm>
            <a:off x="4824413" y="2228850"/>
            <a:ext cx="19050" cy="6419850"/>
          </a:xfrm>
          <a:prstGeom prst="rect">
            <a:avLst/>
          </a:prstGeom>
          <a:solidFill>
            <a:srgbClr val="D2D3CD"/>
          </a:solidFill>
          <a:ln/>
        </p:spPr>
        <p:txBody>
          <a:bodyPr/>
          <a:lstStyle/>
          <a:p>
            <a:endParaRPr lang="en-US"/>
          </a:p>
        </p:txBody>
      </p:sp>
      <p:sp>
        <p:nvSpPr>
          <p:cNvPr id="11" name="Text 9"/>
          <p:cNvSpPr/>
          <p:nvPr/>
        </p:nvSpPr>
        <p:spPr>
          <a:xfrm>
            <a:off x="5262563"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
        <p:nvSpPr>
          <p:cNvPr id="12" name="Text 10"/>
          <p:cNvSpPr/>
          <p:nvPr/>
        </p:nvSpPr>
        <p:spPr>
          <a:xfrm>
            <a:off x="5262563"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Service charge + admin fee</a:t>
            </a:r>
            <a:endParaRPr lang="en-US" sz="2175" dirty="0"/>
          </a:p>
        </p:txBody>
      </p:sp>
      <p:sp>
        <p:nvSpPr>
          <p:cNvPr id="13" name="Text 11"/>
          <p:cNvSpPr/>
          <p:nvPr/>
        </p:nvSpPr>
        <p:spPr>
          <a:xfrm>
            <a:off x="5262563"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20% + 5%</a:t>
            </a:r>
            <a:endParaRPr lang="en-US" sz="3750" dirty="0">
              <a:solidFill>
                <a:srgbClr val="FF0000"/>
              </a:solidFill>
            </a:endParaRPr>
          </a:p>
        </p:txBody>
      </p:sp>
      <p:sp>
        <p:nvSpPr>
          <p:cNvPr id="14" name="Text 12"/>
          <p:cNvSpPr/>
          <p:nvPr/>
        </p:nvSpPr>
        <p:spPr>
          <a:xfrm>
            <a:off x="5262563"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 $1,000 ON THE MINIMUM</a:t>
            </a:r>
            <a:endParaRPr lang="en-US" sz="1425" dirty="0"/>
          </a:p>
        </p:txBody>
      </p:sp>
      <p:sp>
        <p:nvSpPr>
          <p:cNvPr id="15" name="Shape 13"/>
          <p:cNvSpPr/>
          <p:nvPr/>
        </p:nvSpPr>
        <p:spPr>
          <a:xfrm>
            <a:off x="5262563" y="5330190"/>
            <a:ext cx="3452813" cy="19050"/>
          </a:xfrm>
          <a:prstGeom prst="rect">
            <a:avLst/>
          </a:prstGeom>
          <a:solidFill>
            <a:srgbClr val="D2D3CD"/>
          </a:solidFill>
          <a:ln/>
        </p:spPr>
        <p:txBody>
          <a:bodyPr/>
          <a:lstStyle/>
          <a:p>
            <a:endParaRPr lang="en-US"/>
          </a:p>
        </p:txBody>
      </p:sp>
      <p:sp>
        <p:nvSpPr>
          <p:cNvPr id="16" name="Text 14"/>
          <p:cNvSpPr/>
          <p:nvPr/>
        </p:nvSpPr>
        <p:spPr>
          <a:xfrm>
            <a:off x="5306378" y="5520690"/>
            <a:ext cx="3485198" cy="731044"/>
          </a:xfrm>
          <a:prstGeom prst="rect">
            <a:avLst/>
          </a:prstGeom>
          <a:noFill/>
          <a:ln/>
        </p:spPr>
        <p:txBody>
          <a:bodyPr wrap="square" lIns="25400" tIns="25400" rIns="25400" bIns="25400" rtlCol="0" anchor="t">
            <a:normAutofit lnSpcReduction="10000"/>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Applied to food &amp; beverage</a:t>
            </a:r>
            <a:endParaRPr lang="en-US" sz="1650" dirty="0"/>
          </a:p>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Covers the standard service labor; admin fee covers 3% commission payout + 2% credit card processing fees</a:t>
            </a:r>
            <a:endParaRPr lang="en-US" sz="1650" dirty="0"/>
          </a:p>
        </p:txBody>
      </p:sp>
      <p:sp>
        <p:nvSpPr>
          <p:cNvPr id="17" name="Shape 15"/>
          <p:cNvSpPr/>
          <p:nvPr/>
        </p:nvSpPr>
        <p:spPr>
          <a:xfrm>
            <a:off x="9134475" y="2228850"/>
            <a:ext cx="19050" cy="6419850"/>
          </a:xfrm>
          <a:prstGeom prst="rect">
            <a:avLst/>
          </a:prstGeom>
          <a:solidFill>
            <a:srgbClr val="D2D3CD"/>
          </a:solidFill>
          <a:ln/>
        </p:spPr>
        <p:txBody>
          <a:bodyPr/>
          <a:lstStyle/>
          <a:p>
            <a:endParaRPr lang="en-US"/>
          </a:p>
        </p:txBody>
      </p:sp>
      <p:sp>
        <p:nvSpPr>
          <p:cNvPr id="18" name="Text 16"/>
          <p:cNvSpPr/>
          <p:nvPr/>
        </p:nvSpPr>
        <p:spPr>
          <a:xfrm>
            <a:off x="9572625"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03</a:t>
            </a:r>
            <a:endParaRPr lang="en-US" sz="2850" dirty="0"/>
          </a:p>
        </p:txBody>
      </p:sp>
      <p:sp>
        <p:nvSpPr>
          <p:cNvPr id="19" name="Text 17"/>
          <p:cNvSpPr/>
          <p:nvPr/>
        </p:nvSpPr>
        <p:spPr>
          <a:xfrm>
            <a:off x="9572625"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Food markup</a:t>
            </a:r>
            <a:endParaRPr lang="en-US" sz="2175" dirty="0"/>
          </a:p>
        </p:txBody>
      </p:sp>
      <p:sp>
        <p:nvSpPr>
          <p:cNvPr id="20" name="Text 18"/>
          <p:cNvSpPr/>
          <p:nvPr/>
        </p:nvSpPr>
        <p:spPr>
          <a:xfrm>
            <a:off x="9572625"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40%</a:t>
            </a:r>
            <a:endParaRPr lang="en-US" sz="3750" dirty="0">
              <a:solidFill>
                <a:srgbClr val="FF0000"/>
              </a:solidFill>
            </a:endParaRPr>
          </a:p>
        </p:txBody>
      </p:sp>
      <p:sp>
        <p:nvSpPr>
          <p:cNvPr id="21" name="Text 19"/>
          <p:cNvSpPr/>
          <p:nvPr/>
        </p:nvSpPr>
        <p:spPr>
          <a:xfrm>
            <a:off x="9572625"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ON ALL EVENT FOOD</a:t>
            </a:r>
            <a:endParaRPr lang="en-US" sz="1425" dirty="0"/>
          </a:p>
        </p:txBody>
      </p:sp>
      <p:sp>
        <p:nvSpPr>
          <p:cNvPr id="22" name="Shape 20"/>
          <p:cNvSpPr/>
          <p:nvPr/>
        </p:nvSpPr>
        <p:spPr>
          <a:xfrm>
            <a:off x="9572625" y="5330190"/>
            <a:ext cx="3452813" cy="19050"/>
          </a:xfrm>
          <a:prstGeom prst="rect">
            <a:avLst/>
          </a:prstGeom>
          <a:solidFill>
            <a:srgbClr val="D2D3CD"/>
          </a:solidFill>
          <a:ln/>
        </p:spPr>
        <p:txBody>
          <a:bodyPr/>
          <a:lstStyle/>
          <a:p>
            <a:endParaRPr lang="en-US"/>
          </a:p>
        </p:txBody>
      </p:sp>
      <p:sp>
        <p:nvSpPr>
          <p:cNvPr id="23" name="Text 21"/>
          <p:cNvSpPr/>
          <p:nvPr/>
        </p:nvSpPr>
        <p:spPr>
          <a:xfrm>
            <a:off x="9616440" y="5520690"/>
            <a:ext cx="3485198" cy="1302544"/>
          </a:xfrm>
          <a:prstGeom prst="rect">
            <a:avLst/>
          </a:prstGeom>
          <a:noFill/>
          <a:ln/>
        </p:spPr>
        <p:txBody>
          <a:bodyPr wrap="square" lIns="25400" tIns="25400" rIns="25400" bIns="25400" rtlCol="0" anchor="t">
            <a:normAutofit fontScale="92500"/>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Standard markup on catered menus</a:t>
            </a:r>
            <a:endParaRPr lang="en-US" sz="1650" dirty="0"/>
          </a:p>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Protects food margin on every plate</a:t>
            </a:r>
            <a:endParaRPr lang="en-US" sz="1650" dirty="0"/>
          </a:p>
        </p:txBody>
      </p:sp>
      <p:sp>
        <p:nvSpPr>
          <p:cNvPr id="24" name="Shape 22"/>
          <p:cNvSpPr/>
          <p:nvPr/>
        </p:nvSpPr>
        <p:spPr>
          <a:xfrm>
            <a:off x="13444538" y="2228850"/>
            <a:ext cx="19050" cy="6419850"/>
          </a:xfrm>
          <a:prstGeom prst="rect">
            <a:avLst/>
          </a:prstGeom>
          <a:solidFill>
            <a:srgbClr val="D2D3CD"/>
          </a:solidFill>
          <a:ln/>
        </p:spPr>
        <p:txBody>
          <a:bodyPr/>
          <a:lstStyle/>
          <a:p>
            <a:endParaRPr lang="en-US"/>
          </a:p>
        </p:txBody>
      </p:sp>
      <p:sp>
        <p:nvSpPr>
          <p:cNvPr id="25" name="Text 23"/>
          <p:cNvSpPr/>
          <p:nvPr/>
        </p:nvSpPr>
        <p:spPr>
          <a:xfrm>
            <a:off x="13882688"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04</a:t>
            </a:r>
            <a:endParaRPr lang="en-US" sz="2850" dirty="0"/>
          </a:p>
        </p:txBody>
      </p:sp>
      <p:sp>
        <p:nvSpPr>
          <p:cNvPr id="26" name="Text 24"/>
          <p:cNvSpPr/>
          <p:nvPr/>
        </p:nvSpPr>
        <p:spPr>
          <a:xfrm>
            <a:off x="13882688"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Fewer, better events</a:t>
            </a:r>
            <a:endParaRPr lang="en-US" sz="2175" dirty="0"/>
          </a:p>
        </p:txBody>
      </p:sp>
      <p:sp>
        <p:nvSpPr>
          <p:cNvPr id="27" name="Text 25"/>
          <p:cNvSpPr/>
          <p:nvPr/>
        </p:nvSpPr>
        <p:spPr>
          <a:xfrm>
            <a:off x="13882688"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Cut the tail</a:t>
            </a:r>
            <a:endParaRPr lang="en-US" sz="3750" dirty="0">
              <a:solidFill>
                <a:srgbClr val="FF0000"/>
              </a:solidFill>
            </a:endParaRPr>
          </a:p>
        </p:txBody>
      </p:sp>
      <p:sp>
        <p:nvSpPr>
          <p:cNvPr id="28" name="Text 26"/>
          <p:cNvSpPr/>
          <p:nvPr/>
        </p:nvSpPr>
        <p:spPr>
          <a:xfrm>
            <a:off x="13882688"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EVENTS THAT LOSE ON TRAFFIC</a:t>
            </a:r>
            <a:endParaRPr lang="en-US" sz="1425" dirty="0"/>
          </a:p>
        </p:txBody>
      </p:sp>
      <p:sp>
        <p:nvSpPr>
          <p:cNvPr id="29" name="Shape 27"/>
          <p:cNvSpPr/>
          <p:nvPr/>
        </p:nvSpPr>
        <p:spPr>
          <a:xfrm>
            <a:off x="13882688" y="5330190"/>
            <a:ext cx="3452813" cy="19050"/>
          </a:xfrm>
          <a:prstGeom prst="rect">
            <a:avLst/>
          </a:prstGeom>
          <a:solidFill>
            <a:srgbClr val="D2D3CD"/>
          </a:solidFill>
          <a:ln/>
        </p:spPr>
        <p:txBody>
          <a:bodyPr/>
          <a:lstStyle/>
          <a:p>
            <a:endParaRPr lang="en-US"/>
          </a:p>
        </p:txBody>
      </p:sp>
      <p:sp>
        <p:nvSpPr>
          <p:cNvPr id="30" name="Text 28"/>
          <p:cNvSpPr/>
          <p:nvPr/>
        </p:nvSpPr>
        <p:spPr>
          <a:xfrm>
            <a:off x="13926503" y="5520690"/>
            <a:ext cx="3485198" cy="1302544"/>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Drop low-value bookings that net a loss</a:t>
            </a:r>
            <a:endParaRPr lang="en-US" sz="1650" dirty="0"/>
          </a:p>
        </p:txBody>
      </p:sp>
      <p:pic>
        <p:nvPicPr>
          <p:cNvPr id="33" name="Picture 32">
            <a:extLst>
              <a:ext uri="{FF2B5EF4-FFF2-40B4-BE49-F238E27FC236}">
                <a16:creationId xmlns:a16="http://schemas.microsoft.com/office/drawing/2014/main" id="{8D924AAF-E63E-EF8C-1BB2-02A5BD7290C0}"/>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34" name="Text 11">
            <a:extLst>
              <a:ext uri="{FF2B5EF4-FFF2-40B4-BE49-F238E27FC236}">
                <a16:creationId xmlns:a16="http://schemas.microsoft.com/office/drawing/2014/main" id="{FCCFDFCD-34A5-79C7-DC3F-67F2BF3861AA}"/>
              </a:ext>
            </a:extLst>
          </p:cNvPr>
          <p:cNvSpPr/>
          <p:nvPr/>
        </p:nvSpPr>
        <p:spPr>
          <a:xfrm>
            <a:off x="7254478" y="12573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PLACEHOLDER</a:t>
            </a:r>
            <a:endParaRPr lang="en-US" sz="3750" dirty="0">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LABOR MODEL</a:t>
            </a:r>
            <a:endParaRPr lang="en-US" sz="1650" dirty="0"/>
          </a:p>
        </p:txBody>
      </p:sp>
      <p:sp>
        <p:nvSpPr>
          <p:cNvPr id="3" name="Text 1"/>
          <p:cNvSpPr/>
          <p:nvPr/>
        </p:nvSpPr>
        <p:spPr>
          <a:xfrm>
            <a:off x="952500" y="1200150"/>
            <a:ext cx="18021300" cy="647700"/>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4800" kern="0" spc="-37" dirty="0">
                <a:solidFill>
                  <a:srgbClr val="22424B"/>
                </a:solidFill>
                <a:latin typeface="Georgia" pitchFamily="34" charset="0"/>
                <a:ea typeface="Georgia" pitchFamily="34" charset="-122"/>
                <a:cs typeface="Georgia" pitchFamily="34" charset="-120"/>
              </a:rPr>
              <a:t>Price labor within a standard event package</a:t>
            </a:r>
            <a:endParaRPr lang="en-US" sz="4800" dirty="0"/>
          </a:p>
        </p:txBody>
      </p:sp>
      <p:sp>
        <p:nvSpPr>
          <p:cNvPr id="4" name="Text 2"/>
          <p:cNvSpPr/>
          <p:nvPr/>
        </p:nvSpPr>
        <p:spPr>
          <a:xfrm>
            <a:off x="952500" y="4210050"/>
            <a:ext cx="9012615" cy="247650"/>
          </a:xfrm>
          <a:prstGeom prst="rect">
            <a:avLst/>
          </a:prstGeom>
          <a:noFill/>
          <a:ln/>
        </p:spPr>
        <p:txBody>
          <a:bodyPr wrap="square" lIns="25400" tIns="25400" rIns="25400" bIns="25400" rtlCol="0" anchor="t">
            <a:normAutofit lnSpcReduction="10000"/>
          </a:bodyPr>
          <a:lstStyle/>
          <a:p>
            <a:pPr marL="0" indent="0" algn="l">
              <a:buNone/>
            </a:pPr>
            <a:r>
              <a:rPr lang="en-US" sz="1425" kern="0" spc="150" dirty="0">
                <a:solidFill>
                  <a:srgbClr val="93999B"/>
                </a:solidFill>
                <a:latin typeface="Arial" pitchFamily="34" charset="0"/>
                <a:ea typeface="Arial" pitchFamily="34" charset="-122"/>
                <a:cs typeface="Arial" pitchFamily="34" charset="-120"/>
              </a:rPr>
              <a:t>EVERY EVENT INCLUDES</a:t>
            </a:r>
            <a:endParaRPr lang="en-US" sz="1425" dirty="0"/>
          </a:p>
        </p:txBody>
      </p:sp>
      <p:sp>
        <p:nvSpPr>
          <p:cNvPr id="5" name="Text 3"/>
          <p:cNvSpPr/>
          <p:nvPr/>
        </p:nvSpPr>
        <p:spPr>
          <a:xfrm>
            <a:off x="952500" y="4610100"/>
            <a:ext cx="9012615" cy="4762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450" dirty="0">
                <a:solidFill>
                  <a:srgbClr val="22424B"/>
                </a:solidFill>
                <a:latin typeface="Georgia" pitchFamily="34" charset="0"/>
                <a:ea typeface="Georgia" pitchFamily="34" charset="-122"/>
                <a:cs typeface="Georgia" pitchFamily="34" charset="-120"/>
              </a:rPr>
              <a:t>1 bartender + 2 servers</a:t>
            </a:r>
            <a:endParaRPr lang="en-US" sz="3450" dirty="0"/>
          </a:p>
        </p:txBody>
      </p:sp>
      <p:sp>
        <p:nvSpPr>
          <p:cNvPr id="6" name="Text 4"/>
          <p:cNvSpPr/>
          <p:nvPr/>
        </p:nvSpPr>
        <p:spPr>
          <a:xfrm>
            <a:off x="952500" y="5181600"/>
            <a:ext cx="9012615" cy="32385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E5A5E"/>
                </a:solidFill>
                <a:latin typeface="Arial" pitchFamily="34" charset="0"/>
                <a:ea typeface="Arial" pitchFamily="34" charset="-122"/>
                <a:cs typeface="Arial" pitchFamily="34" charset="-120"/>
              </a:rPr>
              <a:t>$35 / hour × 5-hour shift × 3 staff</a:t>
            </a:r>
            <a:endParaRPr lang="en-US" sz="1950" dirty="0"/>
          </a:p>
        </p:txBody>
      </p:sp>
      <p:sp>
        <p:nvSpPr>
          <p:cNvPr id="7" name="Shape 5"/>
          <p:cNvSpPr/>
          <p:nvPr/>
        </p:nvSpPr>
        <p:spPr>
          <a:xfrm>
            <a:off x="952500" y="5715000"/>
            <a:ext cx="8193286" cy="19050"/>
          </a:xfrm>
          <a:prstGeom prst="rect">
            <a:avLst/>
          </a:prstGeom>
          <a:solidFill>
            <a:srgbClr val="22424B"/>
          </a:solidFill>
          <a:ln/>
        </p:spPr>
        <p:txBody>
          <a:bodyPr/>
          <a:lstStyle/>
          <a:p>
            <a:endParaRPr lang="en-US"/>
          </a:p>
        </p:txBody>
      </p:sp>
      <p:sp>
        <p:nvSpPr>
          <p:cNvPr id="8" name="Text 6"/>
          <p:cNvSpPr/>
          <p:nvPr/>
        </p:nvSpPr>
        <p:spPr>
          <a:xfrm>
            <a:off x="952500" y="5943600"/>
            <a:ext cx="1594872" cy="723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400" kern="0" spc="-150" dirty="0">
                <a:solidFill>
                  <a:srgbClr val="22424B"/>
                </a:solidFill>
                <a:latin typeface="Georgia" pitchFamily="34" charset="0"/>
                <a:ea typeface="Georgia" pitchFamily="34" charset="-122"/>
                <a:cs typeface="Georgia" pitchFamily="34" charset="-120"/>
              </a:rPr>
              <a:t>$525</a:t>
            </a:r>
            <a:endParaRPr lang="en-US" sz="5400" dirty="0"/>
          </a:p>
        </p:txBody>
      </p:sp>
      <p:sp>
        <p:nvSpPr>
          <p:cNvPr id="9" name="Text 7"/>
          <p:cNvSpPr/>
          <p:nvPr/>
        </p:nvSpPr>
        <p:spPr>
          <a:xfrm>
            <a:off x="2592884" y="6305550"/>
            <a:ext cx="392808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5E6B70"/>
                </a:solidFill>
                <a:latin typeface="Arial" pitchFamily="34" charset="0"/>
                <a:ea typeface="Arial" pitchFamily="34" charset="-122"/>
                <a:cs typeface="Arial" pitchFamily="34" charset="-120"/>
              </a:rPr>
              <a:t>per event · baked into event pricing</a:t>
            </a:r>
            <a:endParaRPr lang="en-US" sz="1800" dirty="0"/>
          </a:p>
        </p:txBody>
      </p:sp>
      <p:sp>
        <p:nvSpPr>
          <p:cNvPr id="10" name="Text 8"/>
          <p:cNvSpPr/>
          <p:nvPr/>
        </p:nvSpPr>
        <p:spPr>
          <a:xfrm>
            <a:off x="952500" y="6896100"/>
            <a:ext cx="8439085" cy="6858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725" dirty="0">
                <a:solidFill>
                  <a:srgbClr val="4E5A5E"/>
                </a:solidFill>
                <a:latin typeface="Arial" pitchFamily="34" charset="0"/>
                <a:ea typeface="Arial" pitchFamily="34" charset="-122"/>
                <a:cs typeface="Arial" pitchFamily="34" charset="-120"/>
              </a:rPr>
              <a:t>Anything beyond the standard is </a:t>
            </a:r>
            <a:r>
              <a:rPr lang="en-US" sz="1725" b="1" dirty="0">
                <a:solidFill>
                  <a:srgbClr val="22424B"/>
                </a:solidFill>
                <a:latin typeface="Arial" pitchFamily="34" charset="0"/>
                <a:ea typeface="Arial" pitchFamily="34" charset="-122"/>
                <a:cs typeface="Arial" pitchFamily="34" charset="-120"/>
              </a:rPr>
              <a:t>special consideration </a:t>
            </a:r>
            <a:r>
              <a:rPr lang="en-US" sz="1725" dirty="0">
                <a:solidFill>
                  <a:srgbClr val="4E5A5E"/>
                </a:solidFill>
                <a:latin typeface="Arial" pitchFamily="34" charset="0"/>
                <a:ea typeface="Arial" pitchFamily="34" charset="-122"/>
                <a:cs typeface="Arial" pitchFamily="34" charset="-120"/>
              </a:rPr>
              <a:t>— the additional labor is billed through to the client, not absorbed.</a:t>
            </a:r>
            <a:endParaRPr lang="en-US" sz="1725" dirty="0"/>
          </a:p>
        </p:txBody>
      </p:sp>
      <p:sp>
        <p:nvSpPr>
          <p:cNvPr id="11" name="Shape 9"/>
          <p:cNvSpPr/>
          <p:nvPr/>
        </p:nvSpPr>
        <p:spPr>
          <a:xfrm>
            <a:off x="9755386" y="3790950"/>
            <a:ext cx="7580114" cy="4336387"/>
          </a:xfrm>
          <a:prstGeom prst="roundRect">
            <a:avLst>
              <a:gd name="adj" fmla="val 517"/>
            </a:avLst>
          </a:prstGeom>
          <a:solidFill>
            <a:srgbClr val="F0EEE6"/>
          </a:solidFill>
          <a:ln w="19050">
            <a:solidFill>
              <a:srgbClr val="E0DDD2"/>
            </a:solidFill>
            <a:prstDash val="solid"/>
          </a:ln>
        </p:spPr>
        <p:txBody>
          <a:bodyPr/>
          <a:lstStyle/>
          <a:p>
            <a:endParaRPr lang="en-US"/>
          </a:p>
        </p:txBody>
      </p:sp>
      <p:sp>
        <p:nvSpPr>
          <p:cNvPr id="12" name="Text 10"/>
          <p:cNvSpPr/>
          <p:nvPr/>
        </p:nvSpPr>
        <p:spPr>
          <a:xfrm>
            <a:off x="10193536" y="4495800"/>
            <a:ext cx="7374195"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CONFIRM THE SOP</a:t>
            </a:r>
            <a:endParaRPr lang="en-US" sz="1425" dirty="0"/>
          </a:p>
        </p:txBody>
      </p:sp>
      <p:sp>
        <p:nvSpPr>
          <p:cNvPr id="13" name="Text 11"/>
          <p:cNvSpPr/>
          <p:nvPr/>
        </p:nvSpPr>
        <p:spPr>
          <a:xfrm>
            <a:off x="10193536" y="4857750"/>
            <a:ext cx="6904928" cy="914400"/>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3000" dirty="0">
                <a:solidFill>
                  <a:srgbClr val="22424B"/>
                </a:solidFill>
                <a:latin typeface="Georgia" pitchFamily="34" charset="0"/>
                <a:ea typeface="Georgia" pitchFamily="34" charset="-122"/>
                <a:cs typeface="Georgia" pitchFamily="34" charset="-120"/>
              </a:rPr>
              <a:t>Hourly labor above the standard needs sign-off</a:t>
            </a:r>
            <a:endParaRPr lang="en-US" sz="3000" dirty="0"/>
          </a:p>
        </p:txBody>
      </p:sp>
      <p:sp>
        <p:nvSpPr>
          <p:cNvPr id="14" name="Text 12"/>
          <p:cNvSpPr/>
          <p:nvPr/>
        </p:nvSpPr>
        <p:spPr>
          <a:xfrm>
            <a:off x="10193536" y="5943600"/>
            <a:ext cx="6904928" cy="6477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650" dirty="0">
                <a:solidFill>
                  <a:srgbClr val="4E5A5E"/>
                </a:solidFill>
                <a:latin typeface="Arial" pitchFamily="34" charset="0"/>
                <a:ea typeface="Arial" pitchFamily="34" charset="-122"/>
                <a:cs typeface="Arial" pitchFamily="34" charset="-120"/>
              </a:rPr>
              <a:t>No extra shifts or hours are committed to an event until they're approved in writing.</a:t>
            </a:r>
            <a:endParaRPr lang="en-US" sz="1650" dirty="0"/>
          </a:p>
        </p:txBody>
      </p:sp>
      <p:sp>
        <p:nvSpPr>
          <p:cNvPr id="15" name="Shape 13"/>
          <p:cNvSpPr/>
          <p:nvPr/>
        </p:nvSpPr>
        <p:spPr>
          <a:xfrm>
            <a:off x="10193536" y="6800850"/>
            <a:ext cx="934641" cy="457200"/>
          </a:xfrm>
          <a:prstGeom prst="roundRect">
            <a:avLst>
              <a:gd name="adj" fmla="val 6250"/>
            </a:avLst>
          </a:prstGeom>
          <a:solidFill>
            <a:srgbClr val="FAF9F5"/>
          </a:solidFill>
          <a:ln w="19050">
            <a:solidFill>
              <a:srgbClr val="D6D8D2"/>
            </a:solidFill>
            <a:prstDash val="solid"/>
          </a:ln>
        </p:spPr>
        <p:txBody>
          <a:bodyPr/>
          <a:lstStyle/>
          <a:p>
            <a:endParaRPr lang="en-US"/>
          </a:p>
        </p:txBody>
      </p:sp>
      <p:sp>
        <p:nvSpPr>
          <p:cNvPr id="16" name="Text 14"/>
          <p:cNvSpPr/>
          <p:nvPr/>
        </p:nvSpPr>
        <p:spPr>
          <a:xfrm>
            <a:off x="10422136" y="6915150"/>
            <a:ext cx="55364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dirty="0">
                <a:solidFill>
                  <a:srgbClr val="22424B"/>
                </a:solidFill>
                <a:latin typeface="Arial" pitchFamily="34" charset="0"/>
                <a:ea typeface="Arial" pitchFamily="34" charset="-122"/>
                <a:cs typeface="Arial" pitchFamily="34" charset="-120"/>
              </a:rPr>
              <a:t>Brad</a:t>
            </a:r>
            <a:endParaRPr lang="en-US" sz="1650" dirty="0"/>
          </a:p>
        </p:txBody>
      </p:sp>
      <p:sp>
        <p:nvSpPr>
          <p:cNvPr id="17" name="Shape 15"/>
          <p:cNvSpPr/>
          <p:nvPr/>
        </p:nvSpPr>
        <p:spPr>
          <a:xfrm>
            <a:off x="11242477" y="6800850"/>
            <a:ext cx="1226046" cy="457200"/>
          </a:xfrm>
          <a:prstGeom prst="roundRect">
            <a:avLst>
              <a:gd name="adj" fmla="val 6250"/>
            </a:avLst>
          </a:prstGeom>
          <a:solidFill>
            <a:srgbClr val="FAF9F5"/>
          </a:solidFill>
          <a:ln w="19050">
            <a:solidFill>
              <a:srgbClr val="D6D8D2"/>
            </a:solidFill>
            <a:prstDash val="solid"/>
          </a:ln>
        </p:spPr>
        <p:txBody>
          <a:bodyPr/>
          <a:lstStyle/>
          <a:p>
            <a:endParaRPr lang="en-US"/>
          </a:p>
        </p:txBody>
      </p:sp>
      <p:sp>
        <p:nvSpPr>
          <p:cNvPr id="18" name="Text 16"/>
          <p:cNvSpPr/>
          <p:nvPr/>
        </p:nvSpPr>
        <p:spPr>
          <a:xfrm>
            <a:off x="11471077" y="6915150"/>
            <a:ext cx="84504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dirty="0">
                <a:solidFill>
                  <a:srgbClr val="22424B"/>
                </a:solidFill>
                <a:latin typeface="Arial" pitchFamily="34" charset="0"/>
                <a:ea typeface="Arial" pitchFamily="34" charset="-122"/>
                <a:cs typeface="Arial" pitchFamily="34" charset="-120"/>
              </a:rPr>
              <a:t>Michael</a:t>
            </a:r>
            <a:endParaRPr lang="en-US" sz="1650" dirty="0"/>
          </a:p>
        </p:txBody>
      </p:sp>
      <p:sp>
        <p:nvSpPr>
          <p:cNvPr id="19" name="Text 17"/>
          <p:cNvSpPr/>
          <p:nvPr/>
        </p:nvSpPr>
        <p:spPr>
          <a:xfrm>
            <a:off x="12582823" y="6924675"/>
            <a:ext cx="2656374" cy="247650"/>
          </a:xfrm>
          <a:prstGeom prst="rect">
            <a:avLst/>
          </a:prstGeom>
          <a:noFill/>
          <a:ln/>
        </p:spPr>
        <p:txBody>
          <a:bodyPr wrap="square" lIns="25400" tIns="25400" rIns="25400" bIns="25400" rtlCol="0" anchor="t">
            <a:normAutofit lnSpcReduction="10000"/>
          </a:bodyPr>
          <a:lstStyle/>
          <a:p>
            <a:pPr marL="0" indent="0" algn="l">
              <a:buNone/>
            </a:pPr>
            <a:r>
              <a:rPr lang="en-US" sz="1425" dirty="0">
                <a:solidFill>
                  <a:srgbClr val="93999B"/>
                </a:solidFill>
                <a:latin typeface="Arial" pitchFamily="34" charset="0"/>
                <a:ea typeface="Arial" pitchFamily="34" charset="-122"/>
                <a:cs typeface="Arial" pitchFamily="34" charset="-120"/>
              </a:rPr>
              <a:t>approve above-standard labor</a:t>
            </a:r>
            <a:endParaRPr lang="en-US" sz="1425" dirty="0"/>
          </a:p>
        </p:txBody>
      </p:sp>
      <p:pic>
        <p:nvPicPr>
          <p:cNvPr id="20" name="Picture 19">
            <a:extLst>
              <a:ext uri="{FF2B5EF4-FFF2-40B4-BE49-F238E27FC236}">
                <a16:creationId xmlns:a16="http://schemas.microsoft.com/office/drawing/2014/main" id="{EC4787B0-2ABD-0BBD-73CC-7CB09842CE55}"/>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1" name="Text 11">
            <a:extLst>
              <a:ext uri="{FF2B5EF4-FFF2-40B4-BE49-F238E27FC236}">
                <a16:creationId xmlns:a16="http://schemas.microsoft.com/office/drawing/2014/main" id="{35D37B8B-EA98-3BF6-A545-DB40AF595A73}"/>
              </a:ext>
            </a:extLst>
          </p:cNvPr>
          <p:cNvSpPr/>
          <p:nvPr/>
        </p:nvSpPr>
        <p:spPr>
          <a:xfrm>
            <a:off x="12316123" y="12573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PLACEHOLDER</a:t>
            </a:r>
            <a:endParaRPr lang="en-US" sz="3750" dirty="0">
              <a:solidFill>
                <a:srgbClr val="FF0000"/>
              </a:solidFill>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50976" y="740664"/>
            <a:ext cx="9015984" cy="265176"/>
          </a:xfrm>
          <a:prstGeom prst="rect">
            <a:avLst/>
          </a:prstGeom>
          <a:noFill/>
        </p:spPr>
        <p:txBody>
          <a:bodyPr wrap="none">
            <a:spAutoFit/>
          </a:bodyPr>
          <a:lstStyle/>
          <a:p>
            <a:r>
              <a:rPr sz="1650" b="1">
                <a:solidFill>
                  <a:srgbClr val="63BACB"/>
                </a:solidFill>
                <a:latin typeface="Arial"/>
              </a:rPr>
              <a:t>06 | P&amp;L — VESSEL</a:t>
            </a:r>
          </a:p>
        </p:txBody>
      </p:sp>
      <p:sp>
        <p:nvSpPr>
          <p:cNvPr id="3" name="TextBox 2"/>
          <p:cNvSpPr txBox="1"/>
          <p:nvPr/>
        </p:nvSpPr>
        <p:spPr>
          <a:xfrm>
            <a:off x="950976" y="1106424"/>
            <a:ext cx="9015984" cy="566928"/>
          </a:xfrm>
          <a:prstGeom prst="rect">
            <a:avLst/>
          </a:prstGeom>
          <a:noFill/>
        </p:spPr>
        <p:txBody>
          <a:bodyPr wrap="none">
            <a:spAutoFit/>
          </a:bodyPr>
          <a:lstStyle/>
          <a:p>
            <a:r>
              <a:rPr sz="4000">
                <a:solidFill>
                  <a:srgbClr val="22424B"/>
                </a:solidFill>
                <a:latin typeface="Georgia"/>
              </a:rPr>
              <a:t>The go-forward plan</a:t>
            </a:r>
          </a:p>
        </p:txBody>
      </p:sp>
      <p:graphicFrame>
        <p:nvGraphicFramePr>
          <p:cNvPr id="4" name="Table 3"/>
          <p:cNvGraphicFramePr>
            <a:graphicFrameLocks noGrp="1"/>
          </p:cNvGraphicFramePr>
          <p:nvPr/>
        </p:nvGraphicFramePr>
        <p:xfrm>
          <a:off x="950976" y="2377440"/>
          <a:ext cx="11521440" cy="4572000"/>
        </p:xfrm>
        <a:graphic>
          <a:graphicData uri="http://schemas.openxmlformats.org/drawingml/2006/table">
            <a:tbl>
              <a:tblPr firstRow="1" bandRow="1">
                <a:tableStyleId>{5C22544A-7EE6-4342-B048-85BDC9FD1C3A}</a:tableStyleId>
              </a:tblPr>
              <a:tblGrid>
                <a:gridCol w="3840480"/>
                <a:gridCol w="2560320"/>
                <a:gridCol w="2560320"/>
                <a:gridCol w="2560320"/>
              </a:tblGrid>
              <a:tr h="571500">
                <a:tc>
                  <a:txBody>
                    <a:bodyPr/>
                    <a:lstStyle/>
                    <a:p>
                      <a:pPr>
                        <a:defRPr sz="1200" b="1">
                          <a:solidFill>
                            <a:srgbClr val="FFFFFF"/>
                          </a:solidFill>
                          <a:latin typeface="Arial"/>
                        </a:defRPr>
                      </a:pPr>
                    </a:p>
                  </a:txBody>
                  <a:tcPr>
                    <a:solidFill>
                      <a:srgbClr val="22424B"/>
                    </a:solidFill>
                  </a:tcPr>
                </a:tc>
                <a:tc>
                  <a:txBody>
                    <a:bodyPr/>
                    <a:lstStyle/>
                    <a:p>
                      <a:pPr algn="r"/>
                      <a:r>
                        <a:rPr sz="1200" b="1">
                          <a:solidFill>
                            <a:srgbClr val="FFFFFF"/>
                          </a:solidFill>
                          <a:latin typeface="Arial"/>
                        </a:rPr>
                        <a:t>2026 ACT/FOR</a:t>
                      </a:r>
                    </a:p>
                  </a:txBody>
                  <a:tcPr>
                    <a:solidFill>
                      <a:srgbClr val="22424B"/>
                    </a:solidFill>
                  </a:tcPr>
                </a:tc>
                <a:tc>
                  <a:txBody>
                    <a:bodyPr/>
                    <a:lstStyle/>
                    <a:p>
                      <a:pPr algn="r"/>
                      <a:r>
                        <a:rPr sz="1200" b="1">
                          <a:solidFill>
                            <a:srgbClr val="FFFFFF"/>
                          </a:solidFill>
                          <a:latin typeface="Arial"/>
                        </a:rPr>
                        <a:t>2026 MODIFIED · 8/1 GO-LIVE</a:t>
                      </a:r>
                    </a:p>
                  </a:txBody>
                  <a:tcPr>
                    <a:solidFill>
                      <a:srgbClr val="22424B"/>
                    </a:solidFill>
                  </a:tcPr>
                </a:tc>
                <a:tc>
                  <a:txBody>
                    <a:bodyPr/>
                    <a:lstStyle/>
                    <a:p>
                      <a:pPr algn="r"/>
                      <a:r>
                        <a:rPr sz="1200" b="1">
                          <a:solidFill>
                            <a:srgbClr val="FFFFFF"/>
                          </a:solidFill>
                          <a:latin typeface="Arial"/>
                        </a:rPr>
                        <a:t>2027 PLAN</a:t>
                      </a:r>
                    </a:p>
                  </a:txBody>
                  <a:tcPr>
                    <a:solidFill>
                      <a:srgbClr val="22424B"/>
                    </a:solidFill>
                  </a:tcPr>
                </a:tc>
              </a:tr>
              <a:tr h="571500">
                <a:tc>
                  <a:txBody>
                    <a:bodyPr/>
                    <a:lstStyle/>
                    <a:p>
                      <a:r>
                        <a:rPr sz="1400">
                          <a:solidFill>
                            <a:srgbClr val="3F4A4E"/>
                          </a:solidFill>
                          <a:latin typeface="Arial"/>
                        </a:rPr>
                        <a:t>Total income (incl 5% admin fee billed to clients)</a:t>
                      </a:r>
                    </a:p>
                  </a:txBody>
                  <a:tcPr>
                    <a:solidFill>
                      <a:srgbClr val="F7F6F2"/>
                    </a:solidFill>
                  </a:tcPr>
                </a:tc>
                <a:tc>
                  <a:txBody>
                    <a:bodyPr/>
                    <a:lstStyle/>
                    <a:p>
                      <a:pPr algn="r"/>
                      <a:r>
                        <a:rPr sz="1400">
                          <a:solidFill>
                            <a:srgbClr val="3F4A4E"/>
                          </a:solidFill>
                          <a:latin typeface="Arial"/>
                        </a:rPr>
                        <a:t>$352.0K</a:t>
                      </a:r>
                    </a:p>
                  </a:txBody>
                  <a:tcPr>
                    <a:solidFill>
                      <a:srgbClr val="F7F6F2"/>
                    </a:solidFill>
                  </a:tcPr>
                </a:tc>
                <a:tc>
                  <a:txBody>
                    <a:bodyPr/>
                    <a:lstStyle/>
                    <a:p>
                      <a:pPr algn="r"/>
                      <a:r>
                        <a:rPr sz="1400">
                          <a:solidFill>
                            <a:srgbClr val="3F4A4E"/>
                          </a:solidFill>
                          <a:latin typeface="Arial"/>
                        </a:rPr>
                        <a:t>$355.5K</a:t>
                      </a:r>
                    </a:p>
                  </a:txBody>
                  <a:tcPr>
                    <a:solidFill>
                      <a:srgbClr val="F7F6F2"/>
                    </a:solidFill>
                  </a:tcPr>
                </a:tc>
                <a:tc>
                  <a:txBody>
                    <a:bodyPr/>
                    <a:lstStyle/>
                    <a:p>
                      <a:pPr algn="r"/>
                      <a:r>
                        <a:rPr sz="1400">
                          <a:solidFill>
                            <a:srgbClr val="3F4A4E"/>
                          </a:solidFill>
                          <a:latin typeface="Arial"/>
                        </a:rPr>
                        <a:t>$415.0K</a:t>
                      </a:r>
                    </a:p>
                  </a:txBody>
                  <a:tcPr>
                    <a:solidFill>
                      <a:srgbClr val="F7F6F2"/>
                    </a:solidFill>
                  </a:tcPr>
                </a:tc>
              </a:tr>
              <a:tr h="571500">
                <a:tc>
                  <a:txBody>
                    <a:bodyPr/>
                    <a:lstStyle/>
                    <a:p>
                      <a:r>
                        <a:rPr sz="1400">
                          <a:solidFill>
                            <a:srgbClr val="3F4A4E"/>
                          </a:solidFill>
                          <a:latin typeface="Arial"/>
                        </a:rPr>
                        <a:t>Cost of goods sold</a:t>
                      </a:r>
                    </a:p>
                  </a:txBody>
                  <a:tcPr>
                    <a:solidFill>
                      <a:srgbClr val="FFFFFF"/>
                    </a:solidFill>
                  </a:tcPr>
                </a:tc>
                <a:tc>
                  <a:txBody>
                    <a:bodyPr/>
                    <a:lstStyle/>
                    <a:p>
                      <a:pPr algn="r"/>
                      <a:r>
                        <a:rPr sz="1400">
                          <a:solidFill>
                            <a:srgbClr val="3F4A4E"/>
                          </a:solidFill>
                          <a:latin typeface="Arial"/>
                        </a:rPr>
                        <a:t>$122.9K</a:t>
                      </a:r>
                    </a:p>
                  </a:txBody>
                  <a:tcPr>
                    <a:solidFill>
                      <a:srgbClr val="FFFFFF"/>
                    </a:solidFill>
                  </a:tcPr>
                </a:tc>
                <a:tc>
                  <a:txBody>
                    <a:bodyPr/>
                    <a:lstStyle/>
                    <a:p>
                      <a:pPr algn="r"/>
                      <a:r>
                        <a:rPr sz="1400">
                          <a:solidFill>
                            <a:srgbClr val="3F4A4E"/>
                          </a:solidFill>
                          <a:latin typeface="Arial"/>
                        </a:rPr>
                        <a:t>$122.9K</a:t>
                      </a:r>
                    </a:p>
                  </a:txBody>
                  <a:tcPr>
                    <a:solidFill>
                      <a:srgbClr val="FFFFFF"/>
                    </a:solidFill>
                  </a:tcPr>
                </a:tc>
                <a:tc>
                  <a:txBody>
                    <a:bodyPr/>
                    <a:lstStyle/>
                    <a:p>
                      <a:pPr algn="r"/>
                      <a:r>
                        <a:rPr sz="1400">
                          <a:solidFill>
                            <a:srgbClr val="3F4A4E"/>
                          </a:solidFill>
                          <a:latin typeface="Arial"/>
                        </a:rPr>
                        <a:t>$170.0K</a:t>
                      </a:r>
                    </a:p>
                  </a:txBody>
                  <a:tcPr>
                    <a:solidFill>
                      <a:srgbClr val="FFFFFF"/>
                    </a:solidFill>
                  </a:tcPr>
                </a:tc>
              </a:tr>
              <a:tr h="571500">
                <a:tc>
                  <a:txBody>
                    <a:bodyPr/>
                    <a:lstStyle/>
                    <a:p>
                      <a:r>
                        <a:rPr sz="1400">
                          <a:solidFill>
                            <a:srgbClr val="3F4A4E"/>
                          </a:solidFill>
                          <a:latin typeface="Arial"/>
                        </a:rPr>
                        <a:t>Labor</a:t>
                      </a:r>
                    </a:p>
                  </a:txBody>
                  <a:tcPr>
                    <a:solidFill>
                      <a:srgbClr val="F7F6F2"/>
                    </a:solidFill>
                  </a:tcPr>
                </a:tc>
                <a:tc>
                  <a:txBody>
                    <a:bodyPr/>
                    <a:lstStyle/>
                    <a:p>
                      <a:pPr algn="r"/>
                      <a:r>
                        <a:rPr sz="1400">
                          <a:solidFill>
                            <a:srgbClr val="3F4A4E"/>
                          </a:solidFill>
                          <a:latin typeface="Arial"/>
                        </a:rPr>
                        <a:t>$80.0K</a:t>
                      </a:r>
                    </a:p>
                  </a:txBody>
                  <a:tcPr>
                    <a:solidFill>
                      <a:srgbClr val="F7F6F2"/>
                    </a:solidFill>
                  </a:tcPr>
                </a:tc>
                <a:tc>
                  <a:txBody>
                    <a:bodyPr/>
                    <a:lstStyle/>
                    <a:p>
                      <a:pPr algn="r"/>
                      <a:r>
                        <a:rPr sz="1400">
                          <a:solidFill>
                            <a:srgbClr val="3F4A4E"/>
                          </a:solidFill>
                          <a:latin typeface="Arial"/>
                        </a:rPr>
                        <a:t>$80.0K</a:t>
                      </a:r>
                    </a:p>
                  </a:txBody>
                  <a:tcPr>
                    <a:solidFill>
                      <a:srgbClr val="F7F6F2"/>
                    </a:solidFill>
                  </a:tcPr>
                </a:tc>
                <a:tc>
                  <a:txBody>
                    <a:bodyPr/>
                    <a:lstStyle/>
                    <a:p>
                      <a:pPr algn="r"/>
                      <a:r>
                        <a:rPr sz="1400">
                          <a:solidFill>
                            <a:srgbClr val="3F4A4E"/>
                          </a:solidFill>
                          <a:latin typeface="Arial"/>
                        </a:rPr>
                        <a:t>$70.6K</a:t>
                      </a:r>
                    </a:p>
                  </a:txBody>
                  <a:tcPr>
                    <a:solidFill>
                      <a:srgbClr val="F7F6F2"/>
                    </a:solidFill>
                  </a:tcPr>
                </a:tc>
              </a:tr>
              <a:tr h="571500">
                <a:tc>
                  <a:txBody>
                    <a:bodyPr/>
                    <a:lstStyle/>
                    <a:p>
                      <a:r>
                        <a:rPr sz="1400">
                          <a:solidFill>
                            <a:srgbClr val="3F4A4E"/>
                          </a:solidFill>
                          <a:latin typeface="Arial"/>
                        </a:rPr>
                        <a:t>Operating expenses</a:t>
                      </a:r>
                    </a:p>
                  </a:txBody>
                  <a:tcPr>
                    <a:solidFill>
                      <a:srgbClr val="FFFFFF"/>
                    </a:solidFill>
                  </a:tcPr>
                </a:tc>
                <a:tc>
                  <a:txBody>
                    <a:bodyPr/>
                    <a:lstStyle/>
                    <a:p>
                      <a:pPr algn="r"/>
                      <a:r>
                        <a:rPr sz="1400">
                          <a:solidFill>
                            <a:srgbClr val="3F4A4E"/>
                          </a:solidFill>
                          <a:latin typeface="Arial"/>
                        </a:rPr>
                        <a:t>$93.2K</a:t>
                      </a:r>
                    </a:p>
                  </a:txBody>
                  <a:tcPr>
                    <a:solidFill>
                      <a:srgbClr val="FFFFFF"/>
                    </a:solidFill>
                  </a:tcPr>
                </a:tc>
                <a:tc>
                  <a:txBody>
                    <a:bodyPr/>
                    <a:lstStyle/>
                    <a:p>
                      <a:pPr algn="r"/>
                      <a:r>
                        <a:rPr sz="1400">
                          <a:solidFill>
                            <a:srgbClr val="3F4A4E"/>
                          </a:solidFill>
                          <a:latin typeface="Arial"/>
                        </a:rPr>
                        <a:t>$81.8K</a:t>
                      </a:r>
                    </a:p>
                  </a:txBody>
                  <a:tcPr>
                    <a:solidFill>
                      <a:srgbClr val="FFFFFF"/>
                    </a:solidFill>
                  </a:tcPr>
                </a:tc>
                <a:tc>
                  <a:txBody>
                    <a:bodyPr/>
                    <a:lstStyle/>
                    <a:p>
                      <a:pPr algn="r"/>
                      <a:r>
                        <a:rPr sz="1400">
                          <a:solidFill>
                            <a:srgbClr val="3F4A4E"/>
                          </a:solidFill>
                          <a:latin typeface="Arial"/>
                        </a:rPr>
                        <a:t>$76.4K</a:t>
                      </a:r>
                    </a:p>
                  </a:txBody>
                  <a:tcPr>
                    <a:solidFill>
                      <a:srgbClr val="FFFFFF"/>
                    </a:solidFill>
                  </a:tcPr>
                </a:tc>
              </a:tr>
              <a:tr h="571500">
                <a:tc>
                  <a:txBody>
                    <a:bodyPr/>
                    <a:lstStyle/>
                    <a:p>
                      <a:r>
                        <a:rPr sz="1400">
                          <a:solidFill>
                            <a:srgbClr val="3F4A4E"/>
                          </a:solidFill>
                          <a:latin typeface="Arial"/>
                        </a:rPr>
                        <a:t>Management fee</a:t>
                      </a:r>
                    </a:p>
                  </a:txBody>
                  <a:tcPr>
                    <a:solidFill>
                      <a:srgbClr val="F7F6F2"/>
                    </a:solidFill>
                  </a:tcPr>
                </a:tc>
                <a:tc>
                  <a:txBody>
                    <a:bodyPr/>
                    <a:lstStyle/>
                    <a:p>
                      <a:pPr algn="r"/>
                      <a:r>
                        <a:rPr sz="1400">
                          <a:solidFill>
                            <a:srgbClr val="3F4A4E"/>
                          </a:solidFill>
                          <a:latin typeface="Arial"/>
                        </a:rPr>
                        <a:t>$48.0K</a:t>
                      </a:r>
                    </a:p>
                  </a:txBody>
                  <a:tcPr>
                    <a:solidFill>
                      <a:srgbClr val="F7F6F2"/>
                    </a:solidFill>
                  </a:tcPr>
                </a:tc>
                <a:tc>
                  <a:txBody>
                    <a:bodyPr/>
                    <a:lstStyle/>
                    <a:p>
                      <a:pPr algn="r"/>
                      <a:r>
                        <a:rPr sz="1400">
                          <a:solidFill>
                            <a:srgbClr val="3F4A4E"/>
                          </a:solidFill>
                          <a:latin typeface="Arial"/>
                        </a:rPr>
                        <a:t>$33.1K</a:t>
                      </a:r>
                    </a:p>
                  </a:txBody>
                  <a:tcPr>
                    <a:solidFill>
                      <a:srgbClr val="F7F6F2"/>
                    </a:solidFill>
                  </a:tcPr>
                </a:tc>
                <a:tc>
                  <a:txBody>
                    <a:bodyPr/>
                    <a:lstStyle/>
                    <a:p>
                      <a:pPr algn="r"/>
                      <a:r>
                        <a:rPr sz="1400">
                          <a:solidFill>
                            <a:srgbClr val="3F4A4E"/>
                          </a:solidFill>
                          <a:latin typeface="Arial"/>
                        </a:rPr>
                        <a:t>$16.6K</a:t>
                      </a:r>
                    </a:p>
                  </a:txBody>
                  <a:tcPr>
                    <a:solidFill>
                      <a:srgbClr val="F7F6F2"/>
                    </a:solidFill>
                  </a:tcPr>
                </a:tc>
              </a:tr>
              <a:tr h="571500">
                <a:tc>
                  <a:txBody>
                    <a:bodyPr/>
                    <a:lstStyle/>
                    <a:p>
                      <a:r>
                        <a:rPr sz="1400">
                          <a:solidFill>
                            <a:srgbClr val="3F4A4E"/>
                          </a:solidFill>
                          <a:latin typeface="Arial"/>
                        </a:rPr>
                        <a:t>Rent / occupancy</a:t>
                      </a:r>
                    </a:p>
                  </a:txBody>
                  <a:tcPr>
                    <a:solidFill>
                      <a:srgbClr val="FFFFFF"/>
                    </a:solidFill>
                  </a:tcPr>
                </a:tc>
                <a:tc>
                  <a:txBody>
                    <a:bodyPr/>
                    <a:lstStyle/>
                    <a:p>
                      <a:pPr algn="r"/>
                      <a:r>
                        <a:rPr sz="1400">
                          <a:solidFill>
                            <a:srgbClr val="3F4A4E"/>
                          </a:solidFill>
                          <a:latin typeface="Arial"/>
                        </a:rPr>
                        <a:t>$21.3K</a:t>
                      </a:r>
                    </a:p>
                  </a:txBody>
                  <a:tcPr>
                    <a:solidFill>
                      <a:srgbClr val="FFFFFF"/>
                    </a:solidFill>
                  </a:tcPr>
                </a:tc>
                <a:tc>
                  <a:txBody>
                    <a:bodyPr/>
                    <a:lstStyle/>
                    <a:p>
                      <a:pPr algn="r"/>
                      <a:r>
                        <a:rPr sz="1400">
                          <a:solidFill>
                            <a:srgbClr val="3F4A4E"/>
                          </a:solidFill>
                          <a:latin typeface="Arial"/>
                        </a:rPr>
                        <a:t>$13.8K</a:t>
                      </a:r>
                    </a:p>
                  </a:txBody>
                  <a:tcPr>
                    <a:solidFill>
                      <a:srgbClr val="FFFFFF"/>
                    </a:solidFill>
                  </a:tcPr>
                </a:tc>
                <a:tc>
                  <a:txBody>
                    <a:bodyPr/>
                    <a:lstStyle/>
                    <a:p>
                      <a:pPr algn="r"/>
                      <a:r>
                        <a:rPr sz="1400">
                          <a:solidFill>
                            <a:srgbClr val="3F4A4E"/>
                          </a:solidFill>
                          <a:latin typeface="Arial"/>
                        </a:rPr>
                        <a:t>$0</a:t>
                      </a:r>
                    </a:p>
                  </a:txBody>
                  <a:tcPr>
                    <a:solidFill>
                      <a:srgbClr val="FFFFFF"/>
                    </a:solidFill>
                  </a:tcPr>
                </a:tc>
              </a:tr>
              <a:tr h="571500">
                <a:tc>
                  <a:txBody>
                    <a:bodyPr/>
                    <a:lstStyle/>
                    <a:p>
                      <a:r>
                        <a:rPr sz="1400" b="1">
                          <a:solidFill>
                            <a:srgbClr val="22424B"/>
                          </a:solidFill>
                          <a:latin typeface="Arial"/>
                        </a:rPr>
                        <a:t>NET OPERATING PROFIT</a:t>
                      </a:r>
                    </a:p>
                  </a:txBody>
                  <a:tcPr>
                    <a:solidFill>
                      <a:srgbClr val="F7F6F2"/>
                    </a:solidFill>
                  </a:tcPr>
                </a:tc>
                <a:tc>
                  <a:txBody>
                    <a:bodyPr/>
                    <a:lstStyle/>
                    <a:p>
                      <a:pPr algn="r"/>
                      <a:r>
                        <a:rPr sz="1400" b="1">
                          <a:solidFill>
                            <a:srgbClr val="22424B"/>
                          </a:solidFill>
                          <a:latin typeface="Arial"/>
                        </a:rPr>
                        <a:t>($13.5K)</a:t>
                      </a:r>
                    </a:p>
                  </a:txBody>
                  <a:tcPr>
                    <a:solidFill>
                      <a:srgbClr val="F7F6F2"/>
                    </a:solidFill>
                  </a:tcPr>
                </a:tc>
                <a:tc>
                  <a:txBody>
                    <a:bodyPr/>
                    <a:lstStyle/>
                    <a:p>
                      <a:pPr algn="r"/>
                      <a:r>
                        <a:rPr sz="1400" b="1">
                          <a:solidFill>
                            <a:srgbClr val="22424B"/>
                          </a:solidFill>
                          <a:latin typeface="Arial"/>
                        </a:rPr>
                        <a:t>$23.7K</a:t>
                      </a:r>
                    </a:p>
                  </a:txBody>
                  <a:tcPr>
                    <a:solidFill>
                      <a:srgbClr val="F7F6F2"/>
                    </a:solidFill>
                  </a:tcPr>
                </a:tc>
                <a:tc>
                  <a:txBody>
                    <a:bodyPr/>
                    <a:lstStyle/>
                    <a:p>
                      <a:pPr algn="r"/>
                      <a:r>
                        <a:rPr sz="1400" b="1">
                          <a:solidFill>
                            <a:srgbClr val="22424B"/>
                          </a:solidFill>
                          <a:latin typeface="Arial"/>
                        </a:rPr>
                        <a:t>$81.4K</a:t>
                      </a:r>
                    </a:p>
                  </a:txBody>
                  <a:tcPr>
                    <a:solidFill>
                      <a:srgbClr val="F7F6F2"/>
                    </a:solidFill>
                  </a:tcPr>
                </a:tc>
              </a:tr>
            </a:tbl>
          </a:graphicData>
        </a:graphic>
      </p:graphicFrame>
      <p:sp>
        <p:nvSpPr>
          <p:cNvPr id="5" name="TextBox 4"/>
          <p:cNvSpPr txBox="1"/>
          <p:nvPr/>
        </p:nvSpPr>
        <p:spPr>
          <a:xfrm>
            <a:off x="12893040" y="2468880"/>
            <a:ext cx="4572000" cy="5029200"/>
          </a:xfrm>
          <a:prstGeom prst="rect">
            <a:avLst/>
          </a:prstGeom>
          <a:noFill/>
        </p:spPr>
        <p:txBody>
          <a:bodyPr wrap="square">
            <a:spAutoFit/>
          </a:bodyPr>
          <a:lstStyle/>
          <a:p>
            <a:pPr>
              <a:spcAft>
                <a:spcPts val="800"/>
              </a:spcAft>
            </a:pPr>
            <a:r>
              <a:rPr sz="1300" b="1">
                <a:solidFill>
                  <a:srgbClr val="63BACB"/>
                </a:solidFill>
                <a:latin typeface="Arial"/>
              </a:rPr>
              <a:t>EVENT TERMS — DECIDED</a:t>
            </a:r>
          </a:p>
          <a:p>
            <a:pPr>
              <a:spcAft>
                <a:spcPts val="800"/>
              </a:spcAft>
            </a:pPr>
            <a:r>
              <a:rPr sz="1400" b="0">
                <a:solidFill>
                  <a:srgbClr val="3F4A4E"/>
                </a:solidFill>
                <a:latin typeface="Arial"/>
              </a:rPr>
              <a:t>$4,000 F&amp;B minimum per event (was none)</a:t>
            </a:r>
          </a:p>
          <a:p>
            <a:pPr>
              <a:spcAft>
                <a:spcPts val="800"/>
              </a:spcAft>
            </a:pPr>
            <a:r>
              <a:rPr sz="1400" b="0">
                <a:solidFill>
                  <a:srgbClr val="3F4A4E"/>
                </a:solidFill>
                <a:latin typeface="Arial"/>
              </a:rPr>
              <a:t>20% service charge + 5% admin fee billed to clients — admin fee is income, covering 3% commission + 2% CC processing</a:t>
            </a:r>
          </a:p>
          <a:p>
            <a:pPr>
              <a:spcAft>
                <a:spcPts val="800"/>
              </a:spcAft>
            </a:pPr>
            <a:r>
              <a:rPr sz="1400" b="0">
                <a:solidFill>
                  <a:srgbClr val="3F4A4E"/>
                </a:solidFill>
                <a:latin typeface="Arial"/>
              </a:rPr>
              <a:t>4% management fee replaces the $48K flat fee · rent waived · live 8/1/2026</a:t>
            </a:r>
          </a:p>
          <a:p>
            <a:pPr>
              <a:spcAft>
                <a:spcPts val="800"/>
              </a:spcAft>
            </a:pPr>
            <a:r>
              <a:rPr sz="1400" b="0">
                <a:solidFill>
                  <a:srgbClr val="3F4A4E"/>
                </a:solidFill>
                <a:latin typeface="Arial"/>
              </a:rPr>
              <a:t/>
            </a:r>
          </a:p>
          <a:p>
            <a:pPr>
              <a:spcAft>
                <a:spcPts val="800"/>
              </a:spcAft>
            </a:pPr>
            <a:r>
              <a:rPr sz="1300" b="1">
                <a:solidFill>
                  <a:srgbClr val="63BACB"/>
                </a:solidFill>
                <a:latin typeface="Arial"/>
              </a:rPr>
              <a:t>THE RESULT</a:t>
            </a:r>
          </a:p>
          <a:p>
            <a:pPr>
              <a:spcAft>
                <a:spcPts val="800"/>
              </a:spcAft>
            </a:pPr>
            <a:r>
              <a:rPr sz="1400" b="0">
                <a:solidFill>
                  <a:srgbClr val="3F4A4E"/>
                </a:solidFill>
                <a:latin typeface="Arial"/>
              </a:rPr>
              <a:t>Vessel swings from a ($13.5K) year to +$81.4K in 2027</a:t>
            </a:r>
          </a:p>
          <a:p>
            <a:pPr>
              <a:spcAft>
                <a:spcPts val="800"/>
              </a:spcAft>
            </a:pPr>
            <a:r>
              <a:rPr sz="1400" b="0">
                <a:solidFill>
                  <a:srgbClr val="3F4A4E"/>
                </a:solidFill>
                <a:latin typeface="Arial"/>
              </a:rPr>
              <a:t/>
            </a:r>
          </a:p>
          <a:p>
            <a:pPr>
              <a:spcAft>
                <a:spcPts val="800"/>
              </a:spcAft>
            </a:pPr>
            <a:r>
              <a:rPr sz="1300" b="1">
                <a:solidFill>
                  <a:srgbClr val="63BACB"/>
                </a:solidFill>
                <a:latin typeface="Arial"/>
              </a:rPr>
              <a:t>IMMEDIATE IMPACT — AUG 1 THROUGH YEAR-END</a:t>
            </a:r>
          </a:p>
          <a:p>
            <a:pPr>
              <a:spcAft>
                <a:spcPts val="800"/>
              </a:spcAft>
            </a:pPr>
            <a:r>
              <a:rPr sz="1400" b="0">
                <a:solidFill>
                  <a:srgbClr val="3F4A4E"/>
                </a:solidFill>
                <a:latin typeface="Arial"/>
              </a:rPr>
              <a:t>+$46.2K with the changes vs +$9.0K with no changes → +$37.2K in five months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50976" y="740664"/>
            <a:ext cx="16459200" cy="320040"/>
          </a:xfrm>
          <a:prstGeom prst="rect">
            <a:avLst/>
          </a:prstGeom>
          <a:noFill/>
        </p:spPr>
        <p:txBody>
          <a:bodyPr wrap="none">
            <a:spAutoFit/>
          </a:bodyPr>
          <a:lstStyle/>
          <a:p>
            <a:r>
              <a:rPr sz="1650" b="1">
                <a:solidFill>
                  <a:srgbClr val="1E7E8C"/>
                </a:solidFill>
                <a:latin typeface="Arial"/>
              </a:rPr>
              <a:t>CONSOLIDATED | P&amp;L</a:t>
            </a:r>
          </a:p>
        </p:txBody>
      </p:sp>
      <p:sp>
        <p:nvSpPr>
          <p:cNvPr id="3" name="TextBox 2"/>
          <p:cNvSpPr txBox="1"/>
          <p:nvPr/>
        </p:nvSpPr>
        <p:spPr>
          <a:xfrm>
            <a:off x="950976" y="1106424"/>
            <a:ext cx="16459200" cy="640080"/>
          </a:xfrm>
          <a:prstGeom prst="rect">
            <a:avLst/>
          </a:prstGeom>
          <a:noFill/>
        </p:spPr>
        <p:txBody>
          <a:bodyPr wrap="none">
            <a:spAutoFit/>
          </a:bodyPr>
          <a:lstStyle/>
          <a:p>
            <a:r>
              <a:rPr sz="4000">
                <a:solidFill>
                  <a:srgbClr val="22424B"/>
                </a:solidFill>
                <a:latin typeface="Georgia"/>
              </a:rPr>
              <a:t>Current, modified &amp; 2027 — both outlets</a:t>
            </a:r>
          </a:p>
        </p:txBody>
      </p:sp>
      <p:graphicFrame>
        <p:nvGraphicFramePr>
          <p:cNvPr id="4" name="Table 3"/>
          <p:cNvGraphicFramePr>
            <a:graphicFrameLocks noGrp="1"/>
          </p:cNvGraphicFramePr>
          <p:nvPr/>
        </p:nvGraphicFramePr>
        <p:xfrm>
          <a:off x="950976" y="2286000"/>
          <a:ext cx="11521437" cy="5120640"/>
        </p:xfrm>
        <a:graphic>
          <a:graphicData uri="http://schemas.openxmlformats.org/drawingml/2006/table">
            <a:tbl>
              <a:tblPr firstRow="1" bandRow="1">
                <a:tableStyleId>{5C22544A-7EE6-4342-B048-85BDC9FD1C3A}</a:tableStyleId>
              </a:tblPr>
              <a:tblGrid>
                <a:gridCol w="3840480"/>
                <a:gridCol w="2560319"/>
                <a:gridCol w="2560319"/>
                <a:gridCol w="2560319"/>
              </a:tblGrid>
              <a:tr h="568960">
                <a:tc>
                  <a:txBody>
                    <a:bodyPr/>
                    <a:lstStyle/>
                    <a:p>
                      <a:pPr>
                        <a:defRPr sz="1200" b="1">
                          <a:solidFill>
                            <a:srgbClr val="FFFFFF"/>
                          </a:solidFill>
                          <a:latin typeface="Arial"/>
                        </a:defRPr>
                      </a:pPr>
                    </a:p>
                  </a:txBody>
                  <a:tcPr marL="36576" marR="45720">
                    <a:solidFill>
                      <a:srgbClr val="22424B"/>
                    </a:solidFill>
                  </a:tcPr>
                </a:tc>
                <a:tc>
                  <a:txBody>
                    <a:bodyPr/>
                    <a:lstStyle/>
                    <a:p>
                      <a:pPr algn="r"/>
                      <a:r>
                        <a:rPr sz="1200" b="1">
                          <a:solidFill>
                            <a:srgbClr val="FFFFFF"/>
                          </a:solidFill>
                          <a:latin typeface="Arial"/>
                        </a:rPr>
                        <a:t>2026 ACT/FOR</a:t>
                      </a:r>
                    </a:p>
                  </a:txBody>
                  <a:tcPr marL="36576" marR="45720">
                    <a:solidFill>
                      <a:srgbClr val="22424B"/>
                    </a:solidFill>
                  </a:tcPr>
                </a:tc>
                <a:tc>
                  <a:txBody>
                    <a:bodyPr/>
                    <a:lstStyle/>
                    <a:p>
                      <a:pPr algn="r"/>
                      <a:r>
                        <a:rPr sz="1200" b="1">
                          <a:solidFill>
                            <a:srgbClr val="FFFFFF"/>
                          </a:solidFill>
                          <a:latin typeface="Arial"/>
                        </a:rPr>
                        <a:t>2026 MODIFIED · 8/1 GO-LIVE</a:t>
                      </a:r>
                    </a:p>
                  </a:txBody>
                  <a:tcPr marL="36576" marR="45720">
                    <a:solidFill>
                      <a:srgbClr val="22424B"/>
                    </a:solidFill>
                  </a:tcPr>
                </a:tc>
                <a:tc>
                  <a:txBody>
                    <a:bodyPr/>
                    <a:lstStyle/>
                    <a:p>
                      <a:pPr algn="r"/>
                      <a:r>
                        <a:rPr sz="1200" b="1">
                          <a:solidFill>
                            <a:srgbClr val="FFFFFF"/>
                          </a:solidFill>
                          <a:latin typeface="Arial"/>
                        </a:rPr>
                        <a:t>2027 PLAN</a:t>
                      </a:r>
                    </a:p>
                  </a:txBody>
                  <a:tcPr marL="36576" marR="45720">
                    <a:solidFill>
                      <a:srgbClr val="22424B"/>
                    </a:solidFill>
                  </a:tcPr>
                </a:tc>
              </a:tr>
              <a:tr h="568960">
                <a:tc>
                  <a:txBody>
                    <a:bodyPr/>
                    <a:lstStyle/>
                    <a:p>
                      <a:r>
                        <a:rPr sz="1400" b="0">
                          <a:solidFill>
                            <a:srgbClr val="3F4A4E"/>
                          </a:solidFill>
                          <a:latin typeface="Arial"/>
                        </a:rPr>
                        <a:t>Total income</a:t>
                      </a:r>
                    </a:p>
                  </a:txBody>
                  <a:tcPr marL="36576" marR="45720">
                    <a:solidFill>
                      <a:srgbClr val="F7F6F2"/>
                    </a:solidFill>
                  </a:tcPr>
                </a:tc>
                <a:tc>
                  <a:txBody>
                    <a:bodyPr/>
                    <a:lstStyle/>
                    <a:p>
                      <a:pPr algn="r"/>
                      <a:r>
                        <a:rPr sz="1400" b="0">
                          <a:solidFill>
                            <a:srgbClr val="3F4A4E"/>
                          </a:solidFill>
                          <a:latin typeface="Arial"/>
                        </a:rPr>
                        <a:t>$640,667</a:t>
                      </a:r>
                    </a:p>
                  </a:txBody>
                  <a:tcPr marL="36576" marR="45720">
                    <a:solidFill>
                      <a:srgbClr val="F7F6F2"/>
                    </a:solidFill>
                  </a:tcPr>
                </a:tc>
                <a:tc>
                  <a:txBody>
                    <a:bodyPr/>
                    <a:lstStyle/>
                    <a:p>
                      <a:pPr algn="r"/>
                      <a:r>
                        <a:rPr sz="1400" b="0">
                          <a:solidFill>
                            <a:srgbClr val="3F4A4E"/>
                          </a:solidFill>
                          <a:latin typeface="Arial"/>
                        </a:rPr>
                        <a:t>$670,334</a:t>
                      </a:r>
                    </a:p>
                  </a:txBody>
                  <a:tcPr marL="36576" marR="45720">
                    <a:solidFill>
                      <a:srgbClr val="F7F6F2"/>
                    </a:solidFill>
                  </a:tcPr>
                </a:tc>
                <a:tc>
                  <a:txBody>
                    <a:bodyPr/>
                    <a:lstStyle/>
                    <a:p>
                      <a:pPr algn="r"/>
                      <a:r>
                        <a:rPr sz="1400" b="1">
                          <a:solidFill>
                            <a:srgbClr val="3F4A4E"/>
                          </a:solidFill>
                          <a:latin typeface="Arial"/>
                        </a:rPr>
                        <a:t>$785,856</a:t>
                      </a:r>
                    </a:p>
                  </a:txBody>
                  <a:tcPr marL="36576" marR="45720">
                    <a:solidFill>
                      <a:srgbClr val="F7F6F2"/>
                    </a:solidFill>
                  </a:tcPr>
                </a:tc>
              </a:tr>
              <a:tr h="568960">
                <a:tc>
                  <a:txBody>
                    <a:bodyPr/>
                    <a:lstStyle/>
                    <a:p>
                      <a:r>
                        <a:rPr sz="1400" b="0">
                          <a:solidFill>
                            <a:srgbClr val="3F4A4E"/>
                          </a:solidFill>
                          <a:latin typeface="Arial"/>
                        </a:rPr>
                        <a:t>Cost of goods sold</a:t>
                      </a:r>
                    </a:p>
                  </a:txBody>
                  <a:tcPr marL="36576" marR="45720">
                    <a:solidFill>
                      <a:srgbClr val="FFFFFF"/>
                    </a:solidFill>
                  </a:tcPr>
                </a:tc>
                <a:tc>
                  <a:txBody>
                    <a:bodyPr/>
                    <a:lstStyle/>
                    <a:p>
                      <a:pPr algn="r"/>
                      <a:r>
                        <a:rPr sz="1400" b="0">
                          <a:solidFill>
                            <a:srgbClr val="3F4A4E"/>
                          </a:solidFill>
                          <a:latin typeface="Arial"/>
                        </a:rPr>
                        <a:t>$227,562</a:t>
                      </a:r>
                    </a:p>
                  </a:txBody>
                  <a:tcPr marL="36576" marR="45720">
                    <a:solidFill>
                      <a:srgbClr val="FFFFFF"/>
                    </a:solidFill>
                  </a:tcPr>
                </a:tc>
                <a:tc>
                  <a:txBody>
                    <a:bodyPr/>
                    <a:lstStyle/>
                    <a:p>
                      <a:pPr algn="r"/>
                      <a:r>
                        <a:rPr sz="1400" b="0">
                          <a:solidFill>
                            <a:srgbClr val="3F4A4E"/>
                          </a:solidFill>
                          <a:latin typeface="Arial"/>
                        </a:rPr>
                        <a:t>$226,693</a:t>
                      </a:r>
                    </a:p>
                  </a:txBody>
                  <a:tcPr marL="36576" marR="45720">
                    <a:solidFill>
                      <a:srgbClr val="FFFFFF"/>
                    </a:solidFill>
                  </a:tcPr>
                </a:tc>
                <a:tc>
                  <a:txBody>
                    <a:bodyPr/>
                    <a:lstStyle/>
                    <a:p>
                      <a:pPr algn="r"/>
                      <a:r>
                        <a:rPr sz="1400" b="1">
                          <a:solidFill>
                            <a:srgbClr val="3F4A4E"/>
                          </a:solidFill>
                          <a:latin typeface="Arial"/>
                        </a:rPr>
                        <a:t>$282,366</a:t>
                      </a:r>
                    </a:p>
                  </a:txBody>
                  <a:tcPr marL="36576" marR="45720">
                    <a:solidFill>
                      <a:srgbClr val="FFFFFF"/>
                    </a:solidFill>
                  </a:tcPr>
                </a:tc>
              </a:tr>
              <a:tr h="568960">
                <a:tc>
                  <a:txBody>
                    <a:bodyPr/>
                    <a:lstStyle/>
                    <a:p>
                      <a:r>
                        <a:rPr sz="1400" b="1">
                          <a:solidFill>
                            <a:srgbClr val="22424B"/>
                          </a:solidFill>
                          <a:latin typeface="Arial"/>
                        </a:rPr>
                        <a:t>Gross profit</a:t>
                      </a:r>
                    </a:p>
                  </a:txBody>
                  <a:tcPr marL="36576" marR="45720">
                    <a:solidFill>
                      <a:srgbClr val="F7F6F2"/>
                    </a:solidFill>
                  </a:tcPr>
                </a:tc>
                <a:tc>
                  <a:txBody>
                    <a:bodyPr/>
                    <a:lstStyle/>
                    <a:p>
                      <a:pPr algn="r"/>
                      <a:r>
                        <a:rPr sz="1400" b="1">
                          <a:solidFill>
                            <a:srgbClr val="22424B"/>
                          </a:solidFill>
                          <a:latin typeface="Arial"/>
                        </a:rPr>
                        <a:t>$413,105</a:t>
                      </a:r>
                    </a:p>
                  </a:txBody>
                  <a:tcPr marL="36576" marR="45720">
                    <a:solidFill>
                      <a:srgbClr val="F7F6F2"/>
                    </a:solidFill>
                  </a:tcPr>
                </a:tc>
                <a:tc>
                  <a:txBody>
                    <a:bodyPr/>
                    <a:lstStyle/>
                    <a:p>
                      <a:pPr algn="r"/>
                      <a:r>
                        <a:rPr sz="1400" b="1">
                          <a:solidFill>
                            <a:srgbClr val="22424B"/>
                          </a:solidFill>
                          <a:latin typeface="Arial"/>
                        </a:rPr>
                        <a:t>$443,641</a:t>
                      </a:r>
                    </a:p>
                  </a:txBody>
                  <a:tcPr marL="36576" marR="45720">
                    <a:solidFill>
                      <a:srgbClr val="F7F6F2"/>
                    </a:solidFill>
                  </a:tcPr>
                </a:tc>
                <a:tc>
                  <a:txBody>
                    <a:bodyPr/>
                    <a:lstStyle/>
                    <a:p>
                      <a:pPr algn="r"/>
                      <a:r>
                        <a:rPr sz="1400" b="1">
                          <a:solidFill>
                            <a:srgbClr val="22424B"/>
                          </a:solidFill>
                          <a:latin typeface="Arial"/>
                        </a:rPr>
                        <a:t>$503,490</a:t>
                      </a:r>
                    </a:p>
                  </a:txBody>
                  <a:tcPr marL="36576" marR="45720">
                    <a:solidFill>
                      <a:srgbClr val="F7F6F2"/>
                    </a:solidFill>
                  </a:tcPr>
                </a:tc>
              </a:tr>
              <a:tr h="568960">
                <a:tc>
                  <a:txBody>
                    <a:bodyPr/>
                    <a:lstStyle/>
                    <a:p>
                      <a:r>
                        <a:rPr sz="1400" b="0">
                          <a:solidFill>
                            <a:srgbClr val="3F4A4E"/>
                          </a:solidFill>
                          <a:latin typeface="Arial"/>
                        </a:rPr>
                        <a:t>Labor</a:t>
                      </a:r>
                    </a:p>
                  </a:txBody>
                  <a:tcPr marL="36576" marR="45720">
                    <a:solidFill>
                      <a:srgbClr val="FFFFFF"/>
                    </a:solidFill>
                  </a:tcPr>
                </a:tc>
                <a:tc>
                  <a:txBody>
                    <a:bodyPr/>
                    <a:lstStyle/>
                    <a:p>
                      <a:pPr algn="r"/>
                      <a:r>
                        <a:rPr sz="1400" b="0">
                          <a:solidFill>
                            <a:srgbClr val="3F4A4E"/>
                          </a:solidFill>
                          <a:latin typeface="Arial"/>
                        </a:rPr>
                        <a:t>$250,304</a:t>
                      </a:r>
                    </a:p>
                  </a:txBody>
                  <a:tcPr marL="36576" marR="45720">
                    <a:solidFill>
                      <a:srgbClr val="FFFFFF"/>
                    </a:solidFill>
                  </a:tcPr>
                </a:tc>
                <a:tc>
                  <a:txBody>
                    <a:bodyPr/>
                    <a:lstStyle/>
                    <a:p>
                      <a:pPr algn="r"/>
                      <a:r>
                        <a:rPr sz="1400" b="0">
                          <a:solidFill>
                            <a:srgbClr val="3F4A4E"/>
                          </a:solidFill>
                          <a:latin typeface="Arial"/>
                        </a:rPr>
                        <a:t>$235,512</a:t>
                      </a:r>
                    </a:p>
                  </a:txBody>
                  <a:tcPr marL="36576" marR="45720">
                    <a:solidFill>
                      <a:srgbClr val="FFFFFF"/>
                    </a:solidFill>
                  </a:tcPr>
                </a:tc>
                <a:tc>
                  <a:txBody>
                    <a:bodyPr/>
                    <a:lstStyle/>
                    <a:p>
                      <a:pPr algn="r"/>
                      <a:r>
                        <a:rPr sz="1400" b="1">
                          <a:solidFill>
                            <a:srgbClr val="3F4A4E"/>
                          </a:solidFill>
                          <a:latin typeface="Arial"/>
                        </a:rPr>
                        <a:t>$201,838</a:t>
                      </a:r>
                    </a:p>
                  </a:txBody>
                  <a:tcPr marL="36576" marR="45720">
                    <a:solidFill>
                      <a:srgbClr val="FFFFFF"/>
                    </a:solidFill>
                  </a:tcPr>
                </a:tc>
              </a:tr>
              <a:tr h="568960">
                <a:tc>
                  <a:txBody>
                    <a:bodyPr/>
                    <a:lstStyle/>
                    <a:p>
                      <a:r>
                        <a:rPr sz="1400" b="0">
                          <a:solidFill>
                            <a:srgbClr val="3F4A4E"/>
                          </a:solidFill>
                          <a:latin typeface="Arial"/>
                        </a:rPr>
                        <a:t>Operating expenses</a:t>
                      </a:r>
                    </a:p>
                  </a:txBody>
                  <a:tcPr marL="36576" marR="45720">
                    <a:solidFill>
                      <a:srgbClr val="F7F6F2"/>
                    </a:solidFill>
                  </a:tcPr>
                </a:tc>
                <a:tc>
                  <a:txBody>
                    <a:bodyPr/>
                    <a:lstStyle/>
                    <a:p>
                      <a:pPr algn="r"/>
                      <a:r>
                        <a:rPr sz="1400" b="0">
                          <a:solidFill>
                            <a:srgbClr val="3F4A4E"/>
                          </a:solidFill>
                          <a:latin typeface="Arial"/>
                        </a:rPr>
                        <a:t>$205,587</a:t>
                      </a:r>
                    </a:p>
                  </a:txBody>
                  <a:tcPr marL="36576" marR="45720">
                    <a:solidFill>
                      <a:srgbClr val="F7F6F2"/>
                    </a:solidFill>
                  </a:tcPr>
                </a:tc>
                <a:tc>
                  <a:txBody>
                    <a:bodyPr/>
                    <a:lstStyle/>
                    <a:p>
                      <a:pPr algn="r"/>
                      <a:r>
                        <a:rPr sz="1400" b="0">
                          <a:solidFill>
                            <a:srgbClr val="3F4A4E"/>
                          </a:solidFill>
                          <a:latin typeface="Arial"/>
                        </a:rPr>
                        <a:t>$190,974</a:t>
                      </a:r>
                    </a:p>
                  </a:txBody>
                  <a:tcPr marL="36576" marR="45720">
                    <a:solidFill>
                      <a:srgbClr val="F7F6F2"/>
                    </a:solidFill>
                  </a:tcPr>
                </a:tc>
                <a:tc>
                  <a:txBody>
                    <a:bodyPr/>
                    <a:lstStyle/>
                    <a:p>
                      <a:pPr algn="r"/>
                      <a:r>
                        <a:rPr sz="1400" b="1">
                          <a:solidFill>
                            <a:srgbClr val="3F4A4E"/>
                          </a:solidFill>
                          <a:latin typeface="Arial"/>
                        </a:rPr>
                        <a:t>$187,799</a:t>
                      </a:r>
                    </a:p>
                  </a:txBody>
                  <a:tcPr marL="36576" marR="45720">
                    <a:solidFill>
                      <a:srgbClr val="F7F6F2"/>
                    </a:solidFill>
                  </a:tcPr>
                </a:tc>
              </a:tr>
              <a:tr h="568960">
                <a:tc>
                  <a:txBody>
                    <a:bodyPr/>
                    <a:lstStyle/>
                    <a:p>
                      <a:r>
                        <a:rPr sz="1400" b="0">
                          <a:solidFill>
                            <a:srgbClr val="3F4A4E"/>
                          </a:solidFill>
                          <a:latin typeface="Arial"/>
                        </a:rPr>
                        <a:t>Management fee</a:t>
                      </a:r>
                    </a:p>
                  </a:txBody>
                  <a:tcPr marL="36576" marR="45720">
                    <a:solidFill>
                      <a:srgbClr val="FFFFFF"/>
                    </a:solidFill>
                  </a:tcPr>
                </a:tc>
                <a:tc>
                  <a:txBody>
                    <a:bodyPr/>
                    <a:lstStyle/>
                    <a:p>
                      <a:pPr algn="r"/>
                      <a:r>
                        <a:rPr sz="1400" b="0">
                          <a:solidFill>
                            <a:srgbClr val="3F4A4E"/>
                          </a:solidFill>
                          <a:latin typeface="Arial"/>
                        </a:rPr>
                        <a:t>$96,000</a:t>
                      </a:r>
                    </a:p>
                  </a:txBody>
                  <a:tcPr marL="36576" marR="45720">
                    <a:solidFill>
                      <a:srgbClr val="FFFFFF"/>
                    </a:solidFill>
                  </a:tcPr>
                </a:tc>
                <a:tc>
                  <a:txBody>
                    <a:bodyPr/>
                    <a:lstStyle/>
                    <a:p>
                      <a:pPr algn="r"/>
                      <a:r>
                        <a:rPr sz="1400" b="0">
                          <a:solidFill>
                            <a:srgbClr val="3F4A4E"/>
                          </a:solidFill>
                          <a:latin typeface="Arial"/>
                        </a:rPr>
                        <a:t>$67,321</a:t>
                      </a:r>
                    </a:p>
                  </a:txBody>
                  <a:tcPr marL="36576" marR="45720">
                    <a:solidFill>
                      <a:srgbClr val="FFFFFF"/>
                    </a:solidFill>
                  </a:tcPr>
                </a:tc>
                <a:tc>
                  <a:txBody>
                    <a:bodyPr/>
                    <a:lstStyle/>
                    <a:p>
                      <a:pPr algn="r"/>
                      <a:r>
                        <a:rPr sz="1400" b="1">
                          <a:solidFill>
                            <a:srgbClr val="3F4A4E"/>
                          </a:solidFill>
                          <a:latin typeface="Arial"/>
                        </a:rPr>
                        <a:t>$31,434</a:t>
                      </a:r>
                    </a:p>
                  </a:txBody>
                  <a:tcPr marL="36576" marR="45720">
                    <a:solidFill>
                      <a:srgbClr val="FFFFFF"/>
                    </a:solidFill>
                  </a:tcPr>
                </a:tc>
              </a:tr>
              <a:tr h="568960">
                <a:tc>
                  <a:txBody>
                    <a:bodyPr/>
                    <a:lstStyle/>
                    <a:p>
                      <a:r>
                        <a:rPr sz="1400" b="0">
                          <a:solidFill>
                            <a:srgbClr val="3F4A4E"/>
                          </a:solidFill>
                          <a:latin typeface="Arial"/>
                        </a:rPr>
                        <a:t>Rent / occupancy</a:t>
                      </a:r>
                    </a:p>
                  </a:txBody>
                  <a:tcPr marL="36576" marR="45720">
                    <a:solidFill>
                      <a:srgbClr val="F7F6F2"/>
                    </a:solidFill>
                  </a:tcPr>
                </a:tc>
                <a:tc>
                  <a:txBody>
                    <a:bodyPr/>
                    <a:lstStyle/>
                    <a:p>
                      <a:pPr algn="r"/>
                      <a:r>
                        <a:rPr sz="1400" b="0">
                          <a:solidFill>
                            <a:srgbClr val="3F4A4E"/>
                          </a:solidFill>
                          <a:latin typeface="Arial"/>
                        </a:rPr>
                        <a:t>$38,722</a:t>
                      </a:r>
                    </a:p>
                  </a:txBody>
                  <a:tcPr marL="36576" marR="45720">
                    <a:solidFill>
                      <a:srgbClr val="F7F6F2"/>
                    </a:solidFill>
                  </a:tcPr>
                </a:tc>
                <a:tc>
                  <a:txBody>
                    <a:bodyPr/>
                    <a:lstStyle/>
                    <a:p>
                      <a:pPr algn="r"/>
                      <a:r>
                        <a:rPr sz="1400" b="0">
                          <a:solidFill>
                            <a:srgbClr val="3F4A4E"/>
                          </a:solidFill>
                          <a:latin typeface="Arial"/>
                        </a:rPr>
                        <a:t>$23,522</a:t>
                      </a:r>
                    </a:p>
                  </a:txBody>
                  <a:tcPr marL="36576" marR="45720">
                    <a:solidFill>
                      <a:srgbClr val="F7F6F2"/>
                    </a:solidFill>
                  </a:tcPr>
                </a:tc>
                <a:tc>
                  <a:txBody>
                    <a:bodyPr/>
                    <a:lstStyle/>
                    <a:p>
                      <a:pPr algn="r"/>
                      <a:r>
                        <a:rPr sz="1400" b="1">
                          <a:solidFill>
                            <a:srgbClr val="3F4A4E"/>
                          </a:solidFill>
                          <a:latin typeface="Arial"/>
                        </a:rPr>
                        <a:t>$0</a:t>
                      </a:r>
                    </a:p>
                  </a:txBody>
                  <a:tcPr marL="36576" marR="45720">
                    <a:solidFill>
                      <a:srgbClr val="F7F6F2"/>
                    </a:solidFill>
                  </a:tcPr>
                </a:tc>
              </a:tr>
              <a:tr h="568960">
                <a:tc>
                  <a:txBody>
                    <a:bodyPr/>
                    <a:lstStyle/>
                    <a:p>
                      <a:r>
                        <a:rPr sz="1400" b="1">
                          <a:solidFill>
                            <a:srgbClr val="22424B"/>
                          </a:solidFill>
                          <a:latin typeface="Arial"/>
                        </a:rPr>
                        <a:t>NET OPERATING PROFIT</a:t>
                      </a:r>
                    </a:p>
                  </a:txBody>
                  <a:tcPr marL="36576" marR="45720">
                    <a:solidFill>
                      <a:srgbClr val="FFFFFF"/>
                    </a:solidFill>
                  </a:tcPr>
                </a:tc>
                <a:tc>
                  <a:txBody>
                    <a:bodyPr/>
                    <a:lstStyle/>
                    <a:p>
                      <a:pPr algn="r"/>
                      <a:r>
                        <a:rPr sz="1400" b="1">
                          <a:solidFill>
                            <a:srgbClr val="22424B"/>
                          </a:solidFill>
                          <a:latin typeface="Arial"/>
                        </a:rPr>
                        <a:t>($177,508)</a:t>
                      </a:r>
                    </a:p>
                  </a:txBody>
                  <a:tcPr marL="36576" marR="45720">
                    <a:solidFill>
                      <a:srgbClr val="FFFFFF"/>
                    </a:solidFill>
                  </a:tcPr>
                </a:tc>
                <a:tc>
                  <a:txBody>
                    <a:bodyPr/>
                    <a:lstStyle/>
                    <a:p>
                      <a:pPr algn="r"/>
                      <a:r>
                        <a:rPr sz="1400" b="1">
                          <a:solidFill>
                            <a:srgbClr val="22424B"/>
                          </a:solidFill>
                          <a:latin typeface="Arial"/>
                        </a:rPr>
                        <a:t>($73,688)</a:t>
                      </a:r>
                    </a:p>
                  </a:txBody>
                  <a:tcPr marL="36576" marR="45720">
                    <a:solidFill>
                      <a:srgbClr val="FFFFFF"/>
                    </a:solidFill>
                  </a:tcPr>
                </a:tc>
                <a:tc>
                  <a:txBody>
                    <a:bodyPr/>
                    <a:lstStyle/>
                    <a:p>
                      <a:pPr algn="r"/>
                      <a:r>
                        <a:rPr sz="1400" b="1">
                          <a:solidFill>
                            <a:srgbClr val="22424B"/>
                          </a:solidFill>
                          <a:latin typeface="Arial"/>
                        </a:rPr>
                        <a:t>$82,419</a:t>
                      </a:r>
                    </a:p>
                  </a:txBody>
                  <a:tcPr marL="36576" marR="45720">
                    <a:solidFill>
                      <a:srgbClr val="FFFFFF"/>
                    </a:solidFill>
                  </a:tcPr>
                </a:tc>
              </a:tr>
            </a:tbl>
          </a:graphicData>
        </a:graphic>
      </p:graphicFrame>
      <p:sp>
        <p:nvSpPr>
          <p:cNvPr id="5" name="TextBox 4"/>
          <p:cNvSpPr txBox="1"/>
          <p:nvPr/>
        </p:nvSpPr>
        <p:spPr>
          <a:xfrm>
            <a:off x="12893040" y="2377440"/>
            <a:ext cx="4754880" cy="5943600"/>
          </a:xfrm>
          <a:prstGeom prst="rect">
            <a:avLst/>
          </a:prstGeom>
          <a:noFill/>
        </p:spPr>
        <p:txBody>
          <a:bodyPr wrap="square">
            <a:spAutoFit/>
          </a:bodyPr>
          <a:lstStyle/>
          <a:p>
            <a:pPr>
              <a:spcAft>
                <a:spcPts val="800"/>
              </a:spcAft>
            </a:pPr>
            <a:r>
              <a:rPr sz="1300" b="1">
                <a:solidFill>
                  <a:srgbClr val="1E7E8C"/>
                </a:solidFill>
                <a:latin typeface="Arial"/>
              </a:rPr>
              <a:t>BY OUTLET — NOP</a:t>
            </a:r>
          </a:p>
          <a:p>
            <a:pPr>
              <a:spcAft>
                <a:spcPts val="800"/>
              </a:spcAft>
            </a:pPr>
            <a:r>
              <a:rPr sz="1400" b="0">
                <a:solidFill>
                  <a:srgbClr val="3F4A4E"/>
                </a:solidFill>
                <a:latin typeface="Arial"/>
              </a:rPr>
              <a:t>Little Wing:  ($164,007) → ($97,361) → +$1,034 — turns profitable</a:t>
            </a:r>
          </a:p>
          <a:p>
            <a:pPr>
              <a:spcAft>
                <a:spcPts val="800"/>
              </a:spcAft>
            </a:pPr>
            <a:r>
              <a:rPr sz="1400" b="0">
                <a:solidFill>
                  <a:srgbClr val="3F4A4E"/>
                </a:solidFill>
                <a:latin typeface="Arial"/>
              </a:rPr>
              <a:t>Vessel:  ($13,501) → +$23,673 → +$81,385</a:t>
            </a:r>
          </a:p>
          <a:p>
            <a:pPr>
              <a:spcAft>
                <a:spcPts val="800"/>
              </a:spcAft>
            </a:pPr>
            <a:r>
              <a:rPr sz="1400" b="0">
                <a:solidFill>
                  <a:srgbClr val="3F4A4E"/>
                </a:solidFill>
                <a:latin typeface="Arial"/>
              </a:rPr>
              <a:t/>
            </a:r>
          </a:p>
          <a:p>
            <a:pPr>
              <a:spcAft>
                <a:spcPts val="800"/>
              </a:spcAft>
            </a:pPr>
            <a:r>
              <a:rPr sz="1300" b="1">
                <a:solidFill>
                  <a:srgbClr val="1E7E8C"/>
                </a:solidFill>
                <a:latin typeface="Arial"/>
              </a:rPr>
              <a:t>THE SWING</a:t>
            </a:r>
          </a:p>
          <a:p>
            <a:pPr>
              <a:spcAft>
                <a:spcPts val="800"/>
              </a:spcAft>
            </a:pPr>
            <a:r>
              <a:rPr sz="1400" b="0">
                <a:solidFill>
                  <a:srgbClr val="3F4A4E"/>
                </a:solidFill>
                <a:latin typeface="Arial"/>
              </a:rPr>
              <a:t>($177,508) today to +$82,419 in 2027 — a $259,927 turnaround, every lever tied to the operating model</a:t>
            </a:r>
          </a:p>
          <a:p>
            <a:pPr>
              <a:spcAft>
                <a:spcPts val="800"/>
              </a:spcAft>
            </a:pPr>
            <a:r>
              <a:rPr sz="1400" b="0">
                <a:solidFill>
                  <a:srgbClr val="3F4A4E"/>
                </a:solidFill>
                <a:latin typeface="Arial"/>
              </a:rPr>
              <a:t/>
            </a:r>
          </a:p>
          <a:p>
            <a:pPr>
              <a:spcAft>
                <a:spcPts val="800"/>
              </a:spcAft>
            </a:pPr>
            <a:r>
              <a:rPr sz="1300" b="1">
                <a:solidFill>
                  <a:srgbClr val="1E7E8C"/>
                </a:solidFill>
                <a:latin typeface="Arial"/>
              </a:rPr>
              <a:t>IMMEDIATE IMPACT — AUG 1 THROUGH YEAR-END</a:t>
            </a:r>
          </a:p>
          <a:p>
            <a:pPr>
              <a:spcAft>
                <a:spcPts val="800"/>
              </a:spcAft>
            </a:pPr>
            <a:r>
              <a:rPr sz="1400" b="0">
                <a:solidFill>
                  <a:srgbClr val="3F4A4E"/>
                </a:solidFill>
                <a:latin typeface="Arial"/>
              </a:rPr>
              <a:t>+$103,820 combined in five months (Little Wing +$66,646 · Vessel +$37,174) vs no changes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50976" y="740664"/>
            <a:ext cx="16459200" cy="320040"/>
          </a:xfrm>
          <a:prstGeom prst="rect">
            <a:avLst/>
          </a:prstGeom>
          <a:noFill/>
        </p:spPr>
        <p:txBody>
          <a:bodyPr wrap="none">
            <a:spAutoFit/>
          </a:bodyPr>
          <a:lstStyle/>
          <a:p>
            <a:r>
              <a:rPr sz="1650" b="1">
                <a:solidFill>
                  <a:srgbClr val="1E7E8C"/>
                </a:solidFill>
                <a:latin typeface="Arial"/>
              </a:rPr>
              <a:t>CONSOLIDATED | P&amp;L</a:t>
            </a:r>
          </a:p>
        </p:txBody>
      </p:sp>
      <p:sp>
        <p:nvSpPr>
          <p:cNvPr id="3" name="TextBox 2"/>
          <p:cNvSpPr txBox="1"/>
          <p:nvPr/>
        </p:nvSpPr>
        <p:spPr>
          <a:xfrm>
            <a:off x="950976" y="1106424"/>
            <a:ext cx="16459200" cy="640080"/>
          </a:xfrm>
          <a:prstGeom prst="rect">
            <a:avLst/>
          </a:prstGeom>
          <a:noFill/>
        </p:spPr>
        <p:txBody>
          <a:bodyPr wrap="none">
            <a:spAutoFit/>
          </a:bodyPr>
          <a:lstStyle/>
          <a:p>
            <a:r>
              <a:rPr sz="4000">
                <a:solidFill>
                  <a:srgbClr val="22424B"/>
                </a:solidFill>
                <a:latin typeface="Georgia"/>
              </a:rPr>
              <a:t>2027 by month</a:t>
            </a:r>
          </a:p>
        </p:txBody>
      </p:sp>
      <p:sp>
        <p:nvSpPr>
          <p:cNvPr id="5" name="TextBox 4"/>
          <p:cNvSpPr txBox="1"/>
          <p:nvPr/>
        </p:nvSpPr>
        <p:spPr>
          <a:xfrm>
            <a:off x="950976" y="7772400"/>
            <a:ext cx="16367759" cy="822960"/>
          </a:xfrm>
          <a:prstGeom prst="rect">
            <a:avLst/>
          </a:prstGeom>
          <a:noFill/>
        </p:spPr>
        <p:txBody>
          <a:bodyPr wrap="square">
            <a:spAutoFit/>
          </a:bodyPr>
          <a:lstStyle/>
          <a:p>
            <a:pPr>
              <a:spcBef>
                <a:spcPts val="500"/>
              </a:spcBef>
            </a:pPr>
            <a:r>
              <a:rPr sz="1200" b="0">
                <a:solidFill>
                  <a:srgbClr val="3F4A4E"/>
                </a:solidFill>
                <a:latin typeface="Arial"/>
              </a:rPr>
              <a:t>Vessel + Little Wing, all levers in effect. ALL twelve months at or above breakeven — even the light 3-event months (Feb/Apr) hold the line. Uncontrollable expenses include the 4% management fee; rent waived.</a:t>
            </a:r>
          </a:p>
          <a:p>
            <a:pPr>
              <a:spcBef>
                <a:spcPts val="500"/>
              </a:spcBef>
            </a:pPr>
            <a:r>
              <a:rPr sz="1200" b="1">
                <a:solidFill>
                  <a:srgbClr val="1E7E8C"/>
                </a:solidFill>
                <a:latin typeface="Arial"/>
              </a:rPr>
              <a:t>YOY IMPROVEMENT — NET OPERATING PROFIT (2026 w/ changes live 8/1 → 2027)</a:t>
            </a:r>
          </a:p>
          <a:p>
            <a:pPr>
              <a:spcBef>
                <a:spcPts val="500"/>
              </a:spcBef>
            </a:pPr>
            <a:r>
              <a:rPr sz="1300" b="0">
                <a:solidFill>
                  <a:srgbClr val="3F4A4E"/>
                </a:solidFill>
                <a:latin typeface="Arial"/>
              </a:rPr>
              <a:t>•  Little Wing:  ($97,361) → +$1,034   ·   +$98,395 year over year — turns profitable</a:t>
            </a:r>
          </a:p>
          <a:p>
            <a:pPr>
              <a:spcBef>
                <a:spcPts val="500"/>
              </a:spcBef>
            </a:pPr>
            <a:r>
              <a:rPr sz="1300" b="0">
                <a:solidFill>
                  <a:srgbClr val="3F4A4E"/>
                </a:solidFill>
                <a:latin typeface="Arial"/>
              </a:rPr>
              <a:t>•  Vessel:  +$23,673 → +$81,385   ·   +$57,712 year over year</a:t>
            </a:r>
          </a:p>
          <a:p>
            <a:pPr>
              <a:spcBef>
                <a:spcPts val="500"/>
              </a:spcBef>
            </a:pPr>
            <a:r>
              <a:rPr sz="1300" b="1">
                <a:solidFill>
                  <a:srgbClr val="1E7E8C"/>
                </a:solidFill>
                <a:latin typeface="Arial"/>
              </a:rPr>
              <a:t>•  Combined:  ($73,688) → +$82,419   ·   +$156,107 year over year — a $259,927 swing vs the no-changes baseline of ($177,508)</a:t>
            </a:r>
          </a:p>
        </p:txBody>
      </p:sp>
      <p:graphicFrame>
        <p:nvGraphicFramePr>
          <p:cNvPr id="6" name="Table 5"/>
          <p:cNvGraphicFramePr>
            <a:graphicFrameLocks noGrp="1"/>
          </p:cNvGraphicFramePr>
          <p:nvPr/>
        </p:nvGraphicFramePr>
        <p:xfrm>
          <a:off x="502920" y="2468880"/>
          <a:ext cx="17282155" cy="4937760"/>
        </p:xfrm>
        <a:graphic>
          <a:graphicData uri="http://schemas.openxmlformats.org/drawingml/2006/table">
            <a:tbl>
              <a:tblPr firstRow="1" bandRow="1">
                <a:tableStyleId>{5C22544A-7EE6-4342-B048-85BDC9FD1C3A}</a:tableStyleId>
              </a:tblPr>
              <a:tblGrid>
                <a:gridCol w="2651760"/>
                <a:gridCol w="1125415"/>
                <a:gridCol w="1125415"/>
                <a:gridCol w="1125415"/>
                <a:gridCol w="1125415"/>
                <a:gridCol w="1125415"/>
                <a:gridCol w="1125415"/>
                <a:gridCol w="1125415"/>
                <a:gridCol w="1125415"/>
                <a:gridCol w="1125415"/>
                <a:gridCol w="1125415"/>
                <a:gridCol w="1125415"/>
                <a:gridCol w="1125415"/>
                <a:gridCol w="1125415"/>
              </a:tblGrid>
              <a:tr h="548640">
                <a:tc>
                  <a:txBody>
                    <a:bodyPr/>
                    <a:lstStyle/>
                    <a:p>
                      <a:pPr>
                        <a:defRPr sz="1000" b="1">
                          <a:solidFill>
                            <a:srgbClr val="FFFFFF"/>
                          </a:solidFill>
                          <a:latin typeface="Arial"/>
                        </a:defRPr>
                      </a:pPr>
                    </a:p>
                  </a:txBody>
                  <a:tcPr marL="36576" marR="45720">
                    <a:solidFill>
                      <a:srgbClr val="22424B"/>
                    </a:solidFill>
                  </a:tcPr>
                </a:tc>
                <a:tc>
                  <a:txBody>
                    <a:bodyPr/>
                    <a:lstStyle/>
                    <a:p>
                      <a:pPr algn="r"/>
                      <a:r>
                        <a:rPr sz="1000" b="1">
                          <a:solidFill>
                            <a:srgbClr val="FFFFFF"/>
                          </a:solidFill>
                          <a:latin typeface="Arial"/>
                        </a:rPr>
                        <a:t>JAN</a:t>
                      </a:r>
                    </a:p>
                  </a:txBody>
                  <a:tcPr marL="36576" marR="45720">
                    <a:solidFill>
                      <a:srgbClr val="22424B"/>
                    </a:solidFill>
                  </a:tcPr>
                </a:tc>
                <a:tc>
                  <a:txBody>
                    <a:bodyPr/>
                    <a:lstStyle/>
                    <a:p>
                      <a:pPr algn="r"/>
                      <a:r>
                        <a:rPr sz="1000" b="1">
                          <a:solidFill>
                            <a:srgbClr val="FFFFFF"/>
                          </a:solidFill>
                          <a:latin typeface="Arial"/>
                        </a:rPr>
                        <a:t>FEB</a:t>
                      </a:r>
                    </a:p>
                  </a:txBody>
                  <a:tcPr marL="36576" marR="45720">
                    <a:solidFill>
                      <a:srgbClr val="22424B"/>
                    </a:solidFill>
                  </a:tcPr>
                </a:tc>
                <a:tc>
                  <a:txBody>
                    <a:bodyPr/>
                    <a:lstStyle/>
                    <a:p>
                      <a:pPr algn="r"/>
                      <a:r>
                        <a:rPr sz="1000" b="1">
                          <a:solidFill>
                            <a:srgbClr val="FFFFFF"/>
                          </a:solidFill>
                          <a:latin typeface="Arial"/>
                        </a:rPr>
                        <a:t>MAR</a:t>
                      </a:r>
                    </a:p>
                  </a:txBody>
                  <a:tcPr marL="36576" marR="45720">
                    <a:solidFill>
                      <a:srgbClr val="22424B"/>
                    </a:solidFill>
                  </a:tcPr>
                </a:tc>
                <a:tc>
                  <a:txBody>
                    <a:bodyPr/>
                    <a:lstStyle/>
                    <a:p>
                      <a:pPr algn="r"/>
                      <a:r>
                        <a:rPr sz="1000" b="1">
                          <a:solidFill>
                            <a:srgbClr val="FFFFFF"/>
                          </a:solidFill>
                          <a:latin typeface="Arial"/>
                        </a:rPr>
                        <a:t>APR</a:t>
                      </a:r>
                    </a:p>
                  </a:txBody>
                  <a:tcPr marL="36576" marR="45720">
                    <a:solidFill>
                      <a:srgbClr val="22424B"/>
                    </a:solidFill>
                  </a:tcPr>
                </a:tc>
                <a:tc>
                  <a:txBody>
                    <a:bodyPr/>
                    <a:lstStyle/>
                    <a:p>
                      <a:pPr algn="r"/>
                      <a:r>
                        <a:rPr sz="1000" b="1">
                          <a:solidFill>
                            <a:srgbClr val="FFFFFF"/>
                          </a:solidFill>
                          <a:latin typeface="Arial"/>
                        </a:rPr>
                        <a:t>MAY</a:t>
                      </a:r>
                    </a:p>
                  </a:txBody>
                  <a:tcPr marL="36576" marR="45720">
                    <a:solidFill>
                      <a:srgbClr val="22424B"/>
                    </a:solidFill>
                  </a:tcPr>
                </a:tc>
                <a:tc>
                  <a:txBody>
                    <a:bodyPr/>
                    <a:lstStyle/>
                    <a:p>
                      <a:pPr algn="r"/>
                      <a:r>
                        <a:rPr sz="1000" b="1">
                          <a:solidFill>
                            <a:srgbClr val="FFFFFF"/>
                          </a:solidFill>
                          <a:latin typeface="Arial"/>
                        </a:rPr>
                        <a:t>JUN</a:t>
                      </a:r>
                    </a:p>
                  </a:txBody>
                  <a:tcPr marL="36576" marR="45720">
                    <a:solidFill>
                      <a:srgbClr val="22424B"/>
                    </a:solidFill>
                  </a:tcPr>
                </a:tc>
                <a:tc>
                  <a:txBody>
                    <a:bodyPr/>
                    <a:lstStyle/>
                    <a:p>
                      <a:pPr algn="r"/>
                      <a:r>
                        <a:rPr sz="1000" b="1">
                          <a:solidFill>
                            <a:srgbClr val="FFFFFF"/>
                          </a:solidFill>
                          <a:latin typeface="Arial"/>
                        </a:rPr>
                        <a:t>JUL</a:t>
                      </a:r>
                    </a:p>
                  </a:txBody>
                  <a:tcPr marL="36576" marR="45720">
                    <a:solidFill>
                      <a:srgbClr val="22424B"/>
                    </a:solidFill>
                  </a:tcPr>
                </a:tc>
                <a:tc>
                  <a:txBody>
                    <a:bodyPr/>
                    <a:lstStyle/>
                    <a:p>
                      <a:pPr algn="r"/>
                      <a:r>
                        <a:rPr sz="1000" b="1">
                          <a:solidFill>
                            <a:srgbClr val="FFFFFF"/>
                          </a:solidFill>
                          <a:latin typeface="Arial"/>
                        </a:rPr>
                        <a:t>AUG</a:t>
                      </a:r>
                    </a:p>
                  </a:txBody>
                  <a:tcPr marL="36576" marR="45720">
                    <a:solidFill>
                      <a:srgbClr val="22424B"/>
                    </a:solidFill>
                  </a:tcPr>
                </a:tc>
                <a:tc>
                  <a:txBody>
                    <a:bodyPr/>
                    <a:lstStyle/>
                    <a:p>
                      <a:pPr algn="r"/>
                      <a:r>
                        <a:rPr sz="1000" b="1">
                          <a:solidFill>
                            <a:srgbClr val="FFFFFF"/>
                          </a:solidFill>
                          <a:latin typeface="Arial"/>
                        </a:rPr>
                        <a:t>SEP</a:t>
                      </a:r>
                    </a:p>
                  </a:txBody>
                  <a:tcPr marL="36576" marR="45720">
                    <a:solidFill>
                      <a:srgbClr val="22424B"/>
                    </a:solidFill>
                  </a:tcPr>
                </a:tc>
                <a:tc>
                  <a:txBody>
                    <a:bodyPr/>
                    <a:lstStyle/>
                    <a:p>
                      <a:pPr algn="r"/>
                      <a:r>
                        <a:rPr sz="1000" b="1">
                          <a:solidFill>
                            <a:srgbClr val="FFFFFF"/>
                          </a:solidFill>
                          <a:latin typeface="Arial"/>
                        </a:rPr>
                        <a:t>OCT</a:t>
                      </a:r>
                    </a:p>
                  </a:txBody>
                  <a:tcPr marL="36576" marR="45720">
                    <a:solidFill>
                      <a:srgbClr val="22424B"/>
                    </a:solidFill>
                  </a:tcPr>
                </a:tc>
                <a:tc>
                  <a:txBody>
                    <a:bodyPr/>
                    <a:lstStyle/>
                    <a:p>
                      <a:pPr algn="r"/>
                      <a:r>
                        <a:rPr sz="1000" b="1">
                          <a:solidFill>
                            <a:srgbClr val="FFFFFF"/>
                          </a:solidFill>
                          <a:latin typeface="Arial"/>
                        </a:rPr>
                        <a:t>NOV</a:t>
                      </a:r>
                    </a:p>
                  </a:txBody>
                  <a:tcPr marL="36576" marR="45720">
                    <a:solidFill>
                      <a:srgbClr val="22424B"/>
                    </a:solidFill>
                  </a:tcPr>
                </a:tc>
                <a:tc>
                  <a:txBody>
                    <a:bodyPr/>
                    <a:lstStyle/>
                    <a:p>
                      <a:pPr algn="r"/>
                      <a:r>
                        <a:rPr sz="1000" b="1">
                          <a:solidFill>
                            <a:srgbClr val="FFFFFF"/>
                          </a:solidFill>
                          <a:latin typeface="Arial"/>
                        </a:rPr>
                        <a:t>DEC</a:t>
                      </a:r>
                    </a:p>
                  </a:txBody>
                  <a:tcPr marL="36576" marR="45720">
                    <a:solidFill>
                      <a:srgbClr val="22424B"/>
                    </a:solidFill>
                  </a:tcPr>
                </a:tc>
                <a:tc>
                  <a:txBody>
                    <a:bodyPr/>
                    <a:lstStyle/>
                    <a:p>
                      <a:pPr algn="r"/>
                      <a:r>
                        <a:rPr sz="1000" b="1">
                          <a:solidFill>
                            <a:srgbClr val="FFFFFF"/>
                          </a:solidFill>
                          <a:latin typeface="Arial"/>
                        </a:rPr>
                        <a:t>FY 2027</a:t>
                      </a:r>
                    </a:p>
                  </a:txBody>
                  <a:tcPr marL="36576" marR="45720">
                    <a:solidFill>
                      <a:srgbClr val="22424B"/>
                    </a:solidFill>
                  </a:tcPr>
                </a:tc>
              </a:tr>
              <a:tr h="548640">
                <a:tc>
                  <a:txBody>
                    <a:bodyPr/>
                    <a:lstStyle/>
                    <a:p>
                      <a:r>
                        <a:rPr sz="1050" b="0">
                          <a:solidFill>
                            <a:srgbClr val="3F4A4E"/>
                          </a:solidFill>
                          <a:latin typeface="Arial"/>
                        </a:rPr>
                        <a:t>Revenue</a:t>
                      </a:r>
                    </a:p>
                  </a:txBody>
                  <a:tcPr marL="36576" marR="45720">
                    <a:solidFill>
                      <a:srgbClr val="F7F6F2"/>
                    </a:solidFill>
                  </a:tcPr>
                </a:tc>
                <a:tc>
                  <a:txBody>
                    <a:bodyPr/>
                    <a:lstStyle/>
                    <a:p>
                      <a:pPr algn="r"/>
                      <a:r>
                        <a:rPr sz="1050" b="0">
                          <a:solidFill>
                            <a:srgbClr val="3F4A4E"/>
                          </a:solidFill>
                          <a:latin typeface="Arial"/>
                        </a:rPr>
                        <a:t>$80,905</a:t>
                      </a:r>
                    </a:p>
                  </a:txBody>
                  <a:tcPr marL="36576" marR="45720">
                    <a:solidFill>
                      <a:srgbClr val="F7F6F2"/>
                    </a:solidFill>
                  </a:tcPr>
                </a:tc>
                <a:tc>
                  <a:txBody>
                    <a:bodyPr/>
                    <a:lstStyle/>
                    <a:p>
                      <a:pPr algn="r"/>
                      <a:r>
                        <a:rPr sz="1050" b="0">
                          <a:solidFill>
                            <a:srgbClr val="3F4A4E"/>
                          </a:solidFill>
                          <a:latin typeface="Arial"/>
                        </a:rPr>
                        <a:t>$45,905</a:t>
                      </a:r>
                    </a:p>
                  </a:txBody>
                  <a:tcPr marL="36576" marR="45720">
                    <a:solidFill>
                      <a:srgbClr val="F7F6F2"/>
                    </a:solidFill>
                  </a:tcPr>
                </a:tc>
                <a:tc>
                  <a:txBody>
                    <a:bodyPr/>
                    <a:lstStyle/>
                    <a:p>
                      <a:pPr algn="r"/>
                      <a:r>
                        <a:rPr sz="1050" b="0">
                          <a:solidFill>
                            <a:srgbClr val="3F4A4E"/>
                          </a:solidFill>
                          <a:latin typeface="Arial"/>
                        </a:rPr>
                        <a:t>$80,905</a:t>
                      </a:r>
                    </a:p>
                  </a:txBody>
                  <a:tcPr marL="36576" marR="45720">
                    <a:solidFill>
                      <a:srgbClr val="F7F6F2"/>
                    </a:solidFill>
                  </a:tcPr>
                </a:tc>
                <a:tc>
                  <a:txBody>
                    <a:bodyPr/>
                    <a:lstStyle/>
                    <a:p>
                      <a:pPr algn="r"/>
                      <a:r>
                        <a:rPr sz="1050" b="0">
                          <a:solidFill>
                            <a:srgbClr val="3F4A4E"/>
                          </a:solidFill>
                          <a:latin typeface="Arial"/>
                        </a:rPr>
                        <a:t>$45,905</a:t>
                      </a:r>
                    </a:p>
                  </a:txBody>
                  <a:tcPr marL="36576" marR="45720">
                    <a:solidFill>
                      <a:srgbClr val="F7F6F2"/>
                    </a:solidFill>
                  </a:tcPr>
                </a:tc>
                <a:tc>
                  <a:txBody>
                    <a:bodyPr/>
                    <a:lstStyle/>
                    <a:p>
                      <a:pPr algn="r"/>
                      <a:r>
                        <a:rPr sz="1050" b="0">
                          <a:solidFill>
                            <a:srgbClr val="3F4A4E"/>
                          </a:solidFill>
                          <a:latin typeface="Arial"/>
                        </a:rPr>
                        <a:t>$70,905</a:t>
                      </a:r>
                    </a:p>
                  </a:txBody>
                  <a:tcPr marL="36576" marR="45720">
                    <a:solidFill>
                      <a:srgbClr val="F7F6F2"/>
                    </a:solidFill>
                  </a:tcPr>
                </a:tc>
                <a:tc>
                  <a:txBody>
                    <a:bodyPr/>
                    <a:lstStyle/>
                    <a:p>
                      <a:pPr algn="r"/>
                      <a:r>
                        <a:rPr sz="1050" b="0">
                          <a:solidFill>
                            <a:srgbClr val="3F4A4E"/>
                          </a:solidFill>
                          <a:latin typeface="Arial"/>
                        </a:rPr>
                        <a:t>$65,905</a:t>
                      </a:r>
                    </a:p>
                  </a:txBody>
                  <a:tcPr marL="36576" marR="45720">
                    <a:solidFill>
                      <a:srgbClr val="F7F6F2"/>
                    </a:solidFill>
                  </a:tcPr>
                </a:tc>
                <a:tc>
                  <a:txBody>
                    <a:bodyPr/>
                    <a:lstStyle/>
                    <a:p>
                      <a:pPr algn="r"/>
                      <a:r>
                        <a:rPr sz="1050" b="0">
                          <a:solidFill>
                            <a:srgbClr val="3F4A4E"/>
                          </a:solidFill>
                          <a:latin typeface="Arial"/>
                        </a:rPr>
                        <a:t>$65,905</a:t>
                      </a:r>
                    </a:p>
                  </a:txBody>
                  <a:tcPr marL="36576" marR="45720">
                    <a:solidFill>
                      <a:srgbClr val="F7F6F2"/>
                    </a:solidFill>
                  </a:tcPr>
                </a:tc>
                <a:tc>
                  <a:txBody>
                    <a:bodyPr/>
                    <a:lstStyle/>
                    <a:p>
                      <a:pPr algn="r"/>
                      <a:r>
                        <a:rPr sz="1050" b="0">
                          <a:solidFill>
                            <a:srgbClr val="3F4A4E"/>
                          </a:solidFill>
                          <a:latin typeface="Arial"/>
                        </a:rPr>
                        <a:t>$65,905</a:t>
                      </a:r>
                    </a:p>
                  </a:txBody>
                  <a:tcPr marL="36576" marR="45720">
                    <a:solidFill>
                      <a:srgbClr val="F7F6F2"/>
                    </a:solidFill>
                  </a:tcPr>
                </a:tc>
                <a:tc>
                  <a:txBody>
                    <a:bodyPr/>
                    <a:lstStyle/>
                    <a:p>
                      <a:pPr algn="r"/>
                      <a:r>
                        <a:rPr sz="1050" b="0">
                          <a:solidFill>
                            <a:srgbClr val="3F4A4E"/>
                          </a:solidFill>
                          <a:latin typeface="Arial"/>
                        </a:rPr>
                        <a:t>$65,905</a:t>
                      </a:r>
                    </a:p>
                  </a:txBody>
                  <a:tcPr marL="36576" marR="45720">
                    <a:solidFill>
                      <a:srgbClr val="F7F6F2"/>
                    </a:solidFill>
                  </a:tcPr>
                </a:tc>
                <a:tc>
                  <a:txBody>
                    <a:bodyPr/>
                    <a:lstStyle/>
                    <a:p>
                      <a:pPr algn="r"/>
                      <a:r>
                        <a:rPr sz="1050" b="0">
                          <a:solidFill>
                            <a:srgbClr val="3F4A4E"/>
                          </a:solidFill>
                          <a:latin typeface="Arial"/>
                        </a:rPr>
                        <a:t>$65,905</a:t>
                      </a:r>
                    </a:p>
                  </a:txBody>
                  <a:tcPr marL="36576" marR="45720">
                    <a:solidFill>
                      <a:srgbClr val="F7F6F2"/>
                    </a:solidFill>
                  </a:tcPr>
                </a:tc>
                <a:tc>
                  <a:txBody>
                    <a:bodyPr/>
                    <a:lstStyle/>
                    <a:p>
                      <a:pPr algn="r"/>
                      <a:r>
                        <a:rPr sz="1050" b="0">
                          <a:solidFill>
                            <a:srgbClr val="3F4A4E"/>
                          </a:solidFill>
                          <a:latin typeface="Arial"/>
                        </a:rPr>
                        <a:t>$65,905</a:t>
                      </a:r>
                    </a:p>
                  </a:txBody>
                  <a:tcPr marL="36576" marR="45720">
                    <a:solidFill>
                      <a:srgbClr val="F7F6F2"/>
                    </a:solidFill>
                  </a:tcPr>
                </a:tc>
                <a:tc>
                  <a:txBody>
                    <a:bodyPr/>
                    <a:lstStyle/>
                    <a:p>
                      <a:pPr algn="r"/>
                      <a:r>
                        <a:rPr sz="1050" b="0">
                          <a:solidFill>
                            <a:srgbClr val="3F4A4E"/>
                          </a:solidFill>
                          <a:latin typeface="Arial"/>
                        </a:rPr>
                        <a:t>$65,905</a:t>
                      </a:r>
                    </a:p>
                  </a:txBody>
                  <a:tcPr marL="36576" marR="45720">
                    <a:solidFill>
                      <a:srgbClr val="F7F6F2"/>
                    </a:solidFill>
                  </a:tcPr>
                </a:tc>
                <a:tc>
                  <a:txBody>
                    <a:bodyPr/>
                    <a:lstStyle/>
                    <a:p>
                      <a:pPr algn="r"/>
                      <a:r>
                        <a:rPr sz="1050" b="1">
                          <a:solidFill>
                            <a:srgbClr val="3F4A4E"/>
                          </a:solidFill>
                          <a:latin typeface="Arial"/>
                        </a:rPr>
                        <a:t>$785,856</a:t>
                      </a:r>
                    </a:p>
                  </a:txBody>
                  <a:tcPr marL="36576" marR="45720">
                    <a:solidFill>
                      <a:srgbClr val="F7F6F2"/>
                    </a:solidFill>
                  </a:tcPr>
                </a:tc>
              </a:tr>
              <a:tr h="548640">
                <a:tc>
                  <a:txBody>
                    <a:bodyPr/>
                    <a:lstStyle/>
                    <a:p>
                      <a:r>
                        <a:rPr sz="1050" b="0">
                          <a:solidFill>
                            <a:srgbClr val="3F4A4E"/>
                          </a:solidFill>
                          <a:latin typeface="Arial"/>
                        </a:rPr>
                        <a:t>Cost of goods</a:t>
                      </a:r>
                    </a:p>
                  </a:txBody>
                  <a:tcPr marL="36576" marR="45720">
                    <a:solidFill>
                      <a:srgbClr val="FFFFFF"/>
                    </a:solidFill>
                  </a:tcPr>
                </a:tc>
                <a:tc>
                  <a:txBody>
                    <a:bodyPr/>
                    <a:lstStyle/>
                    <a:p>
                      <a:pPr algn="r"/>
                      <a:r>
                        <a:rPr sz="1050" b="0">
                          <a:solidFill>
                            <a:srgbClr val="3F4A4E"/>
                          </a:solidFill>
                          <a:latin typeface="Arial"/>
                        </a:rPr>
                        <a:t>$29,847</a:t>
                      </a:r>
                    </a:p>
                  </a:txBody>
                  <a:tcPr marL="36576" marR="45720">
                    <a:solidFill>
                      <a:srgbClr val="FFFFFF"/>
                    </a:solidFill>
                  </a:tcPr>
                </a:tc>
                <a:tc>
                  <a:txBody>
                    <a:bodyPr/>
                    <a:lstStyle/>
                    <a:p>
                      <a:pPr algn="r"/>
                      <a:r>
                        <a:rPr sz="1050" b="0">
                          <a:solidFill>
                            <a:srgbClr val="3F4A4E"/>
                          </a:solidFill>
                          <a:latin typeface="Arial"/>
                        </a:rPr>
                        <a:t>$15,507</a:t>
                      </a:r>
                    </a:p>
                  </a:txBody>
                  <a:tcPr marL="36576" marR="45720">
                    <a:solidFill>
                      <a:srgbClr val="FFFFFF"/>
                    </a:solidFill>
                  </a:tcPr>
                </a:tc>
                <a:tc>
                  <a:txBody>
                    <a:bodyPr/>
                    <a:lstStyle/>
                    <a:p>
                      <a:pPr algn="r"/>
                      <a:r>
                        <a:rPr sz="1050" b="0">
                          <a:solidFill>
                            <a:srgbClr val="3F4A4E"/>
                          </a:solidFill>
                          <a:latin typeface="Arial"/>
                        </a:rPr>
                        <a:t>$29,847</a:t>
                      </a:r>
                    </a:p>
                  </a:txBody>
                  <a:tcPr marL="36576" marR="45720">
                    <a:solidFill>
                      <a:srgbClr val="FFFFFF"/>
                    </a:solidFill>
                  </a:tcPr>
                </a:tc>
                <a:tc>
                  <a:txBody>
                    <a:bodyPr/>
                    <a:lstStyle/>
                    <a:p>
                      <a:pPr algn="r"/>
                      <a:r>
                        <a:rPr sz="1050" b="0">
                          <a:solidFill>
                            <a:srgbClr val="3F4A4E"/>
                          </a:solidFill>
                          <a:latin typeface="Arial"/>
                        </a:rPr>
                        <a:t>$15,507</a:t>
                      </a:r>
                    </a:p>
                  </a:txBody>
                  <a:tcPr marL="36576" marR="45720">
                    <a:solidFill>
                      <a:srgbClr val="FFFFFF"/>
                    </a:solidFill>
                  </a:tcPr>
                </a:tc>
                <a:tc>
                  <a:txBody>
                    <a:bodyPr/>
                    <a:lstStyle/>
                    <a:p>
                      <a:pPr algn="r"/>
                      <a:r>
                        <a:rPr sz="1050" b="0">
                          <a:solidFill>
                            <a:srgbClr val="3F4A4E"/>
                          </a:solidFill>
                          <a:latin typeface="Arial"/>
                        </a:rPr>
                        <a:t>$25,750</a:t>
                      </a:r>
                    </a:p>
                  </a:txBody>
                  <a:tcPr marL="36576" marR="45720">
                    <a:solidFill>
                      <a:srgbClr val="FFFFFF"/>
                    </a:solidFill>
                  </a:tcPr>
                </a:tc>
                <a:tc>
                  <a:txBody>
                    <a:bodyPr/>
                    <a:lstStyle/>
                    <a:p>
                      <a:pPr algn="r"/>
                      <a:r>
                        <a:rPr sz="1050" b="0">
                          <a:solidFill>
                            <a:srgbClr val="3F4A4E"/>
                          </a:solidFill>
                          <a:latin typeface="Arial"/>
                        </a:rPr>
                        <a:t>$23,701</a:t>
                      </a:r>
                    </a:p>
                  </a:txBody>
                  <a:tcPr marL="36576" marR="45720">
                    <a:solidFill>
                      <a:srgbClr val="FFFFFF"/>
                    </a:solidFill>
                  </a:tcPr>
                </a:tc>
                <a:tc>
                  <a:txBody>
                    <a:bodyPr/>
                    <a:lstStyle/>
                    <a:p>
                      <a:pPr algn="r"/>
                      <a:r>
                        <a:rPr sz="1050" b="0">
                          <a:solidFill>
                            <a:srgbClr val="3F4A4E"/>
                          </a:solidFill>
                          <a:latin typeface="Arial"/>
                        </a:rPr>
                        <a:t>$23,701</a:t>
                      </a:r>
                    </a:p>
                  </a:txBody>
                  <a:tcPr marL="36576" marR="45720">
                    <a:solidFill>
                      <a:srgbClr val="FFFFFF"/>
                    </a:solidFill>
                  </a:tcPr>
                </a:tc>
                <a:tc>
                  <a:txBody>
                    <a:bodyPr/>
                    <a:lstStyle/>
                    <a:p>
                      <a:pPr algn="r"/>
                      <a:r>
                        <a:rPr sz="1050" b="0">
                          <a:solidFill>
                            <a:srgbClr val="3F4A4E"/>
                          </a:solidFill>
                          <a:latin typeface="Arial"/>
                        </a:rPr>
                        <a:t>$23,701</a:t>
                      </a:r>
                    </a:p>
                  </a:txBody>
                  <a:tcPr marL="36576" marR="45720">
                    <a:solidFill>
                      <a:srgbClr val="FFFFFF"/>
                    </a:solidFill>
                  </a:tcPr>
                </a:tc>
                <a:tc>
                  <a:txBody>
                    <a:bodyPr/>
                    <a:lstStyle/>
                    <a:p>
                      <a:pPr algn="r"/>
                      <a:r>
                        <a:rPr sz="1050" b="0">
                          <a:solidFill>
                            <a:srgbClr val="3F4A4E"/>
                          </a:solidFill>
                          <a:latin typeface="Arial"/>
                        </a:rPr>
                        <a:t>$23,701</a:t>
                      </a:r>
                    </a:p>
                  </a:txBody>
                  <a:tcPr marL="36576" marR="45720">
                    <a:solidFill>
                      <a:srgbClr val="FFFFFF"/>
                    </a:solidFill>
                  </a:tcPr>
                </a:tc>
                <a:tc>
                  <a:txBody>
                    <a:bodyPr/>
                    <a:lstStyle/>
                    <a:p>
                      <a:pPr algn="r"/>
                      <a:r>
                        <a:rPr sz="1050" b="0">
                          <a:solidFill>
                            <a:srgbClr val="3F4A4E"/>
                          </a:solidFill>
                          <a:latin typeface="Arial"/>
                        </a:rPr>
                        <a:t>$23,701</a:t>
                      </a:r>
                    </a:p>
                  </a:txBody>
                  <a:tcPr marL="36576" marR="45720">
                    <a:solidFill>
                      <a:srgbClr val="FFFFFF"/>
                    </a:solidFill>
                  </a:tcPr>
                </a:tc>
                <a:tc>
                  <a:txBody>
                    <a:bodyPr/>
                    <a:lstStyle/>
                    <a:p>
                      <a:pPr algn="r"/>
                      <a:r>
                        <a:rPr sz="1050" b="0">
                          <a:solidFill>
                            <a:srgbClr val="3F4A4E"/>
                          </a:solidFill>
                          <a:latin typeface="Arial"/>
                        </a:rPr>
                        <a:t>$23,701</a:t>
                      </a:r>
                    </a:p>
                  </a:txBody>
                  <a:tcPr marL="36576" marR="45720">
                    <a:solidFill>
                      <a:srgbClr val="FFFFFF"/>
                    </a:solidFill>
                  </a:tcPr>
                </a:tc>
                <a:tc>
                  <a:txBody>
                    <a:bodyPr/>
                    <a:lstStyle/>
                    <a:p>
                      <a:pPr algn="r"/>
                      <a:r>
                        <a:rPr sz="1050" b="0">
                          <a:solidFill>
                            <a:srgbClr val="3F4A4E"/>
                          </a:solidFill>
                          <a:latin typeface="Arial"/>
                        </a:rPr>
                        <a:t>$23,701</a:t>
                      </a:r>
                    </a:p>
                  </a:txBody>
                  <a:tcPr marL="36576" marR="45720">
                    <a:solidFill>
                      <a:srgbClr val="FFFFFF"/>
                    </a:solidFill>
                  </a:tcPr>
                </a:tc>
                <a:tc>
                  <a:txBody>
                    <a:bodyPr/>
                    <a:lstStyle/>
                    <a:p>
                      <a:pPr algn="r"/>
                      <a:r>
                        <a:rPr sz="1050" b="1">
                          <a:solidFill>
                            <a:srgbClr val="3F4A4E"/>
                          </a:solidFill>
                          <a:latin typeface="Arial"/>
                        </a:rPr>
                        <a:t>$282,366</a:t>
                      </a:r>
                    </a:p>
                  </a:txBody>
                  <a:tcPr marL="36576" marR="45720">
                    <a:solidFill>
                      <a:srgbClr val="FFFFFF"/>
                    </a:solidFill>
                  </a:tcPr>
                </a:tc>
              </a:tr>
              <a:tr h="548640">
                <a:tc>
                  <a:txBody>
                    <a:bodyPr/>
                    <a:lstStyle/>
                    <a:p>
                      <a:r>
                        <a:rPr sz="1050" b="0">
                          <a:solidFill>
                            <a:srgbClr val="3F4A4E"/>
                          </a:solidFill>
                          <a:latin typeface="Arial"/>
                        </a:rPr>
                        <a:t>Labor cost</a:t>
                      </a:r>
                    </a:p>
                  </a:txBody>
                  <a:tcPr marL="36576" marR="45720">
                    <a:solidFill>
                      <a:srgbClr val="F7F6F2"/>
                    </a:solidFill>
                  </a:tcPr>
                </a:tc>
                <a:tc>
                  <a:txBody>
                    <a:bodyPr/>
                    <a:lstStyle/>
                    <a:p>
                      <a:pPr algn="r"/>
                      <a:r>
                        <a:rPr sz="1050" b="0">
                          <a:solidFill>
                            <a:srgbClr val="3F4A4E"/>
                          </a:solidFill>
                          <a:latin typeface="Arial"/>
                        </a:rPr>
                        <a:t>$19,014</a:t>
                      </a:r>
                    </a:p>
                  </a:txBody>
                  <a:tcPr marL="36576" marR="45720">
                    <a:solidFill>
                      <a:srgbClr val="F7F6F2"/>
                    </a:solidFill>
                  </a:tcPr>
                </a:tc>
                <a:tc>
                  <a:txBody>
                    <a:bodyPr/>
                    <a:lstStyle/>
                    <a:p>
                      <a:pPr algn="r"/>
                      <a:r>
                        <a:rPr sz="1050" b="0">
                          <a:solidFill>
                            <a:srgbClr val="3F4A4E"/>
                          </a:solidFill>
                          <a:latin typeface="Arial"/>
                        </a:rPr>
                        <a:t>$14,747</a:t>
                      </a:r>
                    </a:p>
                  </a:txBody>
                  <a:tcPr marL="36576" marR="45720">
                    <a:solidFill>
                      <a:srgbClr val="F7F6F2"/>
                    </a:solidFill>
                  </a:tcPr>
                </a:tc>
                <a:tc>
                  <a:txBody>
                    <a:bodyPr/>
                    <a:lstStyle/>
                    <a:p>
                      <a:pPr algn="r"/>
                      <a:r>
                        <a:rPr sz="1050" b="0">
                          <a:solidFill>
                            <a:srgbClr val="3F4A4E"/>
                          </a:solidFill>
                          <a:latin typeface="Arial"/>
                        </a:rPr>
                        <a:t>$19,014</a:t>
                      </a:r>
                    </a:p>
                  </a:txBody>
                  <a:tcPr marL="36576" marR="45720">
                    <a:solidFill>
                      <a:srgbClr val="F7F6F2"/>
                    </a:solidFill>
                  </a:tcPr>
                </a:tc>
                <a:tc>
                  <a:txBody>
                    <a:bodyPr/>
                    <a:lstStyle/>
                    <a:p>
                      <a:pPr algn="r"/>
                      <a:r>
                        <a:rPr sz="1050" b="0">
                          <a:solidFill>
                            <a:srgbClr val="3F4A4E"/>
                          </a:solidFill>
                          <a:latin typeface="Arial"/>
                        </a:rPr>
                        <a:t>$14,747</a:t>
                      </a:r>
                    </a:p>
                  </a:txBody>
                  <a:tcPr marL="36576" marR="45720">
                    <a:solidFill>
                      <a:srgbClr val="F7F6F2"/>
                    </a:solidFill>
                  </a:tcPr>
                </a:tc>
                <a:tc>
                  <a:txBody>
                    <a:bodyPr/>
                    <a:lstStyle/>
                    <a:p>
                      <a:pPr algn="r"/>
                      <a:r>
                        <a:rPr sz="1050" b="0">
                          <a:solidFill>
                            <a:srgbClr val="3F4A4E"/>
                          </a:solidFill>
                          <a:latin typeface="Arial"/>
                        </a:rPr>
                        <a:t>$17,795</a:t>
                      </a:r>
                    </a:p>
                  </a:txBody>
                  <a:tcPr marL="36576" marR="45720">
                    <a:solidFill>
                      <a:srgbClr val="F7F6F2"/>
                    </a:solidFill>
                  </a:tcPr>
                </a:tc>
                <a:tc>
                  <a:txBody>
                    <a:bodyPr/>
                    <a:lstStyle/>
                    <a:p>
                      <a:pPr algn="r"/>
                      <a:r>
                        <a:rPr sz="1050" b="0">
                          <a:solidFill>
                            <a:srgbClr val="3F4A4E"/>
                          </a:solidFill>
                          <a:latin typeface="Arial"/>
                        </a:rPr>
                        <a:t>$17,185</a:t>
                      </a:r>
                    </a:p>
                  </a:txBody>
                  <a:tcPr marL="36576" marR="45720">
                    <a:solidFill>
                      <a:srgbClr val="F7F6F2"/>
                    </a:solidFill>
                  </a:tcPr>
                </a:tc>
                <a:tc>
                  <a:txBody>
                    <a:bodyPr/>
                    <a:lstStyle/>
                    <a:p>
                      <a:pPr algn="r"/>
                      <a:r>
                        <a:rPr sz="1050" b="0">
                          <a:solidFill>
                            <a:srgbClr val="3F4A4E"/>
                          </a:solidFill>
                          <a:latin typeface="Arial"/>
                        </a:rPr>
                        <a:t>$17,185</a:t>
                      </a:r>
                    </a:p>
                  </a:txBody>
                  <a:tcPr marL="36576" marR="45720">
                    <a:solidFill>
                      <a:srgbClr val="F7F6F2"/>
                    </a:solidFill>
                  </a:tcPr>
                </a:tc>
                <a:tc>
                  <a:txBody>
                    <a:bodyPr/>
                    <a:lstStyle/>
                    <a:p>
                      <a:pPr algn="r"/>
                      <a:r>
                        <a:rPr sz="1050" b="0">
                          <a:solidFill>
                            <a:srgbClr val="3F4A4E"/>
                          </a:solidFill>
                          <a:latin typeface="Arial"/>
                        </a:rPr>
                        <a:t>$17,185</a:t>
                      </a:r>
                    </a:p>
                  </a:txBody>
                  <a:tcPr marL="36576" marR="45720">
                    <a:solidFill>
                      <a:srgbClr val="F7F6F2"/>
                    </a:solidFill>
                  </a:tcPr>
                </a:tc>
                <a:tc>
                  <a:txBody>
                    <a:bodyPr/>
                    <a:lstStyle/>
                    <a:p>
                      <a:pPr algn="r"/>
                      <a:r>
                        <a:rPr sz="1050" b="0">
                          <a:solidFill>
                            <a:srgbClr val="3F4A4E"/>
                          </a:solidFill>
                          <a:latin typeface="Arial"/>
                        </a:rPr>
                        <a:t>$17,185</a:t>
                      </a:r>
                    </a:p>
                  </a:txBody>
                  <a:tcPr marL="36576" marR="45720">
                    <a:solidFill>
                      <a:srgbClr val="F7F6F2"/>
                    </a:solidFill>
                  </a:tcPr>
                </a:tc>
                <a:tc>
                  <a:txBody>
                    <a:bodyPr/>
                    <a:lstStyle/>
                    <a:p>
                      <a:pPr algn="r"/>
                      <a:r>
                        <a:rPr sz="1050" b="0">
                          <a:solidFill>
                            <a:srgbClr val="3F4A4E"/>
                          </a:solidFill>
                          <a:latin typeface="Arial"/>
                        </a:rPr>
                        <a:t>$17,185</a:t>
                      </a:r>
                    </a:p>
                  </a:txBody>
                  <a:tcPr marL="36576" marR="45720">
                    <a:solidFill>
                      <a:srgbClr val="F7F6F2"/>
                    </a:solidFill>
                  </a:tcPr>
                </a:tc>
                <a:tc>
                  <a:txBody>
                    <a:bodyPr/>
                    <a:lstStyle/>
                    <a:p>
                      <a:pPr algn="r"/>
                      <a:r>
                        <a:rPr sz="1050" b="0">
                          <a:solidFill>
                            <a:srgbClr val="3F4A4E"/>
                          </a:solidFill>
                          <a:latin typeface="Arial"/>
                        </a:rPr>
                        <a:t>$17,185</a:t>
                      </a:r>
                    </a:p>
                  </a:txBody>
                  <a:tcPr marL="36576" marR="45720">
                    <a:solidFill>
                      <a:srgbClr val="F7F6F2"/>
                    </a:solidFill>
                  </a:tcPr>
                </a:tc>
                <a:tc>
                  <a:txBody>
                    <a:bodyPr/>
                    <a:lstStyle/>
                    <a:p>
                      <a:pPr algn="r"/>
                      <a:r>
                        <a:rPr sz="1050" b="0">
                          <a:solidFill>
                            <a:srgbClr val="3F4A4E"/>
                          </a:solidFill>
                          <a:latin typeface="Arial"/>
                        </a:rPr>
                        <a:t>$13,409</a:t>
                      </a:r>
                    </a:p>
                  </a:txBody>
                  <a:tcPr marL="36576" marR="45720">
                    <a:solidFill>
                      <a:srgbClr val="F7F6F2"/>
                    </a:solidFill>
                  </a:tcPr>
                </a:tc>
                <a:tc>
                  <a:txBody>
                    <a:bodyPr/>
                    <a:lstStyle/>
                    <a:p>
                      <a:pPr algn="r"/>
                      <a:r>
                        <a:rPr sz="1050" b="1">
                          <a:solidFill>
                            <a:srgbClr val="3F4A4E"/>
                          </a:solidFill>
                          <a:latin typeface="Arial"/>
                        </a:rPr>
                        <a:t>$201,838</a:t>
                      </a:r>
                    </a:p>
                  </a:txBody>
                  <a:tcPr marL="36576" marR="45720">
                    <a:solidFill>
                      <a:srgbClr val="F7F6F2"/>
                    </a:solidFill>
                  </a:tcPr>
                </a:tc>
              </a:tr>
              <a:tr h="548640">
                <a:tc>
                  <a:txBody>
                    <a:bodyPr/>
                    <a:lstStyle/>
                    <a:p>
                      <a:r>
                        <a:rPr sz="1050" b="1">
                          <a:solidFill>
                            <a:srgbClr val="22424B"/>
                          </a:solidFill>
                          <a:latin typeface="Arial"/>
                        </a:rPr>
                        <a:t>Prime cost</a:t>
                      </a:r>
                    </a:p>
                  </a:txBody>
                  <a:tcPr marL="36576" marR="45720">
                    <a:solidFill>
                      <a:srgbClr val="FFFFFF"/>
                    </a:solidFill>
                  </a:tcPr>
                </a:tc>
                <a:tc>
                  <a:txBody>
                    <a:bodyPr/>
                    <a:lstStyle/>
                    <a:p>
                      <a:pPr algn="r"/>
                      <a:r>
                        <a:rPr sz="1050" b="1">
                          <a:solidFill>
                            <a:srgbClr val="22424B"/>
                          </a:solidFill>
                          <a:latin typeface="Arial"/>
                        </a:rPr>
                        <a:t>$48,861</a:t>
                      </a:r>
                    </a:p>
                  </a:txBody>
                  <a:tcPr marL="36576" marR="45720">
                    <a:solidFill>
                      <a:srgbClr val="FFFFFF"/>
                    </a:solidFill>
                  </a:tcPr>
                </a:tc>
                <a:tc>
                  <a:txBody>
                    <a:bodyPr/>
                    <a:lstStyle/>
                    <a:p>
                      <a:pPr algn="r"/>
                      <a:r>
                        <a:rPr sz="1050" b="1">
                          <a:solidFill>
                            <a:srgbClr val="22424B"/>
                          </a:solidFill>
                          <a:latin typeface="Arial"/>
                        </a:rPr>
                        <a:t>$30,254</a:t>
                      </a:r>
                    </a:p>
                  </a:txBody>
                  <a:tcPr marL="36576" marR="45720">
                    <a:solidFill>
                      <a:srgbClr val="FFFFFF"/>
                    </a:solidFill>
                  </a:tcPr>
                </a:tc>
                <a:tc>
                  <a:txBody>
                    <a:bodyPr/>
                    <a:lstStyle/>
                    <a:p>
                      <a:pPr algn="r"/>
                      <a:r>
                        <a:rPr sz="1050" b="1">
                          <a:solidFill>
                            <a:srgbClr val="22424B"/>
                          </a:solidFill>
                          <a:latin typeface="Arial"/>
                        </a:rPr>
                        <a:t>$48,861</a:t>
                      </a:r>
                    </a:p>
                  </a:txBody>
                  <a:tcPr marL="36576" marR="45720">
                    <a:solidFill>
                      <a:srgbClr val="FFFFFF"/>
                    </a:solidFill>
                  </a:tcPr>
                </a:tc>
                <a:tc>
                  <a:txBody>
                    <a:bodyPr/>
                    <a:lstStyle/>
                    <a:p>
                      <a:pPr algn="r"/>
                      <a:r>
                        <a:rPr sz="1050" b="1">
                          <a:solidFill>
                            <a:srgbClr val="22424B"/>
                          </a:solidFill>
                          <a:latin typeface="Arial"/>
                        </a:rPr>
                        <a:t>$30,254</a:t>
                      </a:r>
                    </a:p>
                  </a:txBody>
                  <a:tcPr marL="36576" marR="45720">
                    <a:solidFill>
                      <a:srgbClr val="FFFFFF"/>
                    </a:solidFill>
                  </a:tcPr>
                </a:tc>
                <a:tc>
                  <a:txBody>
                    <a:bodyPr/>
                    <a:lstStyle/>
                    <a:p>
                      <a:pPr algn="r"/>
                      <a:r>
                        <a:rPr sz="1050" b="1">
                          <a:solidFill>
                            <a:srgbClr val="22424B"/>
                          </a:solidFill>
                          <a:latin typeface="Arial"/>
                        </a:rPr>
                        <a:t>$43,545</a:t>
                      </a:r>
                    </a:p>
                  </a:txBody>
                  <a:tcPr marL="36576" marR="45720">
                    <a:solidFill>
                      <a:srgbClr val="FFFFFF"/>
                    </a:solidFill>
                  </a:tcPr>
                </a:tc>
                <a:tc>
                  <a:txBody>
                    <a:bodyPr/>
                    <a:lstStyle/>
                    <a:p>
                      <a:pPr algn="r"/>
                      <a:r>
                        <a:rPr sz="1050" b="1">
                          <a:solidFill>
                            <a:srgbClr val="22424B"/>
                          </a:solidFill>
                          <a:latin typeface="Arial"/>
                        </a:rPr>
                        <a:t>$40,886</a:t>
                      </a:r>
                    </a:p>
                  </a:txBody>
                  <a:tcPr marL="36576" marR="45720">
                    <a:solidFill>
                      <a:srgbClr val="FFFFFF"/>
                    </a:solidFill>
                  </a:tcPr>
                </a:tc>
                <a:tc>
                  <a:txBody>
                    <a:bodyPr/>
                    <a:lstStyle/>
                    <a:p>
                      <a:pPr algn="r"/>
                      <a:r>
                        <a:rPr sz="1050" b="1">
                          <a:solidFill>
                            <a:srgbClr val="22424B"/>
                          </a:solidFill>
                          <a:latin typeface="Arial"/>
                        </a:rPr>
                        <a:t>$40,886</a:t>
                      </a:r>
                    </a:p>
                  </a:txBody>
                  <a:tcPr marL="36576" marR="45720">
                    <a:solidFill>
                      <a:srgbClr val="FFFFFF"/>
                    </a:solidFill>
                  </a:tcPr>
                </a:tc>
                <a:tc>
                  <a:txBody>
                    <a:bodyPr/>
                    <a:lstStyle/>
                    <a:p>
                      <a:pPr algn="r"/>
                      <a:r>
                        <a:rPr sz="1050" b="1">
                          <a:solidFill>
                            <a:srgbClr val="22424B"/>
                          </a:solidFill>
                          <a:latin typeface="Arial"/>
                        </a:rPr>
                        <a:t>$40,886</a:t>
                      </a:r>
                    </a:p>
                  </a:txBody>
                  <a:tcPr marL="36576" marR="45720">
                    <a:solidFill>
                      <a:srgbClr val="FFFFFF"/>
                    </a:solidFill>
                  </a:tcPr>
                </a:tc>
                <a:tc>
                  <a:txBody>
                    <a:bodyPr/>
                    <a:lstStyle/>
                    <a:p>
                      <a:pPr algn="r"/>
                      <a:r>
                        <a:rPr sz="1050" b="1">
                          <a:solidFill>
                            <a:srgbClr val="22424B"/>
                          </a:solidFill>
                          <a:latin typeface="Arial"/>
                        </a:rPr>
                        <a:t>$40,886</a:t>
                      </a:r>
                    </a:p>
                  </a:txBody>
                  <a:tcPr marL="36576" marR="45720">
                    <a:solidFill>
                      <a:srgbClr val="FFFFFF"/>
                    </a:solidFill>
                  </a:tcPr>
                </a:tc>
                <a:tc>
                  <a:txBody>
                    <a:bodyPr/>
                    <a:lstStyle/>
                    <a:p>
                      <a:pPr algn="r"/>
                      <a:r>
                        <a:rPr sz="1050" b="1">
                          <a:solidFill>
                            <a:srgbClr val="22424B"/>
                          </a:solidFill>
                          <a:latin typeface="Arial"/>
                        </a:rPr>
                        <a:t>$40,886</a:t>
                      </a:r>
                    </a:p>
                  </a:txBody>
                  <a:tcPr marL="36576" marR="45720">
                    <a:solidFill>
                      <a:srgbClr val="FFFFFF"/>
                    </a:solidFill>
                  </a:tcPr>
                </a:tc>
                <a:tc>
                  <a:txBody>
                    <a:bodyPr/>
                    <a:lstStyle/>
                    <a:p>
                      <a:pPr algn="r"/>
                      <a:r>
                        <a:rPr sz="1050" b="1">
                          <a:solidFill>
                            <a:srgbClr val="22424B"/>
                          </a:solidFill>
                          <a:latin typeface="Arial"/>
                        </a:rPr>
                        <a:t>$40,886</a:t>
                      </a:r>
                    </a:p>
                  </a:txBody>
                  <a:tcPr marL="36576" marR="45720">
                    <a:solidFill>
                      <a:srgbClr val="FFFFFF"/>
                    </a:solidFill>
                  </a:tcPr>
                </a:tc>
                <a:tc>
                  <a:txBody>
                    <a:bodyPr/>
                    <a:lstStyle/>
                    <a:p>
                      <a:pPr algn="r"/>
                      <a:r>
                        <a:rPr sz="1050" b="1">
                          <a:solidFill>
                            <a:srgbClr val="22424B"/>
                          </a:solidFill>
                          <a:latin typeface="Arial"/>
                        </a:rPr>
                        <a:t>$37,110</a:t>
                      </a:r>
                    </a:p>
                  </a:txBody>
                  <a:tcPr marL="36576" marR="45720">
                    <a:solidFill>
                      <a:srgbClr val="FFFFFF"/>
                    </a:solidFill>
                  </a:tcPr>
                </a:tc>
                <a:tc>
                  <a:txBody>
                    <a:bodyPr/>
                    <a:lstStyle/>
                    <a:p>
                      <a:pPr algn="r"/>
                      <a:r>
                        <a:rPr sz="1050" b="1">
                          <a:solidFill>
                            <a:srgbClr val="22424B"/>
                          </a:solidFill>
                          <a:latin typeface="Arial"/>
                        </a:rPr>
                        <a:t>$484,203</a:t>
                      </a:r>
                    </a:p>
                  </a:txBody>
                  <a:tcPr marL="36576" marR="45720">
                    <a:solidFill>
                      <a:srgbClr val="FFFFFF"/>
                    </a:solidFill>
                  </a:tcPr>
                </a:tc>
              </a:tr>
              <a:tr h="548640">
                <a:tc>
                  <a:txBody>
                    <a:bodyPr/>
                    <a:lstStyle/>
                    <a:p>
                      <a:r>
                        <a:rPr sz="1050" b="1">
                          <a:solidFill>
                            <a:srgbClr val="22424B"/>
                          </a:solidFill>
                          <a:latin typeface="Arial"/>
                        </a:rPr>
                        <a:t>Operating profit</a:t>
                      </a:r>
                    </a:p>
                  </a:txBody>
                  <a:tcPr marL="36576" marR="45720">
                    <a:solidFill>
                      <a:srgbClr val="F7F6F2"/>
                    </a:solidFill>
                  </a:tcPr>
                </a:tc>
                <a:tc>
                  <a:txBody>
                    <a:bodyPr/>
                    <a:lstStyle/>
                    <a:p>
                      <a:pPr algn="r"/>
                      <a:r>
                        <a:rPr sz="1050" b="1">
                          <a:solidFill>
                            <a:srgbClr val="22424B"/>
                          </a:solidFill>
                          <a:latin typeface="Arial"/>
                        </a:rPr>
                        <a:t>$32,044</a:t>
                      </a:r>
                    </a:p>
                  </a:txBody>
                  <a:tcPr marL="36576" marR="45720">
                    <a:solidFill>
                      <a:srgbClr val="F7F6F2"/>
                    </a:solidFill>
                  </a:tcPr>
                </a:tc>
                <a:tc>
                  <a:txBody>
                    <a:bodyPr/>
                    <a:lstStyle/>
                    <a:p>
                      <a:pPr algn="r"/>
                      <a:r>
                        <a:rPr sz="1050" b="1">
                          <a:solidFill>
                            <a:srgbClr val="22424B"/>
                          </a:solidFill>
                          <a:latin typeface="Arial"/>
                        </a:rPr>
                        <a:t>$15,651</a:t>
                      </a:r>
                    </a:p>
                  </a:txBody>
                  <a:tcPr marL="36576" marR="45720">
                    <a:solidFill>
                      <a:srgbClr val="F7F6F2"/>
                    </a:solidFill>
                  </a:tcPr>
                </a:tc>
                <a:tc>
                  <a:txBody>
                    <a:bodyPr/>
                    <a:lstStyle/>
                    <a:p>
                      <a:pPr algn="r"/>
                      <a:r>
                        <a:rPr sz="1050" b="1">
                          <a:solidFill>
                            <a:srgbClr val="22424B"/>
                          </a:solidFill>
                          <a:latin typeface="Arial"/>
                        </a:rPr>
                        <a:t>$32,044</a:t>
                      </a:r>
                    </a:p>
                  </a:txBody>
                  <a:tcPr marL="36576" marR="45720">
                    <a:solidFill>
                      <a:srgbClr val="F7F6F2"/>
                    </a:solidFill>
                  </a:tcPr>
                </a:tc>
                <a:tc>
                  <a:txBody>
                    <a:bodyPr/>
                    <a:lstStyle/>
                    <a:p>
                      <a:pPr algn="r"/>
                      <a:r>
                        <a:rPr sz="1050" b="1">
                          <a:solidFill>
                            <a:srgbClr val="22424B"/>
                          </a:solidFill>
                          <a:latin typeface="Arial"/>
                        </a:rPr>
                        <a:t>$15,651</a:t>
                      </a:r>
                    </a:p>
                  </a:txBody>
                  <a:tcPr marL="36576" marR="45720">
                    <a:solidFill>
                      <a:srgbClr val="F7F6F2"/>
                    </a:solidFill>
                  </a:tcPr>
                </a:tc>
                <a:tc>
                  <a:txBody>
                    <a:bodyPr/>
                    <a:lstStyle/>
                    <a:p>
                      <a:pPr algn="r"/>
                      <a:r>
                        <a:rPr sz="1050" b="1">
                          <a:solidFill>
                            <a:srgbClr val="22424B"/>
                          </a:solidFill>
                          <a:latin typeface="Arial"/>
                        </a:rPr>
                        <a:t>$27,360</a:t>
                      </a:r>
                    </a:p>
                  </a:txBody>
                  <a:tcPr marL="36576" marR="45720">
                    <a:solidFill>
                      <a:srgbClr val="F7F6F2"/>
                    </a:solidFill>
                  </a:tcPr>
                </a:tc>
                <a:tc>
                  <a:txBody>
                    <a:bodyPr/>
                    <a:lstStyle/>
                    <a:p>
                      <a:pPr algn="r"/>
                      <a:r>
                        <a:rPr sz="1050" b="1">
                          <a:solidFill>
                            <a:srgbClr val="22424B"/>
                          </a:solidFill>
                          <a:latin typeface="Arial"/>
                        </a:rPr>
                        <a:t>$25,018</a:t>
                      </a:r>
                    </a:p>
                  </a:txBody>
                  <a:tcPr marL="36576" marR="45720">
                    <a:solidFill>
                      <a:srgbClr val="F7F6F2"/>
                    </a:solidFill>
                  </a:tcPr>
                </a:tc>
                <a:tc>
                  <a:txBody>
                    <a:bodyPr/>
                    <a:lstStyle/>
                    <a:p>
                      <a:pPr algn="r"/>
                      <a:r>
                        <a:rPr sz="1050" b="1">
                          <a:solidFill>
                            <a:srgbClr val="22424B"/>
                          </a:solidFill>
                          <a:latin typeface="Arial"/>
                        </a:rPr>
                        <a:t>$25,018</a:t>
                      </a:r>
                    </a:p>
                  </a:txBody>
                  <a:tcPr marL="36576" marR="45720">
                    <a:solidFill>
                      <a:srgbClr val="F7F6F2"/>
                    </a:solidFill>
                  </a:tcPr>
                </a:tc>
                <a:tc>
                  <a:txBody>
                    <a:bodyPr/>
                    <a:lstStyle/>
                    <a:p>
                      <a:pPr algn="r"/>
                      <a:r>
                        <a:rPr sz="1050" b="1">
                          <a:solidFill>
                            <a:srgbClr val="22424B"/>
                          </a:solidFill>
                          <a:latin typeface="Arial"/>
                        </a:rPr>
                        <a:t>$25,018</a:t>
                      </a:r>
                    </a:p>
                  </a:txBody>
                  <a:tcPr marL="36576" marR="45720">
                    <a:solidFill>
                      <a:srgbClr val="F7F6F2"/>
                    </a:solidFill>
                  </a:tcPr>
                </a:tc>
                <a:tc>
                  <a:txBody>
                    <a:bodyPr/>
                    <a:lstStyle/>
                    <a:p>
                      <a:pPr algn="r"/>
                      <a:r>
                        <a:rPr sz="1050" b="1">
                          <a:solidFill>
                            <a:srgbClr val="22424B"/>
                          </a:solidFill>
                          <a:latin typeface="Arial"/>
                        </a:rPr>
                        <a:t>$25,018</a:t>
                      </a:r>
                    </a:p>
                  </a:txBody>
                  <a:tcPr marL="36576" marR="45720">
                    <a:solidFill>
                      <a:srgbClr val="F7F6F2"/>
                    </a:solidFill>
                  </a:tcPr>
                </a:tc>
                <a:tc>
                  <a:txBody>
                    <a:bodyPr/>
                    <a:lstStyle/>
                    <a:p>
                      <a:pPr algn="r"/>
                      <a:r>
                        <a:rPr sz="1050" b="1">
                          <a:solidFill>
                            <a:srgbClr val="22424B"/>
                          </a:solidFill>
                          <a:latin typeface="Arial"/>
                        </a:rPr>
                        <a:t>$25,018</a:t>
                      </a:r>
                    </a:p>
                  </a:txBody>
                  <a:tcPr marL="36576" marR="45720">
                    <a:solidFill>
                      <a:srgbClr val="F7F6F2"/>
                    </a:solidFill>
                  </a:tcPr>
                </a:tc>
                <a:tc>
                  <a:txBody>
                    <a:bodyPr/>
                    <a:lstStyle/>
                    <a:p>
                      <a:pPr algn="r"/>
                      <a:r>
                        <a:rPr sz="1050" b="1">
                          <a:solidFill>
                            <a:srgbClr val="22424B"/>
                          </a:solidFill>
                          <a:latin typeface="Arial"/>
                        </a:rPr>
                        <a:t>$25,018</a:t>
                      </a:r>
                    </a:p>
                  </a:txBody>
                  <a:tcPr marL="36576" marR="45720">
                    <a:solidFill>
                      <a:srgbClr val="F7F6F2"/>
                    </a:solidFill>
                  </a:tcPr>
                </a:tc>
                <a:tc>
                  <a:txBody>
                    <a:bodyPr/>
                    <a:lstStyle/>
                    <a:p>
                      <a:pPr algn="r"/>
                      <a:r>
                        <a:rPr sz="1050" b="1">
                          <a:solidFill>
                            <a:srgbClr val="22424B"/>
                          </a:solidFill>
                          <a:latin typeface="Arial"/>
                        </a:rPr>
                        <a:t>$28,795</a:t>
                      </a:r>
                    </a:p>
                  </a:txBody>
                  <a:tcPr marL="36576" marR="45720">
                    <a:solidFill>
                      <a:srgbClr val="F7F6F2"/>
                    </a:solidFill>
                  </a:tcPr>
                </a:tc>
                <a:tc>
                  <a:txBody>
                    <a:bodyPr/>
                    <a:lstStyle/>
                    <a:p>
                      <a:pPr algn="r"/>
                      <a:r>
                        <a:rPr sz="1050" b="1">
                          <a:solidFill>
                            <a:srgbClr val="22424B"/>
                          </a:solidFill>
                          <a:latin typeface="Arial"/>
                        </a:rPr>
                        <a:t>$301,652</a:t>
                      </a:r>
                    </a:p>
                  </a:txBody>
                  <a:tcPr marL="36576" marR="45720">
                    <a:solidFill>
                      <a:srgbClr val="F7F6F2"/>
                    </a:solidFill>
                  </a:tcPr>
                </a:tc>
              </a:tr>
              <a:tr h="548640">
                <a:tc>
                  <a:txBody>
                    <a:bodyPr/>
                    <a:lstStyle/>
                    <a:p>
                      <a:r>
                        <a:rPr sz="1050" b="0">
                          <a:solidFill>
                            <a:srgbClr val="3F4A4E"/>
                          </a:solidFill>
                          <a:latin typeface="Arial"/>
                        </a:rPr>
                        <a:t>Controllable expenses</a:t>
                      </a:r>
                    </a:p>
                  </a:txBody>
                  <a:tcPr marL="36576" marR="45720">
                    <a:solidFill>
                      <a:srgbClr val="FFFFFF"/>
                    </a:solidFill>
                  </a:tcPr>
                </a:tc>
                <a:tc>
                  <a:txBody>
                    <a:bodyPr/>
                    <a:lstStyle/>
                    <a:p>
                      <a:pPr algn="r"/>
                      <a:r>
                        <a:rPr sz="1050" b="0">
                          <a:solidFill>
                            <a:srgbClr val="3F4A4E"/>
                          </a:solidFill>
                          <a:latin typeface="Arial"/>
                        </a:rPr>
                        <a:t>$14,429</a:t>
                      </a:r>
                    </a:p>
                  </a:txBody>
                  <a:tcPr marL="36576" marR="45720">
                    <a:solidFill>
                      <a:srgbClr val="FFFFFF"/>
                    </a:solidFill>
                  </a:tcPr>
                </a:tc>
                <a:tc>
                  <a:txBody>
                    <a:bodyPr/>
                    <a:lstStyle/>
                    <a:p>
                      <a:pPr algn="r"/>
                      <a:r>
                        <a:rPr sz="1050" b="0">
                          <a:solidFill>
                            <a:srgbClr val="3F4A4E"/>
                          </a:solidFill>
                          <a:latin typeface="Arial"/>
                        </a:rPr>
                        <a:t>$11,104</a:t>
                      </a:r>
                    </a:p>
                  </a:txBody>
                  <a:tcPr marL="36576" marR="45720">
                    <a:solidFill>
                      <a:srgbClr val="FFFFFF"/>
                    </a:solidFill>
                  </a:tcPr>
                </a:tc>
                <a:tc>
                  <a:txBody>
                    <a:bodyPr/>
                    <a:lstStyle/>
                    <a:p>
                      <a:pPr algn="r"/>
                      <a:r>
                        <a:rPr sz="1050" b="0">
                          <a:solidFill>
                            <a:srgbClr val="3F4A4E"/>
                          </a:solidFill>
                          <a:latin typeface="Arial"/>
                        </a:rPr>
                        <a:t>$14,429</a:t>
                      </a:r>
                    </a:p>
                  </a:txBody>
                  <a:tcPr marL="36576" marR="45720">
                    <a:solidFill>
                      <a:srgbClr val="FFFFFF"/>
                    </a:solidFill>
                  </a:tcPr>
                </a:tc>
                <a:tc>
                  <a:txBody>
                    <a:bodyPr/>
                    <a:lstStyle/>
                    <a:p>
                      <a:pPr algn="r"/>
                      <a:r>
                        <a:rPr sz="1050" b="0">
                          <a:solidFill>
                            <a:srgbClr val="3F4A4E"/>
                          </a:solidFill>
                          <a:latin typeface="Arial"/>
                        </a:rPr>
                        <a:t>$11,104</a:t>
                      </a:r>
                    </a:p>
                  </a:txBody>
                  <a:tcPr marL="36576" marR="45720">
                    <a:solidFill>
                      <a:srgbClr val="FFFFFF"/>
                    </a:solidFill>
                  </a:tcPr>
                </a:tc>
                <a:tc>
                  <a:txBody>
                    <a:bodyPr/>
                    <a:lstStyle/>
                    <a:p>
                      <a:pPr algn="r"/>
                      <a:r>
                        <a:rPr sz="1050" b="0">
                          <a:solidFill>
                            <a:srgbClr val="3F4A4E"/>
                          </a:solidFill>
                          <a:latin typeface="Arial"/>
                        </a:rPr>
                        <a:t>$13,479</a:t>
                      </a:r>
                    </a:p>
                  </a:txBody>
                  <a:tcPr marL="36576" marR="45720">
                    <a:solidFill>
                      <a:srgbClr val="FFFFFF"/>
                    </a:solidFill>
                  </a:tcPr>
                </a:tc>
                <a:tc>
                  <a:txBody>
                    <a:bodyPr/>
                    <a:lstStyle/>
                    <a:p>
                      <a:pPr algn="r"/>
                      <a:r>
                        <a:rPr sz="1050" b="0">
                          <a:solidFill>
                            <a:srgbClr val="3F4A4E"/>
                          </a:solidFill>
                          <a:latin typeface="Arial"/>
                        </a:rPr>
                        <a:t>$13,004</a:t>
                      </a:r>
                    </a:p>
                  </a:txBody>
                  <a:tcPr marL="36576" marR="45720">
                    <a:solidFill>
                      <a:srgbClr val="FFFFFF"/>
                    </a:solidFill>
                  </a:tcPr>
                </a:tc>
                <a:tc>
                  <a:txBody>
                    <a:bodyPr/>
                    <a:lstStyle/>
                    <a:p>
                      <a:pPr algn="r"/>
                      <a:r>
                        <a:rPr sz="1050" b="0">
                          <a:solidFill>
                            <a:srgbClr val="3F4A4E"/>
                          </a:solidFill>
                          <a:latin typeface="Arial"/>
                        </a:rPr>
                        <a:t>$13,004</a:t>
                      </a:r>
                    </a:p>
                  </a:txBody>
                  <a:tcPr marL="36576" marR="45720">
                    <a:solidFill>
                      <a:srgbClr val="FFFFFF"/>
                    </a:solidFill>
                  </a:tcPr>
                </a:tc>
                <a:tc>
                  <a:txBody>
                    <a:bodyPr/>
                    <a:lstStyle/>
                    <a:p>
                      <a:pPr algn="r"/>
                      <a:r>
                        <a:rPr sz="1050" b="0">
                          <a:solidFill>
                            <a:srgbClr val="3F4A4E"/>
                          </a:solidFill>
                          <a:latin typeface="Arial"/>
                        </a:rPr>
                        <a:t>$13,004</a:t>
                      </a:r>
                    </a:p>
                  </a:txBody>
                  <a:tcPr marL="36576" marR="45720">
                    <a:solidFill>
                      <a:srgbClr val="FFFFFF"/>
                    </a:solidFill>
                  </a:tcPr>
                </a:tc>
                <a:tc>
                  <a:txBody>
                    <a:bodyPr/>
                    <a:lstStyle/>
                    <a:p>
                      <a:pPr algn="r"/>
                      <a:r>
                        <a:rPr sz="1050" b="0">
                          <a:solidFill>
                            <a:srgbClr val="3F4A4E"/>
                          </a:solidFill>
                          <a:latin typeface="Arial"/>
                        </a:rPr>
                        <a:t>$13,004</a:t>
                      </a:r>
                    </a:p>
                  </a:txBody>
                  <a:tcPr marL="36576" marR="45720">
                    <a:solidFill>
                      <a:srgbClr val="FFFFFF"/>
                    </a:solidFill>
                  </a:tcPr>
                </a:tc>
                <a:tc>
                  <a:txBody>
                    <a:bodyPr/>
                    <a:lstStyle/>
                    <a:p>
                      <a:pPr algn="r"/>
                      <a:r>
                        <a:rPr sz="1050" b="0">
                          <a:solidFill>
                            <a:srgbClr val="3F4A4E"/>
                          </a:solidFill>
                          <a:latin typeface="Arial"/>
                        </a:rPr>
                        <a:t>$13,004</a:t>
                      </a:r>
                    </a:p>
                  </a:txBody>
                  <a:tcPr marL="36576" marR="45720">
                    <a:solidFill>
                      <a:srgbClr val="FFFFFF"/>
                    </a:solidFill>
                  </a:tcPr>
                </a:tc>
                <a:tc>
                  <a:txBody>
                    <a:bodyPr/>
                    <a:lstStyle/>
                    <a:p>
                      <a:pPr algn="r"/>
                      <a:r>
                        <a:rPr sz="1050" b="0">
                          <a:solidFill>
                            <a:srgbClr val="3F4A4E"/>
                          </a:solidFill>
                          <a:latin typeface="Arial"/>
                        </a:rPr>
                        <a:t>$13,004</a:t>
                      </a:r>
                    </a:p>
                  </a:txBody>
                  <a:tcPr marL="36576" marR="45720">
                    <a:solidFill>
                      <a:srgbClr val="FFFFFF"/>
                    </a:solidFill>
                  </a:tcPr>
                </a:tc>
                <a:tc>
                  <a:txBody>
                    <a:bodyPr/>
                    <a:lstStyle/>
                    <a:p>
                      <a:pPr algn="r"/>
                      <a:r>
                        <a:rPr sz="1050" b="0">
                          <a:solidFill>
                            <a:srgbClr val="3F4A4E"/>
                          </a:solidFill>
                          <a:latin typeface="Arial"/>
                        </a:rPr>
                        <a:t>$13,004</a:t>
                      </a:r>
                    </a:p>
                  </a:txBody>
                  <a:tcPr marL="36576" marR="45720">
                    <a:solidFill>
                      <a:srgbClr val="FFFFFF"/>
                    </a:solidFill>
                  </a:tcPr>
                </a:tc>
                <a:tc>
                  <a:txBody>
                    <a:bodyPr/>
                    <a:lstStyle/>
                    <a:p>
                      <a:pPr algn="r"/>
                      <a:r>
                        <a:rPr sz="1050" b="1">
                          <a:solidFill>
                            <a:srgbClr val="3F4A4E"/>
                          </a:solidFill>
                          <a:latin typeface="Arial"/>
                        </a:rPr>
                        <a:t>$155,578</a:t>
                      </a:r>
                    </a:p>
                  </a:txBody>
                  <a:tcPr marL="36576" marR="45720">
                    <a:solidFill>
                      <a:srgbClr val="FFFFFF"/>
                    </a:solidFill>
                  </a:tcPr>
                </a:tc>
              </a:tr>
              <a:tr h="548640">
                <a:tc>
                  <a:txBody>
                    <a:bodyPr/>
                    <a:lstStyle/>
                    <a:p>
                      <a:r>
                        <a:rPr sz="1050" b="0">
                          <a:solidFill>
                            <a:srgbClr val="3F4A4E"/>
                          </a:solidFill>
                          <a:latin typeface="Arial"/>
                        </a:rPr>
                        <a:t>Uncontrollable expenses</a:t>
                      </a:r>
                    </a:p>
                  </a:txBody>
                  <a:tcPr marL="36576" marR="45720">
                    <a:solidFill>
                      <a:srgbClr val="F7F6F2"/>
                    </a:solidFill>
                  </a:tcPr>
                </a:tc>
                <a:tc>
                  <a:txBody>
                    <a:bodyPr/>
                    <a:lstStyle/>
                    <a:p>
                      <a:pPr algn="r"/>
                      <a:r>
                        <a:rPr sz="1050" b="0">
                          <a:solidFill>
                            <a:srgbClr val="3F4A4E"/>
                          </a:solidFill>
                          <a:latin typeface="Arial"/>
                        </a:rPr>
                        <a:t>$5,921</a:t>
                      </a:r>
                    </a:p>
                  </a:txBody>
                  <a:tcPr marL="36576" marR="45720">
                    <a:solidFill>
                      <a:srgbClr val="F7F6F2"/>
                    </a:solidFill>
                  </a:tcPr>
                </a:tc>
                <a:tc>
                  <a:txBody>
                    <a:bodyPr/>
                    <a:lstStyle/>
                    <a:p>
                      <a:pPr algn="r"/>
                      <a:r>
                        <a:rPr sz="1050" b="0">
                          <a:solidFill>
                            <a:srgbClr val="3F4A4E"/>
                          </a:solidFill>
                          <a:latin typeface="Arial"/>
                        </a:rPr>
                        <a:t>$4,521</a:t>
                      </a:r>
                    </a:p>
                  </a:txBody>
                  <a:tcPr marL="36576" marR="45720">
                    <a:solidFill>
                      <a:srgbClr val="F7F6F2"/>
                    </a:solidFill>
                  </a:tcPr>
                </a:tc>
                <a:tc>
                  <a:txBody>
                    <a:bodyPr/>
                    <a:lstStyle/>
                    <a:p>
                      <a:pPr algn="r"/>
                      <a:r>
                        <a:rPr sz="1050" b="0">
                          <a:solidFill>
                            <a:srgbClr val="3F4A4E"/>
                          </a:solidFill>
                          <a:latin typeface="Arial"/>
                        </a:rPr>
                        <a:t>$5,921</a:t>
                      </a:r>
                    </a:p>
                  </a:txBody>
                  <a:tcPr marL="36576" marR="45720">
                    <a:solidFill>
                      <a:srgbClr val="F7F6F2"/>
                    </a:solidFill>
                  </a:tcPr>
                </a:tc>
                <a:tc>
                  <a:txBody>
                    <a:bodyPr/>
                    <a:lstStyle/>
                    <a:p>
                      <a:pPr algn="r"/>
                      <a:r>
                        <a:rPr sz="1050" b="0">
                          <a:solidFill>
                            <a:srgbClr val="3F4A4E"/>
                          </a:solidFill>
                          <a:latin typeface="Arial"/>
                        </a:rPr>
                        <a:t>$4,521</a:t>
                      </a:r>
                    </a:p>
                  </a:txBody>
                  <a:tcPr marL="36576" marR="45720">
                    <a:solidFill>
                      <a:srgbClr val="F7F6F2"/>
                    </a:solidFill>
                  </a:tcPr>
                </a:tc>
                <a:tc>
                  <a:txBody>
                    <a:bodyPr/>
                    <a:lstStyle/>
                    <a:p>
                      <a:pPr algn="r"/>
                      <a:r>
                        <a:rPr sz="1050" b="0">
                          <a:solidFill>
                            <a:srgbClr val="3F4A4E"/>
                          </a:solidFill>
                          <a:latin typeface="Arial"/>
                        </a:rPr>
                        <a:t>$5,521</a:t>
                      </a:r>
                    </a:p>
                  </a:txBody>
                  <a:tcPr marL="36576" marR="45720">
                    <a:solidFill>
                      <a:srgbClr val="F7F6F2"/>
                    </a:solidFill>
                  </a:tcPr>
                </a:tc>
                <a:tc>
                  <a:txBody>
                    <a:bodyPr/>
                    <a:lstStyle/>
                    <a:p>
                      <a:pPr algn="r"/>
                      <a:r>
                        <a:rPr sz="1050" b="0">
                          <a:solidFill>
                            <a:srgbClr val="3F4A4E"/>
                          </a:solidFill>
                          <a:latin typeface="Arial"/>
                        </a:rPr>
                        <a:t>$5,321</a:t>
                      </a:r>
                    </a:p>
                  </a:txBody>
                  <a:tcPr marL="36576" marR="45720">
                    <a:solidFill>
                      <a:srgbClr val="F7F6F2"/>
                    </a:solidFill>
                  </a:tcPr>
                </a:tc>
                <a:tc>
                  <a:txBody>
                    <a:bodyPr/>
                    <a:lstStyle/>
                    <a:p>
                      <a:pPr algn="r"/>
                      <a:r>
                        <a:rPr sz="1050" b="0">
                          <a:solidFill>
                            <a:srgbClr val="3F4A4E"/>
                          </a:solidFill>
                          <a:latin typeface="Arial"/>
                        </a:rPr>
                        <a:t>$5,321</a:t>
                      </a:r>
                    </a:p>
                  </a:txBody>
                  <a:tcPr marL="36576" marR="45720">
                    <a:solidFill>
                      <a:srgbClr val="F7F6F2"/>
                    </a:solidFill>
                  </a:tcPr>
                </a:tc>
                <a:tc>
                  <a:txBody>
                    <a:bodyPr/>
                    <a:lstStyle/>
                    <a:p>
                      <a:pPr algn="r"/>
                      <a:r>
                        <a:rPr sz="1050" b="0">
                          <a:solidFill>
                            <a:srgbClr val="3F4A4E"/>
                          </a:solidFill>
                          <a:latin typeface="Arial"/>
                        </a:rPr>
                        <a:t>$5,321</a:t>
                      </a:r>
                    </a:p>
                  </a:txBody>
                  <a:tcPr marL="36576" marR="45720">
                    <a:solidFill>
                      <a:srgbClr val="F7F6F2"/>
                    </a:solidFill>
                  </a:tcPr>
                </a:tc>
                <a:tc>
                  <a:txBody>
                    <a:bodyPr/>
                    <a:lstStyle/>
                    <a:p>
                      <a:pPr algn="r"/>
                      <a:r>
                        <a:rPr sz="1050" b="0">
                          <a:solidFill>
                            <a:srgbClr val="3F4A4E"/>
                          </a:solidFill>
                          <a:latin typeface="Arial"/>
                        </a:rPr>
                        <a:t>$5,321</a:t>
                      </a:r>
                    </a:p>
                  </a:txBody>
                  <a:tcPr marL="36576" marR="45720">
                    <a:solidFill>
                      <a:srgbClr val="F7F6F2"/>
                    </a:solidFill>
                  </a:tcPr>
                </a:tc>
                <a:tc>
                  <a:txBody>
                    <a:bodyPr/>
                    <a:lstStyle/>
                    <a:p>
                      <a:pPr algn="r"/>
                      <a:r>
                        <a:rPr sz="1050" b="0">
                          <a:solidFill>
                            <a:srgbClr val="3F4A4E"/>
                          </a:solidFill>
                          <a:latin typeface="Arial"/>
                        </a:rPr>
                        <a:t>$5,321</a:t>
                      </a:r>
                    </a:p>
                  </a:txBody>
                  <a:tcPr marL="36576" marR="45720">
                    <a:solidFill>
                      <a:srgbClr val="F7F6F2"/>
                    </a:solidFill>
                  </a:tcPr>
                </a:tc>
                <a:tc>
                  <a:txBody>
                    <a:bodyPr/>
                    <a:lstStyle/>
                    <a:p>
                      <a:pPr algn="r"/>
                      <a:r>
                        <a:rPr sz="1050" b="0">
                          <a:solidFill>
                            <a:srgbClr val="3F4A4E"/>
                          </a:solidFill>
                          <a:latin typeface="Arial"/>
                        </a:rPr>
                        <a:t>$5,321</a:t>
                      </a:r>
                    </a:p>
                  </a:txBody>
                  <a:tcPr marL="36576" marR="45720">
                    <a:solidFill>
                      <a:srgbClr val="F7F6F2"/>
                    </a:solidFill>
                  </a:tcPr>
                </a:tc>
                <a:tc>
                  <a:txBody>
                    <a:bodyPr/>
                    <a:lstStyle/>
                    <a:p>
                      <a:pPr algn="r"/>
                      <a:r>
                        <a:rPr sz="1050" b="0">
                          <a:solidFill>
                            <a:srgbClr val="3F4A4E"/>
                          </a:solidFill>
                          <a:latin typeface="Arial"/>
                        </a:rPr>
                        <a:t>$5,321</a:t>
                      </a:r>
                    </a:p>
                  </a:txBody>
                  <a:tcPr marL="36576" marR="45720">
                    <a:solidFill>
                      <a:srgbClr val="F7F6F2"/>
                    </a:solidFill>
                  </a:tcPr>
                </a:tc>
                <a:tc>
                  <a:txBody>
                    <a:bodyPr/>
                    <a:lstStyle/>
                    <a:p>
                      <a:pPr algn="r"/>
                      <a:r>
                        <a:rPr sz="1050" b="1">
                          <a:solidFill>
                            <a:srgbClr val="3F4A4E"/>
                          </a:solidFill>
                          <a:latin typeface="Arial"/>
                        </a:rPr>
                        <a:t>$63,656</a:t>
                      </a:r>
                    </a:p>
                  </a:txBody>
                  <a:tcPr marL="36576" marR="45720">
                    <a:solidFill>
                      <a:srgbClr val="F7F6F2"/>
                    </a:solidFill>
                  </a:tcPr>
                </a:tc>
              </a:tr>
              <a:tr h="548640">
                <a:tc>
                  <a:txBody>
                    <a:bodyPr/>
                    <a:lstStyle/>
                    <a:p>
                      <a:r>
                        <a:rPr sz="1050" b="1">
                          <a:solidFill>
                            <a:srgbClr val="22424B"/>
                          </a:solidFill>
                          <a:latin typeface="Arial"/>
                        </a:rPr>
                        <a:t>NET OPERATING PROFIT</a:t>
                      </a:r>
                    </a:p>
                  </a:txBody>
                  <a:tcPr marL="36576" marR="45720">
                    <a:solidFill>
                      <a:srgbClr val="FFFFFF"/>
                    </a:solidFill>
                  </a:tcPr>
                </a:tc>
                <a:tc>
                  <a:txBody>
                    <a:bodyPr/>
                    <a:lstStyle/>
                    <a:p>
                      <a:pPr algn="r"/>
                      <a:r>
                        <a:rPr sz="1050" b="1">
                          <a:solidFill>
                            <a:srgbClr val="22424B"/>
                          </a:solidFill>
                          <a:latin typeface="Arial"/>
                        </a:rPr>
                        <a:t>$11,693</a:t>
                      </a:r>
                    </a:p>
                  </a:txBody>
                  <a:tcPr marL="36576" marR="45720">
                    <a:solidFill>
                      <a:srgbClr val="FFFFFF"/>
                    </a:solidFill>
                  </a:tcPr>
                </a:tc>
                <a:tc>
                  <a:txBody>
                    <a:bodyPr/>
                    <a:lstStyle/>
                    <a:p>
                      <a:pPr algn="r"/>
                      <a:r>
                        <a:rPr sz="1050" b="1">
                          <a:solidFill>
                            <a:srgbClr val="22424B"/>
                          </a:solidFill>
                          <a:latin typeface="Arial"/>
                        </a:rPr>
                        <a:t>$25</a:t>
                      </a:r>
                    </a:p>
                  </a:txBody>
                  <a:tcPr marL="36576" marR="45720">
                    <a:solidFill>
                      <a:srgbClr val="FFFFFF"/>
                    </a:solidFill>
                  </a:tcPr>
                </a:tc>
                <a:tc>
                  <a:txBody>
                    <a:bodyPr/>
                    <a:lstStyle/>
                    <a:p>
                      <a:pPr algn="r"/>
                      <a:r>
                        <a:rPr sz="1050" b="1">
                          <a:solidFill>
                            <a:srgbClr val="22424B"/>
                          </a:solidFill>
                          <a:latin typeface="Arial"/>
                        </a:rPr>
                        <a:t>$11,693</a:t>
                      </a:r>
                    </a:p>
                  </a:txBody>
                  <a:tcPr marL="36576" marR="45720">
                    <a:solidFill>
                      <a:srgbClr val="FFFFFF"/>
                    </a:solidFill>
                  </a:tcPr>
                </a:tc>
                <a:tc>
                  <a:txBody>
                    <a:bodyPr/>
                    <a:lstStyle/>
                    <a:p>
                      <a:pPr algn="r"/>
                      <a:r>
                        <a:rPr sz="1050" b="1">
                          <a:solidFill>
                            <a:srgbClr val="22424B"/>
                          </a:solidFill>
                          <a:latin typeface="Arial"/>
                        </a:rPr>
                        <a:t>$25</a:t>
                      </a:r>
                    </a:p>
                  </a:txBody>
                  <a:tcPr marL="36576" marR="45720">
                    <a:solidFill>
                      <a:srgbClr val="FFFFFF"/>
                    </a:solidFill>
                  </a:tcPr>
                </a:tc>
                <a:tc>
                  <a:txBody>
                    <a:bodyPr/>
                    <a:lstStyle/>
                    <a:p>
                      <a:pPr algn="r"/>
                      <a:r>
                        <a:rPr sz="1050" b="1">
                          <a:solidFill>
                            <a:srgbClr val="22424B"/>
                          </a:solidFill>
                          <a:latin typeface="Arial"/>
                        </a:rPr>
                        <a:t>$8,359</a:t>
                      </a:r>
                    </a:p>
                  </a:txBody>
                  <a:tcPr marL="36576" marR="45720">
                    <a:solidFill>
                      <a:srgbClr val="FFFFFF"/>
                    </a:solidFill>
                  </a:tcPr>
                </a:tc>
                <a:tc>
                  <a:txBody>
                    <a:bodyPr/>
                    <a:lstStyle/>
                    <a:p>
                      <a:pPr algn="r"/>
                      <a:r>
                        <a:rPr sz="1050" b="1">
                          <a:solidFill>
                            <a:srgbClr val="22424B"/>
                          </a:solidFill>
                          <a:latin typeface="Arial"/>
                        </a:rPr>
                        <a:t>$6,692</a:t>
                      </a:r>
                    </a:p>
                  </a:txBody>
                  <a:tcPr marL="36576" marR="45720">
                    <a:solidFill>
                      <a:srgbClr val="FFFFFF"/>
                    </a:solidFill>
                  </a:tcPr>
                </a:tc>
                <a:tc>
                  <a:txBody>
                    <a:bodyPr/>
                    <a:lstStyle/>
                    <a:p>
                      <a:pPr algn="r"/>
                      <a:r>
                        <a:rPr sz="1050" b="1">
                          <a:solidFill>
                            <a:srgbClr val="22424B"/>
                          </a:solidFill>
                          <a:latin typeface="Arial"/>
                        </a:rPr>
                        <a:t>$6,692</a:t>
                      </a:r>
                    </a:p>
                  </a:txBody>
                  <a:tcPr marL="36576" marR="45720">
                    <a:solidFill>
                      <a:srgbClr val="FFFFFF"/>
                    </a:solidFill>
                  </a:tcPr>
                </a:tc>
                <a:tc>
                  <a:txBody>
                    <a:bodyPr/>
                    <a:lstStyle/>
                    <a:p>
                      <a:pPr algn="r"/>
                      <a:r>
                        <a:rPr sz="1050" b="1">
                          <a:solidFill>
                            <a:srgbClr val="22424B"/>
                          </a:solidFill>
                          <a:latin typeface="Arial"/>
                        </a:rPr>
                        <a:t>$6,692</a:t>
                      </a:r>
                    </a:p>
                  </a:txBody>
                  <a:tcPr marL="36576" marR="45720">
                    <a:solidFill>
                      <a:srgbClr val="FFFFFF"/>
                    </a:solidFill>
                  </a:tcPr>
                </a:tc>
                <a:tc>
                  <a:txBody>
                    <a:bodyPr/>
                    <a:lstStyle/>
                    <a:p>
                      <a:pPr algn="r"/>
                      <a:r>
                        <a:rPr sz="1050" b="1">
                          <a:solidFill>
                            <a:srgbClr val="22424B"/>
                          </a:solidFill>
                          <a:latin typeface="Arial"/>
                        </a:rPr>
                        <a:t>$6,692</a:t>
                      </a:r>
                    </a:p>
                  </a:txBody>
                  <a:tcPr marL="36576" marR="45720">
                    <a:solidFill>
                      <a:srgbClr val="FFFFFF"/>
                    </a:solidFill>
                  </a:tcPr>
                </a:tc>
                <a:tc>
                  <a:txBody>
                    <a:bodyPr/>
                    <a:lstStyle/>
                    <a:p>
                      <a:pPr algn="r"/>
                      <a:r>
                        <a:rPr sz="1050" b="1">
                          <a:solidFill>
                            <a:srgbClr val="22424B"/>
                          </a:solidFill>
                          <a:latin typeface="Arial"/>
                        </a:rPr>
                        <a:t>$6,692</a:t>
                      </a:r>
                    </a:p>
                  </a:txBody>
                  <a:tcPr marL="36576" marR="45720">
                    <a:solidFill>
                      <a:srgbClr val="FFFFFF"/>
                    </a:solidFill>
                  </a:tcPr>
                </a:tc>
                <a:tc>
                  <a:txBody>
                    <a:bodyPr/>
                    <a:lstStyle/>
                    <a:p>
                      <a:pPr algn="r"/>
                      <a:r>
                        <a:rPr sz="1050" b="1">
                          <a:solidFill>
                            <a:srgbClr val="22424B"/>
                          </a:solidFill>
                          <a:latin typeface="Arial"/>
                        </a:rPr>
                        <a:t>$6,692</a:t>
                      </a:r>
                    </a:p>
                  </a:txBody>
                  <a:tcPr marL="36576" marR="45720">
                    <a:solidFill>
                      <a:srgbClr val="FFFFFF"/>
                    </a:solidFill>
                  </a:tcPr>
                </a:tc>
                <a:tc>
                  <a:txBody>
                    <a:bodyPr/>
                    <a:lstStyle/>
                    <a:p>
                      <a:pPr algn="r"/>
                      <a:r>
                        <a:rPr sz="1050" b="1">
                          <a:solidFill>
                            <a:srgbClr val="22424B"/>
                          </a:solidFill>
                          <a:latin typeface="Arial"/>
                        </a:rPr>
                        <a:t>$10,469</a:t>
                      </a:r>
                    </a:p>
                  </a:txBody>
                  <a:tcPr marL="36576" marR="45720">
                    <a:solidFill>
                      <a:srgbClr val="FFFFFF"/>
                    </a:solidFill>
                  </a:tcPr>
                </a:tc>
                <a:tc>
                  <a:txBody>
                    <a:bodyPr/>
                    <a:lstStyle/>
                    <a:p>
                      <a:pPr algn="r"/>
                      <a:r>
                        <a:rPr sz="1050" b="1">
                          <a:solidFill>
                            <a:srgbClr val="22424B"/>
                          </a:solidFill>
                          <a:latin typeface="Arial"/>
                        </a:rPr>
                        <a:t>$82,419</a:t>
                      </a:r>
                    </a:p>
                  </a:txBody>
                  <a:tcPr marL="36576" marR="45720">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3221</TotalTime>
  <Words>2976</Words>
  <Application>Microsoft Macintosh PowerPoint</Application>
  <PresentationFormat>Custom</PresentationFormat>
  <Paragraphs>420</Paragraphs>
  <Slides>17</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PptxGenJS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keywords/>
  <dc:description/>
  <cp:lastModifiedBy>Amy  Yaskowski</cp:lastModifiedBy>
  <cp:revision>13</cp:revision>
  <dcterms:created xsi:type="dcterms:W3CDTF">2026-07-07T21:30:45Z</dcterms:created>
  <dcterms:modified xsi:type="dcterms:W3CDTF">2026-07-10T13:45:52Z</dcterms:modified>
  <cp:category/>
</cp:coreProperties>
</file>