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740664"/>
            <a:ext cx="1645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>
                <a:solidFill>
                  <a:srgbClr val="1E7E8C"/>
                </a:solidFill>
                <a:latin typeface="Arial"/>
              </a:rPr>
              <a:t>CONSOLIDATED |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1106424"/>
            <a:ext cx="1645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22424B"/>
                </a:solidFill>
                <a:latin typeface="Georgia"/>
              </a:rPr>
              <a:t>Current, modified &amp; 2027 — both outlets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50976" y="2286000"/>
          <a:ext cx="1152143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560319"/>
                <a:gridCol w="2560319"/>
                <a:gridCol w="2560319"/>
              </a:tblGrid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2026 ACT/FOR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2026 MODIFIED · 8/1 GO-LIVE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2027 PLAN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Total income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$640.7K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$666.7K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$777.1K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Cost of goods sold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$227.6K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$236.3K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$304.4K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$413.1K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$430.4K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$472.7K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$250.3K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$235.5K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$201.8K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Operating expenses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$205.6K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$191.2K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$188.4K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Management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$96.0K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$67.2K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$31.1K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Rent / occupancy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$38.7K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$23.5K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3F4A4E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424B"/>
                          </a:solidFill>
                          <a:latin typeface="Arial"/>
                        </a:rPr>
                        <a:t>NET OPERATING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424B"/>
                          </a:solidFill>
                          <a:latin typeface="Arial"/>
                        </a:rPr>
                        <a:t>($177.5K)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424B"/>
                          </a:solidFill>
                          <a:latin typeface="Arial"/>
                        </a:rPr>
                        <a:t>($87.0K)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424B"/>
                          </a:solidFill>
                          <a:latin typeface="Arial"/>
                        </a:rPr>
                        <a:t>$51.4K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93040" y="2377440"/>
            <a:ext cx="47548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7E8C"/>
                </a:solidFill>
                <a:latin typeface="Arial"/>
              </a:rPr>
              <a:t>BY OUTLET — NOP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>Little Wing:  ($164.0K) → ($110.7K) → ($30.0K)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>Vessel:  ($13.5K) → +$23.7K → +$81.4K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7E8C"/>
                </a:solidFill>
                <a:latin typeface="Arial"/>
              </a:rPr>
              <a:t>THE SWING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>($177.5K) today to +$51.4K in 2027 — a $228.9K turnaround, with every lever tied to the operating model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7E8C"/>
                </a:solidFill>
                <a:latin typeface="Arial"/>
              </a:rPr>
              <a:t>IMMEDIATE IMPACT — AUG 1 THROUGH YEAR-END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F4A4E"/>
                </a:solidFill>
                <a:latin typeface="Arial"/>
              </a:rPr>
              <a:t>+$90.5K combined in five months (LW +$53.3K · Vessel +$37.2K) vs no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740664"/>
            <a:ext cx="1645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50" b="1">
                <a:solidFill>
                  <a:srgbClr val="1E7E8C"/>
                </a:solidFill>
                <a:latin typeface="Arial"/>
              </a:rPr>
              <a:t>CONSOLIDATED |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1106424"/>
            <a:ext cx="1645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22424B"/>
                </a:solidFill>
                <a:latin typeface="Georgia"/>
              </a:rPr>
              <a:t>2027 by month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468880"/>
          <a:ext cx="1700783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  <a:gridCol w="1069144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$ thousands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JAN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OCT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NOV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DEC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FY 2027</a:t>
                      </a:r>
                    </a:p>
                  </a:txBody>
                  <a:tcPr>
                    <a:solidFill>
                      <a:srgbClr val="2242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80.2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45.2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80.2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45.2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70.2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3F4A4E"/>
                          </a:solidFill>
                          <a:latin typeface="Arial"/>
                        </a:rPr>
                        <a:t>777.1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Cost of goods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31.7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31.7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3F4A4E"/>
                          </a:solidFill>
                          <a:latin typeface="Arial"/>
                        </a:rPr>
                        <a:t>304.4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Labor cost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19.0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14.7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19.0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14.7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17.2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13.4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3F4A4E"/>
                          </a:solidFill>
                          <a:latin typeface="Arial"/>
                        </a:rPr>
                        <a:t>201.8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Prime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50.7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32.1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50.7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32.1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506.3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Operating profit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29.5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13.1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29.5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13.1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24.8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22.4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26.2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270.8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Controllable 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3F4A4E"/>
                          </a:solidFill>
                          <a:latin typeface="Arial"/>
                        </a:rPr>
                        <a:t>153.4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Uncontrollable expenses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F4A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3F4A4E"/>
                          </a:solidFill>
                          <a:latin typeface="Arial"/>
                        </a:rPr>
                        <a:t>66.0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NET OPERATING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(2.6)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(2.6)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22424B"/>
                          </a:solidFill>
                          <a:latin typeface="Arial"/>
                        </a:rPr>
                        <a:t>51.4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" y="7772400"/>
            <a:ext cx="16367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F4A4E"/>
                </a:solidFill>
                <a:latin typeface="Arial"/>
              </a:rPr>
              <a:t>Vessel + Little Wing, all levers in effect. Ten of twelve months profitable — the Feb/Apr dips are Vessel’s 3-event months. Monthly shape follows the Vessel event calendar over Little Wing’s flat run-rate. Uncontrollable expenses include the 4% management fee; rent waived.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