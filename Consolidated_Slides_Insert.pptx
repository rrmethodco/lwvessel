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8288000" cy="10287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" y="740664"/>
            <a:ext cx="1645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>
                <a:solidFill>
                  <a:srgbClr val="1E7E8C"/>
                </a:solidFill>
                <a:latin typeface="Arial"/>
              </a:rPr>
              <a:t>CONSOLIDATED |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1106424"/>
            <a:ext cx="1645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22424B"/>
                </a:solidFill>
                <a:latin typeface="Georgia"/>
              </a:rPr>
              <a:t>Current, modified &amp; 2027 — both outlets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50976" y="2286000"/>
          <a:ext cx="11521437" cy="5120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0"/>
                <a:gridCol w="2560319"/>
                <a:gridCol w="2560319"/>
                <a:gridCol w="2560319"/>
              </a:tblGrid>
              <a:tr h="568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Arial"/>
                        </a:defRPr>
                      </a:pP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2026 ACT/FOR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2026 MODIFIED · 8/1 GO-LIVE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2027 PLAN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Total income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$640.7K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$666.7K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$777.1K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Cost of goods sold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$227.6K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$236.3K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$304.4K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Gross profit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$413.1K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$430.4K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$472.7K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Labor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$250.3K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$235.5K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$201.8K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Operating expenses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$205.6K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$191.2K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$188.4K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Management fee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$96.0K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$67.2K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$31.1K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Rent / occupancy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$38.7K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$23.5K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$0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6896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NET OPERATING PROFIT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($177.5K)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($87.0K)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$51.4K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12893040" y="2377440"/>
            <a:ext cx="4754880" cy="5943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300" b="1">
                <a:solidFill>
                  <a:srgbClr val="1E7E8C"/>
                </a:solidFill>
                <a:latin typeface="Arial"/>
              </a:rPr>
              <a:t>BY OUTLET — NOP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Little Wing:  ($164.0K) → ($110.7K) → ($30.0K)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Vessel:  ($13.5K) → +$23.7K → +$81.4K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7E8C"/>
                </a:solidFill>
                <a:latin typeface="Arial"/>
              </a:rPr>
              <a:t>THE SWING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($177.5K) today to +$51.4K in 2027 — a $228.9K turnaround, with every lever tied to the operating model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/>
            </a:r>
          </a:p>
          <a:p>
            <a:pPr>
              <a:spcAft>
                <a:spcPts val="800"/>
              </a:spcAft>
            </a:pPr>
            <a:r>
              <a:rPr sz="1300" b="1">
                <a:solidFill>
                  <a:srgbClr val="1E7E8C"/>
                </a:solidFill>
                <a:latin typeface="Arial"/>
              </a:rPr>
              <a:t>IMMEDIATE IMPACT — AUG 1 THROUGH YEAR-END</a:t>
            </a:r>
          </a:p>
          <a:p>
            <a:pPr>
              <a:spcAft>
                <a:spcPts val="800"/>
              </a:spcAft>
            </a:pPr>
            <a:r>
              <a:rPr sz="1400" b="0">
                <a:solidFill>
                  <a:srgbClr val="3F4A4E"/>
                </a:solidFill>
                <a:latin typeface="Arial"/>
              </a:rPr>
              <a:t>+$90.5K combined in five months (LW +$53.3K · Vessel +$37.2K) vs no changes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50976" y="740664"/>
            <a:ext cx="16459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50" b="1">
                <a:solidFill>
                  <a:srgbClr val="1E7E8C"/>
                </a:solidFill>
                <a:latin typeface="Arial"/>
              </a:rPr>
              <a:t>CONSOLIDATED | 2027 MONTHLY P&amp;L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50976" y="1106424"/>
            <a:ext cx="164592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4000">
                <a:solidFill>
                  <a:srgbClr val="22424B"/>
                </a:solidFill>
                <a:latin typeface="Georgia"/>
              </a:rPr>
              <a:t>The plan year, month by month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950976" y="2377440"/>
          <a:ext cx="16367751" cy="4206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108960"/>
                <a:gridCol w="1019907"/>
                <a:gridCol w="1019907"/>
                <a:gridCol w="1019907"/>
                <a:gridCol w="1019907"/>
                <a:gridCol w="1019907"/>
                <a:gridCol w="1019907"/>
                <a:gridCol w="1019907"/>
                <a:gridCol w="1019907"/>
                <a:gridCol w="1019907"/>
                <a:gridCol w="1019907"/>
                <a:gridCol w="1019907"/>
                <a:gridCol w="1019907"/>
                <a:gridCol w="1019907"/>
              </a:tblGrid>
              <a:tr h="525780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$K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JAN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FEB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JUL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AUG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SEP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OCT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NOV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DEC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100" b="1">
                          <a:solidFill>
                            <a:srgbClr val="FFFFFF"/>
                          </a:solidFill>
                          <a:latin typeface="Arial"/>
                        </a:rPr>
                        <a:t>FY 2027</a:t>
                      </a:r>
                    </a:p>
                  </a:txBody>
                  <a:tcPr>
                    <a:solidFill>
                      <a:srgbClr val="22424B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Total income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80.2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45.2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80.2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45.2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70.2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65.2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65.2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65.2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65.2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65.2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65.2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65.2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777.1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Cost of goods sold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31.7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31.7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17.3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27.6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25.5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304.4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Gross profit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48.5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27.8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48.5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27.8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42.6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39.6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39.6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39.6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39.6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39.6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39.6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39.6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472.7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Labor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19.0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17.8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17.2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13.4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201.8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Controllable expenses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14.3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14.3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10.9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13.3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12.8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12.8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12.8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12.8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12.8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12.8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12.8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153.4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Uncontrollable (incl 4% fee)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6.1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4.7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5.7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5.5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>
                          <a:solidFill>
                            <a:srgbClr val="3F4A4E"/>
                          </a:solidFill>
                          <a:latin typeface="Arial"/>
                        </a:rPr>
                        <a:t>66.0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2578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NET OPERATING PROFIT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9.1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(2.6)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9.1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(2.6)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5.8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4.1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7.9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1300" b="1">
                          <a:solidFill>
                            <a:srgbClr val="22424B"/>
                          </a:solidFill>
                          <a:latin typeface="Arial"/>
                        </a:rPr>
                        <a:t>51.4</a:t>
                      </a:r>
                    </a:p>
                  </a:txBody>
                  <a:tcPr>
                    <a:solidFill>
                      <a:srgbClr val="F7F6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950976" y="6949440"/>
            <a:ext cx="16367759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3F4A4E"/>
                </a:solidFill>
                <a:latin typeface="Arial"/>
              </a:rPr>
              <a:t>Vessel + Little Wing. Monthly shape follows Vessel’s event calendar (Jan/Mar run 13 events, Feb/Apr 4) over Little Wing’s flat forecast run-rate; ten of twelve months are profitable, with Feb/Apr dips from light event months. December includes the labor true-up. Source: Combined 12-Mo P&amp;L tab, Method_Operating_Model_2027_22.xlsx — every line recalculates from the assumption inputs.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