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0976" y="740664"/>
            <a:ext cx="1645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50" b="1">
                <a:solidFill>
                  <a:srgbClr val="1E7E8C"/>
                </a:solidFill>
                <a:latin typeface="Arial"/>
              </a:rPr>
              <a:t>CONSOLIDATED |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1106424"/>
            <a:ext cx="16459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22424B"/>
                </a:solidFill>
                <a:latin typeface="Georgia"/>
              </a:rPr>
              <a:t>Current, modified &amp; 2027 — both outlets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40" y="2377440"/>
            <a:ext cx="475488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E7E8C"/>
                </a:solidFill>
                <a:latin typeface="Arial"/>
              </a:rPr>
              <a:t>BY OUTLET — NOP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>Little Wing:  ($164,007) → ($110,721) → ($30,024)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>Vessel:  ($13,501) → +$23,673 → +$81,385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7E8C"/>
                </a:solidFill>
                <a:latin typeface="Arial"/>
              </a:rPr>
              <a:t>THE SWING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>($177,508) today to +$51,360 in 2027 — a $228,868 turnaround, with every lever tied to the operating model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7E8C"/>
                </a:solidFill>
                <a:latin typeface="Arial"/>
              </a:rPr>
              <a:t>IMMEDIATE IMPACT — AUG 1 THROUGH YEAR-END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>+$90,460 combined in five months (Little Wing +$53,286 · Vessel +$37,174) vs no changes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50976" y="2286000"/>
          <a:ext cx="11521437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560319"/>
                <a:gridCol w="2560319"/>
                <a:gridCol w="2560319"/>
              </a:tblGrid>
              <a:tr h="5689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</a:p>
                  </a:txBody>
                  <a:tcPr marL="36576" marR="45720"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2026 ACT/FOR</a:t>
                      </a:r>
                    </a:p>
                  </a:txBody>
                  <a:tcPr marL="36576" marR="45720"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2026 MODIFIED · 8/1 GO-LIVE</a:t>
                      </a:r>
                    </a:p>
                  </a:txBody>
                  <a:tcPr marL="36576" marR="45720"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2027 PLAN</a:t>
                      </a:r>
                    </a:p>
                  </a:txBody>
                  <a:tcPr marL="36576" marR="45720">
                    <a:solidFill>
                      <a:srgbClr val="22424B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F4A4E"/>
                          </a:solidFill>
                          <a:latin typeface="Arial"/>
                        </a:rPr>
                        <a:t>Total income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F4A4E"/>
                          </a:solidFill>
                          <a:latin typeface="Arial"/>
                        </a:rPr>
                        <a:t>$640,667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F4A4E"/>
                          </a:solidFill>
                          <a:latin typeface="Arial"/>
                        </a:rPr>
                        <a:t>$666,691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3F4A4E"/>
                          </a:solidFill>
                          <a:latin typeface="Arial"/>
                        </a:rPr>
                        <a:t>$777,113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F4A4E"/>
                          </a:solidFill>
                          <a:latin typeface="Arial"/>
                        </a:rPr>
                        <a:t>Cost of goods sold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F4A4E"/>
                          </a:solidFill>
                          <a:latin typeface="Arial"/>
                        </a:rPr>
                        <a:t>$227,562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F4A4E"/>
                          </a:solidFill>
                          <a:latin typeface="Arial"/>
                        </a:rPr>
                        <a:t>$236,312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3F4A4E"/>
                          </a:solidFill>
                          <a:latin typeface="Arial"/>
                        </a:rPr>
                        <a:t>$304,446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424B"/>
                          </a:solidFill>
                          <a:latin typeface="Arial"/>
                        </a:rPr>
                        <a:t>Gross profit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2424B"/>
                          </a:solidFill>
                          <a:latin typeface="Arial"/>
                        </a:rPr>
                        <a:t>$413,105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2424B"/>
                          </a:solidFill>
                          <a:latin typeface="Arial"/>
                        </a:rPr>
                        <a:t>$430,379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2424B"/>
                          </a:solidFill>
                          <a:latin typeface="Arial"/>
                        </a:rPr>
                        <a:t>$472,667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F4A4E"/>
                          </a:solidFill>
                          <a:latin typeface="Arial"/>
                        </a:rPr>
                        <a:t>Labor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F4A4E"/>
                          </a:solidFill>
                          <a:latin typeface="Arial"/>
                        </a:rPr>
                        <a:t>$250,304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F4A4E"/>
                          </a:solidFill>
                          <a:latin typeface="Arial"/>
                        </a:rPr>
                        <a:t>$235,512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3F4A4E"/>
                          </a:solidFill>
                          <a:latin typeface="Arial"/>
                        </a:rPr>
                        <a:t>$201,838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F4A4E"/>
                          </a:solidFill>
                          <a:latin typeface="Arial"/>
                        </a:rPr>
                        <a:t>Operating expenses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F4A4E"/>
                          </a:solidFill>
                          <a:latin typeface="Arial"/>
                        </a:rPr>
                        <a:t>$205,587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F4A4E"/>
                          </a:solidFill>
                          <a:latin typeface="Arial"/>
                        </a:rPr>
                        <a:t>$191,218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3F4A4E"/>
                          </a:solidFill>
                          <a:latin typeface="Arial"/>
                        </a:rPr>
                        <a:t>$188,385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F4A4E"/>
                          </a:solidFill>
                          <a:latin typeface="Arial"/>
                        </a:rPr>
                        <a:t>Management fee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F4A4E"/>
                          </a:solidFill>
                          <a:latin typeface="Arial"/>
                        </a:rPr>
                        <a:t>$96,000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F4A4E"/>
                          </a:solidFill>
                          <a:latin typeface="Arial"/>
                        </a:rPr>
                        <a:t>$67,175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3F4A4E"/>
                          </a:solidFill>
                          <a:latin typeface="Arial"/>
                        </a:rPr>
                        <a:t>$31,085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F4A4E"/>
                          </a:solidFill>
                          <a:latin typeface="Arial"/>
                        </a:rPr>
                        <a:t>Rent / occupancy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F4A4E"/>
                          </a:solidFill>
                          <a:latin typeface="Arial"/>
                        </a:rPr>
                        <a:t>$38,722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F4A4E"/>
                          </a:solidFill>
                          <a:latin typeface="Arial"/>
                        </a:rPr>
                        <a:t>$23,522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3F4A4E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424B"/>
                          </a:solidFill>
                          <a:latin typeface="Arial"/>
                        </a:rPr>
                        <a:t>NET OPERATING PROFIT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2424B"/>
                          </a:solidFill>
                          <a:latin typeface="Arial"/>
                        </a:rPr>
                        <a:t>($177,508)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2424B"/>
                          </a:solidFill>
                          <a:latin typeface="Arial"/>
                        </a:rPr>
                        <a:t>($87,048)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2424B"/>
                          </a:solidFill>
                          <a:latin typeface="Arial"/>
                        </a:rPr>
                        <a:t>$51,360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0976" y="740664"/>
            <a:ext cx="1645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50" b="1">
                <a:solidFill>
                  <a:srgbClr val="1E7E8C"/>
                </a:solidFill>
                <a:latin typeface="Arial"/>
              </a:rPr>
              <a:t>CONSOLIDATED |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1106424"/>
            <a:ext cx="16459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22424B"/>
                </a:solidFill>
                <a:latin typeface="Georgia"/>
              </a:rPr>
              <a:t>2027 by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7772400"/>
            <a:ext cx="163677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F4A4E"/>
                </a:solidFill>
                <a:latin typeface="Arial"/>
              </a:rPr>
              <a:t>Vessel + Little Wing, all levers in effect. Ten of twelve months profitable — the Feb/Apr dips are Vessel’s 3-event months. Monthly shape follows the Vessel event calendar over Little Wing’s flat run-rate. Uncontrollable expenses include the 4% management fee; rent waived.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468880"/>
          <a:ext cx="172821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125415"/>
                <a:gridCol w="1125415"/>
                <a:gridCol w="1125415"/>
                <a:gridCol w="1125415"/>
                <a:gridCol w="1125415"/>
                <a:gridCol w="1125415"/>
                <a:gridCol w="1125415"/>
                <a:gridCol w="1125415"/>
                <a:gridCol w="1125415"/>
                <a:gridCol w="1125415"/>
                <a:gridCol w="1125415"/>
                <a:gridCol w="1125415"/>
                <a:gridCol w="1125415"/>
              </a:tblGrid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</a:p>
                  </a:txBody>
                  <a:tcPr marL="36576" marR="45720"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JAN</a:t>
                      </a:r>
                    </a:p>
                  </a:txBody>
                  <a:tcPr marL="36576" marR="45720"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FEB</a:t>
                      </a:r>
                    </a:p>
                  </a:txBody>
                  <a:tcPr marL="36576" marR="45720"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MAR</a:t>
                      </a:r>
                    </a:p>
                  </a:txBody>
                  <a:tcPr marL="36576" marR="45720"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APR</a:t>
                      </a:r>
                    </a:p>
                  </a:txBody>
                  <a:tcPr marL="36576" marR="45720"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MAY</a:t>
                      </a:r>
                    </a:p>
                  </a:txBody>
                  <a:tcPr marL="36576" marR="45720"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36576" marR="45720"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36576" marR="45720"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AUG</a:t>
                      </a:r>
                    </a:p>
                  </a:txBody>
                  <a:tcPr marL="36576" marR="45720"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36576" marR="45720"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OCT</a:t>
                      </a:r>
                    </a:p>
                  </a:txBody>
                  <a:tcPr marL="36576" marR="45720"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NOV</a:t>
                      </a:r>
                    </a:p>
                  </a:txBody>
                  <a:tcPr marL="36576" marR="45720"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DEC</a:t>
                      </a:r>
                    </a:p>
                  </a:txBody>
                  <a:tcPr marL="36576" marR="45720"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FY 2027</a:t>
                      </a:r>
                    </a:p>
                  </a:txBody>
                  <a:tcPr marL="36576" marR="45720">
                    <a:solidFill>
                      <a:srgbClr val="2242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$80,176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$45,176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$80,176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$45,176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$70,176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$65,176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$65,176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$65,176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$65,176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$65,176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$65,176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$65,176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3F4A4E"/>
                          </a:solidFill>
                          <a:latin typeface="Arial"/>
                        </a:rPr>
                        <a:t>$777,113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Cost of goods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$31,687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$17,347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$31,687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$17,347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$27,590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$25,541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$25,541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$25,541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$25,541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$25,541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$25,541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$25,541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3F4A4E"/>
                          </a:solidFill>
                          <a:latin typeface="Arial"/>
                        </a:rPr>
                        <a:t>$304,446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Labor cost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$19,014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$14,747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$19,014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$14,747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$17,795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$17,185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$17,185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$17,185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$17,185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$17,185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$17,185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$13,409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3F4A4E"/>
                          </a:solidFill>
                          <a:latin typeface="Arial"/>
                        </a:rPr>
                        <a:t>$201,838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Prime cost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$50,701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$32,094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$50,701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$32,094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$45,385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$42,727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$42,727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$42,727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$42,727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$42,727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$42,727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$38,950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$506,283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Operating profit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$29,475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$13,082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$29,475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$13,082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$24,791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$22,450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$22,450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$22,450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$22,450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$22,450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$22,450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$26,226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$270,829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Controllable expenses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$14,251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$10,926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$14,251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$10,926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$13,301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$12,826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$12,826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$12,826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$12,826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$12,826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$12,826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$12,826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3F4A4E"/>
                          </a:solidFill>
                          <a:latin typeface="Arial"/>
                        </a:rPr>
                        <a:t>$153,436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Uncontrollable expenses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$6,119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$4,719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$6,119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$4,719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$5,719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$5,519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$5,519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$5,519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$5,519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$5,519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$5,519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F4A4E"/>
                          </a:solidFill>
                          <a:latin typeface="Arial"/>
                        </a:rPr>
                        <a:t>$5,519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3F4A4E"/>
                          </a:solidFill>
                          <a:latin typeface="Arial"/>
                        </a:rPr>
                        <a:t>$66,034</a:t>
                      </a:r>
                    </a:p>
                  </a:txBody>
                  <a:tcPr marL="36576" marR="45720">
                    <a:solidFill>
                      <a:srgbClr val="F7F6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NET OPERATING PROFIT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$9,105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($2,563)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$9,105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($2,563)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$5,771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$4,104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$4,104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$4,104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$4,104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$4,104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$4,104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$7,881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2424B"/>
                          </a:solidFill>
                          <a:latin typeface="Arial"/>
                        </a:rPr>
                        <a:t>$51,360</a:t>
                      </a:r>
                    </a:p>
                  </a:txBody>
                  <a:tcPr marL="36576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