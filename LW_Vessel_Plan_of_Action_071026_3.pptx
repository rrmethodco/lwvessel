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~39%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a:t>
            </a:r>
            <a:r>
              <a:rPr lang="en-US" sz="3750" kern="0" spc="-75" dirty="0" err="1">
                <a:solidFill>
                  <a:srgbClr val="22424B"/>
                </a:solidFill>
                <a:latin typeface="Georgia" pitchFamily="34" charset="0"/>
                <a:ea typeface="Georgia" pitchFamily="34" charset="-122"/>
                <a:cs typeface="Georgia" pitchFamily="34" charset="-120"/>
              </a:rPr>
              <a:t>xxK</a:t>
            </a:r>
            <a:r>
              <a:rPr lang="en-US" sz="3750" kern="0" spc="-75" dirty="0">
                <a:solidFill>
                  <a:srgbClr val="22424B"/>
                </a:solidFill>
                <a:latin typeface="Georgia" pitchFamily="34" charset="0"/>
                <a:ea typeface="Georgia" pitchFamily="34" charset="-122"/>
                <a:cs typeface="Georgia" pitchFamily="34" charset="-120"/>
              </a:rPr>
              <a:t> → $</a:t>
            </a:r>
            <a:r>
              <a:rPr lang="en-US" sz="3750" kern="0" spc="-75" dirty="0" err="1">
                <a:solidFill>
                  <a:srgbClr val="22424B"/>
                </a:solidFill>
                <a:latin typeface="Georgia" pitchFamily="34" charset="0"/>
                <a:ea typeface="Georgia" pitchFamily="34" charset="-122"/>
                <a:cs typeface="Georgia" pitchFamily="34" charset="-120"/>
              </a:rPr>
              <a:t>xxK</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$135.0K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$113.0K</a:t>
                      </a:r>
                    </a:p>
                  </a:txBody>
                  <a:tcPr>
                    <a:solidFill>
                      <a:srgbClr val="FFFFFF"/>
                    </a:solidFill>
                  </a:tcPr>
                </a:tc>
                <a:tc>
                  <a:txBody>
                    <a:bodyPr/>
                    <a:lstStyle/>
                    <a:p>
                      <a:pPr algn="r"/>
                      <a:r>
                        <a:rPr sz="1400">
                          <a:solidFill>
                            <a:srgbClr val="3F4A4E"/>
                          </a:solidFill>
                          <a:latin typeface="Arial"/>
                        </a:rPr>
                        <a:t>$120.7K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($114.3K)</a:t>
                      </a:r>
                    </a:p>
                  </a:txBody>
                  <a:tcPr>
                    <a:solidFill>
                      <a:srgbClr val="F7F6F2"/>
                    </a:solidFill>
                  </a:tcPr>
                </a:tc>
                <a:tc>
                  <a:txBody>
                    <a:bodyPr/>
                    <a:lstStyle/>
                    <a:p>
                      <a:pPr algn="r"/>
                      <a:r>
                        <a:rPr sz="1400" b="1">
                          <a:solidFill>
                            <a:srgbClr val="22424B"/>
                          </a:solidFill>
                          <a:latin typeface="Arial"/>
                        </a:rPr>
                        <a:t>($42.5K)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74% — from ($164K) to ($42.5K)</a:t>
            </a:r>
          </a:p>
          <a:p>
            <a:pPr>
              <a:spcAft>
                <a:spcPts val="800"/>
              </a:spcAft>
            </a:pPr>
            <a:r>
              <a:rPr sz="1400" b="0">
                <a:solidFill>
                  <a:srgbClr val="3F4A4E"/>
                </a:solidFill>
                <a:latin typeface="Arial"/>
              </a:rPr>
              <a:t>Combined with Vessel (+$54.2K), the portfolio turns positive in 2027: +$11.8K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$3,500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$700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