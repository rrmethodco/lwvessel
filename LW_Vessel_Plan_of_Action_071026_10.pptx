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 id="295" r:id="rId24"/>
    <p:sldId id="296" r:id="rId25"/>
    <p:sldId id="297" r:id="rId2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+$500 / wk</a:t>
            </a:r>
            <a:r>
              <a:rPr lang="en-US" sz="3750" kern="0" spc="-75" dirty="0" err="1">
                <a:solidFill>
                  <a:srgbClr val="22424B"/>
                </a:solidFill>
                <a:latin typeface="Georgia" pitchFamily="34" charset="0"/>
                <a:ea typeface="Georgia" pitchFamily="34" charset="-122"/>
                <a:cs typeface="Georgia" pitchFamily="34" charset="-120"/>
              </a:rPr>
              <a:t/>
            </a:r>
            <a:r>
              <a:rPr lang="en-US" sz="3750" kern="0" spc="-75" dirty="0">
                <a:solidFill>
                  <a:srgbClr val="22424B"/>
                </a:solidFill>
                <a:latin typeface="Georgia" pitchFamily="34" charset="0"/>
                <a:ea typeface="Georgia" pitchFamily="34" charset="-122"/>
                <a:cs typeface="Georgia" pitchFamily="34" charset="-120"/>
              </a:rPr>
              <a:t/>
            </a:r>
            <a:r>
              <a:rPr lang="en-US" sz="3750" kern="0" spc="-75" dirty="0" err="1">
                <a:solidFill>
                  <a:srgbClr val="22424B"/>
                </a:solidFill>
                <a:latin typeface="Georgia" pitchFamily="34" charset="0"/>
                <a:ea typeface="Georgia" pitchFamily="34" charset="-122"/>
                <a:cs typeface="Georgia" pitchFamily="34" charset="-120"/>
              </a:rPr>
              <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a:p>
            <a:r>
              <a:rPr sz="1400">
                <a:solidFill>
                  <a:srgbClr val="4E5A5E"/>
                </a:solidFill>
                <a:latin typeface="Arial"/>
              </a:rPr>
              <a:t>Traffic support already reflected in the revenue plan — no incremental revenue claimed</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$14.8K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8" name="TextBox 27"/>
          <p:cNvSpPr txBox="1"/>
          <p:nvPr/>
        </p:nvSpPr>
        <p:spPr>
          <a:xfrm>
            <a:off x="7461504" y="7059168"/>
            <a:ext cx="493776" cy="950976"/>
          </a:xfrm>
          <a:prstGeom prst="rect">
            <a:avLst/>
          </a:prstGeom>
          <a:noFill/>
        </p:spPr>
        <p:txBody>
          <a:bodyPr wrap="square">
            <a:spAutoFit/>
          </a:bodyPr>
          <a:lstStyle/>
          <a:p>
            <a:r>
              <a:rPr sz="2550" b="0">
                <a:solidFill>
                  <a:srgbClr val="1E7E8C"/>
                </a:solidFill>
                <a:latin typeface="Georgia"/>
              </a:rPr>
              <a:t>3</a:t>
            </a:r>
          </a:p>
        </p:txBody>
      </p:sp>
      <p:sp>
        <p:nvSpPr>
          <p:cNvPr id="29" name="TextBox 28"/>
          <p:cNvSpPr txBox="1"/>
          <p:nvPr/>
        </p:nvSpPr>
        <p:spPr>
          <a:xfrm>
            <a:off x="8074152" y="7059168"/>
            <a:ext cx="8860536" cy="320040"/>
          </a:xfrm>
          <a:prstGeom prst="rect">
            <a:avLst/>
          </a:prstGeom>
          <a:noFill/>
        </p:spPr>
        <p:txBody>
          <a:bodyPr wrap="square">
            <a:spAutoFit/>
          </a:bodyPr>
          <a:lstStyle/>
          <a:p>
            <a:r>
              <a:rPr sz="2025" b="0">
                <a:solidFill>
                  <a:srgbClr val="22424B"/>
                </a:solidFill>
                <a:latin typeface="Arial"/>
              </a:rPr>
              <a:t>The math is lopsided</a:t>
            </a:r>
          </a:p>
        </p:txBody>
      </p:sp>
      <p:sp>
        <p:nvSpPr>
          <p:cNvPr id="30" name="TextBox 29"/>
          <p:cNvSpPr txBox="1"/>
          <p:nvPr/>
        </p:nvSpPr>
        <p:spPr>
          <a:xfrm>
            <a:off x="8074152" y="7397496"/>
            <a:ext cx="8302752" cy="777240"/>
          </a:xfrm>
          <a:prstGeom prst="rect">
            <a:avLst/>
          </a:prstGeom>
          <a:noFill/>
        </p:spPr>
        <p:txBody>
          <a:bodyPr wrap="square">
            <a:spAutoFit/>
          </a:bodyPr>
          <a:lstStyle/>
          <a:p>
            <a:r>
              <a:rPr sz="1650" b="0">
                <a:solidFill>
                  <a:srgbClr val="4E5A5E"/>
                </a:solidFill>
                <a:latin typeface="Arial"/>
              </a:rPr>
              <a:t>Staffing 4–8pm would cost ~$33.8K/yr in labor to defend just $9.1K of barista-required sales (~$6.2K of margin). Even if every made-to-order sale walks, closing at 4pm comes out ~$27.5K/yr ahead.</a:t>
            </a:r>
          </a:p>
        </p:txBody>
      </p:sp>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ELIMINATED — from ($164K) to a $1.0K profit</a:t>
            </a:r>
          </a:p>
          <a:p>
            <a:pPr>
              <a:spcAft>
                <a:spcPts val="800"/>
              </a:spcAft>
            </a:pPr>
            <a:r>
              <a:rPr sz="1400" b="0">
                <a:solidFill>
                  <a:srgbClr val="3F4A4E"/>
                </a:solidFill>
                <a:latin typeface="Arial"/>
              </a:rPr>
              <a:t>Combined with Vessel (+$54.2K), the portfolio turns positive in 2027: +$82.4K</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($1.2K) with the changes vs ($67.8K) with no changes → +$66.6K in five months</a:t>
            </a:r>
          </a:p>
        </p:txBody>
      </p:sp>
      <p:graphicFrame>
        <p:nvGraphicFramePr>
          <p:cNvPr id="125" name="Table 124"/>
          <p:cNvGraphicFramePr>
            <a:graphicFrameLocks noGrp="1"/>
          </p:cNvGraphicFramePr>
          <p:nvPr/>
        </p:nvGraphicFramePr>
        <p:xfrm>
          <a:off x="950976" y="2377440"/>
          <a:ext cx="11521440" cy="5669280"/>
        </p:xfrm>
        <a:graphic>
          <a:graphicData uri="http://schemas.openxmlformats.org/drawingml/2006/table">
            <a:tbl>
              <a:tblPr firstRow="1" bandRow="1">
                <a:tableStyleId>{5C22544A-7EE6-4342-B048-85BDC9FD1C3A}</a:tableStyleId>
              </a:tblPr>
              <a:tblGrid>
                <a:gridCol w="3840480"/>
                <a:gridCol w="2560320"/>
                <a:gridCol w="2560320"/>
                <a:gridCol w="2560320"/>
              </a:tblGrid>
              <a:tr h="566928">
                <a:tc>
                  <a:txBody>
                    <a:bodyPr/>
                    <a:lstStyle/>
                    <a:p>
                      <a:pPr>
                        <a:defRPr sz="1100" b="1">
                          <a:solidFill>
                            <a:srgbClr val="FFFFFF"/>
                          </a:solidFill>
                          <a:latin typeface="Arial"/>
                        </a:defRPr>
                      </a:pPr>
                    </a:p>
                  </a:txBody>
                  <a:tcPr>
                    <a:solidFill>
                      <a:srgbClr val="22424B"/>
                    </a:solidFill>
                  </a:tcPr>
                </a:tc>
                <a:tc>
                  <a:txBody>
                    <a:bodyPr/>
                    <a:lstStyle/>
                    <a:p>
                      <a:pPr algn="r"/>
                      <a:r>
                        <a:rPr sz="1100" b="1">
                          <a:solidFill>
                            <a:srgbClr val="FFFFFF"/>
                          </a:solidFill>
                          <a:latin typeface="Arial"/>
                        </a:rPr>
                        <a:t>2026 ACT/FOR</a:t>
                      </a:r>
                    </a:p>
                  </a:txBody>
                  <a:tcPr>
                    <a:solidFill>
                      <a:srgbClr val="22424B"/>
                    </a:solidFill>
                  </a:tcPr>
                </a:tc>
                <a:tc>
                  <a:txBody>
                    <a:bodyPr/>
                    <a:lstStyle/>
                    <a:p>
                      <a:pPr algn="r"/>
                      <a:r>
                        <a:rPr sz="1100" b="1">
                          <a:solidFill>
                            <a:srgbClr val="FFFFFF"/>
                          </a:solidFill>
                          <a:latin typeface="Arial"/>
                        </a:rPr>
                        <a:t>2026 MODIFIED · 8/1 GO-LIVE</a:t>
                      </a:r>
                    </a:p>
                  </a:txBody>
                  <a:tcPr>
                    <a:solidFill>
                      <a:srgbClr val="22424B"/>
                    </a:solidFill>
                  </a:tcPr>
                </a:tc>
                <a:tc>
                  <a:txBody>
                    <a:bodyPr/>
                    <a:lstStyle/>
                    <a:p>
                      <a:pPr algn="r"/>
                      <a:r>
                        <a:rPr sz="1100" b="1">
                          <a:solidFill>
                            <a:srgbClr val="FFFFFF"/>
                          </a:solidFill>
                          <a:latin typeface="Arial"/>
                        </a:rPr>
                        <a:t>2027 PLAN</a:t>
                      </a:r>
                    </a:p>
                  </a:txBody>
                  <a:tcPr>
                    <a:solidFill>
                      <a:srgbClr val="22424B"/>
                    </a:solidFill>
                  </a:tcPr>
                </a:tc>
              </a:tr>
              <a:tr h="566928">
                <a:tc>
                  <a:txBody>
                    <a:bodyPr/>
                    <a:lstStyle/>
                    <a:p>
                      <a:r>
                        <a:rPr sz="1300" b="0">
                          <a:solidFill>
                            <a:srgbClr val="3F4A4E"/>
                          </a:solidFill>
                          <a:latin typeface="Arial"/>
                        </a:rPr>
                        <a:t>Total income</a:t>
                      </a:r>
                    </a:p>
                  </a:txBody>
                  <a:tcPr>
                    <a:solidFill>
                      <a:srgbClr val="F7F6F2"/>
                    </a:solidFill>
                  </a:tcPr>
                </a:tc>
                <a:tc>
                  <a:txBody>
                    <a:bodyPr/>
                    <a:lstStyle/>
                    <a:p>
                      <a:pPr algn="r"/>
                      <a:r>
                        <a:rPr sz="1300" b="0">
                          <a:solidFill>
                            <a:srgbClr val="3F4A4E"/>
                          </a:solidFill>
                          <a:latin typeface="Arial"/>
                        </a:rPr>
                        <a:t>$288.7K</a:t>
                      </a:r>
                    </a:p>
                  </a:txBody>
                  <a:tcPr>
                    <a:solidFill>
                      <a:srgbClr val="F7F6F2"/>
                    </a:solidFill>
                  </a:tcPr>
                </a:tc>
                <a:tc>
                  <a:txBody>
                    <a:bodyPr/>
                    <a:lstStyle/>
                    <a:p>
                      <a:pPr algn="r"/>
                      <a:r>
                        <a:rPr sz="1300" b="0">
                          <a:solidFill>
                            <a:srgbClr val="3F4A4E"/>
                          </a:solidFill>
                          <a:latin typeface="Arial"/>
                        </a:rPr>
                        <a:t>$314.9K</a:t>
                      </a:r>
                    </a:p>
                  </a:txBody>
                  <a:tcPr>
                    <a:solidFill>
                      <a:srgbClr val="F7F6F2"/>
                    </a:solidFill>
                  </a:tcPr>
                </a:tc>
                <a:tc>
                  <a:txBody>
                    <a:bodyPr/>
                    <a:lstStyle/>
                    <a:p>
                      <a:pPr algn="r"/>
                      <a:r>
                        <a:rPr sz="1300" b="0">
                          <a:solidFill>
                            <a:srgbClr val="3F4A4E"/>
                          </a:solidFill>
                          <a:latin typeface="Arial"/>
                        </a:rPr>
                        <a:t>$370.9K</a:t>
                      </a:r>
                    </a:p>
                  </a:txBody>
                  <a:tcPr>
                    <a:solidFill>
                      <a:srgbClr val="F7F6F2"/>
                    </a:solidFill>
                  </a:tcPr>
                </a:tc>
              </a:tr>
              <a:tr h="566928">
                <a:tc>
                  <a:txBody>
                    <a:bodyPr/>
                    <a:lstStyle/>
                    <a:p>
                      <a:r>
                        <a:rPr sz="1300" b="0">
                          <a:solidFill>
                            <a:srgbClr val="3F4A4E"/>
                          </a:solidFill>
                          <a:latin typeface="Arial"/>
                        </a:rPr>
                        <a:t>Cost of goods sold</a:t>
                      </a:r>
                    </a:p>
                  </a:txBody>
                  <a:tcPr>
                    <a:solidFill>
                      <a:srgbClr val="FFFFFF"/>
                    </a:solidFill>
                  </a:tcPr>
                </a:tc>
                <a:tc>
                  <a:txBody>
                    <a:bodyPr/>
                    <a:lstStyle/>
                    <a:p>
                      <a:pPr algn="r"/>
                      <a:r>
                        <a:rPr sz="1300" b="0">
                          <a:solidFill>
                            <a:srgbClr val="3F4A4E"/>
                          </a:solidFill>
                          <a:latin typeface="Arial"/>
                        </a:rPr>
                        <a:t>$104.6K</a:t>
                      </a:r>
                    </a:p>
                  </a:txBody>
                  <a:tcPr>
                    <a:solidFill>
                      <a:srgbClr val="FFFFFF"/>
                    </a:solidFill>
                  </a:tcPr>
                </a:tc>
                <a:tc>
                  <a:txBody>
                    <a:bodyPr/>
                    <a:lstStyle/>
                    <a:p>
                      <a:pPr algn="r"/>
                      <a:r>
                        <a:rPr sz="1300" b="0">
                          <a:solidFill>
                            <a:srgbClr val="3F4A4E"/>
                          </a:solidFill>
                          <a:latin typeface="Arial"/>
                        </a:rPr>
                        <a:t>$103.8K</a:t>
                      </a:r>
                    </a:p>
                  </a:txBody>
                  <a:tcPr>
                    <a:solidFill>
                      <a:srgbClr val="FFFFFF"/>
                    </a:solidFill>
                  </a:tcPr>
                </a:tc>
                <a:tc>
                  <a:txBody>
                    <a:bodyPr/>
                    <a:lstStyle/>
                    <a:p>
                      <a:pPr algn="r"/>
                      <a:r>
                        <a:rPr sz="1300" b="0">
                          <a:solidFill>
                            <a:srgbClr val="3F4A4E"/>
                          </a:solidFill>
                          <a:latin typeface="Arial"/>
                        </a:rPr>
                        <a:t>$112.3K</a:t>
                      </a:r>
                    </a:p>
                  </a:txBody>
                  <a:tcPr>
                    <a:solidFill>
                      <a:srgbClr val="FFFFFF"/>
                    </a:solidFill>
                  </a:tcPr>
                </a:tc>
              </a:tr>
              <a:tr h="566928">
                <a:tc>
                  <a:txBody>
                    <a:bodyPr/>
                    <a:lstStyle/>
                    <a:p>
                      <a:r>
                        <a:rPr sz="1300" b="0">
                          <a:solidFill>
                            <a:srgbClr val="3F4A4E"/>
                          </a:solidFill>
                          <a:latin typeface="Arial"/>
                        </a:rPr>
                        <a:t>Labor</a:t>
                      </a:r>
                    </a:p>
                  </a:txBody>
                  <a:tcPr>
                    <a:solidFill>
                      <a:srgbClr val="F7F6F2"/>
                    </a:solidFill>
                  </a:tcPr>
                </a:tc>
                <a:tc>
                  <a:txBody>
                    <a:bodyPr/>
                    <a:lstStyle/>
                    <a:p>
                      <a:pPr algn="r"/>
                      <a:r>
                        <a:rPr sz="1300" b="0">
                          <a:solidFill>
                            <a:srgbClr val="3F4A4E"/>
                          </a:solidFill>
                          <a:latin typeface="Arial"/>
                        </a:rPr>
                        <a:t>$170.3K</a:t>
                      </a:r>
                    </a:p>
                  </a:txBody>
                  <a:tcPr>
                    <a:solidFill>
                      <a:srgbClr val="F7F6F2"/>
                    </a:solidFill>
                  </a:tcPr>
                </a:tc>
                <a:tc>
                  <a:txBody>
                    <a:bodyPr/>
                    <a:lstStyle/>
                    <a:p>
                      <a:pPr algn="r"/>
                      <a:r>
                        <a:rPr sz="1300" b="0">
                          <a:solidFill>
                            <a:srgbClr val="3F4A4E"/>
                          </a:solidFill>
                          <a:latin typeface="Arial"/>
                        </a:rPr>
                        <a:t>$155.5K</a:t>
                      </a:r>
                    </a:p>
                  </a:txBody>
                  <a:tcPr>
                    <a:solidFill>
                      <a:srgbClr val="F7F6F2"/>
                    </a:solidFill>
                  </a:tcPr>
                </a:tc>
                <a:tc>
                  <a:txBody>
                    <a:bodyPr/>
                    <a:lstStyle/>
                    <a:p>
                      <a:pPr algn="r"/>
                      <a:r>
                        <a:rPr sz="1300" b="0">
                          <a:solidFill>
                            <a:srgbClr val="3F4A4E"/>
                          </a:solidFill>
                          <a:latin typeface="Arial"/>
                        </a:rPr>
                        <a:t>$131.2K</a:t>
                      </a:r>
                    </a:p>
                  </a:txBody>
                  <a:tcPr>
                    <a:solidFill>
                      <a:srgbClr val="F7F6F2"/>
                    </a:solidFill>
                  </a:tcPr>
                </a:tc>
              </a:tr>
              <a:tr h="566928">
                <a:tc>
                  <a:txBody>
                    <a:bodyPr/>
                    <a:lstStyle/>
                    <a:p>
                      <a:r>
                        <a:rPr sz="1300" b="1">
                          <a:solidFill>
                            <a:srgbClr val="22424B"/>
                          </a:solidFill>
                          <a:latin typeface="Arial"/>
                        </a:rPr>
                        <a:t>Prime cost</a:t>
                      </a:r>
                    </a:p>
                  </a:txBody>
                  <a:tcPr>
                    <a:solidFill>
                      <a:srgbClr val="FFFFFF"/>
                    </a:solidFill>
                  </a:tcPr>
                </a:tc>
                <a:tc>
                  <a:txBody>
                    <a:bodyPr/>
                    <a:lstStyle/>
                    <a:p>
                      <a:pPr algn="r"/>
                      <a:r>
                        <a:rPr sz="1300" b="1">
                          <a:solidFill>
                            <a:srgbClr val="22424B"/>
                          </a:solidFill>
                          <a:latin typeface="Arial"/>
                        </a:rPr>
                        <a:t>$274.9K</a:t>
                      </a:r>
                    </a:p>
                  </a:txBody>
                  <a:tcPr>
                    <a:solidFill>
                      <a:srgbClr val="FFFFFF"/>
                    </a:solidFill>
                  </a:tcPr>
                </a:tc>
                <a:tc>
                  <a:txBody>
                    <a:bodyPr/>
                    <a:lstStyle/>
                    <a:p>
                      <a:pPr algn="r"/>
                      <a:r>
                        <a:rPr sz="1300" b="1">
                          <a:solidFill>
                            <a:srgbClr val="22424B"/>
                          </a:solidFill>
                          <a:latin typeface="Arial"/>
                        </a:rPr>
                        <a:t>$259.2K</a:t>
                      </a:r>
                    </a:p>
                  </a:txBody>
                  <a:tcPr>
                    <a:solidFill>
                      <a:srgbClr val="FFFFFF"/>
                    </a:solidFill>
                  </a:tcPr>
                </a:tc>
                <a:tc>
                  <a:txBody>
                    <a:bodyPr/>
                    <a:lstStyle/>
                    <a:p>
                      <a:pPr algn="r"/>
                      <a:r>
                        <a:rPr sz="1300" b="1">
                          <a:solidFill>
                            <a:srgbClr val="22424B"/>
                          </a:solidFill>
                          <a:latin typeface="Arial"/>
                        </a:rPr>
                        <a:t>$243.6K</a:t>
                      </a:r>
                    </a:p>
                  </a:txBody>
                  <a:tcPr>
                    <a:solidFill>
                      <a:srgbClr val="FFFFFF"/>
                    </a:solidFill>
                  </a:tcPr>
                </a:tc>
              </a:tr>
              <a:tr h="566928">
                <a:tc>
                  <a:txBody>
                    <a:bodyPr/>
                    <a:lstStyle/>
                    <a:p>
                      <a:r>
                        <a:rPr sz="1300" b="1">
                          <a:solidFill>
                            <a:srgbClr val="22424B"/>
                          </a:solidFill>
                          <a:latin typeface="Arial"/>
                        </a:rPr>
                        <a:t>Operating profit</a:t>
                      </a:r>
                    </a:p>
                  </a:txBody>
                  <a:tcPr>
                    <a:solidFill>
                      <a:srgbClr val="F7F6F2"/>
                    </a:solidFill>
                  </a:tcPr>
                </a:tc>
                <a:tc>
                  <a:txBody>
                    <a:bodyPr/>
                    <a:lstStyle/>
                    <a:p>
                      <a:pPr algn="r"/>
                      <a:r>
                        <a:rPr sz="1300" b="1">
                          <a:solidFill>
                            <a:srgbClr val="22424B"/>
                          </a:solidFill>
                          <a:latin typeface="Arial"/>
                        </a:rPr>
                        <a:t>$13.8K</a:t>
                      </a:r>
                    </a:p>
                  </a:txBody>
                  <a:tcPr>
                    <a:solidFill>
                      <a:srgbClr val="F7F6F2"/>
                    </a:solidFill>
                  </a:tcPr>
                </a:tc>
                <a:tc>
                  <a:txBody>
                    <a:bodyPr/>
                    <a:lstStyle/>
                    <a:p>
                      <a:pPr algn="r"/>
                      <a:r>
                        <a:rPr sz="1300" b="1">
                          <a:solidFill>
                            <a:srgbClr val="22424B"/>
                          </a:solidFill>
                          <a:latin typeface="Arial"/>
                        </a:rPr>
                        <a:t>$55.6K</a:t>
                      </a:r>
                    </a:p>
                  </a:txBody>
                  <a:tcPr>
                    <a:solidFill>
                      <a:srgbClr val="F7F6F2"/>
                    </a:solidFill>
                  </a:tcPr>
                </a:tc>
                <a:tc>
                  <a:txBody>
                    <a:bodyPr/>
                    <a:lstStyle/>
                    <a:p>
                      <a:pPr algn="r"/>
                      <a:r>
                        <a:rPr sz="1300" b="1">
                          <a:solidFill>
                            <a:srgbClr val="22424B"/>
                          </a:solidFill>
                          <a:latin typeface="Arial"/>
                        </a:rPr>
                        <a:t>$127.3K</a:t>
                      </a:r>
                    </a:p>
                  </a:txBody>
                  <a:tcPr>
                    <a:solidFill>
                      <a:srgbClr val="F7F6F2"/>
                    </a:solidFill>
                  </a:tcPr>
                </a:tc>
              </a:tr>
              <a:tr h="566928">
                <a:tc>
                  <a:txBody>
                    <a:bodyPr/>
                    <a:lstStyle/>
                    <a:p>
                      <a:r>
                        <a:rPr sz="1300" b="0">
                          <a:solidFill>
                            <a:srgbClr val="3F4A4E"/>
                          </a:solidFill>
                          <a:latin typeface="Arial"/>
                        </a:rPr>
                        <a:t>Operating expenses</a:t>
                      </a:r>
                    </a:p>
                  </a:txBody>
                  <a:tcPr>
                    <a:solidFill>
                      <a:srgbClr val="FFFFFF"/>
                    </a:solidFill>
                  </a:tcPr>
                </a:tc>
                <a:tc>
                  <a:txBody>
                    <a:bodyPr/>
                    <a:lstStyle/>
                    <a:p>
                      <a:pPr algn="r"/>
                      <a:r>
                        <a:rPr sz="1300" b="0">
                          <a:solidFill>
                            <a:srgbClr val="3F4A4E"/>
                          </a:solidFill>
                          <a:latin typeface="Arial"/>
                        </a:rPr>
                        <a:t>$112.4K</a:t>
                      </a:r>
                    </a:p>
                  </a:txBody>
                  <a:tcPr>
                    <a:solidFill>
                      <a:srgbClr val="FFFFFF"/>
                    </a:solidFill>
                  </a:tcPr>
                </a:tc>
                <a:tc>
                  <a:txBody>
                    <a:bodyPr/>
                    <a:lstStyle/>
                    <a:p>
                      <a:pPr algn="r"/>
                      <a:r>
                        <a:rPr sz="1300" b="0">
                          <a:solidFill>
                            <a:srgbClr val="3F4A4E"/>
                          </a:solidFill>
                          <a:latin typeface="Arial"/>
                        </a:rPr>
                        <a:t>$109.1K</a:t>
                      </a:r>
                    </a:p>
                  </a:txBody>
                  <a:tcPr>
                    <a:solidFill>
                      <a:srgbClr val="FFFFFF"/>
                    </a:solidFill>
                  </a:tcPr>
                </a:tc>
                <a:tc>
                  <a:txBody>
                    <a:bodyPr/>
                    <a:lstStyle/>
                    <a:p>
                      <a:pPr algn="r"/>
                      <a:r>
                        <a:rPr sz="1300" b="0">
                          <a:solidFill>
                            <a:srgbClr val="3F4A4E"/>
                          </a:solidFill>
                          <a:latin typeface="Arial"/>
                        </a:rPr>
                        <a:t>$111.4K</a:t>
                      </a:r>
                    </a:p>
                  </a:txBody>
                  <a:tcPr>
                    <a:solidFill>
                      <a:srgbClr val="FFFFFF"/>
                    </a:solidFill>
                  </a:tcPr>
                </a:tc>
              </a:tr>
              <a:tr h="566928">
                <a:tc>
                  <a:txBody>
                    <a:bodyPr/>
                    <a:lstStyle/>
                    <a:p>
                      <a:r>
                        <a:rPr sz="1300" b="0">
                          <a:solidFill>
                            <a:srgbClr val="3F4A4E"/>
                          </a:solidFill>
                          <a:latin typeface="Arial"/>
                        </a:rPr>
                        <a:t>Management fee</a:t>
                      </a:r>
                    </a:p>
                  </a:txBody>
                  <a:tcPr>
                    <a:solidFill>
                      <a:srgbClr val="F7F6F2"/>
                    </a:solidFill>
                  </a:tcPr>
                </a:tc>
                <a:tc>
                  <a:txBody>
                    <a:bodyPr/>
                    <a:lstStyle/>
                    <a:p>
                      <a:pPr algn="r"/>
                      <a:r>
                        <a:rPr sz="1300" b="0">
                          <a:solidFill>
                            <a:srgbClr val="3F4A4E"/>
                          </a:solidFill>
                          <a:latin typeface="Arial"/>
                        </a:rPr>
                        <a:t>$48.0K</a:t>
                      </a:r>
                    </a:p>
                  </a:txBody>
                  <a:tcPr>
                    <a:solidFill>
                      <a:srgbClr val="F7F6F2"/>
                    </a:solidFill>
                  </a:tcPr>
                </a:tc>
                <a:tc>
                  <a:txBody>
                    <a:bodyPr/>
                    <a:lstStyle/>
                    <a:p>
                      <a:pPr algn="r"/>
                      <a:r>
                        <a:rPr sz="1300" b="0">
                          <a:solidFill>
                            <a:srgbClr val="3F4A4E"/>
                          </a:solidFill>
                          <a:latin typeface="Arial"/>
                        </a:rPr>
                        <a:t>$34.2K</a:t>
                      </a:r>
                    </a:p>
                  </a:txBody>
                  <a:tcPr>
                    <a:solidFill>
                      <a:srgbClr val="F7F6F2"/>
                    </a:solidFill>
                  </a:tcPr>
                </a:tc>
                <a:tc>
                  <a:txBody>
                    <a:bodyPr/>
                    <a:lstStyle/>
                    <a:p>
                      <a:pPr algn="r"/>
                      <a:r>
                        <a:rPr sz="1300" b="0">
                          <a:solidFill>
                            <a:srgbClr val="3F4A4E"/>
                          </a:solidFill>
                          <a:latin typeface="Arial"/>
                        </a:rPr>
                        <a:t>$14.8K</a:t>
                      </a:r>
                    </a:p>
                  </a:txBody>
                  <a:tcPr>
                    <a:solidFill>
                      <a:srgbClr val="F7F6F2"/>
                    </a:solidFill>
                  </a:tcPr>
                </a:tc>
              </a:tr>
              <a:tr h="566928">
                <a:tc>
                  <a:txBody>
                    <a:bodyPr/>
                    <a:lstStyle/>
                    <a:p>
                      <a:r>
                        <a:rPr sz="1300" b="0">
                          <a:solidFill>
                            <a:srgbClr val="3F4A4E"/>
                          </a:solidFill>
                          <a:latin typeface="Arial"/>
                        </a:rPr>
                        <a:t>Rent / occupancy</a:t>
                      </a:r>
                    </a:p>
                  </a:txBody>
                  <a:tcPr>
                    <a:solidFill>
                      <a:srgbClr val="FFFFFF"/>
                    </a:solidFill>
                  </a:tcPr>
                </a:tc>
                <a:tc>
                  <a:txBody>
                    <a:bodyPr/>
                    <a:lstStyle/>
                    <a:p>
                      <a:pPr algn="r"/>
                      <a:r>
                        <a:rPr sz="1300" b="0">
                          <a:solidFill>
                            <a:srgbClr val="3F4A4E"/>
                          </a:solidFill>
                          <a:latin typeface="Arial"/>
                        </a:rPr>
                        <a:t>$17.4K</a:t>
                      </a:r>
                    </a:p>
                  </a:txBody>
                  <a:tcPr>
                    <a:solidFill>
                      <a:srgbClr val="FFFFFF"/>
                    </a:solidFill>
                  </a:tcPr>
                </a:tc>
                <a:tc>
                  <a:txBody>
                    <a:bodyPr/>
                    <a:lstStyle/>
                    <a:p>
                      <a:pPr algn="r"/>
                      <a:r>
                        <a:rPr sz="1300" b="0">
                          <a:solidFill>
                            <a:srgbClr val="3F4A4E"/>
                          </a:solidFill>
                          <a:latin typeface="Arial"/>
                        </a:rPr>
                        <a:t>$9.7K</a:t>
                      </a:r>
                    </a:p>
                  </a:txBody>
                  <a:tcPr>
                    <a:solidFill>
                      <a:srgbClr val="FFFFFF"/>
                    </a:solidFill>
                  </a:tcPr>
                </a:tc>
                <a:tc>
                  <a:txBody>
                    <a:bodyPr/>
                    <a:lstStyle/>
                    <a:p>
                      <a:pPr algn="r"/>
                      <a:r>
                        <a:rPr sz="1300" b="0">
                          <a:solidFill>
                            <a:srgbClr val="3F4A4E"/>
                          </a:solidFill>
                          <a:latin typeface="Arial"/>
                        </a:rPr>
                        <a:t>$0</a:t>
                      </a:r>
                    </a:p>
                  </a:txBody>
                  <a:tcPr>
                    <a:solidFill>
                      <a:srgbClr val="FFFFFF"/>
                    </a:solidFill>
                  </a:tcPr>
                </a:tc>
              </a:tr>
              <a:tr h="566928">
                <a:tc>
                  <a:txBody>
                    <a:bodyPr/>
                    <a:lstStyle/>
                    <a:p>
                      <a:r>
                        <a:rPr sz="1300" b="1">
                          <a:solidFill>
                            <a:srgbClr val="22424B"/>
                          </a:solidFill>
                          <a:latin typeface="Arial"/>
                        </a:rPr>
                        <a:t>NET OPERATING PROFIT</a:t>
                      </a:r>
                    </a:p>
                  </a:txBody>
                  <a:tcPr>
                    <a:solidFill>
                      <a:srgbClr val="F7F6F2"/>
                    </a:solidFill>
                  </a:tcPr>
                </a:tc>
                <a:tc>
                  <a:txBody>
                    <a:bodyPr/>
                    <a:lstStyle/>
                    <a:p>
                      <a:pPr algn="r"/>
                      <a:r>
                        <a:rPr sz="1300" b="1">
                          <a:solidFill>
                            <a:srgbClr val="22424B"/>
                          </a:solidFill>
                          <a:latin typeface="Arial"/>
                        </a:rPr>
                        <a:t>($164.0K)</a:t>
                      </a:r>
                    </a:p>
                  </a:txBody>
                  <a:tcPr>
                    <a:solidFill>
                      <a:srgbClr val="F7F6F2"/>
                    </a:solidFill>
                  </a:tcPr>
                </a:tc>
                <a:tc>
                  <a:txBody>
                    <a:bodyPr/>
                    <a:lstStyle/>
                    <a:p>
                      <a:pPr algn="r"/>
                      <a:r>
                        <a:rPr sz="1300" b="1">
                          <a:solidFill>
                            <a:srgbClr val="22424B"/>
                          </a:solidFill>
                          <a:latin typeface="Arial"/>
                        </a:rPr>
                        <a:t>($97.4K)</a:t>
                      </a:r>
                    </a:p>
                  </a:txBody>
                  <a:tcPr>
                    <a:solidFill>
                      <a:srgbClr val="F7F6F2"/>
                    </a:solidFill>
                  </a:tcPr>
                </a:tc>
                <a:tc>
                  <a:txBody>
                    <a:bodyPr/>
                    <a:lstStyle/>
                    <a:p>
                      <a:pPr algn="r"/>
                      <a:r>
                        <a:rPr sz="1300" b="1">
                          <a:solidFill>
                            <a:srgbClr val="22424B"/>
                          </a:solidFill>
                          <a:latin typeface="Arial"/>
                        </a:rPr>
                        <a:t>+$1.0K</a:t>
                      </a:r>
                    </a:p>
                  </a:txBody>
                  <a:tcPr>
                    <a:solidFill>
                      <a:srgbClr val="F7F6F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 + admin fee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 + 5%</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$1,000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 admin fee covers 3% commission payout + 2% credit card processing fees</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9015984" cy="265176"/>
          </a:xfrm>
          <a:prstGeom prst="rect">
            <a:avLst/>
          </a:prstGeom>
          <a:noFill/>
        </p:spPr>
        <p:txBody>
          <a:bodyPr wrap="none">
            <a:spAutoFit/>
          </a:bodyPr>
          <a:lstStyle/>
          <a:p>
            <a:r>
              <a:rPr sz="1650" b="1">
                <a:solidFill>
                  <a:srgbClr val="63BACB"/>
                </a:solidFill>
                <a:latin typeface="Arial"/>
              </a:rPr>
              <a:t>06 | P&amp;L — VESSEL</a:t>
            </a:r>
          </a:p>
        </p:txBody>
      </p:sp>
      <p:sp>
        <p:nvSpPr>
          <p:cNvPr id="3" name="TextBox 2"/>
          <p:cNvSpPr txBox="1"/>
          <p:nvPr/>
        </p:nvSpPr>
        <p:spPr>
          <a:xfrm>
            <a:off x="950976" y="1106424"/>
            <a:ext cx="9015984" cy="566928"/>
          </a:xfrm>
          <a:prstGeom prst="rect">
            <a:avLst/>
          </a:prstGeom>
          <a:noFill/>
        </p:spPr>
        <p:txBody>
          <a:bodyPr wrap="none">
            <a:spAutoFit/>
          </a:bodyPr>
          <a:lstStyle/>
          <a:p>
            <a:r>
              <a:rPr sz="4000">
                <a:solidFill>
                  <a:srgbClr val="22424B"/>
                </a:solidFill>
                <a:latin typeface="Georgia"/>
              </a:rPr>
              <a:t>The go-forward plan</a:t>
            </a:r>
          </a:p>
        </p:txBody>
      </p:sp>
      <p:sp>
        <p:nvSpPr>
          <p:cNvPr id="5" name="TextBox 4"/>
          <p:cNvSpPr txBox="1"/>
          <p:nvPr/>
        </p:nvSpPr>
        <p:spPr>
          <a:xfrm>
            <a:off x="12893040" y="2468880"/>
            <a:ext cx="4572000" cy="5029200"/>
          </a:xfrm>
          <a:prstGeom prst="rect">
            <a:avLst/>
          </a:prstGeom>
          <a:noFill/>
        </p:spPr>
        <p:txBody>
          <a:bodyPr wrap="square">
            <a:spAutoFit/>
          </a:bodyPr>
          <a:lstStyle/>
          <a:p>
            <a:pPr>
              <a:spcAft>
                <a:spcPts val="800"/>
              </a:spcAft>
            </a:pPr>
            <a:r>
              <a:rPr sz="1300" b="1">
                <a:solidFill>
                  <a:srgbClr val="63BACB"/>
                </a:solidFill>
                <a:latin typeface="Arial"/>
              </a:rPr>
              <a:t>EVENT TERMS — DECIDED</a:t>
            </a:r>
          </a:p>
          <a:p>
            <a:pPr>
              <a:spcAft>
                <a:spcPts val="800"/>
              </a:spcAft>
            </a:pPr>
            <a:r>
              <a:rPr sz="1400" b="0">
                <a:solidFill>
                  <a:srgbClr val="3F4A4E"/>
                </a:solidFill>
                <a:latin typeface="Arial"/>
              </a:rPr>
              <a:t>$4,000 F&amp;B minimum · ~75 events/yr (71% of run-rate — fewer, better events) · 24.9% NOI margin per event</a:t>
            </a:r>
          </a:p>
          <a:p>
            <a:pPr>
              <a:spcAft>
                <a:spcPts val="800"/>
              </a:spcAft>
            </a:pPr>
            <a:r>
              <a:rPr sz="1400" b="0">
                <a:solidFill>
                  <a:srgbClr val="3F4A4E"/>
                </a:solidFill>
                <a:latin typeface="Arial"/>
              </a:rPr>
              <a:t>20% service charge + 5% admin fee billed to clients — admin fee is income, covering 3% commission + 2% CC processing</a:t>
            </a:r>
          </a:p>
          <a:p>
            <a:pPr>
              <a:spcAft>
                <a:spcPts val="800"/>
              </a:spcAft>
            </a:pPr>
            <a:r>
              <a:rPr sz="1400" b="0">
                <a:solidFill>
                  <a:srgbClr val="3F4A4E"/>
                </a:solidFill>
                <a:latin typeface="Arial"/>
              </a:rPr>
              <a:t>4% management fee replaces the $48K flat fee · rent waived · live 9/1/2026 (August events already contracted at old terms)</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Vessel swings from a ($13.5K) year to +$87.1K in 2027</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+$38.5K with the changes vs +$9.0K with no changes → +$29.6K in four live months</a:t>
            </a:r>
          </a:p>
        </p:txBody>
      </p:sp>
      <p:graphicFrame>
        <p:nvGraphicFramePr>
          <p:cNvPr id="6" name="Table 5"/>
          <p:cNvGraphicFramePr>
            <a:graphicFrameLocks noGrp="1"/>
          </p:cNvGraphicFramePr>
          <p:nvPr/>
        </p:nvGraphicFramePr>
        <p:xfrm>
          <a:off x="950976" y="2377440"/>
          <a:ext cx="11521440" cy="5669280"/>
        </p:xfrm>
        <a:graphic>
          <a:graphicData uri="http://schemas.openxmlformats.org/drawingml/2006/table">
            <a:tbl>
              <a:tblPr firstRow="1" bandRow="1">
                <a:tableStyleId>{5C22544A-7EE6-4342-B048-85BDC9FD1C3A}</a:tableStyleId>
              </a:tblPr>
              <a:tblGrid>
                <a:gridCol w="3840480"/>
                <a:gridCol w="2560320"/>
                <a:gridCol w="2560320"/>
                <a:gridCol w="2560320"/>
              </a:tblGrid>
              <a:tr h="566928">
                <a:tc>
                  <a:txBody>
                    <a:bodyPr/>
                    <a:lstStyle/>
                    <a:p>
                      <a:pPr>
                        <a:defRPr sz="1100" b="1">
                          <a:solidFill>
                            <a:srgbClr val="FFFFFF"/>
                          </a:solidFill>
                          <a:latin typeface="Arial"/>
                        </a:defRPr>
                      </a:pPr>
                    </a:p>
                  </a:txBody>
                  <a:tcPr>
                    <a:solidFill>
                      <a:srgbClr val="22424B"/>
                    </a:solidFill>
                  </a:tcPr>
                </a:tc>
                <a:tc>
                  <a:txBody>
                    <a:bodyPr/>
                    <a:lstStyle/>
                    <a:p>
                      <a:pPr algn="r"/>
                      <a:r>
                        <a:rPr sz="1100" b="1">
                          <a:solidFill>
                            <a:srgbClr val="FFFFFF"/>
                          </a:solidFill>
                          <a:latin typeface="Arial"/>
                        </a:rPr>
                        <a:t>2026 ACT/FOR</a:t>
                      </a:r>
                    </a:p>
                  </a:txBody>
                  <a:tcPr>
                    <a:solidFill>
                      <a:srgbClr val="22424B"/>
                    </a:solidFill>
                  </a:tcPr>
                </a:tc>
                <a:tc>
                  <a:txBody>
                    <a:bodyPr/>
                    <a:lstStyle/>
                    <a:p>
                      <a:pPr algn="r"/>
                      <a:r>
                        <a:rPr sz="1100" b="1">
                          <a:solidFill>
                            <a:srgbClr val="FFFFFF"/>
                          </a:solidFill>
                          <a:latin typeface="Arial"/>
                        </a:rPr>
                        <a:t>2026 MODIFIED · 9/1 GO-LIVE</a:t>
                      </a:r>
                    </a:p>
                  </a:txBody>
                  <a:tcPr>
                    <a:solidFill>
                      <a:srgbClr val="22424B"/>
                    </a:solidFill>
                  </a:tcPr>
                </a:tc>
                <a:tc>
                  <a:txBody>
                    <a:bodyPr/>
                    <a:lstStyle/>
                    <a:p>
                      <a:pPr algn="r"/>
                      <a:r>
                        <a:rPr sz="1100" b="1">
                          <a:solidFill>
                            <a:srgbClr val="FFFFFF"/>
                          </a:solidFill>
                          <a:latin typeface="Arial"/>
                        </a:rPr>
                        <a:t>2027 PLAN</a:t>
                      </a:r>
                    </a:p>
                  </a:txBody>
                  <a:tcPr>
                    <a:solidFill>
                      <a:srgbClr val="22424B"/>
                    </a:solidFill>
                  </a:tcPr>
                </a:tc>
              </a:tr>
              <a:tr h="566928">
                <a:tc>
                  <a:txBody>
                    <a:bodyPr/>
                    <a:lstStyle/>
                    <a:p>
                      <a:r>
                        <a:rPr sz="1300" b="0">
                          <a:solidFill>
                            <a:srgbClr val="3F4A4E"/>
                          </a:solidFill>
                          <a:latin typeface="Arial"/>
                        </a:rPr>
                        <a:t>Total income</a:t>
                      </a:r>
                    </a:p>
                  </a:txBody>
                  <a:tcPr>
                    <a:solidFill>
                      <a:srgbClr val="F7F6F2"/>
                    </a:solidFill>
                  </a:tcPr>
                </a:tc>
                <a:tc>
                  <a:txBody>
                    <a:bodyPr/>
                    <a:lstStyle/>
                    <a:p>
                      <a:pPr algn="r"/>
                      <a:r>
                        <a:rPr sz="1300" b="0">
                          <a:solidFill>
                            <a:srgbClr val="3F4A4E"/>
                          </a:solidFill>
                          <a:latin typeface="Arial"/>
                        </a:rPr>
                        <a:t>2026 ACT/FOR</a:t>
                      </a:r>
                    </a:p>
                  </a:txBody>
                  <a:tcPr>
                    <a:solidFill>
                      <a:srgbClr val="F7F6F2"/>
                    </a:solidFill>
                  </a:tcPr>
                </a:tc>
                <a:tc>
                  <a:txBody>
                    <a:bodyPr/>
                    <a:lstStyle/>
                    <a:p>
                      <a:pPr algn="r"/>
                      <a:r>
                        <a:rPr sz="1300" b="0">
                          <a:solidFill>
                            <a:srgbClr val="3F4A4E"/>
                          </a:solidFill>
                          <a:latin typeface="Arial"/>
                        </a:rPr>
                        <a:t>$354.8K</a:t>
                      </a:r>
                    </a:p>
                  </a:txBody>
                  <a:tcPr>
                    <a:solidFill>
                      <a:srgbClr val="F7F6F2"/>
                    </a:solidFill>
                  </a:tcPr>
                </a:tc>
                <a:tc>
                  <a:txBody>
                    <a:bodyPr/>
                    <a:lstStyle/>
                    <a:p>
                      <a:pPr algn="r"/>
                      <a:r>
                        <a:rPr sz="1300" b="0">
                          <a:solidFill>
                            <a:srgbClr val="3F4A4E"/>
                          </a:solidFill>
                          <a:latin typeface="Arial"/>
                        </a:rPr>
                        <a:t>$350.1K</a:t>
                      </a:r>
                    </a:p>
                  </a:txBody>
                  <a:tcPr>
                    <a:solidFill>
                      <a:srgbClr val="F7F6F2"/>
                    </a:solidFill>
                  </a:tcPr>
                </a:tc>
              </a:tr>
              <a:tr h="566928">
                <a:tc>
                  <a:txBody>
                    <a:bodyPr/>
                    <a:lstStyle/>
                    <a:p>
                      <a:r>
                        <a:rPr sz="1300" b="0">
                          <a:solidFill>
                            <a:srgbClr val="3F4A4E"/>
                          </a:solidFill>
                          <a:latin typeface="Arial"/>
                        </a:rPr>
                        <a:t>Cost of goods sold</a:t>
                      </a:r>
                    </a:p>
                  </a:txBody>
                  <a:tcPr>
                    <a:solidFill>
                      <a:srgbClr val="FFFFFF"/>
                    </a:solidFill>
                  </a:tcPr>
                </a:tc>
                <a:tc>
                  <a:txBody>
                    <a:bodyPr/>
                    <a:lstStyle/>
                    <a:p>
                      <a:pPr algn="r"/>
                      <a:r>
                        <a:rPr sz="1300" b="0">
                          <a:solidFill>
                            <a:srgbClr val="3F4A4E"/>
                          </a:solidFill>
                          <a:latin typeface="Arial"/>
                        </a:rPr>
                        <a:t>2026 ACT/FOR</a:t>
                      </a:r>
                    </a:p>
                  </a:txBody>
                  <a:tcPr>
                    <a:solidFill>
                      <a:srgbClr val="FFFFFF"/>
                    </a:solidFill>
                  </a:tcPr>
                </a:tc>
                <a:tc>
                  <a:txBody>
                    <a:bodyPr/>
                    <a:lstStyle/>
                    <a:p>
                      <a:pPr algn="r"/>
                      <a:r>
                        <a:rPr sz="1300" b="0">
                          <a:solidFill>
                            <a:srgbClr val="3F4A4E"/>
                          </a:solidFill>
                          <a:latin typeface="Arial"/>
                        </a:rPr>
                        <a:t>$122.9K</a:t>
                      </a:r>
                    </a:p>
                  </a:txBody>
                  <a:tcPr>
                    <a:solidFill>
                      <a:srgbClr val="FFFFFF"/>
                    </a:solidFill>
                  </a:tcPr>
                </a:tc>
                <a:tc>
                  <a:txBody>
                    <a:bodyPr/>
                    <a:lstStyle/>
                    <a:p>
                      <a:pPr algn="r"/>
                      <a:r>
                        <a:rPr sz="1300" b="0">
                          <a:solidFill>
                            <a:srgbClr val="3F4A4E"/>
                          </a:solidFill>
                          <a:latin typeface="Arial"/>
                        </a:rPr>
                        <a:t>$136.3K</a:t>
                      </a:r>
                    </a:p>
                  </a:txBody>
                  <a:tcPr>
                    <a:solidFill>
                      <a:srgbClr val="FFFFFF"/>
                    </a:solidFill>
                  </a:tcPr>
                </a:tc>
              </a:tr>
              <a:tr h="566928">
                <a:tc>
                  <a:txBody>
                    <a:bodyPr/>
                    <a:lstStyle/>
                    <a:p>
                      <a:r>
                        <a:rPr sz="1300" b="0">
                          <a:solidFill>
                            <a:srgbClr val="3F4A4E"/>
                          </a:solidFill>
                          <a:latin typeface="Arial"/>
                        </a:rPr>
                        <a:t>Labor</a:t>
                      </a:r>
                    </a:p>
                  </a:txBody>
                  <a:tcPr>
                    <a:solidFill>
                      <a:srgbClr val="F7F6F2"/>
                    </a:solidFill>
                  </a:tcPr>
                </a:tc>
                <a:tc>
                  <a:txBody>
                    <a:bodyPr/>
                    <a:lstStyle/>
                    <a:p>
                      <a:pPr algn="r"/>
                      <a:r>
                        <a:rPr sz="1300" b="0">
                          <a:solidFill>
                            <a:srgbClr val="3F4A4E"/>
                          </a:solidFill>
                          <a:latin typeface="Arial"/>
                        </a:rPr>
                        <a:t>2026 ACT/FOR</a:t>
                      </a:r>
                    </a:p>
                  </a:txBody>
                  <a:tcPr>
                    <a:solidFill>
                      <a:srgbClr val="F7F6F2"/>
                    </a:solidFill>
                  </a:tcPr>
                </a:tc>
                <a:tc>
                  <a:txBody>
                    <a:bodyPr/>
                    <a:lstStyle/>
                    <a:p>
                      <a:pPr algn="r"/>
                      <a:r>
                        <a:rPr sz="1300" b="0">
                          <a:solidFill>
                            <a:srgbClr val="3F4A4E"/>
                          </a:solidFill>
                          <a:latin typeface="Arial"/>
                        </a:rPr>
                        <a:t>$80.0K</a:t>
                      </a:r>
                    </a:p>
                  </a:txBody>
                  <a:tcPr>
                    <a:solidFill>
                      <a:srgbClr val="F7F6F2"/>
                    </a:solidFill>
                  </a:tcPr>
                </a:tc>
                <a:tc>
                  <a:txBody>
                    <a:bodyPr/>
                    <a:lstStyle/>
                    <a:p>
                      <a:pPr algn="r"/>
                      <a:r>
                        <a:rPr sz="1300" b="0">
                          <a:solidFill>
                            <a:srgbClr val="3F4A4E"/>
                          </a:solidFill>
                          <a:latin typeface="Arial"/>
                        </a:rPr>
                        <a:t>$60.7K</a:t>
                      </a:r>
                    </a:p>
                  </a:txBody>
                  <a:tcPr>
                    <a:solidFill>
                      <a:srgbClr val="F7F6F2"/>
                    </a:solidFill>
                  </a:tcPr>
                </a:tc>
              </a:tr>
              <a:tr h="566928">
                <a:tc>
                  <a:txBody>
                    <a:bodyPr/>
                    <a:lstStyle/>
                    <a:p>
                      <a:r>
                        <a:rPr sz="1300" b="1">
                          <a:solidFill>
                            <a:srgbClr val="22424B"/>
                          </a:solidFill>
                          <a:latin typeface="Arial"/>
                        </a:rPr>
                        <a:t>Prime cost</a:t>
                      </a:r>
                    </a:p>
                  </a:txBody>
                  <a:tcPr>
                    <a:solidFill>
                      <a:srgbClr val="FFFFFF"/>
                    </a:solidFill>
                  </a:tcPr>
                </a:tc>
                <a:tc>
                  <a:txBody>
                    <a:bodyPr/>
                    <a:lstStyle/>
                    <a:p>
                      <a:pPr algn="r"/>
                      <a:r>
                        <a:rPr sz="1300" b="1">
                          <a:solidFill>
                            <a:srgbClr val="22424B"/>
                          </a:solidFill>
                          <a:latin typeface="Arial"/>
                        </a:rPr>
                        <a:t>2026 ACT/FOR</a:t>
                      </a:r>
                    </a:p>
                  </a:txBody>
                  <a:tcPr>
                    <a:solidFill>
                      <a:srgbClr val="FFFFFF"/>
                    </a:solidFill>
                  </a:tcPr>
                </a:tc>
                <a:tc>
                  <a:txBody>
                    <a:bodyPr/>
                    <a:lstStyle/>
                    <a:p>
                      <a:pPr algn="r"/>
                      <a:r>
                        <a:rPr sz="1300" b="1">
                          <a:solidFill>
                            <a:srgbClr val="22424B"/>
                          </a:solidFill>
                          <a:latin typeface="Arial"/>
                        </a:rPr>
                        <a:t>$203.0K</a:t>
                      </a:r>
                    </a:p>
                  </a:txBody>
                  <a:tcPr>
                    <a:solidFill>
                      <a:srgbClr val="FFFFFF"/>
                    </a:solidFill>
                  </a:tcPr>
                </a:tc>
                <a:tc>
                  <a:txBody>
                    <a:bodyPr/>
                    <a:lstStyle/>
                    <a:p>
                      <a:pPr algn="r"/>
                      <a:r>
                        <a:rPr sz="1300" b="1">
                          <a:solidFill>
                            <a:srgbClr val="22424B"/>
                          </a:solidFill>
                          <a:latin typeface="Arial"/>
                        </a:rPr>
                        <a:t>$197.0K</a:t>
                      </a:r>
                    </a:p>
                  </a:txBody>
                  <a:tcPr>
                    <a:solidFill>
                      <a:srgbClr val="FFFFFF"/>
                    </a:solidFill>
                  </a:tcPr>
                </a:tc>
              </a:tr>
              <a:tr h="566928">
                <a:tc>
                  <a:txBody>
                    <a:bodyPr/>
                    <a:lstStyle/>
                    <a:p>
                      <a:r>
                        <a:rPr sz="1300" b="1">
                          <a:solidFill>
                            <a:srgbClr val="22424B"/>
                          </a:solidFill>
                          <a:latin typeface="Arial"/>
                        </a:rPr>
                        <a:t>Operating profit</a:t>
                      </a:r>
                    </a:p>
                  </a:txBody>
                  <a:tcPr>
                    <a:solidFill>
                      <a:srgbClr val="F7F6F2"/>
                    </a:solidFill>
                  </a:tcPr>
                </a:tc>
                <a:tc>
                  <a:txBody>
                    <a:bodyPr/>
                    <a:lstStyle/>
                    <a:p>
                      <a:pPr algn="r"/>
                      <a:r>
                        <a:rPr sz="1300" b="1">
                          <a:solidFill>
                            <a:srgbClr val="22424B"/>
                          </a:solidFill>
                          <a:latin typeface="Arial"/>
                        </a:rPr>
                        <a:t>2026 ACT/FOR</a:t>
                      </a:r>
                    </a:p>
                  </a:txBody>
                  <a:tcPr>
                    <a:solidFill>
                      <a:srgbClr val="F7F6F2"/>
                    </a:solidFill>
                  </a:tcPr>
                </a:tc>
                <a:tc>
                  <a:txBody>
                    <a:bodyPr/>
                    <a:lstStyle/>
                    <a:p>
                      <a:pPr algn="r"/>
                      <a:r>
                        <a:rPr sz="1300" b="1">
                          <a:solidFill>
                            <a:srgbClr val="22424B"/>
                          </a:solidFill>
                          <a:latin typeface="Arial"/>
                        </a:rPr>
                        <a:t>$151.8K</a:t>
                      </a:r>
                    </a:p>
                  </a:txBody>
                  <a:tcPr>
                    <a:solidFill>
                      <a:srgbClr val="F7F6F2"/>
                    </a:solidFill>
                  </a:tcPr>
                </a:tc>
                <a:tc>
                  <a:txBody>
                    <a:bodyPr/>
                    <a:lstStyle/>
                    <a:p>
                      <a:pPr algn="r"/>
                      <a:r>
                        <a:rPr sz="1300" b="1">
                          <a:solidFill>
                            <a:srgbClr val="22424B"/>
                          </a:solidFill>
                          <a:latin typeface="Arial"/>
                        </a:rPr>
                        <a:t>$153.1K</a:t>
                      </a:r>
                    </a:p>
                  </a:txBody>
                  <a:tcPr>
                    <a:solidFill>
                      <a:srgbClr val="F7F6F2"/>
                    </a:solidFill>
                  </a:tcPr>
                </a:tc>
              </a:tr>
              <a:tr h="566928">
                <a:tc>
                  <a:txBody>
                    <a:bodyPr/>
                    <a:lstStyle/>
                    <a:p>
                      <a:r>
                        <a:rPr sz="1300" b="0">
                          <a:solidFill>
                            <a:srgbClr val="3F4A4E"/>
                          </a:solidFill>
                          <a:latin typeface="Arial"/>
                        </a:rPr>
                        <a:t>Operating expenses</a:t>
                      </a:r>
                    </a:p>
                  </a:txBody>
                  <a:tcPr>
                    <a:solidFill>
                      <a:srgbClr val="FFFFFF"/>
                    </a:solidFill>
                  </a:tcPr>
                </a:tc>
                <a:tc>
                  <a:txBody>
                    <a:bodyPr/>
                    <a:lstStyle/>
                    <a:p>
                      <a:pPr algn="r"/>
                      <a:r>
                        <a:rPr sz="1300" b="0">
                          <a:solidFill>
                            <a:srgbClr val="3F4A4E"/>
                          </a:solidFill>
                          <a:latin typeface="Arial"/>
                        </a:rPr>
                        <a:t>2026 ACT/FOR</a:t>
                      </a:r>
                    </a:p>
                  </a:txBody>
                  <a:tcPr>
                    <a:solidFill>
                      <a:srgbClr val="FFFFFF"/>
                    </a:solidFill>
                  </a:tcPr>
                </a:tc>
                <a:tc>
                  <a:txBody>
                    <a:bodyPr/>
                    <a:lstStyle/>
                    <a:p>
                      <a:pPr algn="r"/>
                      <a:r>
                        <a:rPr sz="1300" b="0">
                          <a:solidFill>
                            <a:srgbClr val="3F4A4E"/>
                          </a:solidFill>
                          <a:latin typeface="Arial"/>
                        </a:rPr>
                        <a:t>$84.3K</a:t>
                      </a:r>
                    </a:p>
                  </a:txBody>
                  <a:tcPr>
                    <a:solidFill>
                      <a:srgbClr val="FFFFFF"/>
                    </a:solidFill>
                  </a:tcPr>
                </a:tc>
                <a:tc>
                  <a:txBody>
                    <a:bodyPr/>
                    <a:lstStyle/>
                    <a:p>
                      <a:pPr algn="r"/>
                      <a:r>
                        <a:rPr sz="1300" b="0">
                          <a:solidFill>
                            <a:srgbClr val="3F4A4E"/>
                          </a:solidFill>
                          <a:latin typeface="Arial"/>
                        </a:rPr>
                        <a:t>$52.0K</a:t>
                      </a:r>
                    </a:p>
                  </a:txBody>
                  <a:tcPr>
                    <a:solidFill>
                      <a:srgbClr val="FFFFFF"/>
                    </a:solidFill>
                  </a:tcPr>
                </a:tc>
              </a:tr>
              <a:tr h="566928">
                <a:tc>
                  <a:txBody>
                    <a:bodyPr/>
                    <a:lstStyle/>
                    <a:p>
                      <a:r>
                        <a:rPr sz="1300" b="0">
                          <a:solidFill>
                            <a:srgbClr val="3F4A4E"/>
                          </a:solidFill>
                          <a:latin typeface="Arial"/>
                        </a:rPr>
                        <a:t>Management fee</a:t>
                      </a:r>
                    </a:p>
                  </a:txBody>
                  <a:tcPr>
                    <a:solidFill>
                      <a:srgbClr val="F7F6F2"/>
                    </a:solidFill>
                  </a:tcPr>
                </a:tc>
                <a:tc>
                  <a:txBody>
                    <a:bodyPr/>
                    <a:lstStyle/>
                    <a:p>
                      <a:pPr algn="r"/>
                      <a:r>
                        <a:rPr sz="1300" b="0">
                          <a:solidFill>
                            <a:srgbClr val="3F4A4E"/>
                          </a:solidFill>
                          <a:latin typeface="Arial"/>
                        </a:rPr>
                        <a:t>2026 ACT/FOR</a:t>
                      </a:r>
                    </a:p>
                  </a:txBody>
                  <a:tcPr>
                    <a:solidFill>
                      <a:srgbClr val="F7F6F2"/>
                    </a:solidFill>
                  </a:tcPr>
                </a:tc>
                <a:tc>
                  <a:txBody>
                    <a:bodyPr/>
                    <a:lstStyle/>
                    <a:p>
                      <a:pPr algn="r"/>
                      <a:r>
                        <a:rPr sz="1300" b="0">
                          <a:solidFill>
                            <a:srgbClr val="3F4A4E"/>
                          </a:solidFill>
                          <a:latin typeface="Arial"/>
                        </a:rPr>
                        <a:t>$36.1K</a:t>
                      </a:r>
                    </a:p>
                  </a:txBody>
                  <a:tcPr>
                    <a:solidFill>
                      <a:srgbClr val="F7F6F2"/>
                    </a:solidFill>
                  </a:tcPr>
                </a:tc>
                <a:tc>
                  <a:txBody>
                    <a:bodyPr/>
                    <a:lstStyle/>
                    <a:p>
                      <a:pPr algn="r"/>
                      <a:r>
                        <a:rPr sz="1300" b="0">
                          <a:solidFill>
                            <a:srgbClr val="3F4A4E"/>
                          </a:solidFill>
                          <a:latin typeface="Arial"/>
                        </a:rPr>
                        <a:t>$14.0K</a:t>
                      </a:r>
                    </a:p>
                  </a:txBody>
                  <a:tcPr>
                    <a:solidFill>
                      <a:srgbClr val="F7F6F2"/>
                    </a:solidFill>
                  </a:tcPr>
                </a:tc>
              </a:tr>
              <a:tr h="566928">
                <a:tc>
                  <a:txBody>
                    <a:bodyPr/>
                    <a:lstStyle/>
                    <a:p>
                      <a:r>
                        <a:rPr sz="1300" b="0">
                          <a:solidFill>
                            <a:srgbClr val="3F4A4E"/>
                          </a:solidFill>
                          <a:latin typeface="Arial"/>
                        </a:rPr>
                        <a:t>Rent / occupancy</a:t>
                      </a:r>
                    </a:p>
                  </a:txBody>
                  <a:tcPr>
                    <a:solidFill>
                      <a:srgbClr val="FFFFFF"/>
                    </a:solidFill>
                  </a:tcPr>
                </a:tc>
                <a:tc>
                  <a:txBody>
                    <a:bodyPr/>
                    <a:lstStyle/>
                    <a:p>
                      <a:pPr algn="r"/>
                      <a:r>
                        <a:rPr sz="1300" b="0">
                          <a:solidFill>
                            <a:srgbClr val="3F4A4E"/>
                          </a:solidFill>
                          <a:latin typeface="Arial"/>
                        </a:rPr>
                        <a:t>2026 ACT/FOR</a:t>
                      </a:r>
                    </a:p>
                  </a:txBody>
                  <a:tcPr>
                    <a:solidFill>
                      <a:srgbClr val="FFFFFF"/>
                    </a:solidFill>
                  </a:tcPr>
                </a:tc>
                <a:tc>
                  <a:txBody>
                    <a:bodyPr/>
                    <a:lstStyle/>
                    <a:p>
                      <a:pPr algn="r"/>
                      <a:r>
                        <a:rPr sz="1300" b="0">
                          <a:solidFill>
                            <a:srgbClr val="3F4A4E"/>
                          </a:solidFill>
                          <a:latin typeface="Arial"/>
                        </a:rPr>
                        <a:t>$15.3K</a:t>
                      </a:r>
                    </a:p>
                  </a:txBody>
                  <a:tcPr>
                    <a:solidFill>
                      <a:srgbClr val="FFFFFF"/>
                    </a:solidFill>
                  </a:tcPr>
                </a:tc>
                <a:tc>
                  <a:txBody>
                    <a:bodyPr/>
                    <a:lstStyle/>
                    <a:p>
                      <a:pPr algn="r"/>
                      <a:r>
                        <a:rPr sz="1300" b="0">
                          <a:solidFill>
                            <a:srgbClr val="3F4A4E"/>
                          </a:solidFill>
                          <a:latin typeface="Arial"/>
                        </a:rPr>
                        <a:t>$0</a:t>
                      </a:r>
                    </a:p>
                  </a:txBody>
                  <a:tcPr>
                    <a:solidFill>
                      <a:srgbClr val="FFFFFF"/>
                    </a:solidFill>
                  </a:tcPr>
                </a:tc>
              </a:tr>
              <a:tr h="566928">
                <a:tc>
                  <a:txBody>
                    <a:bodyPr/>
                    <a:lstStyle/>
                    <a:p>
                      <a:r>
                        <a:rPr sz="1300" b="1">
                          <a:solidFill>
                            <a:srgbClr val="22424B"/>
                          </a:solidFill>
                          <a:latin typeface="Arial"/>
                        </a:rPr>
                        <a:t>NET OPERATING PROFIT</a:t>
                      </a:r>
                    </a:p>
                  </a:txBody>
                  <a:tcPr>
                    <a:solidFill>
                      <a:srgbClr val="F7F6F2"/>
                    </a:solidFill>
                  </a:tcPr>
                </a:tc>
                <a:tc>
                  <a:txBody>
                    <a:bodyPr/>
                    <a:lstStyle/>
                    <a:p>
                      <a:pPr algn="r"/>
                      <a:r>
                        <a:rPr sz="1300" b="1">
                          <a:solidFill>
                            <a:srgbClr val="22424B"/>
                          </a:solidFill>
                          <a:latin typeface="Arial"/>
                        </a:rPr>
                        <a:t>2026 ACT/FOR</a:t>
                      </a:r>
                    </a:p>
                  </a:txBody>
                  <a:tcPr>
                    <a:solidFill>
                      <a:srgbClr val="F7F6F2"/>
                    </a:solidFill>
                  </a:tcPr>
                </a:tc>
                <a:tc>
                  <a:txBody>
                    <a:bodyPr/>
                    <a:lstStyle/>
                    <a:p>
                      <a:pPr algn="r"/>
                      <a:r>
                        <a:rPr sz="1300" b="1">
                          <a:solidFill>
                            <a:srgbClr val="22424B"/>
                          </a:solidFill>
                          <a:latin typeface="Arial"/>
                        </a:rPr>
                        <a:t>+$16.1K</a:t>
                      </a:r>
                    </a:p>
                  </a:txBody>
                  <a:tcPr>
                    <a:solidFill>
                      <a:srgbClr val="F7F6F2"/>
                    </a:solidFill>
                  </a:tcPr>
                </a:tc>
                <a:tc>
                  <a:txBody>
                    <a:bodyPr/>
                    <a:lstStyle/>
                    <a:p>
                      <a:pPr algn="r"/>
                      <a:r>
                        <a:rPr sz="1300" b="1">
                          <a:solidFill>
                            <a:srgbClr val="22424B"/>
                          </a:solidFill>
                          <a:latin typeface="Arial"/>
                        </a:rPr>
                        <a:t>+$87.1K</a:t>
                      </a:r>
                    </a:p>
                  </a:txBody>
                  <a:tcPr>
                    <a:solidFill>
                      <a:srgbClr val="F7F6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Current, modified &amp; 2027 — both outlets</a:t>
            </a:r>
          </a:p>
        </p:txBody>
      </p:sp>
      <p:graphicFrame>
        <p:nvGraphicFramePr>
          <p:cNvPr id="4" name="Table 3"/>
          <p:cNvGraphicFramePr>
            <a:graphicFrameLocks noGrp="1"/>
          </p:cNvGraphicFramePr>
          <p:nvPr/>
        </p:nvGraphicFramePr>
        <p:xfrm>
          <a:off x="950976" y="2286000"/>
          <a:ext cx="11521437" cy="5120640"/>
        </p:xfrm>
        <a:graphic>
          <a:graphicData uri="http://schemas.openxmlformats.org/drawingml/2006/table">
            <a:tbl>
              <a:tblPr firstRow="1" bandRow="1">
                <a:tableStyleId>{5C22544A-7EE6-4342-B048-85BDC9FD1C3A}</a:tableStyleId>
              </a:tblPr>
              <a:tblGrid>
                <a:gridCol w="3840480"/>
                <a:gridCol w="2560319"/>
                <a:gridCol w="2560319"/>
                <a:gridCol w="2560319"/>
              </a:tblGrid>
              <a:tr h="568960">
                <a:tc>
                  <a:txBody>
                    <a:bodyPr/>
                    <a:lstStyle/>
                    <a:p>
                      <a:pPr>
                        <a:defRPr sz="1200" b="1">
                          <a:solidFill>
                            <a:srgbClr val="FFFFFF"/>
                          </a:solidFill>
                          <a:latin typeface="Arial"/>
                        </a:defRPr>
                      </a:pPr>
                    </a:p>
                  </a:txBody>
                  <a:tcPr marL="36576" marR="45720">
                    <a:solidFill>
                      <a:srgbClr val="22424B"/>
                    </a:solidFill>
                  </a:tcPr>
                </a:tc>
                <a:tc>
                  <a:txBody>
                    <a:bodyPr/>
                    <a:lstStyle/>
                    <a:p>
                      <a:pPr algn="r"/>
                      <a:r>
                        <a:rPr sz="1200" b="1">
                          <a:solidFill>
                            <a:srgbClr val="FFFFFF"/>
                          </a:solidFill>
                          <a:latin typeface="Arial"/>
                        </a:rPr>
                        <a:t>2026 ACT/FOR</a:t>
                      </a:r>
                    </a:p>
                  </a:txBody>
                  <a:tcPr marL="36576" marR="45720">
                    <a:solidFill>
                      <a:srgbClr val="22424B"/>
                    </a:solidFill>
                  </a:tcPr>
                </a:tc>
                <a:tc>
                  <a:txBody>
                    <a:bodyPr/>
                    <a:lstStyle/>
                    <a:p>
                      <a:pPr algn="r"/>
                      <a:r>
                        <a:rPr sz="1200" b="1">
                          <a:solidFill>
                            <a:srgbClr val="FFFFFF"/>
                          </a:solidFill>
                          <a:latin typeface="Arial"/>
                        </a:rPr>
                        <a:t>2026 MODIFIED · 8/1 GO-LIVE</a:t>
                      </a:r>
                    </a:p>
                  </a:txBody>
                  <a:tcPr marL="36576" marR="45720">
                    <a:solidFill>
                      <a:srgbClr val="22424B"/>
                    </a:solidFill>
                  </a:tcPr>
                </a:tc>
                <a:tc>
                  <a:txBody>
                    <a:bodyPr/>
                    <a:lstStyle/>
                    <a:p>
                      <a:pPr algn="r"/>
                      <a:r>
                        <a:rPr sz="1200" b="1">
                          <a:solidFill>
                            <a:srgbClr val="FFFFFF"/>
                          </a:solidFill>
                          <a:latin typeface="Arial"/>
                        </a:rPr>
                        <a:t>2027 PLAN</a:t>
                      </a:r>
                    </a:p>
                  </a:txBody>
                  <a:tcPr marL="36576" marR="45720">
                    <a:solidFill>
                      <a:srgbClr val="22424B"/>
                    </a:solidFill>
                  </a:tcPr>
                </a:tc>
              </a:tr>
              <a:tr h="568960">
                <a:tc>
                  <a:txBody>
                    <a:bodyPr/>
                    <a:lstStyle/>
                    <a:p>
                      <a:r>
                        <a:rPr sz="1400" b="0">
                          <a:solidFill>
                            <a:srgbClr val="3F4A4E"/>
                          </a:solidFill>
                          <a:latin typeface="Arial"/>
                        </a:rPr>
                        <a:t>Total income</a:t>
                      </a:r>
                    </a:p>
                  </a:txBody>
                  <a:tcPr marL="36576" marR="45720">
                    <a:solidFill>
                      <a:srgbClr val="F7F6F2"/>
                    </a:solidFill>
                  </a:tcPr>
                </a:tc>
                <a:tc>
                  <a:txBody>
                    <a:bodyPr/>
                    <a:lstStyle/>
                    <a:p>
                      <a:pPr algn="r"/>
                      <a:r>
                        <a:rPr sz="1400" b="0">
                          <a:solidFill>
                            <a:srgbClr val="3F4A4E"/>
                          </a:solidFill>
                          <a:latin typeface="Arial"/>
                        </a:rPr>
                        <a:t>$640,667</a:t>
                      </a:r>
                    </a:p>
                  </a:txBody>
                  <a:tcPr marL="36576" marR="45720">
                    <a:solidFill>
                      <a:srgbClr val="F7F6F2"/>
                    </a:solidFill>
                  </a:tcPr>
                </a:tc>
                <a:tc>
                  <a:txBody>
                    <a:bodyPr/>
                    <a:lstStyle/>
                    <a:p>
                      <a:pPr algn="r"/>
                      <a:r>
                        <a:rPr sz="1400" b="0">
                          <a:solidFill>
                            <a:srgbClr val="3F4A4E"/>
                          </a:solidFill>
                          <a:latin typeface="Arial"/>
                        </a:rPr>
                        <a:t>$669,636</a:t>
                      </a:r>
                    </a:p>
                  </a:txBody>
                  <a:tcPr marL="36576" marR="45720">
                    <a:solidFill>
                      <a:srgbClr val="F7F6F2"/>
                    </a:solidFill>
                  </a:tcPr>
                </a:tc>
                <a:tc>
                  <a:txBody>
                    <a:bodyPr/>
                    <a:lstStyle/>
                    <a:p>
                      <a:pPr algn="r"/>
                      <a:r>
                        <a:rPr sz="1400" b="1">
                          <a:solidFill>
                            <a:srgbClr val="3F4A4E"/>
                          </a:solidFill>
                          <a:latin typeface="Arial"/>
                        </a:rPr>
                        <a:t>$720,967</a:t>
                      </a:r>
                    </a:p>
                  </a:txBody>
                  <a:tcPr marL="36576" marR="45720">
                    <a:solidFill>
                      <a:srgbClr val="F7F6F2"/>
                    </a:solidFill>
                  </a:tcPr>
                </a:tc>
              </a:tr>
              <a:tr h="568960">
                <a:tc>
                  <a:txBody>
                    <a:bodyPr/>
                    <a:lstStyle/>
                    <a:p>
                      <a:r>
                        <a:rPr sz="1400" b="0">
                          <a:solidFill>
                            <a:srgbClr val="3F4A4E"/>
                          </a:solidFill>
                          <a:latin typeface="Arial"/>
                        </a:rPr>
                        <a:t>Cost of goods sold</a:t>
                      </a:r>
                    </a:p>
                  </a:txBody>
                  <a:tcPr marL="36576" marR="45720">
                    <a:solidFill>
                      <a:srgbClr val="FFFFFF"/>
                    </a:solidFill>
                  </a:tcPr>
                </a:tc>
                <a:tc>
                  <a:txBody>
                    <a:bodyPr/>
                    <a:lstStyle/>
                    <a:p>
                      <a:pPr algn="r"/>
                      <a:r>
                        <a:rPr sz="1400" b="0">
                          <a:solidFill>
                            <a:srgbClr val="3F4A4E"/>
                          </a:solidFill>
                          <a:latin typeface="Arial"/>
                        </a:rPr>
                        <a:t>$227,562</a:t>
                      </a:r>
                    </a:p>
                  </a:txBody>
                  <a:tcPr marL="36576" marR="45720">
                    <a:solidFill>
                      <a:srgbClr val="FFFFFF"/>
                    </a:solidFill>
                  </a:tcPr>
                </a:tc>
                <a:tc>
                  <a:txBody>
                    <a:bodyPr/>
                    <a:lstStyle/>
                    <a:p>
                      <a:pPr algn="r"/>
                      <a:r>
                        <a:rPr sz="1400" b="0">
                          <a:solidFill>
                            <a:srgbClr val="3F4A4E"/>
                          </a:solidFill>
                          <a:latin typeface="Arial"/>
                        </a:rPr>
                        <a:t>$226,693</a:t>
                      </a:r>
                    </a:p>
                  </a:txBody>
                  <a:tcPr marL="36576" marR="45720">
                    <a:solidFill>
                      <a:srgbClr val="FFFFFF"/>
                    </a:solidFill>
                  </a:tcPr>
                </a:tc>
                <a:tc>
                  <a:txBody>
                    <a:bodyPr/>
                    <a:lstStyle/>
                    <a:p>
                      <a:pPr algn="r"/>
                      <a:r>
                        <a:rPr sz="1400" b="1">
                          <a:solidFill>
                            <a:srgbClr val="3F4A4E"/>
                          </a:solidFill>
                          <a:latin typeface="Arial"/>
                        </a:rPr>
                        <a:t>$248,612</a:t>
                      </a:r>
                    </a:p>
                  </a:txBody>
                  <a:tcPr marL="36576" marR="45720">
                    <a:solidFill>
                      <a:srgbClr val="FFFFFF"/>
                    </a:solidFill>
                  </a:tcPr>
                </a:tc>
              </a:tr>
              <a:tr h="568960">
                <a:tc>
                  <a:txBody>
                    <a:bodyPr/>
                    <a:lstStyle/>
                    <a:p>
                      <a:r>
                        <a:rPr sz="1400" b="1">
                          <a:solidFill>
                            <a:srgbClr val="22424B"/>
                          </a:solidFill>
                          <a:latin typeface="Arial"/>
                        </a:rPr>
                        <a:t>Gross profit</a:t>
                      </a:r>
                    </a:p>
                  </a:txBody>
                  <a:tcPr marL="36576" marR="45720">
                    <a:solidFill>
                      <a:srgbClr val="F7F6F2"/>
                    </a:solidFill>
                  </a:tcPr>
                </a:tc>
                <a:tc>
                  <a:txBody>
                    <a:bodyPr/>
                    <a:lstStyle/>
                    <a:p>
                      <a:pPr algn="r"/>
                      <a:r>
                        <a:rPr sz="1400" b="1">
                          <a:solidFill>
                            <a:srgbClr val="22424B"/>
                          </a:solidFill>
                          <a:latin typeface="Arial"/>
                        </a:rPr>
                        <a:t>$413,105</a:t>
                      </a:r>
                    </a:p>
                  </a:txBody>
                  <a:tcPr marL="36576" marR="45720">
                    <a:solidFill>
                      <a:srgbClr val="F7F6F2"/>
                    </a:solidFill>
                  </a:tcPr>
                </a:tc>
                <a:tc>
                  <a:txBody>
                    <a:bodyPr/>
                    <a:lstStyle/>
                    <a:p>
                      <a:pPr algn="r"/>
                      <a:r>
                        <a:rPr sz="1400" b="1">
                          <a:solidFill>
                            <a:srgbClr val="22424B"/>
                          </a:solidFill>
                          <a:latin typeface="Arial"/>
                        </a:rPr>
                        <a:t>$442,943</a:t>
                      </a:r>
                    </a:p>
                  </a:txBody>
                  <a:tcPr marL="36576" marR="45720">
                    <a:solidFill>
                      <a:srgbClr val="F7F6F2"/>
                    </a:solidFill>
                  </a:tcPr>
                </a:tc>
                <a:tc>
                  <a:txBody>
                    <a:bodyPr/>
                    <a:lstStyle/>
                    <a:p>
                      <a:pPr algn="r"/>
                      <a:r>
                        <a:rPr sz="1400" b="1">
                          <a:solidFill>
                            <a:srgbClr val="22424B"/>
                          </a:solidFill>
                          <a:latin typeface="Arial"/>
                        </a:rPr>
                        <a:t>$472,355</a:t>
                      </a:r>
                    </a:p>
                  </a:txBody>
                  <a:tcPr marL="36576" marR="45720">
                    <a:solidFill>
                      <a:srgbClr val="F7F6F2"/>
                    </a:solidFill>
                  </a:tcPr>
                </a:tc>
              </a:tr>
              <a:tr h="568960">
                <a:tc>
                  <a:txBody>
                    <a:bodyPr/>
                    <a:lstStyle/>
                    <a:p>
                      <a:r>
                        <a:rPr sz="1400" b="0">
                          <a:solidFill>
                            <a:srgbClr val="3F4A4E"/>
                          </a:solidFill>
                          <a:latin typeface="Arial"/>
                        </a:rPr>
                        <a:t>Labor</a:t>
                      </a:r>
                    </a:p>
                  </a:txBody>
                  <a:tcPr marL="36576" marR="45720">
                    <a:solidFill>
                      <a:srgbClr val="FFFFFF"/>
                    </a:solidFill>
                  </a:tcPr>
                </a:tc>
                <a:tc>
                  <a:txBody>
                    <a:bodyPr/>
                    <a:lstStyle/>
                    <a:p>
                      <a:pPr algn="r"/>
                      <a:r>
                        <a:rPr sz="1400" b="0">
                          <a:solidFill>
                            <a:srgbClr val="3F4A4E"/>
                          </a:solidFill>
                          <a:latin typeface="Arial"/>
                        </a:rPr>
                        <a:t>$250,304</a:t>
                      </a:r>
                    </a:p>
                  </a:txBody>
                  <a:tcPr marL="36576" marR="45720">
                    <a:solidFill>
                      <a:srgbClr val="FFFFFF"/>
                    </a:solidFill>
                  </a:tcPr>
                </a:tc>
                <a:tc>
                  <a:txBody>
                    <a:bodyPr/>
                    <a:lstStyle/>
                    <a:p>
                      <a:pPr algn="r"/>
                      <a:r>
                        <a:rPr sz="1400" b="0">
                          <a:solidFill>
                            <a:srgbClr val="3F4A4E"/>
                          </a:solidFill>
                          <a:latin typeface="Arial"/>
                        </a:rPr>
                        <a:t>$235,512</a:t>
                      </a:r>
                    </a:p>
                  </a:txBody>
                  <a:tcPr marL="36576" marR="45720">
                    <a:solidFill>
                      <a:srgbClr val="FFFFFF"/>
                    </a:solidFill>
                  </a:tcPr>
                </a:tc>
                <a:tc>
                  <a:txBody>
                    <a:bodyPr/>
                    <a:lstStyle/>
                    <a:p>
                      <a:pPr algn="r"/>
                      <a:r>
                        <a:rPr sz="1400" b="1">
                          <a:solidFill>
                            <a:srgbClr val="3F4A4E"/>
                          </a:solidFill>
                          <a:latin typeface="Arial"/>
                        </a:rPr>
                        <a:t>$191,929</a:t>
                      </a:r>
                    </a:p>
                  </a:txBody>
                  <a:tcPr marL="36576" marR="45720">
                    <a:solidFill>
                      <a:srgbClr val="FFFFFF"/>
                    </a:solidFill>
                  </a:tcPr>
                </a:tc>
              </a:tr>
              <a:tr h="568960">
                <a:tc>
                  <a:txBody>
                    <a:bodyPr/>
                    <a:lstStyle/>
                    <a:p>
                      <a:r>
                        <a:rPr sz="1400" b="0">
                          <a:solidFill>
                            <a:srgbClr val="3F4A4E"/>
                          </a:solidFill>
                          <a:latin typeface="Arial"/>
                        </a:rPr>
                        <a:t>Operating expenses</a:t>
                      </a:r>
                    </a:p>
                  </a:txBody>
                  <a:tcPr marL="36576" marR="45720">
                    <a:solidFill>
                      <a:srgbClr val="F7F6F2"/>
                    </a:solidFill>
                  </a:tcPr>
                </a:tc>
                <a:tc>
                  <a:txBody>
                    <a:bodyPr/>
                    <a:lstStyle/>
                    <a:p>
                      <a:pPr algn="r"/>
                      <a:r>
                        <a:rPr sz="1400" b="0">
                          <a:solidFill>
                            <a:srgbClr val="3F4A4E"/>
                          </a:solidFill>
                          <a:latin typeface="Arial"/>
                        </a:rPr>
                        <a:t>$205,587</a:t>
                      </a:r>
                    </a:p>
                  </a:txBody>
                  <a:tcPr marL="36576" marR="45720">
                    <a:solidFill>
                      <a:srgbClr val="F7F6F2"/>
                    </a:solidFill>
                  </a:tcPr>
                </a:tc>
                <a:tc>
                  <a:txBody>
                    <a:bodyPr/>
                    <a:lstStyle/>
                    <a:p>
                      <a:pPr algn="r"/>
                      <a:r>
                        <a:rPr sz="1400" b="0">
                          <a:solidFill>
                            <a:srgbClr val="3F4A4E"/>
                          </a:solidFill>
                          <a:latin typeface="Arial"/>
                        </a:rPr>
                        <a:t>$193,416</a:t>
                      </a:r>
                    </a:p>
                  </a:txBody>
                  <a:tcPr marL="36576" marR="45720">
                    <a:solidFill>
                      <a:srgbClr val="F7F6F2"/>
                    </a:solidFill>
                  </a:tcPr>
                </a:tc>
                <a:tc>
                  <a:txBody>
                    <a:bodyPr/>
                    <a:lstStyle/>
                    <a:p>
                      <a:pPr algn="r"/>
                      <a:r>
                        <a:rPr sz="1400" b="1">
                          <a:solidFill>
                            <a:srgbClr val="3F4A4E"/>
                          </a:solidFill>
                          <a:latin typeface="Arial"/>
                        </a:rPr>
                        <a:t>$163,440</a:t>
                      </a:r>
                    </a:p>
                  </a:txBody>
                  <a:tcPr marL="36576" marR="45720">
                    <a:solidFill>
                      <a:srgbClr val="F7F6F2"/>
                    </a:solidFill>
                  </a:tcPr>
                </a:tc>
              </a:tr>
              <a:tr h="568960">
                <a:tc>
                  <a:txBody>
                    <a:bodyPr/>
                    <a:lstStyle/>
                    <a:p>
                      <a:r>
                        <a:rPr sz="1400" b="0">
                          <a:solidFill>
                            <a:srgbClr val="3F4A4E"/>
                          </a:solidFill>
                          <a:latin typeface="Arial"/>
                        </a:rPr>
                        <a:t>Management fee</a:t>
                      </a:r>
                    </a:p>
                  </a:txBody>
                  <a:tcPr marL="36576" marR="45720">
                    <a:solidFill>
                      <a:srgbClr val="FFFFFF"/>
                    </a:solidFill>
                  </a:tcPr>
                </a:tc>
                <a:tc>
                  <a:txBody>
                    <a:bodyPr/>
                    <a:lstStyle/>
                    <a:p>
                      <a:pPr algn="r"/>
                      <a:r>
                        <a:rPr sz="1400" b="0">
                          <a:solidFill>
                            <a:srgbClr val="3F4A4E"/>
                          </a:solidFill>
                          <a:latin typeface="Arial"/>
                        </a:rPr>
                        <a:t>$96,000</a:t>
                      </a:r>
                    </a:p>
                  </a:txBody>
                  <a:tcPr marL="36576" marR="45720">
                    <a:solidFill>
                      <a:srgbClr val="FFFFFF"/>
                    </a:solidFill>
                  </a:tcPr>
                </a:tc>
                <a:tc>
                  <a:txBody>
                    <a:bodyPr/>
                    <a:lstStyle/>
                    <a:p>
                      <a:pPr algn="r"/>
                      <a:r>
                        <a:rPr sz="1400" b="0">
                          <a:solidFill>
                            <a:srgbClr val="3F4A4E"/>
                          </a:solidFill>
                          <a:latin typeface="Arial"/>
                        </a:rPr>
                        <a:t>$70,293</a:t>
                      </a:r>
                    </a:p>
                  </a:txBody>
                  <a:tcPr marL="36576" marR="45720">
                    <a:solidFill>
                      <a:srgbClr val="FFFFFF"/>
                    </a:solidFill>
                  </a:tcPr>
                </a:tc>
                <a:tc>
                  <a:txBody>
                    <a:bodyPr/>
                    <a:lstStyle/>
                    <a:p>
                      <a:pPr algn="r"/>
                      <a:r>
                        <a:rPr sz="1400" b="1">
                          <a:solidFill>
                            <a:srgbClr val="3F4A4E"/>
                          </a:solidFill>
                          <a:latin typeface="Arial"/>
                        </a:rPr>
                        <a:t>$28,838</a:t>
                      </a:r>
                    </a:p>
                  </a:txBody>
                  <a:tcPr marL="36576" marR="45720">
                    <a:solidFill>
                      <a:srgbClr val="FFFFFF"/>
                    </a:solidFill>
                  </a:tcPr>
                </a:tc>
              </a:tr>
              <a:tr h="568960">
                <a:tc>
                  <a:txBody>
                    <a:bodyPr/>
                    <a:lstStyle/>
                    <a:p>
                      <a:r>
                        <a:rPr sz="1400" b="0">
                          <a:solidFill>
                            <a:srgbClr val="3F4A4E"/>
                          </a:solidFill>
                          <a:latin typeface="Arial"/>
                        </a:rPr>
                        <a:t>Rent / occupancy</a:t>
                      </a:r>
                    </a:p>
                  </a:txBody>
                  <a:tcPr marL="36576" marR="45720">
                    <a:solidFill>
                      <a:srgbClr val="F7F6F2"/>
                    </a:solidFill>
                  </a:tcPr>
                </a:tc>
                <a:tc>
                  <a:txBody>
                    <a:bodyPr/>
                    <a:lstStyle/>
                    <a:p>
                      <a:pPr algn="r"/>
                      <a:r>
                        <a:rPr sz="1400" b="0">
                          <a:solidFill>
                            <a:srgbClr val="3F4A4E"/>
                          </a:solidFill>
                          <a:latin typeface="Arial"/>
                        </a:rPr>
                        <a:t>$38,722</a:t>
                      </a:r>
                    </a:p>
                  </a:txBody>
                  <a:tcPr marL="36576" marR="45720">
                    <a:solidFill>
                      <a:srgbClr val="F7F6F2"/>
                    </a:solidFill>
                  </a:tcPr>
                </a:tc>
                <a:tc>
                  <a:txBody>
                    <a:bodyPr/>
                    <a:lstStyle/>
                    <a:p>
                      <a:pPr algn="r"/>
                      <a:r>
                        <a:rPr sz="1400" b="0">
                          <a:solidFill>
                            <a:srgbClr val="3F4A4E"/>
                          </a:solidFill>
                          <a:latin typeface="Arial"/>
                        </a:rPr>
                        <a:t>$25,022</a:t>
                      </a:r>
                    </a:p>
                  </a:txBody>
                  <a:tcPr marL="36576" marR="45720">
                    <a:solidFill>
                      <a:srgbClr val="F7F6F2"/>
                    </a:solidFill>
                  </a:tcPr>
                </a:tc>
                <a:tc>
                  <a:txBody>
                    <a:bodyPr/>
                    <a:lstStyle/>
                    <a:p>
                      <a:pPr algn="r"/>
                      <a:r>
                        <a:rPr sz="1400" b="1">
                          <a:solidFill>
                            <a:srgbClr val="3F4A4E"/>
                          </a:solidFill>
                          <a:latin typeface="Arial"/>
                        </a:rPr>
                        <a:t>$0</a:t>
                      </a:r>
                    </a:p>
                  </a:txBody>
                  <a:tcPr marL="36576" marR="45720">
                    <a:solidFill>
                      <a:srgbClr val="F7F6F2"/>
                    </a:solidFill>
                  </a:tcPr>
                </a:tc>
              </a:tr>
              <a:tr h="568960">
                <a:tc>
                  <a:txBody>
                    <a:bodyPr/>
                    <a:lstStyle/>
                    <a:p>
                      <a:r>
                        <a:rPr sz="1400" b="1">
                          <a:solidFill>
                            <a:srgbClr val="22424B"/>
                          </a:solidFill>
                          <a:latin typeface="Arial"/>
                        </a:rPr>
                        <a:t>NET OPERATING PROFIT</a:t>
                      </a:r>
                    </a:p>
                  </a:txBody>
                  <a:tcPr marL="36576" marR="45720">
                    <a:solidFill>
                      <a:srgbClr val="FFFFFF"/>
                    </a:solidFill>
                  </a:tcPr>
                </a:tc>
                <a:tc>
                  <a:txBody>
                    <a:bodyPr/>
                    <a:lstStyle/>
                    <a:p>
                      <a:pPr algn="r"/>
                      <a:r>
                        <a:rPr sz="1400" b="1">
                          <a:solidFill>
                            <a:srgbClr val="22424B"/>
                          </a:solidFill>
                          <a:latin typeface="Arial"/>
                        </a:rPr>
                        <a:t>($177,508)</a:t>
                      </a:r>
                    </a:p>
                  </a:txBody>
                  <a:tcPr marL="36576" marR="45720">
                    <a:solidFill>
                      <a:srgbClr val="FFFFFF"/>
                    </a:solidFill>
                  </a:tcPr>
                </a:tc>
                <a:tc>
                  <a:txBody>
                    <a:bodyPr/>
                    <a:lstStyle/>
                    <a:p>
                      <a:pPr algn="r"/>
                      <a:r>
                        <a:rPr sz="1400" b="1">
                          <a:solidFill>
                            <a:srgbClr val="22424B"/>
                          </a:solidFill>
                          <a:latin typeface="Arial"/>
                        </a:rPr>
                        <a:t>($81,300)</a:t>
                      </a:r>
                    </a:p>
                  </a:txBody>
                  <a:tcPr marL="36576" marR="45720">
                    <a:solidFill>
                      <a:srgbClr val="FFFFFF"/>
                    </a:solidFill>
                  </a:tcPr>
                </a:tc>
                <a:tc>
                  <a:txBody>
                    <a:bodyPr/>
                    <a:lstStyle/>
                    <a:p>
                      <a:pPr algn="r"/>
                      <a:r>
                        <a:rPr sz="1400" b="1">
                          <a:solidFill>
                            <a:srgbClr val="22424B"/>
                          </a:solidFill>
                          <a:latin typeface="Arial"/>
                        </a:rPr>
                        <a:t>$88,148</a:t>
                      </a:r>
                    </a:p>
                  </a:txBody>
                  <a:tcPr marL="36576" marR="45720">
                    <a:solidFill>
                      <a:srgbClr val="FFFFFF"/>
                    </a:solidFill>
                  </a:tcPr>
                </a:tc>
              </a:tr>
            </a:tbl>
          </a:graphicData>
        </a:graphic>
      </p:graphicFrame>
      <p:sp>
        <p:nvSpPr>
          <p:cNvPr id="5" name="TextBox 4"/>
          <p:cNvSpPr txBox="1"/>
          <p:nvPr/>
        </p:nvSpPr>
        <p:spPr>
          <a:xfrm>
            <a:off x="12893040" y="2377440"/>
            <a:ext cx="4754880" cy="5943600"/>
          </a:xfrm>
          <a:prstGeom prst="rect">
            <a:avLst/>
          </a:prstGeom>
          <a:noFill/>
        </p:spPr>
        <p:txBody>
          <a:bodyPr wrap="square">
            <a:spAutoFit/>
          </a:bodyPr>
          <a:lstStyle/>
          <a:p>
            <a:pPr>
              <a:spcAft>
                <a:spcPts val="800"/>
              </a:spcAft>
            </a:pPr>
            <a:r>
              <a:rPr sz="1300" b="1">
                <a:solidFill>
                  <a:srgbClr val="1E7E8C"/>
                </a:solidFill>
                <a:latin typeface="Arial"/>
              </a:rPr>
              <a:t>BY OUTLET — NOP</a:t>
            </a:r>
          </a:p>
          <a:p>
            <a:pPr>
              <a:spcAft>
                <a:spcPts val="800"/>
              </a:spcAft>
            </a:pPr>
            <a:r>
              <a:rPr sz="1400" b="0">
                <a:solidFill>
                  <a:srgbClr val="3F4A4E"/>
                </a:solidFill>
                <a:latin typeface="Arial"/>
              </a:rPr>
              <a:t>Little Wing:  ($164,007) → ($97,361) → +$1,034 — turns profitable</a:t>
            </a:r>
          </a:p>
          <a:p>
            <a:pPr>
              <a:spcAft>
                <a:spcPts val="800"/>
              </a:spcAft>
            </a:pPr>
            <a:r>
              <a:rPr sz="1400" b="0">
                <a:solidFill>
                  <a:srgbClr val="3F4A4E"/>
                </a:solidFill>
                <a:latin typeface="Arial"/>
              </a:rPr>
              <a:t>Vessel:  ($13,501) → +$16,061 → +$87,114 (go-live 9/1 — Aug events contracted)</a:t>
            </a:r>
          </a:p>
          <a:p>
            <a:pPr>
              <a:spcAft>
                <a:spcPts val="800"/>
              </a:spcAft>
            </a:pPr>
            <a:r>
              <a:rPr sz="1400" b="0">
                <a:solidFill>
                  <a:srgbClr val="3F4A4E"/>
                </a:solidFill>
                <a:latin typeface="Arial"/>
              </a:rPr>
              <a:t/>
            </a:r>
          </a:p>
          <a:p>
            <a:pPr>
              <a:spcAft>
                <a:spcPts val="800"/>
              </a:spcAft>
            </a:pPr>
            <a:r>
              <a:rPr sz="1300" b="1">
                <a:solidFill>
                  <a:srgbClr val="1E7E8C"/>
                </a:solidFill>
                <a:latin typeface="Arial"/>
              </a:rPr>
              <a:t>THE SWING</a:t>
            </a:r>
          </a:p>
          <a:p>
            <a:pPr>
              <a:spcAft>
                <a:spcPts val="800"/>
              </a:spcAft>
            </a:pPr>
            <a:r>
              <a:rPr sz="1400" b="0">
                <a:solidFill>
                  <a:srgbClr val="3F4A4E"/>
                </a:solidFill>
                <a:latin typeface="Arial"/>
              </a:rPr>
              <a:t>($177,508) today to +$88,148 in 2027 — a $265,656 turnaround, every lever tied to the operating model</a:t>
            </a:r>
          </a:p>
          <a:p>
            <a:pPr>
              <a:spcAft>
                <a:spcPts val="800"/>
              </a:spcAft>
            </a:pPr>
            <a:r>
              <a:rPr sz="1400" b="0">
                <a:solidFill>
                  <a:srgbClr val="3F4A4E"/>
                </a:solidFill>
                <a:latin typeface="Arial"/>
              </a:rPr>
              <a:t/>
            </a:r>
          </a:p>
          <a:p>
            <a:pPr>
              <a:spcAft>
                <a:spcPts val="800"/>
              </a:spcAft>
            </a:pPr>
            <a:r>
              <a:rPr sz="1300" b="1">
                <a:solidFill>
                  <a:srgbClr val="1E7E8C"/>
                </a:solidFill>
                <a:latin typeface="Arial"/>
              </a:rPr>
              <a:t>IMMEDIATE IMPACT — AUG 1 THROUGH YEAR-END</a:t>
            </a:r>
          </a:p>
          <a:p>
            <a:pPr>
              <a:spcAft>
                <a:spcPts val="800"/>
              </a:spcAft>
            </a:pPr>
            <a:r>
              <a:rPr sz="1400" b="0">
                <a:solidFill>
                  <a:srgbClr val="3F4A4E"/>
                </a:solidFill>
                <a:latin typeface="Arial"/>
              </a:rPr>
              <a:t>+$96,208 combined by year-end (Little Wing +$66,646 from 8/1 · Vessel +$29,562 from 9/1) vs no changes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2027 by month</a:t>
            </a:r>
          </a:p>
        </p:txBody>
      </p:sp>
      <p:sp>
        <p:nvSpPr>
          <p:cNvPr id="5" name="TextBox 4"/>
          <p:cNvSpPr txBox="1"/>
          <p:nvPr/>
        </p:nvSpPr>
        <p:spPr>
          <a:xfrm>
            <a:off x="950976" y="7772400"/>
            <a:ext cx="16367759" cy="822960"/>
          </a:xfrm>
          <a:prstGeom prst="rect">
            <a:avLst/>
          </a:prstGeom>
          <a:noFill/>
        </p:spPr>
        <p:txBody>
          <a:bodyPr wrap="square">
            <a:spAutoFit/>
          </a:bodyPr>
          <a:lstStyle/>
          <a:p>
            <a:pPr>
              <a:spcBef>
                <a:spcPts val="500"/>
              </a:spcBef>
            </a:pPr>
            <a:r>
              <a:rPr sz="1200" b="0">
                <a:solidFill>
                  <a:srgbClr val="3F4A4E"/>
                </a:solidFill>
                <a:latin typeface="Arial"/>
              </a:rPr>
              <a:t>Vessel + Little Wing, all levers in effect. ALL twelve months profitable — worst month +$3,071. Vessel scaled to ~75 events at the $1,157-NOP/event card (24.9% margin). Uncontrollable expenses include the 4% management fee; rent waived.</a:t>
            </a:r>
          </a:p>
          <a:p>
            <a:pPr>
              <a:spcBef>
                <a:spcPts val="500"/>
              </a:spcBef>
            </a:pPr>
            <a:r>
              <a:rPr sz="1200" b="1">
                <a:solidFill>
                  <a:srgbClr val="1E7E8C"/>
                </a:solidFill>
                <a:latin typeface="Arial"/>
              </a:rPr>
              <a:t>YOY IMPROVEMENT — NET OPERATING PROFIT (2026 w/ changes live 8/1 LW · 9/1 Vessel → 2027)</a:t>
            </a:r>
          </a:p>
          <a:p>
            <a:pPr>
              <a:spcBef>
                <a:spcPts val="500"/>
              </a:spcBef>
            </a:pPr>
            <a:r>
              <a:rPr sz="1300" b="0">
                <a:solidFill>
                  <a:srgbClr val="3F4A4E"/>
                </a:solidFill>
                <a:latin typeface="Arial"/>
              </a:rPr>
              <a:t>•  Little Wing:  ($97,361) → +$1,034   ·   +$98,395 year over year — turns profitable</a:t>
            </a:r>
          </a:p>
          <a:p>
            <a:pPr>
              <a:spcBef>
                <a:spcPts val="500"/>
              </a:spcBef>
            </a:pPr>
            <a:r>
              <a:rPr sz="1300" b="0">
                <a:solidFill>
                  <a:srgbClr val="3F4A4E"/>
                </a:solidFill>
                <a:latin typeface="Arial"/>
              </a:rPr>
              <a:t>•  Vessel:  +$16,061 → +$87,114   ·   +$71,053 year over year</a:t>
            </a:r>
          </a:p>
          <a:p>
            <a:pPr>
              <a:spcBef>
                <a:spcPts val="500"/>
              </a:spcBef>
            </a:pPr>
            <a:r>
              <a:rPr sz="1300" b="1">
                <a:solidFill>
                  <a:srgbClr val="1E7E8C"/>
                </a:solidFill>
                <a:latin typeface="Arial"/>
              </a:rPr>
              <a:t>•  Combined:  ($81,300) → +$88,148   ·   +$169,448 year over year — a $265,656 swing vs the no-changes baseline of ($177,508)</a:t>
            </a:r>
          </a:p>
        </p:txBody>
      </p:sp>
      <p:graphicFrame>
        <p:nvGraphicFramePr>
          <p:cNvPr id="6" name="Table 5"/>
          <p:cNvGraphicFramePr>
            <a:graphicFrameLocks noGrp="1"/>
          </p:cNvGraphicFramePr>
          <p:nvPr/>
        </p:nvGraphicFramePr>
        <p:xfrm>
          <a:off x="502920" y="2468880"/>
          <a:ext cx="17282155" cy="4937760"/>
        </p:xfrm>
        <a:graphic>
          <a:graphicData uri="http://schemas.openxmlformats.org/drawingml/2006/table">
            <a:tbl>
              <a:tblPr firstRow="1" bandRow="1">
                <a:tableStyleId>{5C22544A-7EE6-4342-B048-85BDC9FD1C3A}</a:tableStyleId>
              </a:tblPr>
              <a:tblGrid>
                <a:gridCol w="2651760"/>
                <a:gridCol w="1125415"/>
                <a:gridCol w="1125415"/>
                <a:gridCol w="1125415"/>
                <a:gridCol w="1125415"/>
                <a:gridCol w="1125415"/>
                <a:gridCol w="1125415"/>
                <a:gridCol w="1125415"/>
                <a:gridCol w="1125415"/>
                <a:gridCol w="1125415"/>
                <a:gridCol w="1125415"/>
                <a:gridCol w="1125415"/>
                <a:gridCol w="1125415"/>
                <a:gridCol w="1125415"/>
              </a:tblGrid>
              <a:tr h="548640">
                <a:tc>
                  <a:txBody>
                    <a:bodyPr/>
                    <a:lstStyle/>
                    <a:p>
                      <a:pPr>
                        <a:defRPr sz="1000" b="1">
                          <a:solidFill>
                            <a:srgbClr val="FFFFFF"/>
                          </a:solidFill>
                          <a:latin typeface="Arial"/>
                        </a:defRPr>
                      </a:pPr>
                    </a:p>
                  </a:txBody>
                  <a:tcPr marL="36576" marR="45720">
                    <a:solidFill>
                      <a:srgbClr val="22424B"/>
                    </a:solidFill>
                  </a:tcPr>
                </a:tc>
                <a:tc>
                  <a:txBody>
                    <a:bodyPr/>
                    <a:lstStyle/>
                    <a:p>
                      <a:pPr algn="r"/>
                      <a:r>
                        <a:rPr sz="1000" b="1">
                          <a:solidFill>
                            <a:srgbClr val="FFFFFF"/>
                          </a:solidFill>
                          <a:latin typeface="Arial"/>
                        </a:rPr>
                        <a:t>JAN</a:t>
                      </a:r>
                    </a:p>
                  </a:txBody>
                  <a:tcPr marL="36576" marR="45720">
                    <a:solidFill>
                      <a:srgbClr val="22424B"/>
                    </a:solidFill>
                  </a:tcPr>
                </a:tc>
                <a:tc>
                  <a:txBody>
                    <a:bodyPr/>
                    <a:lstStyle/>
                    <a:p>
                      <a:pPr algn="r"/>
                      <a:r>
                        <a:rPr sz="1000" b="1">
                          <a:solidFill>
                            <a:srgbClr val="FFFFFF"/>
                          </a:solidFill>
                          <a:latin typeface="Arial"/>
                        </a:rPr>
                        <a:t>FEB</a:t>
                      </a:r>
                    </a:p>
                  </a:txBody>
                  <a:tcPr marL="36576" marR="45720">
                    <a:solidFill>
                      <a:srgbClr val="22424B"/>
                    </a:solidFill>
                  </a:tcPr>
                </a:tc>
                <a:tc>
                  <a:txBody>
                    <a:bodyPr/>
                    <a:lstStyle/>
                    <a:p>
                      <a:pPr algn="r"/>
                      <a:r>
                        <a:rPr sz="1000" b="1">
                          <a:solidFill>
                            <a:srgbClr val="FFFFFF"/>
                          </a:solidFill>
                          <a:latin typeface="Arial"/>
                        </a:rPr>
                        <a:t>MAR</a:t>
                      </a:r>
                    </a:p>
                  </a:txBody>
                  <a:tcPr marL="36576" marR="45720">
                    <a:solidFill>
                      <a:srgbClr val="22424B"/>
                    </a:solidFill>
                  </a:tcPr>
                </a:tc>
                <a:tc>
                  <a:txBody>
                    <a:bodyPr/>
                    <a:lstStyle/>
                    <a:p>
                      <a:pPr algn="r"/>
                      <a:r>
                        <a:rPr sz="1000" b="1">
                          <a:solidFill>
                            <a:srgbClr val="FFFFFF"/>
                          </a:solidFill>
                          <a:latin typeface="Arial"/>
                        </a:rPr>
                        <a:t>APR</a:t>
                      </a:r>
                    </a:p>
                  </a:txBody>
                  <a:tcPr marL="36576" marR="45720">
                    <a:solidFill>
                      <a:srgbClr val="22424B"/>
                    </a:solidFill>
                  </a:tcPr>
                </a:tc>
                <a:tc>
                  <a:txBody>
                    <a:bodyPr/>
                    <a:lstStyle/>
                    <a:p>
                      <a:pPr algn="r"/>
                      <a:r>
                        <a:rPr sz="1000" b="1">
                          <a:solidFill>
                            <a:srgbClr val="FFFFFF"/>
                          </a:solidFill>
                          <a:latin typeface="Arial"/>
                        </a:rPr>
                        <a:t>MAY</a:t>
                      </a:r>
                    </a:p>
                  </a:txBody>
                  <a:tcPr marL="36576" marR="45720">
                    <a:solidFill>
                      <a:srgbClr val="22424B"/>
                    </a:solidFill>
                  </a:tcPr>
                </a:tc>
                <a:tc>
                  <a:txBody>
                    <a:bodyPr/>
                    <a:lstStyle/>
                    <a:p>
                      <a:pPr algn="r"/>
                      <a:r>
                        <a:rPr sz="1000" b="1">
                          <a:solidFill>
                            <a:srgbClr val="FFFFFF"/>
                          </a:solidFill>
                          <a:latin typeface="Arial"/>
                        </a:rPr>
                        <a:t>JUN</a:t>
                      </a:r>
                    </a:p>
                  </a:txBody>
                  <a:tcPr marL="36576" marR="45720">
                    <a:solidFill>
                      <a:srgbClr val="22424B"/>
                    </a:solidFill>
                  </a:tcPr>
                </a:tc>
                <a:tc>
                  <a:txBody>
                    <a:bodyPr/>
                    <a:lstStyle/>
                    <a:p>
                      <a:pPr algn="r"/>
                      <a:r>
                        <a:rPr sz="1000" b="1">
                          <a:solidFill>
                            <a:srgbClr val="FFFFFF"/>
                          </a:solidFill>
                          <a:latin typeface="Arial"/>
                        </a:rPr>
                        <a:t>JUL</a:t>
                      </a:r>
                    </a:p>
                  </a:txBody>
                  <a:tcPr marL="36576" marR="45720">
                    <a:solidFill>
                      <a:srgbClr val="22424B"/>
                    </a:solidFill>
                  </a:tcPr>
                </a:tc>
                <a:tc>
                  <a:txBody>
                    <a:bodyPr/>
                    <a:lstStyle/>
                    <a:p>
                      <a:pPr algn="r"/>
                      <a:r>
                        <a:rPr sz="1000" b="1">
                          <a:solidFill>
                            <a:srgbClr val="FFFFFF"/>
                          </a:solidFill>
                          <a:latin typeface="Arial"/>
                        </a:rPr>
                        <a:t>AUG</a:t>
                      </a:r>
                    </a:p>
                  </a:txBody>
                  <a:tcPr marL="36576" marR="45720">
                    <a:solidFill>
                      <a:srgbClr val="22424B"/>
                    </a:solidFill>
                  </a:tcPr>
                </a:tc>
                <a:tc>
                  <a:txBody>
                    <a:bodyPr/>
                    <a:lstStyle/>
                    <a:p>
                      <a:pPr algn="r"/>
                      <a:r>
                        <a:rPr sz="1000" b="1">
                          <a:solidFill>
                            <a:srgbClr val="FFFFFF"/>
                          </a:solidFill>
                          <a:latin typeface="Arial"/>
                        </a:rPr>
                        <a:t>SEP</a:t>
                      </a:r>
                    </a:p>
                  </a:txBody>
                  <a:tcPr marL="36576" marR="45720">
                    <a:solidFill>
                      <a:srgbClr val="22424B"/>
                    </a:solidFill>
                  </a:tcPr>
                </a:tc>
                <a:tc>
                  <a:txBody>
                    <a:bodyPr/>
                    <a:lstStyle/>
                    <a:p>
                      <a:pPr algn="r"/>
                      <a:r>
                        <a:rPr sz="1000" b="1">
                          <a:solidFill>
                            <a:srgbClr val="FFFFFF"/>
                          </a:solidFill>
                          <a:latin typeface="Arial"/>
                        </a:rPr>
                        <a:t>OCT</a:t>
                      </a:r>
                    </a:p>
                  </a:txBody>
                  <a:tcPr marL="36576" marR="45720">
                    <a:solidFill>
                      <a:srgbClr val="22424B"/>
                    </a:solidFill>
                  </a:tcPr>
                </a:tc>
                <a:tc>
                  <a:txBody>
                    <a:bodyPr/>
                    <a:lstStyle/>
                    <a:p>
                      <a:pPr algn="r"/>
                      <a:r>
                        <a:rPr sz="1000" b="1">
                          <a:solidFill>
                            <a:srgbClr val="FFFFFF"/>
                          </a:solidFill>
                          <a:latin typeface="Arial"/>
                        </a:rPr>
                        <a:t>NOV</a:t>
                      </a:r>
                    </a:p>
                  </a:txBody>
                  <a:tcPr marL="36576" marR="45720">
                    <a:solidFill>
                      <a:srgbClr val="22424B"/>
                    </a:solidFill>
                  </a:tcPr>
                </a:tc>
                <a:tc>
                  <a:txBody>
                    <a:bodyPr/>
                    <a:lstStyle/>
                    <a:p>
                      <a:pPr algn="r"/>
                      <a:r>
                        <a:rPr sz="1000" b="1">
                          <a:solidFill>
                            <a:srgbClr val="FFFFFF"/>
                          </a:solidFill>
                          <a:latin typeface="Arial"/>
                        </a:rPr>
                        <a:t>DEC</a:t>
                      </a:r>
                    </a:p>
                  </a:txBody>
                  <a:tcPr marL="36576" marR="45720">
                    <a:solidFill>
                      <a:srgbClr val="22424B"/>
                    </a:solidFill>
                  </a:tcPr>
                </a:tc>
                <a:tc>
                  <a:txBody>
                    <a:bodyPr/>
                    <a:lstStyle/>
                    <a:p>
                      <a:pPr algn="r"/>
                      <a:r>
                        <a:rPr sz="1000" b="1">
                          <a:solidFill>
                            <a:srgbClr val="FFFFFF"/>
                          </a:solidFill>
                          <a:latin typeface="Arial"/>
                        </a:rPr>
                        <a:t>FY 2027</a:t>
                      </a:r>
                    </a:p>
                  </a:txBody>
                  <a:tcPr marL="36576" marR="45720">
                    <a:solidFill>
                      <a:srgbClr val="22424B"/>
                    </a:solidFill>
                  </a:tcPr>
                </a:tc>
              </a:tr>
              <a:tr h="548640">
                <a:tc>
                  <a:txBody>
                    <a:bodyPr/>
                    <a:lstStyle/>
                    <a:p>
                      <a:r>
                        <a:rPr sz="1050" b="0">
                          <a:solidFill>
                            <a:srgbClr val="3F4A4E"/>
                          </a:solidFill>
                          <a:latin typeface="Arial"/>
                        </a:rPr>
                        <a:t>Revenue</a:t>
                      </a:r>
                    </a:p>
                  </a:txBody>
                  <a:tcPr marL="36576" marR="45720">
                    <a:solidFill>
                      <a:srgbClr val="F7F6F2"/>
                    </a:solidFill>
                  </a:tcPr>
                </a:tc>
                <a:tc>
                  <a:txBody>
                    <a:bodyPr/>
                    <a:lstStyle/>
                    <a:p>
                      <a:pPr algn="r"/>
                      <a:r>
                        <a:rPr sz="1050" b="0">
                          <a:solidFill>
                            <a:srgbClr val="3F4A4E"/>
                          </a:solidFill>
                          <a:latin typeface="Arial"/>
                        </a:rPr>
                        <a:t>$74,005</a:t>
                      </a:r>
                    </a:p>
                  </a:txBody>
                  <a:tcPr marL="36576" marR="45720">
                    <a:solidFill>
                      <a:srgbClr val="F7F6F2"/>
                    </a:solidFill>
                  </a:tcPr>
                </a:tc>
                <a:tc>
                  <a:txBody>
                    <a:bodyPr/>
                    <a:lstStyle/>
                    <a:p>
                      <a:pPr algn="r"/>
                      <a:r>
                        <a:rPr sz="1050" b="0">
                          <a:solidFill>
                            <a:srgbClr val="3F4A4E"/>
                          </a:solidFill>
                          <a:latin typeface="Arial"/>
                        </a:rPr>
                        <a:t>$44,166</a:t>
                      </a:r>
                    </a:p>
                  </a:txBody>
                  <a:tcPr marL="36576" marR="45720">
                    <a:solidFill>
                      <a:srgbClr val="F7F6F2"/>
                    </a:solidFill>
                  </a:tcPr>
                </a:tc>
                <a:tc>
                  <a:txBody>
                    <a:bodyPr/>
                    <a:lstStyle/>
                    <a:p>
                      <a:pPr algn="r"/>
                      <a:r>
                        <a:rPr sz="1050" b="0">
                          <a:solidFill>
                            <a:srgbClr val="3F4A4E"/>
                          </a:solidFill>
                          <a:latin typeface="Arial"/>
                        </a:rPr>
                        <a:t>$74,005</a:t>
                      </a:r>
                    </a:p>
                  </a:txBody>
                  <a:tcPr marL="36576" marR="45720">
                    <a:solidFill>
                      <a:srgbClr val="F7F6F2"/>
                    </a:solidFill>
                  </a:tcPr>
                </a:tc>
                <a:tc>
                  <a:txBody>
                    <a:bodyPr/>
                    <a:lstStyle/>
                    <a:p>
                      <a:pPr algn="r"/>
                      <a:r>
                        <a:rPr sz="1050" b="0">
                          <a:solidFill>
                            <a:srgbClr val="3F4A4E"/>
                          </a:solidFill>
                          <a:latin typeface="Arial"/>
                        </a:rPr>
                        <a:t>$44,166</a:t>
                      </a:r>
                    </a:p>
                  </a:txBody>
                  <a:tcPr marL="36576" marR="45720">
                    <a:solidFill>
                      <a:srgbClr val="F7F6F2"/>
                    </a:solidFill>
                  </a:tcPr>
                </a:tc>
                <a:tc>
                  <a:txBody>
                    <a:bodyPr/>
                    <a:lstStyle/>
                    <a:p>
                      <a:pPr algn="r"/>
                      <a:r>
                        <a:rPr sz="1050" b="0">
                          <a:solidFill>
                            <a:srgbClr val="3F4A4E"/>
                          </a:solidFill>
                          <a:latin typeface="Arial"/>
                        </a:rPr>
                        <a:t>$64,059</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1">
                          <a:solidFill>
                            <a:srgbClr val="3F4A4E"/>
                          </a:solidFill>
                          <a:latin typeface="Arial"/>
                        </a:rPr>
                        <a:t>$720,967</a:t>
                      </a:r>
                    </a:p>
                  </a:txBody>
                  <a:tcPr marL="36576" marR="45720">
                    <a:solidFill>
                      <a:srgbClr val="F7F6F2"/>
                    </a:solidFill>
                  </a:tcPr>
                </a:tc>
              </a:tr>
              <a:tr h="548640">
                <a:tc>
                  <a:txBody>
                    <a:bodyPr/>
                    <a:lstStyle/>
                    <a:p>
                      <a:r>
                        <a:rPr sz="1050" b="0">
                          <a:solidFill>
                            <a:srgbClr val="3F4A4E"/>
                          </a:solidFill>
                          <a:latin typeface="Arial"/>
                        </a:rPr>
                        <a:t>Cost of goods</a:t>
                      </a:r>
                    </a:p>
                  </a:txBody>
                  <a:tcPr marL="36576" marR="45720">
                    <a:solidFill>
                      <a:srgbClr val="FFFFFF"/>
                    </a:solidFill>
                  </a:tcPr>
                </a:tc>
                <a:tc>
                  <a:txBody>
                    <a:bodyPr/>
                    <a:lstStyle/>
                    <a:p>
                      <a:pPr algn="r"/>
                      <a:r>
                        <a:rPr sz="1050" b="0">
                          <a:solidFill>
                            <a:srgbClr val="3F4A4E"/>
                          </a:solidFill>
                          <a:latin typeface="Arial"/>
                        </a:rPr>
                        <a:t>$26,138</a:t>
                      </a:r>
                    </a:p>
                  </a:txBody>
                  <a:tcPr marL="36576" marR="45720">
                    <a:solidFill>
                      <a:srgbClr val="FFFFFF"/>
                    </a:solidFill>
                  </a:tcPr>
                </a:tc>
                <a:tc>
                  <a:txBody>
                    <a:bodyPr/>
                    <a:lstStyle/>
                    <a:p>
                      <a:pPr algn="r"/>
                      <a:r>
                        <a:rPr sz="1050" b="0">
                          <a:solidFill>
                            <a:srgbClr val="3F4A4E"/>
                          </a:solidFill>
                          <a:latin typeface="Arial"/>
                        </a:rPr>
                        <a:t>$14,523</a:t>
                      </a:r>
                    </a:p>
                  </a:txBody>
                  <a:tcPr marL="36576" marR="45720">
                    <a:solidFill>
                      <a:srgbClr val="FFFFFF"/>
                    </a:solidFill>
                  </a:tcPr>
                </a:tc>
                <a:tc>
                  <a:txBody>
                    <a:bodyPr/>
                    <a:lstStyle/>
                    <a:p>
                      <a:pPr algn="r"/>
                      <a:r>
                        <a:rPr sz="1050" b="0">
                          <a:solidFill>
                            <a:srgbClr val="3F4A4E"/>
                          </a:solidFill>
                          <a:latin typeface="Arial"/>
                        </a:rPr>
                        <a:t>$26,138</a:t>
                      </a:r>
                    </a:p>
                  </a:txBody>
                  <a:tcPr marL="36576" marR="45720">
                    <a:solidFill>
                      <a:srgbClr val="FFFFFF"/>
                    </a:solidFill>
                  </a:tcPr>
                </a:tc>
                <a:tc>
                  <a:txBody>
                    <a:bodyPr/>
                    <a:lstStyle/>
                    <a:p>
                      <a:pPr algn="r"/>
                      <a:r>
                        <a:rPr sz="1050" b="0">
                          <a:solidFill>
                            <a:srgbClr val="3F4A4E"/>
                          </a:solidFill>
                          <a:latin typeface="Arial"/>
                        </a:rPr>
                        <a:t>$14,523</a:t>
                      </a:r>
                    </a:p>
                  </a:txBody>
                  <a:tcPr marL="36576" marR="45720">
                    <a:solidFill>
                      <a:srgbClr val="FFFFFF"/>
                    </a:solidFill>
                  </a:tcPr>
                </a:tc>
                <a:tc>
                  <a:txBody>
                    <a:bodyPr/>
                    <a:lstStyle/>
                    <a:p>
                      <a:pPr algn="r"/>
                      <a:r>
                        <a:rPr sz="1050" b="0">
                          <a:solidFill>
                            <a:srgbClr val="3F4A4E"/>
                          </a:solidFill>
                          <a:latin typeface="Arial"/>
                        </a:rPr>
                        <a:t>$22,266</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1">
                          <a:solidFill>
                            <a:srgbClr val="3F4A4E"/>
                          </a:solidFill>
                          <a:latin typeface="Arial"/>
                        </a:rPr>
                        <a:t>$248,612</a:t>
                      </a:r>
                    </a:p>
                  </a:txBody>
                  <a:tcPr marL="36576" marR="45720">
                    <a:solidFill>
                      <a:srgbClr val="FFFFFF"/>
                    </a:solidFill>
                  </a:tcPr>
                </a:tc>
              </a:tr>
              <a:tr h="548640">
                <a:tc>
                  <a:txBody>
                    <a:bodyPr/>
                    <a:lstStyle/>
                    <a:p>
                      <a:r>
                        <a:rPr sz="1050" b="0">
                          <a:solidFill>
                            <a:srgbClr val="3F4A4E"/>
                          </a:solidFill>
                          <a:latin typeface="Arial"/>
                        </a:rPr>
                        <a:t>Labor cost</a:t>
                      </a:r>
                    </a:p>
                  </a:txBody>
                  <a:tcPr marL="36576" marR="45720">
                    <a:solidFill>
                      <a:srgbClr val="F7F6F2"/>
                    </a:solidFill>
                  </a:tcPr>
                </a:tc>
                <a:tc>
                  <a:txBody>
                    <a:bodyPr/>
                    <a:lstStyle/>
                    <a:p>
                      <a:pPr algn="r"/>
                      <a:r>
                        <a:rPr sz="1050" b="0">
                          <a:solidFill>
                            <a:srgbClr val="3F4A4E"/>
                          </a:solidFill>
                          <a:latin typeface="Arial"/>
                        </a:rPr>
                        <a:t>$18,722</a:t>
                      </a:r>
                    </a:p>
                  </a:txBody>
                  <a:tcPr marL="36576" marR="45720">
                    <a:solidFill>
                      <a:srgbClr val="F7F6F2"/>
                    </a:solidFill>
                  </a:tcPr>
                </a:tc>
                <a:tc>
                  <a:txBody>
                    <a:bodyPr/>
                    <a:lstStyle/>
                    <a:p>
                      <a:pPr algn="r"/>
                      <a:r>
                        <a:rPr sz="1050" b="0">
                          <a:solidFill>
                            <a:srgbClr val="3F4A4E"/>
                          </a:solidFill>
                          <a:latin typeface="Arial"/>
                        </a:rPr>
                        <a:t>$13,550</a:t>
                      </a:r>
                    </a:p>
                  </a:txBody>
                  <a:tcPr marL="36576" marR="45720">
                    <a:solidFill>
                      <a:srgbClr val="F7F6F2"/>
                    </a:solidFill>
                  </a:tcPr>
                </a:tc>
                <a:tc>
                  <a:txBody>
                    <a:bodyPr/>
                    <a:lstStyle/>
                    <a:p>
                      <a:pPr algn="r"/>
                      <a:r>
                        <a:rPr sz="1050" b="0">
                          <a:solidFill>
                            <a:srgbClr val="3F4A4E"/>
                          </a:solidFill>
                          <a:latin typeface="Arial"/>
                        </a:rPr>
                        <a:t>$18,722</a:t>
                      </a:r>
                    </a:p>
                  </a:txBody>
                  <a:tcPr marL="36576" marR="45720">
                    <a:solidFill>
                      <a:srgbClr val="F7F6F2"/>
                    </a:solidFill>
                  </a:tcPr>
                </a:tc>
                <a:tc>
                  <a:txBody>
                    <a:bodyPr/>
                    <a:lstStyle/>
                    <a:p>
                      <a:pPr algn="r"/>
                      <a:r>
                        <a:rPr sz="1050" b="0">
                          <a:solidFill>
                            <a:srgbClr val="3F4A4E"/>
                          </a:solidFill>
                          <a:latin typeface="Arial"/>
                        </a:rPr>
                        <a:t>$13,550</a:t>
                      </a:r>
                    </a:p>
                  </a:txBody>
                  <a:tcPr marL="36576" marR="45720">
                    <a:solidFill>
                      <a:srgbClr val="F7F6F2"/>
                    </a:solidFill>
                  </a:tcPr>
                </a:tc>
                <a:tc>
                  <a:txBody>
                    <a:bodyPr/>
                    <a:lstStyle/>
                    <a:p>
                      <a:pPr algn="r"/>
                      <a:r>
                        <a:rPr sz="1050" b="0">
                          <a:solidFill>
                            <a:srgbClr val="3F4A4E"/>
                          </a:solidFill>
                          <a:latin typeface="Arial"/>
                        </a:rPr>
                        <a:t>$16,998</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$12,532</a:t>
                      </a:r>
                    </a:p>
                  </a:txBody>
                  <a:tcPr marL="36576" marR="45720">
                    <a:solidFill>
                      <a:srgbClr val="F7F6F2"/>
                    </a:solidFill>
                  </a:tcPr>
                </a:tc>
                <a:tc>
                  <a:txBody>
                    <a:bodyPr/>
                    <a:lstStyle/>
                    <a:p>
                      <a:pPr algn="r"/>
                      <a:r>
                        <a:rPr sz="1050" b="1">
                          <a:solidFill>
                            <a:srgbClr val="3F4A4E"/>
                          </a:solidFill>
                          <a:latin typeface="Arial"/>
                        </a:rPr>
                        <a:t>$191,929</a:t>
                      </a:r>
                    </a:p>
                  </a:txBody>
                  <a:tcPr marL="36576" marR="45720">
                    <a:solidFill>
                      <a:srgbClr val="F7F6F2"/>
                    </a:solidFill>
                  </a:tcPr>
                </a:tc>
              </a:tr>
              <a:tr h="548640">
                <a:tc>
                  <a:txBody>
                    <a:bodyPr/>
                    <a:lstStyle/>
                    <a:p>
                      <a:r>
                        <a:rPr sz="1050" b="1">
                          <a:solidFill>
                            <a:srgbClr val="22424B"/>
                          </a:solidFill>
                          <a:latin typeface="Arial"/>
                        </a:rPr>
                        <a:t>Prime cost</a:t>
                      </a:r>
                    </a:p>
                  </a:txBody>
                  <a:tcPr marL="36576" marR="45720">
                    <a:solidFill>
                      <a:srgbClr val="FFFFFF"/>
                    </a:solidFill>
                  </a:tcPr>
                </a:tc>
                <a:tc>
                  <a:txBody>
                    <a:bodyPr/>
                    <a:lstStyle/>
                    <a:p>
                      <a:pPr algn="r"/>
                      <a:r>
                        <a:rPr sz="1050" b="1">
                          <a:solidFill>
                            <a:srgbClr val="22424B"/>
                          </a:solidFill>
                          <a:latin typeface="Arial"/>
                        </a:rPr>
                        <a:t>$44,860</a:t>
                      </a:r>
                    </a:p>
                  </a:txBody>
                  <a:tcPr marL="36576" marR="45720">
                    <a:solidFill>
                      <a:srgbClr val="FFFFFF"/>
                    </a:solidFill>
                  </a:tcPr>
                </a:tc>
                <a:tc>
                  <a:txBody>
                    <a:bodyPr/>
                    <a:lstStyle/>
                    <a:p>
                      <a:pPr algn="r"/>
                      <a:r>
                        <a:rPr sz="1050" b="1">
                          <a:solidFill>
                            <a:srgbClr val="22424B"/>
                          </a:solidFill>
                          <a:latin typeface="Arial"/>
                        </a:rPr>
                        <a:t>$28,073</a:t>
                      </a:r>
                    </a:p>
                  </a:txBody>
                  <a:tcPr marL="36576" marR="45720">
                    <a:solidFill>
                      <a:srgbClr val="FFFFFF"/>
                    </a:solidFill>
                  </a:tcPr>
                </a:tc>
                <a:tc>
                  <a:txBody>
                    <a:bodyPr/>
                    <a:lstStyle/>
                    <a:p>
                      <a:pPr algn="r"/>
                      <a:r>
                        <a:rPr sz="1050" b="1">
                          <a:solidFill>
                            <a:srgbClr val="22424B"/>
                          </a:solidFill>
                          <a:latin typeface="Arial"/>
                        </a:rPr>
                        <a:t>$44,860</a:t>
                      </a:r>
                    </a:p>
                  </a:txBody>
                  <a:tcPr marL="36576" marR="45720">
                    <a:solidFill>
                      <a:srgbClr val="FFFFFF"/>
                    </a:solidFill>
                  </a:tcPr>
                </a:tc>
                <a:tc>
                  <a:txBody>
                    <a:bodyPr/>
                    <a:lstStyle/>
                    <a:p>
                      <a:pPr algn="r"/>
                      <a:r>
                        <a:rPr sz="1050" b="1">
                          <a:solidFill>
                            <a:srgbClr val="22424B"/>
                          </a:solidFill>
                          <a:latin typeface="Arial"/>
                        </a:rPr>
                        <a:t>$28,073</a:t>
                      </a:r>
                    </a:p>
                  </a:txBody>
                  <a:tcPr marL="36576" marR="45720">
                    <a:solidFill>
                      <a:srgbClr val="FFFFFF"/>
                    </a:solidFill>
                  </a:tcPr>
                </a:tc>
                <a:tc>
                  <a:txBody>
                    <a:bodyPr/>
                    <a:lstStyle/>
                    <a:p>
                      <a:pPr algn="r"/>
                      <a:r>
                        <a:rPr sz="1050" b="1">
                          <a:solidFill>
                            <a:srgbClr val="22424B"/>
                          </a:solidFill>
                          <a:latin typeface="Arial"/>
                        </a:rPr>
                        <a:t>$39,265</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$33,250</a:t>
                      </a:r>
                    </a:p>
                  </a:txBody>
                  <a:tcPr marL="36576" marR="45720">
                    <a:solidFill>
                      <a:srgbClr val="FFFFFF"/>
                    </a:solidFill>
                  </a:tcPr>
                </a:tc>
                <a:tc>
                  <a:txBody>
                    <a:bodyPr/>
                    <a:lstStyle/>
                    <a:p>
                      <a:pPr algn="r"/>
                      <a:r>
                        <a:rPr sz="1050" b="1">
                          <a:solidFill>
                            <a:srgbClr val="22424B"/>
                          </a:solidFill>
                          <a:latin typeface="Arial"/>
                        </a:rPr>
                        <a:t>$440,541</a:t>
                      </a:r>
                    </a:p>
                  </a:txBody>
                  <a:tcPr marL="36576" marR="45720">
                    <a:solidFill>
                      <a:srgbClr val="FFFFFF"/>
                    </a:solidFill>
                  </a:tcPr>
                </a:tc>
              </a:tr>
              <a:tr h="548640">
                <a:tc>
                  <a:txBody>
                    <a:bodyPr/>
                    <a:lstStyle/>
                    <a:p>
                      <a:r>
                        <a:rPr sz="1050" b="1">
                          <a:solidFill>
                            <a:srgbClr val="22424B"/>
                          </a:solidFill>
                          <a:latin typeface="Arial"/>
                        </a:rPr>
                        <a:t>Operating profit</a:t>
                      </a:r>
                    </a:p>
                  </a:txBody>
                  <a:tcPr marL="36576" marR="45720">
                    <a:solidFill>
                      <a:srgbClr val="F7F6F2"/>
                    </a:solidFill>
                  </a:tcPr>
                </a:tc>
                <a:tc>
                  <a:txBody>
                    <a:bodyPr/>
                    <a:lstStyle/>
                    <a:p>
                      <a:pPr algn="r"/>
                      <a:r>
                        <a:rPr sz="1050" b="1">
                          <a:solidFill>
                            <a:srgbClr val="22424B"/>
                          </a:solidFill>
                          <a:latin typeface="Arial"/>
                        </a:rPr>
                        <a:t>$29,145</a:t>
                      </a:r>
                    </a:p>
                  </a:txBody>
                  <a:tcPr marL="36576" marR="45720">
                    <a:solidFill>
                      <a:srgbClr val="F7F6F2"/>
                    </a:solidFill>
                  </a:tcPr>
                </a:tc>
                <a:tc>
                  <a:txBody>
                    <a:bodyPr/>
                    <a:lstStyle/>
                    <a:p>
                      <a:pPr algn="r"/>
                      <a:r>
                        <a:rPr sz="1050" b="1">
                          <a:solidFill>
                            <a:srgbClr val="22424B"/>
                          </a:solidFill>
                          <a:latin typeface="Arial"/>
                        </a:rPr>
                        <a:t>$16,093</a:t>
                      </a:r>
                    </a:p>
                  </a:txBody>
                  <a:tcPr marL="36576" marR="45720">
                    <a:solidFill>
                      <a:srgbClr val="F7F6F2"/>
                    </a:solidFill>
                  </a:tcPr>
                </a:tc>
                <a:tc>
                  <a:txBody>
                    <a:bodyPr/>
                    <a:lstStyle/>
                    <a:p>
                      <a:pPr algn="r"/>
                      <a:r>
                        <a:rPr sz="1050" b="1">
                          <a:solidFill>
                            <a:srgbClr val="22424B"/>
                          </a:solidFill>
                          <a:latin typeface="Arial"/>
                        </a:rPr>
                        <a:t>$29,145</a:t>
                      </a:r>
                    </a:p>
                  </a:txBody>
                  <a:tcPr marL="36576" marR="45720">
                    <a:solidFill>
                      <a:srgbClr val="F7F6F2"/>
                    </a:solidFill>
                  </a:tcPr>
                </a:tc>
                <a:tc>
                  <a:txBody>
                    <a:bodyPr/>
                    <a:lstStyle/>
                    <a:p>
                      <a:pPr algn="r"/>
                      <a:r>
                        <a:rPr sz="1050" b="1">
                          <a:solidFill>
                            <a:srgbClr val="22424B"/>
                          </a:solidFill>
                          <a:latin typeface="Arial"/>
                        </a:rPr>
                        <a:t>$16,093</a:t>
                      </a:r>
                    </a:p>
                  </a:txBody>
                  <a:tcPr marL="36576" marR="45720">
                    <a:solidFill>
                      <a:srgbClr val="F7F6F2"/>
                    </a:solidFill>
                  </a:tcPr>
                </a:tc>
                <a:tc>
                  <a:txBody>
                    <a:bodyPr/>
                    <a:lstStyle/>
                    <a:p>
                      <a:pPr algn="r"/>
                      <a:r>
                        <a:rPr sz="1050" b="1">
                          <a:solidFill>
                            <a:srgbClr val="22424B"/>
                          </a:solidFill>
                          <a:latin typeface="Arial"/>
                        </a:rPr>
                        <a:t>$24,794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$26,831</a:t>
                      </a:r>
                    </a:p>
                  </a:txBody>
                  <a:tcPr marL="36576" marR="45720">
                    <a:solidFill>
                      <a:srgbClr val="F7F6F2"/>
                    </a:solidFill>
                  </a:tcPr>
                </a:tc>
                <a:tc>
                  <a:txBody>
                    <a:bodyPr/>
                    <a:lstStyle/>
                    <a:p>
                      <a:pPr algn="r"/>
                      <a:r>
                        <a:rPr sz="1050" b="1">
                          <a:solidFill>
                            <a:srgbClr val="22424B"/>
                          </a:solidFill>
                          <a:latin typeface="Arial"/>
                        </a:rPr>
                        <a:t>$280,426</a:t>
                      </a:r>
                    </a:p>
                  </a:txBody>
                  <a:tcPr marL="36576" marR="45720">
                    <a:solidFill>
                      <a:srgbClr val="F7F6F2"/>
                    </a:solidFill>
                  </a:tcPr>
                </a:tc>
              </a:tr>
              <a:tr h="548640">
                <a:tc>
                  <a:txBody>
                    <a:bodyPr/>
                    <a:lstStyle/>
                    <a:p>
                      <a:r>
                        <a:rPr sz="1050" b="0">
                          <a:solidFill>
                            <a:srgbClr val="3F4A4E"/>
                          </a:solidFill>
                          <a:latin typeface="Arial"/>
                        </a:rPr>
                        <a:t>Controllable expenses</a:t>
                      </a:r>
                    </a:p>
                  </a:txBody>
                  <a:tcPr marL="36576" marR="45720">
                    <a:solidFill>
                      <a:srgbClr val="FFFFFF"/>
                    </a:solidFill>
                  </a:tcPr>
                </a:tc>
                <a:tc>
                  <a:txBody>
                    <a:bodyPr/>
                    <a:lstStyle/>
                    <a:p>
                      <a:pPr algn="r"/>
                      <a:r>
                        <a:rPr sz="1050" b="0">
                          <a:solidFill>
                            <a:srgbClr val="3F4A4E"/>
                          </a:solidFill>
                          <a:latin typeface="Arial"/>
                        </a:rPr>
                        <a:t>$12,974</a:t>
                      </a:r>
                    </a:p>
                  </a:txBody>
                  <a:tcPr marL="36576" marR="45720">
                    <a:solidFill>
                      <a:srgbClr val="FFFFFF"/>
                    </a:solidFill>
                  </a:tcPr>
                </a:tc>
                <a:tc>
                  <a:txBody>
                    <a:bodyPr/>
                    <a:lstStyle/>
                    <a:p>
                      <a:pPr algn="r"/>
                      <a:r>
                        <a:rPr sz="1050" b="0">
                          <a:solidFill>
                            <a:srgbClr val="3F4A4E"/>
                          </a:solidFill>
                          <a:latin typeface="Arial"/>
                        </a:rPr>
                        <a:t>$9,285</a:t>
                      </a:r>
                    </a:p>
                  </a:txBody>
                  <a:tcPr marL="36576" marR="45720">
                    <a:solidFill>
                      <a:srgbClr val="FFFFFF"/>
                    </a:solidFill>
                  </a:tcPr>
                </a:tc>
                <a:tc>
                  <a:txBody>
                    <a:bodyPr/>
                    <a:lstStyle/>
                    <a:p>
                      <a:pPr algn="r"/>
                      <a:r>
                        <a:rPr sz="1050" b="0">
                          <a:solidFill>
                            <a:srgbClr val="3F4A4E"/>
                          </a:solidFill>
                          <a:latin typeface="Arial"/>
                        </a:rPr>
                        <a:t>$12,974</a:t>
                      </a:r>
                    </a:p>
                  </a:txBody>
                  <a:tcPr marL="36576" marR="45720">
                    <a:solidFill>
                      <a:srgbClr val="FFFFFF"/>
                    </a:solidFill>
                  </a:tcPr>
                </a:tc>
                <a:tc>
                  <a:txBody>
                    <a:bodyPr/>
                    <a:lstStyle/>
                    <a:p>
                      <a:pPr algn="r"/>
                      <a:r>
                        <a:rPr sz="1050" b="0">
                          <a:solidFill>
                            <a:srgbClr val="3F4A4E"/>
                          </a:solidFill>
                          <a:latin typeface="Arial"/>
                        </a:rPr>
                        <a:t>$9,285</a:t>
                      </a:r>
                    </a:p>
                  </a:txBody>
                  <a:tcPr marL="36576" marR="45720">
                    <a:solidFill>
                      <a:srgbClr val="FFFFFF"/>
                    </a:solidFill>
                  </a:tcPr>
                </a:tc>
                <a:tc>
                  <a:txBody>
                    <a:bodyPr/>
                    <a:lstStyle/>
                    <a:p>
                      <a:pPr algn="r"/>
                      <a:r>
                        <a:rPr sz="1050" b="0">
                          <a:solidFill>
                            <a:srgbClr val="3F4A4E"/>
                          </a:solidFill>
                          <a:latin typeface="Arial"/>
                        </a:rPr>
                        <a:t>$11,744</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1">
                          <a:solidFill>
                            <a:srgbClr val="3F4A4E"/>
                          </a:solidFill>
                          <a:latin typeface="Arial"/>
                        </a:rPr>
                        <a:t>$135,029</a:t>
                      </a:r>
                    </a:p>
                  </a:txBody>
                  <a:tcPr marL="36576" marR="45720">
                    <a:solidFill>
                      <a:srgbClr val="FFFFFF"/>
                    </a:solidFill>
                  </a:tcPr>
                </a:tc>
              </a:tr>
              <a:tr h="548640">
                <a:tc>
                  <a:txBody>
                    <a:bodyPr/>
                    <a:lstStyle/>
                    <a:p>
                      <a:r>
                        <a:rPr sz="1050" b="0">
                          <a:solidFill>
                            <a:srgbClr val="3F4A4E"/>
                          </a:solidFill>
                          <a:latin typeface="Arial"/>
                        </a:rPr>
                        <a:t>Uncontrollable expenses</a:t>
                      </a:r>
                    </a:p>
                  </a:txBody>
                  <a:tcPr marL="36576" marR="45720">
                    <a:solidFill>
                      <a:srgbClr val="F7F6F2"/>
                    </a:solidFill>
                  </a:tcPr>
                </a:tc>
                <a:tc>
                  <a:txBody>
                    <a:bodyPr/>
                    <a:lstStyle/>
                    <a:p>
                      <a:pPr algn="r"/>
                      <a:r>
                        <a:rPr sz="1050" b="0">
                          <a:solidFill>
                            <a:srgbClr val="3F4A4E"/>
                          </a:solidFill>
                          <a:latin typeface="Arial"/>
                        </a:rPr>
                        <a:t>$5,675</a:t>
                      </a:r>
                    </a:p>
                  </a:txBody>
                  <a:tcPr marL="36576" marR="45720">
                    <a:solidFill>
                      <a:srgbClr val="F7F6F2"/>
                    </a:solidFill>
                  </a:tcPr>
                </a:tc>
                <a:tc>
                  <a:txBody>
                    <a:bodyPr/>
                    <a:lstStyle/>
                    <a:p>
                      <a:pPr algn="r"/>
                      <a:r>
                        <a:rPr sz="1050" b="0">
                          <a:solidFill>
                            <a:srgbClr val="3F4A4E"/>
                          </a:solidFill>
                          <a:latin typeface="Arial"/>
                        </a:rPr>
                        <a:t>$3,737</a:t>
                      </a:r>
                    </a:p>
                  </a:txBody>
                  <a:tcPr marL="36576" marR="45720">
                    <a:solidFill>
                      <a:srgbClr val="F7F6F2"/>
                    </a:solidFill>
                  </a:tcPr>
                </a:tc>
                <a:tc>
                  <a:txBody>
                    <a:bodyPr/>
                    <a:lstStyle/>
                    <a:p>
                      <a:pPr algn="r"/>
                      <a:r>
                        <a:rPr sz="1050" b="0">
                          <a:solidFill>
                            <a:srgbClr val="3F4A4E"/>
                          </a:solidFill>
                          <a:latin typeface="Arial"/>
                        </a:rPr>
                        <a:t>$5,675</a:t>
                      </a:r>
                    </a:p>
                  </a:txBody>
                  <a:tcPr marL="36576" marR="45720">
                    <a:solidFill>
                      <a:srgbClr val="F7F6F2"/>
                    </a:solidFill>
                  </a:tcPr>
                </a:tc>
                <a:tc>
                  <a:txBody>
                    <a:bodyPr/>
                    <a:lstStyle/>
                    <a:p>
                      <a:pPr algn="r"/>
                      <a:r>
                        <a:rPr sz="1050" b="0">
                          <a:solidFill>
                            <a:srgbClr val="3F4A4E"/>
                          </a:solidFill>
                          <a:latin typeface="Arial"/>
                        </a:rPr>
                        <a:t>$3,737</a:t>
                      </a:r>
                    </a:p>
                  </a:txBody>
                  <a:tcPr marL="36576" marR="45720">
                    <a:solidFill>
                      <a:srgbClr val="F7F6F2"/>
                    </a:solidFill>
                  </a:tcPr>
                </a:tc>
                <a:tc>
                  <a:txBody>
                    <a:bodyPr/>
                    <a:lstStyle/>
                    <a:p>
                      <a:pPr algn="r"/>
                      <a:r>
                        <a:rPr sz="1050" b="0">
                          <a:solidFill>
                            <a:srgbClr val="3F4A4E"/>
                          </a:solidFill>
                          <a:latin typeface="Arial"/>
                        </a:rPr>
                        <a:t>$5,029</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1">
                          <a:solidFill>
                            <a:srgbClr val="3F4A4E"/>
                          </a:solidFill>
                          <a:latin typeface="Arial"/>
                        </a:rPr>
                        <a:t>$57,249</a:t>
                      </a:r>
                    </a:p>
                  </a:txBody>
                  <a:tcPr marL="36576" marR="45720">
                    <a:solidFill>
                      <a:srgbClr val="F7F6F2"/>
                    </a:solidFill>
                  </a:tcPr>
                </a:tc>
              </a:tr>
              <a:tr h="548640">
                <a:tc>
                  <a:txBody>
                    <a:bodyPr/>
                    <a:lstStyle/>
                    <a:p>
                      <a:r>
                        <a:rPr sz="1050" b="1">
                          <a:solidFill>
                            <a:srgbClr val="22424B"/>
                          </a:solidFill>
                          <a:latin typeface="Arial"/>
                        </a:rPr>
                        <a:t>NET OPERATING PROFIT</a:t>
                      </a:r>
                    </a:p>
                  </a:txBody>
                  <a:tcPr marL="36576" marR="45720">
                    <a:solidFill>
                      <a:srgbClr val="FFFFFF"/>
                    </a:solidFill>
                  </a:tcPr>
                </a:tc>
                <a:tc>
                  <a:txBody>
                    <a:bodyPr/>
                    <a:lstStyle/>
                    <a:p>
                      <a:pPr algn="r"/>
                      <a:r>
                        <a:rPr sz="1050" b="1">
                          <a:solidFill>
                            <a:srgbClr val="22424B"/>
                          </a:solidFill>
                          <a:latin typeface="Arial"/>
                        </a:rPr>
                        <a:t>$10,496</a:t>
                      </a:r>
                    </a:p>
                  </a:txBody>
                  <a:tcPr marL="36576" marR="45720">
                    <a:solidFill>
                      <a:srgbClr val="FFFFFF"/>
                    </a:solidFill>
                  </a:tcPr>
                </a:tc>
                <a:tc>
                  <a:txBody>
                    <a:bodyPr/>
                    <a:lstStyle/>
                    <a:p>
                      <a:pPr algn="r"/>
                      <a:r>
                        <a:rPr sz="1050" b="1">
                          <a:solidFill>
                            <a:srgbClr val="22424B"/>
                          </a:solidFill>
                          <a:latin typeface="Arial"/>
                        </a:rPr>
                        <a:t>$3,071</a:t>
                      </a:r>
                    </a:p>
                  </a:txBody>
                  <a:tcPr marL="36576" marR="45720">
                    <a:solidFill>
                      <a:srgbClr val="FFFFFF"/>
                    </a:solidFill>
                  </a:tcPr>
                </a:tc>
                <a:tc>
                  <a:txBody>
                    <a:bodyPr/>
                    <a:lstStyle/>
                    <a:p>
                      <a:pPr algn="r"/>
                      <a:r>
                        <a:rPr sz="1050" b="1">
                          <a:solidFill>
                            <a:srgbClr val="22424B"/>
                          </a:solidFill>
                          <a:latin typeface="Arial"/>
                        </a:rPr>
                        <a:t>$10,496</a:t>
                      </a:r>
                    </a:p>
                  </a:txBody>
                  <a:tcPr marL="36576" marR="45720">
                    <a:solidFill>
                      <a:srgbClr val="FFFFFF"/>
                    </a:solidFill>
                  </a:tcPr>
                </a:tc>
                <a:tc>
                  <a:txBody>
                    <a:bodyPr/>
                    <a:lstStyle/>
                    <a:p>
                      <a:pPr algn="r"/>
                      <a:r>
                        <a:rPr sz="1050" b="1">
                          <a:solidFill>
                            <a:srgbClr val="22424B"/>
                          </a:solidFill>
                          <a:latin typeface="Arial"/>
                        </a:rPr>
                        <a:t>$3,071</a:t>
                      </a:r>
                    </a:p>
                  </a:txBody>
                  <a:tcPr marL="36576" marR="45720">
                    <a:solidFill>
                      <a:srgbClr val="FFFFFF"/>
                    </a:solidFill>
                  </a:tcPr>
                </a:tc>
                <a:tc>
                  <a:txBody>
                    <a:bodyPr/>
                    <a:lstStyle/>
                    <a:p>
                      <a:pPr algn="r"/>
                      <a:r>
                        <a:rPr sz="1050" b="1">
                          <a:solidFill>
                            <a:srgbClr val="22424B"/>
                          </a:solidFill>
                          <a:latin typeface="Arial"/>
                        </a:rPr>
                        <a:t>$8,021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$10,807</a:t>
                      </a:r>
                    </a:p>
                  </a:txBody>
                  <a:tcPr marL="36576" marR="45720">
                    <a:solidFill>
                      <a:srgbClr val="FFFFFF"/>
                    </a:solidFill>
                  </a:tcPr>
                </a:tc>
                <a:tc>
                  <a:txBody>
                    <a:bodyPr/>
                    <a:lstStyle/>
                    <a:p>
                      <a:pPr algn="r"/>
                      <a:r>
                        <a:rPr sz="1050" b="1">
                          <a:solidFill>
                            <a:srgbClr val="22424B"/>
                          </a:solidFill>
                          <a:latin typeface="Arial"/>
                        </a:rPr>
                        <a:t>$88,148</a:t>
                      </a:r>
                    </a:p>
                  </a:txBody>
                  <a:tcPr marL="36576" marR="45720">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