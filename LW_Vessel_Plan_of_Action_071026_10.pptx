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$14.8K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ELIMINATED — from ($164K) to a $1.0K profit</a:t>
            </a:r>
          </a:p>
          <a:p>
            <a:pPr>
              <a:spcAft>
                <a:spcPts val="800"/>
              </a:spcAft>
            </a:pPr>
            <a:r>
              <a:rPr sz="1400" b="0">
                <a:solidFill>
                  <a:srgbClr val="3F4A4E"/>
                </a:solidFill>
                <a:latin typeface="Arial"/>
              </a:rPr>
              <a:t>Combined with Vessel (+$54.2K), the portfolio turns positive in 2027: +$82.4K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($1.2K) with the changes vs ($67.8K) with no changes → +$66.6K in five months</a:t>
            </a:r>
          </a:p>
        </p:txBody>
      </p:sp>
      <p:graphicFrame>
        <p:nvGraphicFramePr>
          <p:cNvPr id="125" name="Table 124"/>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8/1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a:t>
                      </a:r>
                    </a:p>
                  </a:txBody>
                  <a:tcPr>
                    <a:solidFill>
                      <a:srgbClr val="F7F6F2"/>
                    </a:solidFill>
                  </a:tcPr>
                </a:tc>
                <a:tc>
                  <a:txBody>
                    <a:bodyPr/>
                    <a:lstStyle/>
                    <a:p>
                      <a:pPr algn="r"/>
                      <a:r>
                        <a:rPr sz="1300" b="0">
                          <a:solidFill>
                            <a:srgbClr val="3F4A4E"/>
                          </a:solidFill>
                          <a:latin typeface="Arial"/>
                        </a:rPr>
                        <a:t>$288.7K</a:t>
                      </a:r>
                    </a:p>
                  </a:txBody>
                  <a:tcPr>
                    <a:solidFill>
                      <a:srgbClr val="F7F6F2"/>
                    </a:solidFill>
                  </a:tcPr>
                </a:tc>
                <a:tc>
                  <a:txBody>
                    <a:bodyPr/>
                    <a:lstStyle/>
                    <a:p>
                      <a:pPr algn="r"/>
                      <a:r>
                        <a:rPr sz="1300" b="0">
                          <a:solidFill>
                            <a:srgbClr val="3F4A4E"/>
                          </a:solidFill>
                          <a:latin typeface="Arial"/>
                        </a:rPr>
                        <a:t>$314.9K</a:t>
                      </a:r>
                    </a:p>
                  </a:txBody>
                  <a:tcPr>
                    <a:solidFill>
                      <a:srgbClr val="F7F6F2"/>
                    </a:solidFill>
                  </a:tcPr>
                </a:tc>
                <a:tc>
                  <a:txBody>
                    <a:bodyPr/>
                    <a:lstStyle/>
                    <a:p>
                      <a:pPr algn="r"/>
                      <a:r>
                        <a:rPr sz="1300" b="0">
                          <a:solidFill>
                            <a:srgbClr val="3F4A4E"/>
                          </a:solidFill>
                          <a:latin typeface="Arial"/>
                        </a:rPr>
                        <a:t>$370.9K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$104.6K</a:t>
                      </a:r>
                    </a:p>
                  </a:txBody>
                  <a:tcPr>
                    <a:solidFill>
                      <a:srgbClr val="FFFFFF"/>
                    </a:solidFill>
                  </a:tcPr>
                </a:tc>
                <a:tc>
                  <a:txBody>
                    <a:bodyPr/>
                    <a:lstStyle/>
                    <a:p>
                      <a:pPr algn="r"/>
                      <a:r>
                        <a:rPr sz="1300" b="0">
                          <a:solidFill>
                            <a:srgbClr val="3F4A4E"/>
                          </a:solidFill>
                          <a:latin typeface="Arial"/>
                        </a:rPr>
                        <a:t>$103.8K</a:t>
                      </a:r>
                    </a:p>
                  </a:txBody>
                  <a:tcPr>
                    <a:solidFill>
                      <a:srgbClr val="FFFFFF"/>
                    </a:solidFill>
                  </a:tcPr>
                </a:tc>
                <a:tc>
                  <a:txBody>
                    <a:bodyPr/>
                    <a:lstStyle/>
                    <a:p>
                      <a:pPr algn="r"/>
                      <a:r>
                        <a:rPr sz="1300" b="0">
                          <a:solidFill>
                            <a:srgbClr val="3F4A4E"/>
                          </a:solidFill>
                          <a:latin typeface="Arial"/>
                        </a:rPr>
                        <a:t>$112.3K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$170.3K</a:t>
                      </a:r>
                    </a:p>
                  </a:txBody>
                  <a:tcPr>
                    <a:solidFill>
                      <a:srgbClr val="F7F6F2"/>
                    </a:solidFill>
                  </a:tcPr>
                </a:tc>
                <a:tc>
                  <a:txBody>
                    <a:bodyPr/>
                    <a:lstStyle/>
                    <a:p>
                      <a:pPr algn="r"/>
                      <a:r>
                        <a:rPr sz="1300" b="0">
                          <a:solidFill>
                            <a:srgbClr val="3F4A4E"/>
                          </a:solidFill>
                          <a:latin typeface="Arial"/>
                        </a:rPr>
                        <a:t>$155.5K</a:t>
                      </a:r>
                    </a:p>
                  </a:txBody>
                  <a:tcPr>
                    <a:solidFill>
                      <a:srgbClr val="F7F6F2"/>
                    </a:solidFill>
                  </a:tcPr>
                </a:tc>
                <a:tc>
                  <a:txBody>
                    <a:bodyPr/>
                    <a:lstStyle/>
                    <a:p>
                      <a:pPr algn="r"/>
                      <a:r>
                        <a:rPr sz="1300" b="0">
                          <a:solidFill>
                            <a:srgbClr val="3F4A4E"/>
                          </a:solidFill>
                          <a:latin typeface="Arial"/>
                        </a:rPr>
                        <a:t>$131.2K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$274.9K</a:t>
                      </a:r>
                    </a:p>
                  </a:txBody>
                  <a:tcPr>
                    <a:solidFill>
                      <a:srgbClr val="FFFFFF"/>
                    </a:solidFill>
                  </a:tcPr>
                </a:tc>
                <a:tc>
                  <a:txBody>
                    <a:bodyPr/>
                    <a:lstStyle/>
                    <a:p>
                      <a:pPr algn="r"/>
                      <a:r>
                        <a:rPr sz="1300" b="1">
                          <a:solidFill>
                            <a:srgbClr val="22424B"/>
                          </a:solidFill>
                          <a:latin typeface="Arial"/>
                        </a:rPr>
                        <a:t>$259.2K</a:t>
                      </a:r>
                    </a:p>
                  </a:txBody>
                  <a:tcPr>
                    <a:solidFill>
                      <a:srgbClr val="FFFFFF"/>
                    </a:solidFill>
                  </a:tcPr>
                </a:tc>
                <a:tc>
                  <a:txBody>
                    <a:bodyPr/>
                    <a:lstStyle/>
                    <a:p>
                      <a:pPr algn="r"/>
                      <a:r>
                        <a:rPr sz="1300" b="1">
                          <a:solidFill>
                            <a:srgbClr val="22424B"/>
                          </a:solidFill>
                          <a:latin typeface="Arial"/>
                        </a:rPr>
                        <a:t>$243.6K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$13.8K</a:t>
                      </a:r>
                    </a:p>
                  </a:txBody>
                  <a:tcPr>
                    <a:solidFill>
                      <a:srgbClr val="F7F6F2"/>
                    </a:solidFill>
                  </a:tcPr>
                </a:tc>
                <a:tc>
                  <a:txBody>
                    <a:bodyPr/>
                    <a:lstStyle/>
                    <a:p>
                      <a:pPr algn="r"/>
                      <a:r>
                        <a:rPr sz="1300" b="1">
                          <a:solidFill>
                            <a:srgbClr val="22424B"/>
                          </a:solidFill>
                          <a:latin typeface="Arial"/>
                        </a:rPr>
                        <a:t>$55.6K</a:t>
                      </a:r>
                    </a:p>
                  </a:txBody>
                  <a:tcPr>
                    <a:solidFill>
                      <a:srgbClr val="F7F6F2"/>
                    </a:solidFill>
                  </a:tcPr>
                </a:tc>
                <a:tc>
                  <a:txBody>
                    <a:bodyPr/>
                    <a:lstStyle/>
                    <a:p>
                      <a:pPr algn="r"/>
                      <a:r>
                        <a:rPr sz="1300" b="1">
                          <a:solidFill>
                            <a:srgbClr val="22424B"/>
                          </a:solidFill>
                          <a:latin typeface="Arial"/>
                        </a:rPr>
                        <a:t>$127.3K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$112.4K</a:t>
                      </a:r>
                    </a:p>
                  </a:txBody>
                  <a:tcPr>
                    <a:solidFill>
                      <a:srgbClr val="FFFFFF"/>
                    </a:solidFill>
                  </a:tcPr>
                </a:tc>
                <a:tc>
                  <a:txBody>
                    <a:bodyPr/>
                    <a:lstStyle/>
                    <a:p>
                      <a:pPr algn="r"/>
                      <a:r>
                        <a:rPr sz="1300" b="0">
                          <a:solidFill>
                            <a:srgbClr val="3F4A4E"/>
                          </a:solidFill>
                          <a:latin typeface="Arial"/>
                        </a:rPr>
                        <a:t>$109.1K</a:t>
                      </a:r>
                    </a:p>
                  </a:txBody>
                  <a:tcPr>
                    <a:solidFill>
                      <a:srgbClr val="FFFFFF"/>
                    </a:solidFill>
                  </a:tcPr>
                </a:tc>
                <a:tc>
                  <a:txBody>
                    <a:bodyPr/>
                    <a:lstStyle/>
                    <a:p>
                      <a:pPr algn="r"/>
                      <a:r>
                        <a:rPr sz="1300" b="0">
                          <a:solidFill>
                            <a:srgbClr val="3F4A4E"/>
                          </a:solidFill>
                          <a:latin typeface="Arial"/>
                        </a:rPr>
                        <a:t>$111.4K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$48.0K</a:t>
                      </a:r>
                    </a:p>
                  </a:txBody>
                  <a:tcPr>
                    <a:solidFill>
                      <a:srgbClr val="F7F6F2"/>
                    </a:solidFill>
                  </a:tcPr>
                </a:tc>
                <a:tc>
                  <a:txBody>
                    <a:bodyPr/>
                    <a:lstStyle/>
                    <a:p>
                      <a:pPr algn="r"/>
                      <a:r>
                        <a:rPr sz="1300" b="0">
                          <a:solidFill>
                            <a:srgbClr val="3F4A4E"/>
                          </a:solidFill>
                          <a:latin typeface="Arial"/>
                        </a:rPr>
                        <a:t>$34.2K</a:t>
                      </a:r>
                    </a:p>
                  </a:txBody>
                  <a:tcPr>
                    <a:solidFill>
                      <a:srgbClr val="F7F6F2"/>
                    </a:solidFill>
                  </a:tcPr>
                </a:tc>
                <a:tc>
                  <a:txBody>
                    <a:bodyPr/>
                    <a:lstStyle/>
                    <a:p>
                      <a:pPr algn="r"/>
                      <a:r>
                        <a:rPr sz="1300" b="0">
                          <a:solidFill>
                            <a:srgbClr val="3F4A4E"/>
                          </a:solidFill>
                          <a:latin typeface="Arial"/>
                        </a:rPr>
                        <a:t>$14.8K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$17.4K</a:t>
                      </a:r>
                    </a:p>
                  </a:txBody>
                  <a:tcPr>
                    <a:solidFill>
                      <a:srgbClr val="FFFFFF"/>
                    </a:solidFill>
                  </a:tcPr>
                </a:tc>
                <a:tc>
                  <a:txBody>
                    <a:bodyPr/>
                    <a:lstStyle/>
                    <a:p>
                      <a:pPr algn="r"/>
                      <a:r>
                        <a:rPr sz="1300" b="0">
                          <a:solidFill>
                            <a:srgbClr val="3F4A4E"/>
                          </a:solidFill>
                          <a:latin typeface="Arial"/>
                        </a:rPr>
                        <a:t>$9.7K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($164.0K)</a:t>
                      </a:r>
                    </a:p>
                  </a:txBody>
                  <a:tcPr>
                    <a:solidFill>
                      <a:srgbClr val="F7F6F2"/>
                    </a:solidFill>
                  </a:tcPr>
                </a:tc>
                <a:tc>
                  <a:txBody>
                    <a:bodyPr/>
                    <a:lstStyle/>
                    <a:p>
                      <a:pPr algn="r"/>
                      <a:r>
                        <a:rPr sz="1300" b="1">
                          <a:solidFill>
                            <a:srgbClr val="22424B"/>
                          </a:solidFill>
                          <a:latin typeface="Arial"/>
                        </a:rPr>
                        <a:t>($97.4K)</a:t>
                      </a:r>
                    </a:p>
                  </a:txBody>
                  <a:tcPr>
                    <a:solidFill>
                      <a:srgbClr val="F7F6F2"/>
                    </a:solidFill>
                  </a:tcPr>
                </a:tc>
                <a:tc>
                  <a:txBody>
                    <a:bodyPr/>
                    <a:lstStyle/>
                    <a:p>
                      <a:pPr algn="r"/>
                      <a:r>
                        <a:rPr sz="1300" b="1">
                          <a:solidFill>
                            <a:srgbClr val="22424B"/>
                          </a:solidFill>
                          <a:latin typeface="Arial"/>
                        </a:rPr>
                        <a:t>+$1.0K</a:t>
                      </a:r>
                    </a:p>
                  </a:txBody>
                  <a:tcPr>
                    <a:solidFill>
                      <a:srgbClr val="F7F6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 ~75 events/yr (71% of run-rate — fewer, better events) · 24.9% NOI margin per event</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9/1/2026 (August events already contracted at old terms)</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+$87.1K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+$38.5K with the changes vs +$9.0K with no changes → +$29.6K in four live months</a:t>
            </a:r>
          </a:p>
        </p:txBody>
      </p:sp>
      <p:graphicFrame>
        <p:nvGraphicFramePr>
          <p:cNvPr id="6" name="Table 5"/>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9/1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 (incl 5% admin fee billed to clients)</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$354.8K</a:t>
                      </a:r>
                    </a:p>
                  </a:txBody>
                  <a:tcPr>
                    <a:solidFill>
                      <a:srgbClr val="F7F6F2"/>
                    </a:solidFill>
                  </a:tcPr>
                </a:tc>
                <a:tc>
                  <a:txBody>
                    <a:bodyPr/>
                    <a:lstStyle/>
                    <a:p>
                      <a:pPr algn="r"/>
                      <a:r>
                        <a:rPr sz="1300" b="0">
                          <a:solidFill>
                            <a:srgbClr val="3F4A4E"/>
                          </a:solidFill>
                          <a:latin typeface="Arial"/>
                        </a:rPr>
                        <a:t>$350.1K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$122.9K</a:t>
                      </a:r>
                    </a:p>
                  </a:txBody>
                  <a:tcPr>
                    <a:solidFill>
                      <a:srgbClr val="FFFFFF"/>
                    </a:solidFill>
                  </a:tcPr>
                </a:tc>
                <a:tc>
                  <a:txBody>
                    <a:bodyPr/>
                    <a:lstStyle/>
                    <a:p>
                      <a:pPr algn="r"/>
                      <a:r>
                        <a:rPr sz="1300" b="0">
                          <a:solidFill>
                            <a:srgbClr val="3F4A4E"/>
                          </a:solidFill>
                          <a:latin typeface="Arial"/>
                        </a:rPr>
                        <a:t>$136.3K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$80.0K</a:t>
                      </a:r>
                    </a:p>
                  </a:txBody>
                  <a:tcPr>
                    <a:solidFill>
                      <a:srgbClr val="F7F6F2"/>
                    </a:solidFill>
                  </a:tcPr>
                </a:tc>
                <a:tc>
                  <a:txBody>
                    <a:bodyPr/>
                    <a:lstStyle/>
                    <a:p>
                      <a:pPr algn="r"/>
                      <a:r>
                        <a:rPr sz="1300" b="0">
                          <a:solidFill>
                            <a:srgbClr val="3F4A4E"/>
                          </a:solidFill>
                          <a:latin typeface="Arial"/>
                        </a:rPr>
                        <a:t>$60.7K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2026 ACT/FOR</a:t>
                      </a:r>
                    </a:p>
                  </a:txBody>
                  <a:tcPr>
                    <a:solidFill>
                      <a:srgbClr val="FFFFFF"/>
                    </a:solidFill>
                  </a:tcPr>
                </a:tc>
                <a:tc>
                  <a:txBody>
                    <a:bodyPr/>
                    <a:lstStyle/>
                    <a:p>
                      <a:pPr algn="r"/>
                      <a:r>
                        <a:rPr sz="1300" b="1">
                          <a:solidFill>
                            <a:srgbClr val="22424B"/>
                          </a:solidFill>
                          <a:latin typeface="Arial"/>
                        </a:rPr>
                        <a:t>$203.0K</a:t>
                      </a:r>
                    </a:p>
                  </a:txBody>
                  <a:tcPr>
                    <a:solidFill>
                      <a:srgbClr val="FFFFFF"/>
                    </a:solidFill>
                  </a:tcPr>
                </a:tc>
                <a:tc>
                  <a:txBody>
                    <a:bodyPr/>
                    <a:lstStyle/>
                    <a:p>
                      <a:pPr algn="r"/>
                      <a:r>
                        <a:rPr sz="1300" b="1">
                          <a:solidFill>
                            <a:srgbClr val="22424B"/>
                          </a:solidFill>
                          <a:latin typeface="Arial"/>
                        </a:rPr>
                        <a:t>$197.0K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2026 ACT/FOR</a:t>
                      </a:r>
                    </a:p>
                  </a:txBody>
                  <a:tcPr>
                    <a:solidFill>
                      <a:srgbClr val="F7F6F2"/>
                    </a:solidFill>
                  </a:tcPr>
                </a:tc>
                <a:tc>
                  <a:txBody>
                    <a:bodyPr/>
                    <a:lstStyle/>
                    <a:p>
                      <a:pPr algn="r"/>
                      <a:r>
                        <a:rPr sz="1300" b="1">
                          <a:solidFill>
                            <a:srgbClr val="22424B"/>
                          </a:solidFill>
                          <a:latin typeface="Arial"/>
                        </a:rPr>
                        <a:t>$151.8K</a:t>
                      </a:r>
                    </a:p>
                  </a:txBody>
                  <a:tcPr>
                    <a:solidFill>
                      <a:srgbClr val="F7F6F2"/>
                    </a:solidFill>
                  </a:tcPr>
                </a:tc>
                <a:tc>
                  <a:txBody>
                    <a:bodyPr/>
                    <a:lstStyle/>
                    <a:p>
                      <a:pPr algn="r"/>
                      <a:r>
                        <a:rPr sz="1300" b="1">
                          <a:solidFill>
                            <a:srgbClr val="22424B"/>
                          </a:solidFill>
                          <a:latin typeface="Arial"/>
                        </a:rPr>
                        <a:t>$153.1K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$84.3K</a:t>
                      </a:r>
                    </a:p>
                  </a:txBody>
                  <a:tcPr>
                    <a:solidFill>
                      <a:srgbClr val="FFFFFF"/>
                    </a:solidFill>
                  </a:tcPr>
                </a:tc>
                <a:tc>
                  <a:txBody>
                    <a:bodyPr/>
                    <a:lstStyle/>
                    <a:p>
                      <a:pPr algn="r"/>
                      <a:r>
                        <a:rPr sz="1300" b="0">
                          <a:solidFill>
                            <a:srgbClr val="3F4A4E"/>
                          </a:solidFill>
                          <a:latin typeface="Arial"/>
                        </a:rPr>
                        <a:t>$52.0K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$36.1K</a:t>
                      </a:r>
                    </a:p>
                  </a:txBody>
                  <a:tcPr>
                    <a:solidFill>
                      <a:srgbClr val="F7F6F2"/>
                    </a:solidFill>
                  </a:tcPr>
                </a:tc>
                <a:tc>
                  <a:txBody>
                    <a:bodyPr/>
                    <a:lstStyle/>
                    <a:p>
                      <a:pPr algn="r"/>
                      <a:r>
                        <a:rPr sz="1300" b="0">
                          <a:solidFill>
                            <a:srgbClr val="3F4A4E"/>
                          </a:solidFill>
                          <a:latin typeface="Arial"/>
                        </a:rPr>
                        <a:t>$14.0K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$15.3K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2026 ACT/FOR</a:t>
                      </a:r>
                    </a:p>
                  </a:txBody>
                  <a:tcPr>
                    <a:solidFill>
                      <a:srgbClr val="F7F6F2"/>
                    </a:solidFill>
                  </a:tcPr>
                </a:tc>
                <a:tc>
                  <a:txBody>
                    <a:bodyPr/>
                    <a:lstStyle/>
                    <a:p>
                      <a:pPr algn="r"/>
                      <a:r>
                        <a:rPr sz="1300" b="1">
                          <a:solidFill>
                            <a:srgbClr val="22424B"/>
                          </a:solidFill>
                          <a:latin typeface="Arial"/>
                        </a:rPr>
                        <a:t>+$16.1K</a:t>
                      </a:r>
                    </a:p>
                  </a:txBody>
                  <a:tcPr>
                    <a:solidFill>
                      <a:srgbClr val="F7F6F2"/>
                    </a:solidFill>
                  </a:tcPr>
                </a:tc>
                <a:tc>
                  <a:txBody>
                    <a:bodyPr/>
                    <a:lstStyle/>
                    <a:p>
                      <a:pPr algn="r"/>
                      <a:r>
                        <a:rPr sz="1300" b="1">
                          <a:solidFill>
                            <a:srgbClr val="22424B"/>
                          </a:solidFill>
                          <a:latin typeface="Arial"/>
                        </a:rPr>
                        <a:t>+$87.1K</a:t>
                      </a:r>
                    </a:p>
                  </a:txBody>
                  <a:tcPr>
                    <a:solidFill>
                      <a:srgbClr val="F7F6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$669,636</a:t>
                      </a:r>
                    </a:p>
                  </a:txBody>
                  <a:tcPr marL="36576" marR="45720">
                    <a:solidFill>
                      <a:srgbClr val="F7F6F2"/>
                    </a:solidFill>
                  </a:tcPr>
                </a:tc>
                <a:tc>
                  <a:txBody>
                    <a:bodyPr/>
                    <a:lstStyle/>
                    <a:p>
                      <a:pPr algn="r"/>
                      <a:r>
                        <a:rPr sz="1400" b="1">
                          <a:solidFill>
                            <a:srgbClr val="3F4A4E"/>
                          </a:solidFill>
                          <a:latin typeface="Arial"/>
                        </a:rPr>
                        <a:t>$720,967</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$226,693</a:t>
                      </a:r>
                    </a:p>
                  </a:txBody>
                  <a:tcPr marL="36576" marR="45720">
                    <a:solidFill>
                      <a:srgbClr val="FFFFFF"/>
                    </a:solidFill>
                  </a:tcPr>
                </a:tc>
                <a:tc>
                  <a:txBody>
                    <a:bodyPr/>
                    <a:lstStyle/>
                    <a:p>
                      <a:pPr algn="r"/>
                      <a:r>
                        <a:rPr sz="1400" b="1">
                          <a:solidFill>
                            <a:srgbClr val="3F4A4E"/>
                          </a:solidFill>
                          <a:latin typeface="Arial"/>
                        </a:rPr>
                        <a:t>$248,612</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$442,943</a:t>
                      </a:r>
                    </a:p>
                  </a:txBody>
                  <a:tcPr marL="36576" marR="45720">
                    <a:solidFill>
                      <a:srgbClr val="F7F6F2"/>
                    </a:solidFill>
                  </a:tcPr>
                </a:tc>
                <a:tc>
                  <a:txBody>
                    <a:bodyPr/>
                    <a:lstStyle/>
                    <a:p>
                      <a:pPr algn="r"/>
                      <a:r>
                        <a:rPr sz="1400" b="1">
                          <a:solidFill>
                            <a:srgbClr val="22424B"/>
                          </a:solidFill>
                          <a:latin typeface="Arial"/>
                        </a:rPr>
                        <a:t>$472,355</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$191,929</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$193,416</a:t>
                      </a:r>
                    </a:p>
                  </a:txBody>
                  <a:tcPr marL="36576" marR="45720">
                    <a:solidFill>
                      <a:srgbClr val="F7F6F2"/>
                    </a:solidFill>
                  </a:tcPr>
                </a:tc>
                <a:tc>
                  <a:txBody>
                    <a:bodyPr/>
                    <a:lstStyle/>
                    <a:p>
                      <a:pPr algn="r"/>
                      <a:r>
                        <a:rPr sz="1400" b="1">
                          <a:solidFill>
                            <a:srgbClr val="3F4A4E"/>
                          </a:solidFill>
                          <a:latin typeface="Arial"/>
                        </a:rPr>
                        <a:t>$163,440</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$70,293</a:t>
                      </a:r>
                    </a:p>
                  </a:txBody>
                  <a:tcPr marL="36576" marR="45720">
                    <a:solidFill>
                      <a:srgbClr val="FFFFFF"/>
                    </a:solidFill>
                  </a:tcPr>
                </a:tc>
                <a:tc>
                  <a:txBody>
                    <a:bodyPr/>
                    <a:lstStyle/>
                    <a:p>
                      <a:pPr algn="r"/>
                      <a:r>
                        <a:rPr sz="1400" b="1">
                          <a:solidFill>
                            <a:srgbClr val="3F4A4E"/>
                          </a:solidFill>
                          <a:latin typeface="Arial"/>
                        </a:rPr>
                        <a:t>$28,838</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$25,022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($81,300)</a:t>
                      </a:r>
                    </a:p>
                  </a:txBody>
                  <a:tcPr marL="36576" marR="45720">
                    <a:solidFill>
                      <a:srgbClr val="FFFFFF"/>
                    </a:solidFill>
                  </a:tcPr>
                </a:tc>
                <a:tc>
                  <a:txBody>
                    <a:bodyPr/>
                    <a:lstStyle/>
                    <a:p>
                      <a:pPr algn="r"/>
                      <a:r>
                        <a:rPr sz="1400" b="1">
                          <a:solidFill>
                            <a:srgbClr val="22424B"/>
                          </a:solidFill>
                          <a:latin typeface="Arial"/>
                        </a:rPr>
                        <a:t>$88,148</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($97,361) → +$1,034 — turns profitable</a:t>
            </a:r>
          </a:p>
          <a:p>
            <a:pPr>
              <a:spcAft>
                <a:spcPts val="800"/>
              </a:spcAft>
            </a:pPr>
            <a:r>
              <a:rPr sz="1400" b="0">
                <a:solidFill>
                  <a:srgbClr val="3F4A4E"/>
                </a:solidFill>
                <a:latin typeface="Arial"/>
              </a:rPr>
              <a:t>Vessel:  ($13,501) → +$16,061 → +$87,114 (go-live 9/1 — Aug events contracted)</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+$88,148 in 2027 — a $265,656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+$96,208 combined by year-end (Little Wing +$66,646 from 8/1 · Vessel +$29,562 from 9/1)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sp>
        <p:nvSpPr>
          <p:cNvPr id="5" name="TextBox 4"/>
          <p:cNvSpPr txBox="1"/>
          <p:nvPr/>
        </p:nvSpPr>
        <p:spPr>
          <a:xfrm>
            <a:off x="950976" y="7772400"/>
            <a:ext cx="16367759" cy="822960"/>
          </a:xfrm>
          <a:prstGeom prst="rect">
            <a:avLst/>
          </a:prstGeom>
          <a:noFill/>
        </p:spPr>
        <p:txBody>
          <a:bodyPr wrap="square">
            <a:spAutoFit/>
          </a:bodyPr>
          <a:lstStyle/>
          <a:p>
            <a:pPr>
              <a:spcBef>
                <a:spcPts val="500"/>
              </a:spcBef>
            </a:pPr>
            <a:r>
              <a:rPr sz="1200" b="0">
                <a:solidFill>
                  <a:srgbClr val="3F4A4E"/>
                </a:solidFill>
                <a:latin typeface="Arial"/>
              </a:rPr>
              <a:t>Vessel + Little Wing, all levers in effect. ALL twelve months profitable — worst month +$3,071. Vessel scaled to ~75 events at the $1,157-NOP/event card (24.9% margin). Uncontrollable expenses include the 4% management fee; rent waived.</a:t>
            </a:r>
          </a:p>
          <a:p>
            <a:pPr>
              <a:spcBef>
                <a:spcPts val="500"/>
              </a:spcBef>
            </a:pPr>
            <a:r>
              <a:rPr sz="1200" b="1">
                <a:solidFill>
                  <a:srgbClr val="1E7E8C"/>
                </a:solidFill>
                <a:latin typeface="Arial"/>
              </a:rPr>
              <a:t>YOY IMPROVEMENT — NET OPERATING PROFIT (2026 w/ changes live 8/1 LW · 9/1 Vessel → 2027)</a:t>
            </a:r>
          </a:p>
          <a:p>
            <a:pPr>
              <a:spcBef>
                <a:spcPts val="500"/>
              </a:spcBef>
            </a:pPr>
            <a:r>
              <a:rPr sz="1300" b="0">
                <a:solidFill>
                  <a:srgbClr val="3F4A4E"/>
                </a:solidFill>
                <a:latin typeface="Arial"/>
              </a:rPr>
              <a:t>•  Little Wing:  ($97,361) → +$1,034   ·   +$98,395 year over year — turns profitable</a:t>
            </a:r>
          </a:p>
          <a:p>
            <a:pPr>
              <a:spcBef>
                <a:spcPts val="500"/>
              </a:spcBef>
            </a:pPr>
            <a:r>
              <a:rPr sz="1300" b="0">
                <a:solidFill>
                  <a:srgbClr val="3F4A4E"/>
                </a:solidFill>
                <a:latin typeface="Arial"/>
              </a:rPr>
              <a:t>•  Vessel:  +$16,061 → +$87,114   ·   +$71,053 year over year</a:t>
            </a:r>
          </a:p>
          <a:p>
            <a:pPr>
              <a:spcBef>
                <a:spcPts val="500"/>
              </a:spcBef>
            </a:pPr>
            <a:r>
              <a:rPr sz="1300" b="1">
                <a:solidFill>
                  <a:srgbClr val="1E7E8C"/>
                </a:solidFill>
                <a:latin typeface="Arial"/>
              </a:rPr>
              <a:t>•  Combined:  ($81,300) → +$88,148   ·   +$169,448 year over year — a $265,656 swing vs the no-changes baseline of ($177,508)</a:t>
            </a:r>
          </a:p>
        </p:txBody>
      </p:sp>
      <p:graphicFrame>
        <p:nvGraphicFramePr>
          <p:cNvPr id="6" name="Table 5"/>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$74,005</a:t>
                      </a:r>
                    </a:p>
                  </a:txBody>
                  <a:tcPr marL="36576" marR="45720">
                    <a:solidFill>
                      <a:srgbClr val="F7F6F2"/>
                    </a:solidFill>
                  </a:tcPr>
                </a:tc>
                <a:tc>
                  <a:txBody>
                    <a:bodyPr/>
                    <a:lstStyle/>
                    <a:p>
                      <a:pPr algn="r"/>
                      <a:r>
                        <a:rPr sz="1050" b="0">
                          <a:solidFill>
                            <a:srgbClr val="3F4A4E"/>
                          </a:solidFill>
                          <a:latin typeface="Arial"/>
                        </a:rPr>
                        <a:t>$44,166</a:t>
                      </a:r>
                    </a:p>
                  </a:txBody>
                  <a:tcPr marL="36576" marR="45720">
                    <a:solidFill>
                      <a:srgbClr val="F7F6F2"/>
                    </a:solidFill>
                  </a:tcPr>
                </a:tc>
                <a:tc>
                  <a:txBody>
                    <a:bodyPr/>
                    <a:lstStyle/>
                    <a:p>
                      <a:pPr algn="r"/>
                      <a:r>
                        <a:rPr sz="1050" b="0">
                          <a:solidFill>
                            <a:srgbClr val="3F4A4E"/>
                          </a:solidFill>
                          <a:latin typeface="Arial"/>
                        </a:rPr>
                        <a:t>$74,005</a:t>
                      </a:r>
                    </a:p>
                  </a:txBody>
                  <a:tcPr marL="36576" marR="45720">
                    <a:solidFill>
                      <a:srgbClr val="F7F6F2"/>
                    </a:solidFill>
                  </a:tcPr>
                </a:tc>
                <a:tc>
                  <a:txBody>
                    <a:bodyPr/>
                    <a:lstStyle/>
                    <a:p>
                      <a:pPr algn="r"/>
                      <a:r>
                        <a:rPr sz="1050" b="0">
                          <a:solidFill>
                            <a:srgbClr val="3F4A4E"/>
                          </a:solidFill>
                          <a:latin typeface="Arial"/>
                        </a:rPr>
                        <a:t>$44,166</a:t>
                      </a:r>
                    </a:p>
                  </a:txBody>
                  <a:tcPr marL="36576" marR="45720">
                    <a:solidFill>
                      <a:srgbClr val="F7F6F2"/>
                    </a:solidFill>
                  </a:tcPr>
                </a:tc>
                <a:tc>
                  <a:txBody>
                    <a:bodyPr/>
                    <a:lstStyle/>
                    <a:p>
                      <a:pPr algn="r"/>
                      <a:r>
                        <a:rPr sz="1050" b="0">
                          <a:solidFill>
                            <a:srgbClr val="3F4A4E"/>
                          </a:solidFill>
                          <a:latin typeface="Arial"/>
                        </a:rPr>
                        <a:t>$64,059</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0">
                          <a:solidFill>
                            <a:srgbClr val="3F4A4E"/>
                          </a:solidFill>
                          <a:latin typeface="Arial"/>
                        </a:rPr>
                        <a:t>$60,081</a:t>
                      </a:r>
                    </a:p>
                  </a:txBody>
                  <a:tcPr marL="36576" marR="45720">
                    <a:solidFill>
                      <a:srgbClr val="F7F6F2"/>
                    </a:solidFill>
                  </a:tcPr>
                </a:tc>
                <a:tc>
                  <a:txBody>
                    <a:bodyPr/>
                    <a:lstStyle/>
                    <a:p>
                      <a:pPr algn="r"/>
                      <a:r>
                        <a:rPr sz="1050" b="1">
                          <a:solidFill>
                            <a:srgbClr val="3F4A4E"/>
                          </a:solidFill>
                          <a:latin typeface="Arial"/>
                        </a:rPr>
                        <a:t>$720,967</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$26,138</a:t>
                      </a:r>
                    </a:p>
                  </a:txBody>
                  <a:tcPr marL="36576" marR="45720">
                    <a:solidFill>
                      <a:srgbClr val="FFFFFF"/>
                    </a:solidFill>
                  </a:tcPr>
                </a:tc>
                <a:tc>
                  <a:txBody>
                    <a:bodyPr/>
                    <a:lstStyle/>
                    <a:p>
                      <a:pPr algn="r"/>
                      <a:r>
                        <a:rPr sz="1050" b="0">
                          <a:solidFill>
                            <a:srgbClr val="3F4A4E"/>
                          </a:solidFill>
                          <a:latin typeface="Arial"/>
                        </a:rPr>
                        <a:t>$14,523</a:t>
                      </a:r>
                    </a:p>
                  </a:txBody>
                  <a:tcPr marL="36576" marR="45720">
                    <a:solidFill>
                      <a:srgbClr val="FFFFFF"/>
                    </a:solidFill>
                  </a:tcPr>
                </a:tc>
                <a:tc>
                  <a:txBody>
                    <a:bodyPr/>
                    <a:lstStyle/>
                    <a:p>
                      <a:pPr algn="r"/>
                      <a:r>
                        <a:rPr sz="1050" b="0">
                          <a:solidFill>
                            <a:srgbClr val="3F4A4E"/>
                          </a:solidFill>
                          <a:latin typeface="Arial"/>
                        </a:rPr>
                        <a:t>$26,138</a:t>
                      </a:r>
                    </a:p>
                  </a:txBody>
                  <a:tcPr marL="36576" marR="45720">
                    <a:solidFill>
                      <a:srgbClr val="FFFFFF"/>
                    </a:solidFill>
                  </a:tcPr>
                </a:tc>
                <a:tc>
                  <a:txBody>
                    <a:bodyPr/>
                    <a:lstStyle/>
                    <a:p>
                      <a:pPr algn="r"/>
                      <a:r>
                        <a:rPr sz="1050" b="0">
                          <a:solidFill>
                            <a:srgbClr val="3F4A4E"/>
                          </a:solidFill>
                          <a:latin typeface="Arial"/>
                        </a:rPr>
                        <a:t>$14,523</a:t>
                      </a:r>
                    </a:p>
                  </a:txBody>
                  <a:tcPr marL="36576" marR="45720">
                    <a:solidFill>
                      <a:srgbClr val="FFFFFF"/>
                    </a:solidFill>
                  </a:tcPr>
                </a:tc>
                <a:tc>
                  <a:txBody>
                    <a:bodyPr/>
                    <a:lstStyle/>
                    <a:p>
                      <a:pPr algn="r"/>
                      <a:r>
                        <a:rPr sz="1050" b="0">
                          <a:solidFill>
                            <a:srgbClr val="3F4A4E"/>
                          </a:solidFill>
                          <a:latin typeface="Arial"/>
                        </a:rPr>
                        <a:t>$22,266</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0">
                          <a:solidFill>
                            <a:srgbClr val="3F4A4E"/>
                          </a:solidFill>
                          <a:latin typeface="Arial"/>
                        </a:rPr>
                        <a:t>$20,718</a:t>
                      </a:r>
                    </a:p>
                  </a:txBody>
                  <a:tcPr marL="36576" marR="45720">
                    <a:solidFill>
                      <a:srgbClr val="FFFFFF"/>
                    </a:solidFill>
                  </a:tcPr>
                </a:tc>
                <a:tc>
                  <a:txBody>
                    <a:bodyPr/>
                    <a:lstStyle/>
                    <a:p>
                      <a:pPr algn="r"/>
                      <a:r>
                        <a:rPr sz="1050" b="1">
                          <a:solidFill>
                            <a:srgbClr val="3F4A4E"/>
                          </a:solidFill>
                          <a:latin typeface="Arial"/>
                        </a:rPr>
                        <a:t>$248,612</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$18,722</a:t>
                      </a:r>
                    </a:p>
                  </a:txBody>
                  <a:tcPr marL="36576" marR="45720">
                    <a:solidFill>
                      <a:srgbClr val="F7F6F2"/>
                    </a:solidFill>
                  </a:tcPr>
                </a:tc>
                <a:tc>
                  <a:txBody>
                    <a:bodyPr/>
                    <a:lstStyle/>
                    <a:p>
                      <a:pPr algn="r"/>
                      <a:r>
                        <a:rPr sz="1050" b="0">
                          <a:solidFill>
                            <a:srgbClr val="3F4A4E"/>
                          </a:solidFill>
                          <a:latin typeface="Arial"/>
                        </a:rPr>
                        <a:t>$13,550</a:t>
                      </a:r>
                    </a:p>
                  </a:txBody>
                  <a:tcPr marL="36576" marR="45720">
                    <a:solidFill>
                      <a:srgbClr val="F7F6F2"/>
                    </a:solidFill>
                  </a:tcPr>
                </a:tc>
                <a:tc>
                  <a:txBody>
                    <a:bodyPr/>
                    <a:lstStyle/>
                    <a:p>
                      <a:pPr algn="r"/>
                      <a:r>
                        <a:rPr sz="1050" b="0">
                          <a:solidFill>
                            <a:srgbClr val="3F4A4E"/>
                          </a:solidFill>
                          <a:latin typeface="Arial"/>
                        </a:rPr>
                        <a:t>$18,722</a:t>
                      </a:r>
                    </a:p>
                  </a:txBody>
                  <a:tcPr marL="36576" marR="45720">
                    <a:solidFill>
                      <a:srgbClr val="F7F6F2"/>
                    </a:solidFill>
                  </a:tcPr>
                </a:tc>
                <a:tc>
                  <a:txBody>
                    <a:bodyPr/>
                    <a:lstStyle/>
                    <a:p>
                      <a:pPr algn="r"/>
                      <a:r>
                        <a:rPr sz="1050" b="0">
                          <a:solidFill>
                            <a:srgbClr val="3F4A4E"/>
                          </a:solidFill>
                          <a:latin typeface="Arial"/>
                        </a:rPr>
                        <a:t>$13,550</a:t>
                      </a:r>
                    </a:p>
                  </a:txBody>
                  <a:tcPr marL="36576" marR="45720">
                    <a:solidFill>
                      <a:srgbClr val="F7F6F2"/>
                    </a:solidFill>
                  </a:tcPr>
                </a:tc>
                <a:tc>
                  <a:txBody>
                    <a:bodyPr/>
                    <a:lstStyle/>
                    <a:p>
                      <a:pPr algn="r"/>
                      <a:r>
                        <a:rPr sz="1050" b="0">
                          <a:solidFill>
                            <a:srgbClr val="3F4A4E"/>
                          </a:solidFill>
                          <a:latin typeface="Arial"/>
                        </a:rPr>
                        <a:t>$16,998</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$16,309</a:t>
                      </a:r>
                    </a:p>
                  </a:txBody>
                  <a:tcPr marL="36576" marR="45720">
                    <a:solidFill>
                      <a:srgbClr val="F7F6F2"/>
                    </a:solidFill>
                  </a:tcPr>
                </a:tc>
                <a:tc>
                  <a:txBody>
                    <a:bodyPr/>
                    <a:lstStyle/>
                    <a:p>
                      <a:pPr algn="r"/>
                      <a:r>
                        <a:rPr sz="1050" b="0">
                          <a:solidFill>
                            <a:srgbClr val="3F4A4E"/>
                          </a:solidFill>
                          <a:latin typeface="Arial"/>
                        </a:rPr>
                        <a:t>$12,532</a:t>
                      </a:r>
                    </a:p>
                  </a:txBody>
                  <a:tcPr marL="36576" marR="45720">
                    <a:solidFill>
                      <a:srgbClr val="F7F6F2"/>
                    </a:solidFill>
                  </a:tcPr>
                </a:tc>
                <a:tc>
                  <a:txBody>
                    <a:bodyPr/>
                    <a:lstStyle/>
                    <a:p>
                      <a:pPr algn="r"/>
                      <a:r>
                        <a:rPr sz="1050" b="1">
                          <a:solidFill>
                            <a:srgbClr val="3F4A4E"/>
                          </a:solidFill>
                          <a:latin typeface="Arial"/>
                        </a:rPr>
                        <a:t>$191,929</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$44,860</a:t>
                      </a:r>
                    </a:p>
                  </a:txBody>
                  <a:tcPr marL="36576" marR="45720">
                    <a:solidFill>
                      <a:srgbClr val="FFFFFF"/>
                    </a:solidFill>
                  </a:tcPr>
                </a:tc>
                <a:tc>
                  <a:txBody>
                    <a:bodyPr/>
                    <a:lstStyle/>
                    <a:p>
                      <a:pPr algn="r"/>
                      <a:r>
                        <a:rPr sz="1050" b="1">
                          <a:solidFill>
                            <a:srgbClr val="22424B"/>
                          </a:solidFill>
                          <a:latin typeface="Arial"/>
                        </a:rPr>
                        <a:t>$28,073</a:t>
                      </a:r>
                    </a:p>
                  </a:txBody>
                  <a:tcPr marL="36576" marR="45720">
                    <a:solidFill>
                      <a:srgbClr val="FFFFFF"/>
                    </a:solidFill>
                  </a:tcPr>
                </a:tc>
                <a:tc>
                  <a:txBody>
                    <a:bodyPr/>
                    <a:lstStyle/>
                    <a:p>
                      <a:pPr algn="r"/>
                      <a:r>
                        <a:rPr sz="1050" b="1">
                          <a:solidFill>
                            <a:srgbClr val="22424B"/>
                          </a:solidFill>
                          <a:latin typeface="Arial"/>
                        </a:rPr>
                        <a:t>$44,860</a:t>
                      </a:r>
                    </a:p>
                  </a:txBody>
                  <a:tcPr marL="36576" marR="45720">
                    <a:solidFill>
                      <a:srgbClr val="FFFFFF"/>
                    </a:solidFill>
                  </a:tcPr>
                </a:tc>
                <a:tc>
                  <a:txBody>
                    <a:bodyPr/>
                    <a:lstStyle/>
                    <a:p>
                      <a:pPr algn="r"/>
                      <a:r>
                        <a:rPr sz="1050" b="1">
                          <a:solidFill>
                            <a:srgbClr val="22424B"/>
                          </a:solidFill>
                          <a:latin typeface="Arial"/>
                        </a:rPr>
                        <a:t>$28,073</a:t>
                      </a:r>
                    </a:p>
                  </a:txBody>
                  <a:tcPr marL="36576" marR="45720">
                    <a:solidFill>
                      <a:srgbClr val="FFFFFF"/>
                    </a:solidFill>
                  </a:tcPr>
                </a:tc>
                <a:tc>
                  <a:txBody>
                    <a:bodyPr/>
                    <a:lstStyle/>
                    <a:p>
                      <a:pPr algn="r"/>
                      <a:r>
                        <a:rPr sz="1050" b="1">
                          <a:solidFill>
                            <a:srgbClr val="22424B"/>
                          </a:solidFill>
                          <a:latin typeface="Arial"/>
                        </a:rPr>
                        <a:t>$39,265</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$37,026</a:t>
                      </a:r>
                    </a:p>
                  </a:txBody>
                  <a:tcPr marL="36576" marR="45720">
                    <a:solidFill>
                      <a:srgbClr val="FFFFFF"/>
                    </a:solidFill>
                  </a:tcPr>
                </a:tc>
                <a:tc>
                  <a:txBody>
                    <a:bodyPr/>
                    <a:lstStyle/>
                    <a:p>
                      <a:pPr algn="r"/>
                      <a:r>
                        <a:rPr sz="1050" b="1">
                          <a:solidFill>
                            <a:srgbClr val="22424B"/>
                          </a:solidFill>
                          <a:latin typeface="Arial"/>
                        </a:rPr>
                        <a:t>$33,250</a:t>
                      </a:r>
                    </a:p>
                  </a:txBody>
                  <a:tcPr marL="36576" marR="45720">
                    <a:solidFill>
                      <a:srgbClr val="FFFFFF"/>
                    </a:solidFill>
                  </a:tcPr>
                </a:tc>
                <a:tc>
                  <a:txBody>
                    <a:bodyPr/>
                    <a:lstStyle/>
                    <a:p>
                      <a:pPr algn="r"/>
                      <a:r>
                        <a:rPr sz="1050" b="1">
                          <a:solidFill>
                            <a:srgbClr val="22424B"/>
                          </a:solidFill>
                          <a:latin typeface="Arial"/>
                        </a:rPr>
                        <a:t>$440,541</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$29,145</a:t>
                      </a:r>
                    </a:p>
                  </a:txBody>
                  <a:tcPr marL="36576" marR="45720">
                    <a:solidFill>
                      <a:srgbClr val="F7F6F2"/>
                    </a:solidFill>
                  </a:tcPr>
                </a:tc>
                <a:tc>
                  <a:txBody>
                    <a:bodyPr/>
                    <a:lstStyle/>
                    <a:p>
                      <a:pPr algn="r"/>
                      <a:r>
                        <a:rPr sz="1050" b="1">
                          <a:solidFill>
                            <a:srgbClr val="22424B"/>
                          </a:solidFill>
                          <a:latin typeface="Arial"/>
                        </a:rPr>
                        <a:t>$16,093</a:t>
                      </a:r>
                    </a:p>
                  </a:txBody>
                  <a:tcPr marL="36576" marR="45720">
                    <a:solidFill>
                      <a:srgbClr val="F7F6F2"/>
                    </a:solidFill>
                  </a:tcPr>
                </a:tc>
                <a:tc>
                  <a:txBody>
                    <a:bodyPr/>
                    <a:lstStyle/>
                    <a:p>
                      <a:pPr algn="r"/>
                      <a:r>
                        <a:rPr sz="1050" b="1">
                          <a:solidFill>
                            <a:srgbClr val="22424B"/>
                          </a:solidFill>
                          <a:latin typeface="Arial"/>
                        </a:rPr>
                        <a:t>$29,145</a:t>
                      </a:r>
                    </a:p>
                  </a:txBody>
                  <a:tcPr marL="36576" marR="45720">
                    <a:solidFill>
                      <a:srgbClr val="F7F6F2"/>
                    </a:solidFill>
                  </a:tcPr>
                </a:tc>
                <a:tc>
                  <a:txBody>
                    <a:bodyPr/>
                    <a:lstStyle/>
                    <a:p>
                      <a:pPr algn="r"/>
                      <a:r>
                        <a:rPr sz="1050" b="1">
                          <a:solidFill>
                            <a:srgbClr val="22424B"/>
                          </a:solidFill>
                          <a:latin typeface="Arial"/>
                        </a:rPr>
                        <a:t>$16,093</a:t>
                      </a:r>
                    </a:p>
                  </a:txBody>
                  <a:tcPr marL="36576" marR="45720">
                    <a:solidFill>
                      <a:srgbClr val="F7F6F2"/>
                    </a:solidFill>
                  </a:tcPr>
                </a:tc>
                <a:tc>
                  <a:txBody>
                    <a:bodyPr/>
                    <a:lstStyle/>
                    <a:p>
                      <a:pPr algn="r"/>
                      <a:r>
                        <a:rPr sz="1050" b="1">
                          <a:solidFill>
                            <a:srgbClr val="22424B"/>
                          </a:solidFill>
                          <a:latin typeface="Arial"/>
                        </a:rPr>
                        <a:t>$24,794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$23,054</a:t>
                      </a:r>
                    </a:p>
                  </a:txBody>
                  <a:tcPr marL="36576" marR="45720">
                    <a:solidFill>
                      <a:srgbClr val="F7F6F2"/>
                    </a:solidFill>
                  </a:tcPr>
                </a:tc>
                <a:tc>
                  <a:txBody>
                    <a:bodyPr/>
                    <a:lstStyle/>
                    <a:p>
                      <a:pPr algn="r"/>
                      <a:r>
                        <a:rPr sz="1050" b="1">
                          <a:solidFill>
                            <a:srgbClr val="22424B"/>
                          </a:solidFill>
                          <a:latin typeface="Arial"/>
                        </a:rPr>
                        <a:t>$26,831</a:t>
                      </a:r>
                    </a:p>
                  </a:txBody>
                  <a:tcPr marL="36576" marR="45720">
                    <a:solidFill>
                      <a:srgbClr val="F7F6F2"/>
                    </a:solidFill>
                  </a:tcPr>
                </a:tc>
                <a:tc>
                  <a:txBody>
                    <a:bodyPr/>
                    <a:lstStyle/>
                    <a:p>
                      <a:pPr algn="r"/>
                      <a:r>
                        <a:rPr sz="1050" b="1">
                          <a:solidFill>
                            <a:srgbClr val="22424B"/>
                          </a:solidFill>
                          <a:latin typeface="Arial"/>
                        </a:rPr>
                        <a:t>$280,426</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$12,974</a:t>
                      </a:r>
                    </a:p>
                  </a:txBody>
                  <a:tcPr marL="36576" marR="45720">
                    <a:solidFill>
                      <a:srgbClr val="FFFFFF"/>
                    </a:solidFill>
                  </a:tcPr>
                </a:tc>
                <a:tc>
                  <a:txBody>
                    <a:bodyPr/>
                    <a:lstStyle/>
                    <a:p>
                      <a:pPr algn="r"/>
                      <a:r>
                        <a:rPr sz="1050" b="0">
                          <a:solidFill>
                            <a:srgbClr val="3F4A4E"/>
                          </a:solidFill>
                          <a:latin typeface="Arial"/>
                        </a:rPr>
                        <a:t>$9,285</a:t>
                      </a:r>
                    </a:p>
                  </a:txBody>
                  <a:tcPr marL="36576" marR="45720">
                    <a:solidFill>
                      <a:srgbClr val="FFFFFF"/>
                    </a:solidFill>
                  </a:tcPr>
                </a:tc>
                <a:tc>
                  <a:txBody>
                    <a:bodyPr/>
                    <a:lstStyle/>
                    <a:p>
                      <a:pPr algn="r"/>
                      <a:r>
                        <a:rPr sz="1050" b="0">
                          <a:solidFill>
                            <a:srgbClr val="3F4A4E"/>
                          </a:solidFill>
                          <a:latin typeface="Arial"/>
                        </a:rPr>
                        <a:t>$12,974</a:t>
                      </a:r>
                    </a:p>
                  </a:txBody>
                  <a:tcPr marL="36576" marR="45720">
                    <a:solidFill>
                      <a:srgbClr val="FFFFFF"/>
                    </a:solidFill>
                  </a:tcPr>
                </a:tc>
                <a:tc>
                  <a:txBody>
                    <a:bodyPr/>
                    <a:lstStyle/>
                    <a:p>
                      <a:pPr algn="r"/>
                      <a:r>
                        <a:rPr sz="1050" b="0">
                          <a:solidFill>
                            <a:srgbClr val="3F4A4E"/>
                          </a:solidFill>
                          <a:latin typeface="Arial"/>
                        </a:rPr>
                        <a:t>$9,285</a:t>
                      </a:r>
                    </a:p>
                  </a:txBody>
                  <a:tcPr marL="36576" marR="45720">
                    <a:solidFill>
                      <a:srgbClr val="FFFFFF"/>
                    </a:solidFill>
                  </a:tcPr>
                </a:tc>
                <a:tc>
                  <a:txBody>
                    <a:bodyPr/>
                    <a:lstStyle/>
                    <a:p>
                      <a:pPr algn="r"/>
                      <a:r>
                        <a:rPr sz="1050" b="0">
                          <a:solidFill>
                            <a:srgbClr val="3F4A4E"/>
                          </a:solidFill>
                          <a:latin typeface="Arial"/>
                        </a:rPr>
                        <a:t>$11,744</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0">
                          <a:solidFill>
                            <a:srgbClr val="3F4A4E"/>
                          </a:solidFill>
                          <a:latin typeface="Arial"/>
                        </a:rPr>
                        <a:t>$11,252</a:t>
                      </a:r>
                    </a:p>
                  </a:txBody>
                  <a:tcPr marL="36576" marR="45720">
                    <a:solidFill>
                      <a:srgbClr val="FFFFFF"/>
                    </a:solidFill>
                  </a:tcPr>
                </a:tc>
                <a:tc>
                  <a:txBody>
                    <a:bodyPr/>
                    <a:lstStyle/>
                    <a:p>
                      <a:pPr algn="r"/>
                      <a:r>
                        <a:rPr sz="1050" b="1">
                          <a:solidFill>
                            <a:srgbClr val="3F4A4E"/>
                          </a:solidFill>
                          <a:latin typeface="Arial"/>
                        </a:rPr>
                        <a:t>$135,029</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$5,675</a:t>
                      </a:r>
                    </a:p>
                  </a:txBody>
                  <a:tcPr marL="36576" marR="45720">
                    <a:solidFill>
                      <a:srgbClr val="F7F6F2"/>
                    </a:solidFill>
                  </a:tcPr>
                </a:tc>
                <a:tc>
                  <a:txBody>
                    <a:bodyPr/>
                    <a:lstStyle/>
                    <a:p>
                      <a:pPr algn="r"/>
                      <a:r>
                        <a:rPr sz="1050" b="0">
                          <a:solidFill>
                            <a:srgbClr val="3F4A4E"/>
                          </a:solidFill>
                          <a:latin typeface="Arial"/>
                        </a:rPr>
                        <a:t>$3,737</a:t>
                      </a:r>
                    </a:p>
                  </a:txBody>
                  <a:tcPr marL="36576" marR="45720">
                    <a:solidFill>
                      <a:srgbClr val="F7F6F2"/>
                    </a:solidFill>
                  </a:tcPr>
                </a:tc>
                <a:tc>
                  <a:txBody>
                    <a:bodyPr/>
                    <a:lstStyle/>
                    <a:p>
                      <a:pPr algn="r"/>
                      <a:r>
                        <a:rPr sz="1050" b="0">
                          <a:solidFill>
                            <a:srgbClr val="3F4A4E"/>
                          </a:solidFill>
                          <a:latin typeface="Arial"/>
                        </a:rPr>
                        <a:t>$5,675</a:t>
                      </a:r>
                    </a:p>
                  </a:txBody>
                  <a:tcPr marL="36576" marR="45720">
                    <a:solidFill>
                      <a:srgbClr val="F7F6F2"/>
                    </a:solidFill>
                  </a:tcPr>
                </a:tc>
                <a:tc>
                  <a:txBody>
                    <a:bodyPr/>
                    <a:lstStyle/>
                    <a:p>
                      <a:pPr algn="r"/>
                      <a:r>
                        <a:rPr sz="1050" b="0">
                          <a:solidFill>
                            <a:srgbClr val="3F4A4E"/>
                          </a:solidFill>
                          <a:latin typeface="Arial"/>
                        </a:rPr>
                        <a:t>$3,737</a:t>
                      </a:r>
                    </a:p>
                  </a:txBody>
                  <a:tcPr marL="36576" marR="45720">
                    <a:solidFill>
                      <a:srgbClr val="F7F6F2"/>
                    </a:solidFill>
                  </a:tcPr>
                </a:tc>
                <a:tc>
                  <a:txBody>
                    <a:bodyPr/>
                    <a:lstStyle/>
                    <a:p>
                      <a:pPr algn="r"/>
                      <a:r>
                        <a:rPr sz="1050" b="0">
                          <a:solidFill>
                            <a:srgbClr val="3F4A4E"/>
                          </a:solidFill>
                          <a:latin typeface="Arial"/>
                        </a:rPr>
                        <a:t>$5,029</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0">
                          <a:solidFill>
                            <a:srgbClr val="3F4A4E"/>
                          </a:solidFill>
                          <a:latin typeface="Arial"/>
                        </a:rPr>
                        <a:t>$4,771</a:t>
                      </a:r>
                    </a:p>
                  </a:txBody>
                  <a:tcPr marL="36576" marR="45720">
                    <a:solidFill>
                      <a:srgbClr val="F7F6F2"/>
                    </a:solidFill>
                  </a:tcPr>
                </a:tc>
                <a:tc>
                  <a:txBody>
                    <a:bodyPr/>
                    <a:lstStyle/>
                    <a:p>
                      <a:pPr algn="r"/>
                      <a:r>
                        <a:rPr sz="1050" b="1">
                          <a:solidFill>
                            <a:srgbClr val="3F4A4E"/>
                          </a:solidFill>
                          <a:latin typeface="Arial"/>
                        </a:rPr>
                        <a:t>$57,249</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$10,496</a:t>
                      </a:r>
                    </a:p>
                  </a:txBody>
                  <a:tcPr marL="36576" marR="45720">
                    <a:solidFill>
                      <a:srgbClr val="FFFFFF"/>
                    </a:solidFill>
                  </a:tcPr>
                </a:tc>
                <a:tc>
                  <a:txBody>
                    <a:bodyPr/>
                    <a:lstStyle/>
                    <a:p>
                      <a:pPr algn="r"/>
                      <a:r>
                        <a:rPr sz="1050" b="1">
                          <a:solidFill>
                            <a:srgbClr val="22424B"/>
                          </a:solidFill>
                          <a:latin typeface="Arial"/>
                        </a:rPr>
                        <a:t>$3,071</a:t>
                      </a:r>
                    </a:p>
                  </a:txBody>
                  <a:tcPr marL="36576" marR="45720">
                    <a:solidFill>
                      <a:srgbClr val="FFFFFF"/>
                    </a:solidFill>
                  </a:tcPr>
                </a:tc>
                <a:tc>
                  <a:txBody>
                    <a:bodyPr/>
                    <a:lstStyle/>
                    <a:p>
                      <a:pPr algn="r"/>
                      <a:r>
                        <a:rPr sz="1050" b="1">
                          <a:solidFill>
                            <a:srgbClr val="22424B"/>
                          </a:solidFill>
                          <a:latin typeface="Arial"/>
                        </a:rPr>
                        <a:t>$10,496</a:t>
                      </a:r>
                    </a:p>
                  </a:txBody>
                  <a:tcPr marL="36576" marR="45720">
                    <a:solidFill>
                      <a:srgbClr val="FFFFFF"/>
                    </a:solidFill>
                  </a:tcPr>
                </a:tc>
                <a:tc>
                  <a:txBody>
                    <a:bodyPr/>
                    <a:lstStyle/>
                    <a:p>
                      <a:pPr algn="r"/>
                      <a:r>
                        <a:rPr sz="1050" b="1">
                          <a:solidFill>
                            <a:srgbClr val="22424B"/>
                          </a:solidFill>
                          <a:latin typeface="Arial"/>
                        </a:rPr>
                        <a:t>$3,071</a:t>
                      </a:r>
                    </a:p>
                  </a:txBody>
                  <a:tcPr marL="36576" marR="45720">
                    <a:solidFill>
                      <a:srgbClr val="FFFFFF"/>
                    </a:solidFill>
                  </a:tcPr>
                </a:tc>
                <a:tc>
                  <a:txBody>
                    <a:bodyPr/>
                    <a:lstStyle/>
                    <a:p>
                      <a:pPr algn="r"/>
                      <a:r>
                        <a:rPr sz="1050" b="1">
                          <a:solidFill>
                            <a:srgbClr val="22424B"/>
                          </a:solidFill>
                          <a:latin typeface="Arial"/>
                        </a:rPr>
                        <a:t>$8,021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$7,031</a:t>
                      </a:r>
                    </a:p>
                  </a:txBody>
                  <a:tcPr marL="36576" marR="45720">
                    <a:solidFill>
                      <a:srgbClr val="FFFFFF"/>
                    </a:solidFill>
                  </a:tcPr>
                </a:tc>
                <a:tc>
                  <a:txBody>
                    <a:bodyPr/>
                    <a:lstStyle/>
                    <a:p>
                      <a:pPr algn="r"/>
                      <a:r>
                        <a:rPr sz="1050" b="1">
                          <a:solidFill>
                            <a:srgbClr val="22424B"/>
                          </a:solidFill>
                          <a:latin typeface="Arial"/>
                        </a:rPr>
                        <a:t>$10,807</a:t>
                      </a:r>
                    </a:p>
                  </a:txBody>
                  <a:tcPr marL="36576" marR="45720">
                    <a:solidFill>
                      <a:srgbClr val="FFFFFF"/>
                    </a:solidFill>
                  </a:tcPr>
                </a:tc>
                <a:tc>
                  <a:txBody>
                    <a:bodyPr/>
                    <a:lstStyle/>
                    <a:p>
                      <a:pPr algn="r"/>
                      <a:r>
                        <a:rPr sz="1050" b="1">
                          <a:solidFill>
                            <a:srgbClr val="22424B"/>
                          </a:solidFill>
                          <a:latin typeface="Arial"/>
                        </a:rPr>
                        <a:t>$88,148</a:t>
                      </a:r>
                    </a:p>
                  </a:txBody>
                  <a:tcPr marL="36576" marR="45720">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