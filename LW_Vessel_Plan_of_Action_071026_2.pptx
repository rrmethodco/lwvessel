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~39%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a:t>
            </a:r>
            <a:r>
              <a:rPr lang="en-US" sz="3750" kern="0" spc="-75" dirty="0" err="1">
                <a:solidFill>
                  <a:srgbClr val="22424B"/>
                </a:solidFill>
                <a:latin typeface="Georgia" pitchFamily="34" charset="0"/>
                <a:ea typeface="Georgia" pitchFamily="34" charset="-122"/>
                <a:cs typeface="Georgia" pitchFamily="34" charset="-120"/>
              </a:rPr>
              <a:t>xxK</a:t>
            </a:r>
            <a:r>
              <a:rPr lang="en-US" sz="3750" kern="0" spc="-75" dirty="0">
                <a:solidFill>
                  <a:srgbClr val="22424B"/>
                </a:solidFill>
                <a:latin typeface="Georgia" pitchFamily="34" charset="0"/>
                <a:ea typeface="Georgia" pitchFamily="34" charset="-122"/>
                <a:cs typeface="Georgia" pitchFamily="34" charset="-120"/>
              </a:rPr>
              <a:t> → $</a:t>
            </a:r>
            <a:r>
              <a:rPr lang="en-US" sz="3750" kern="0" spc="-75" dirty="0" err="1">
                <a:solidFill>
                  <a:srgbClr val="22424B"/>
                </a:solidFill>
                <a:latin typeface="Georgia" pitchFamily="34" charset="0"/>
                <a:ea typeface="Georgia" pitchFamily="34" charset="-122"/>
                <a:cs typeface="Georgia" pitchFamily="34" charset="-120"/>
              </a:rPr>
              <a:t>xxK</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$14.5K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3" name="Text 11">
            <a:extLst>
              <a:ext uri="{FF2B5EF4-FFF2-40B4-BE49-F238E27FC236}">
                <a16:creationId xmlns:a16="http://schemas.microsoft.com/office/drawing/2014/main" id="{42FEB7E6-2740-A9D7-93CD-8DD7E7B5F147}"/>
              </a:ext>
            </a:extLst>
          </p:cNvPr>
          <p:cNvSpPr/>
          <p:nvPr/>
        </p:nvSpPr>
        <p:spPr>
          <a:xfrm>
            <a:off x="7254478" y="1257299"/>
            <a:ext cx="8560486" cy="966355"/>
          </a:xfrm>
          <a:prstGeom prst="rect">
            <a:avLst/>
          </a:prstGeom>
          <a:noFill/>
          <a:ln/>
        </p:spPr>
        <p:txBody>
          <a:bodyPr wrap="square" lIns="25400" tIns="25400" rIns="25400" bIns="25400" rtlCol="0" anchor="t">
            <a:normAutofit/>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UPDATE TO BE REAL</a:t>
            </a:r>
            <a:endParaRPr lang="en-US" sz="3750" dirty="0">
              <a:solidFill>
                <a:srgbClr val="FF0000"/>
              </a:solidFill>
            </a:endParaRP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graphicFrame>
        <p:nvGraphicFramePr>
          <p:cNvPr id="123" name="Table 122"/>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a:t>
                      </a:r>
                    </a:p>
                  </a:txBody>
                  <a:tcPr>
                    <a:solidFill>
                      <a:srgbClr val="F7F6F2"/>
                    </a:solidFill>
                  </a:tcPr>
                </a:tc>
                <a:tc>
                  <a:txBody>
                    <a:bodyPr/>
                    <a:lstStyle/>
                    <a:p>
                      <a:pPr algn="r"/>
                      <a:r>
                        <a:rPr sz="1400">
                          <a:solidFill>
                            <a:srgbClr val="3F4A4E"/>
                          </a:solidFill>
                          <a:latin typeface="Arial"/>
                        </a:rPr>
                        <a:t>$288.7K</a:t>
                      </a:r>
                    </a:p>
                  </a:txBody>
                  <a:tcPr>
                    <a:solidFill>
                      <a:srgbClr val="F7F6F2"/>
                    </a:solidFill>
                  </a:tcPr>
                </a:tc>
                <a:tc>
                  <a:txBody>
                    <a:bodyPr/>
                    <a:lstStyle/>
                    <a:p>
                      <a:pPr algn="r"/>
                      <a:r>
                        <a:rPr sz="1400">
                          <a:solidFill>
                            <a:srgbClr val="3F4A4E"/>
                          </a:solidFill>
                          <a:latin typeface="Arial"/>
                        </a:rPr>
                        <a:t>$311.2K</a:t>
                      </a:r>
                    </a:p>
                  </a:txBody>
                  <a:tcPr>
                    <a:solidFill>
                      <a:srgbClr val="F7F6F2"/>
                    </a:solidFill>
                  </a:tcPr>
                </a:tc>
                <a:tc>
                  <a:txBody>
                    <a:bodyPr/>
                    <a:lstStyle/>
                    <a:p>
                      <a:pPr algn="r"/>
                      <a:r>
                        <a:rPr sz="1400">
                          <a:solidFill>
                            <a:srgbClr val="3F4A4E"/>
                          </a:solidFill>
                          <a:latin typeface="Arial"/>
                        </a:rPr>
                        <a:t>$362.1K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$104.6K</a:t>
                      </a:r>
                    </a:p>
                  </a:txBody>
                  <a:tcPr>
                    <a:solidFill>
                      <a:srgbClr val="FFFFFF"/>
                    </a:solidFill>
                  </a:tcPr>
                </a:tc>
                <a:tc>
                  <a:txBody>
                    <a:bodyPr/>
                    <a:lstStyle/>
                    <a:p>
                      <a:pPr algn="r"/>
                      <a:r>
                        <a:rPr sz="1400">
                          <a:solidFill>
                            <a:srgbClr val="3F4A4E"/>
                          </a:solidFill>
                          <a:latin typeface="Arial"/>
                        </a:rPr>
                        <a:t>$113.4K</a:t>
                      </a:r>
                    </a:p>
                  </a:txBody>
                  <a:tcPr>
                    <a:solidFill>
                      <a:srgbClr val="FFFFFF"/>
                    </a:solidFill>
                  </a:tcPr>
                </a:tc>
                <a:tc>
                  <a:txBody>
                    <a:bodyPr/>
                    <a:lstStyle/>
                    <a:p>
                      <a:pPr algn="r"/>
                      <a:r>
                        <a:rPr sz="1400">
                          <a:solidFill>
                            <a:srgbClr val="3F4A4E"/>
                          </a:solidFill>
                          <a:latin typeface="Arial"/>
                        </a:rPr>
                        <a:t>$134.4K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$170.3K</a:t>
                      </a:r>
                    </a:p>
                  </a:txBody>
                  <a:tcPr>
                    <a:solidFill>
                      <a:srgbClr val="F7F6F2"/>
                    </a:solidFill>
                  </a:tcPr>
                </a:tc>
                <a:tc>
                  <a:txBody>
                    <a:bodyPr/>
                    <a:lstStyle/>
                    <a:p>
                      <a:pPr algn="r"/>
                      <a:r>
                        <a:rPr sz="1400">
                          <a:solidFill>
                            <a:srgbClr val="3F4A4E"/>
                          </a:solidFill>
                          <a:latin typeface="Arial"/>
                        </a:rPr>
                        <a:t>$155.5K</a:t>
                      </a:r>
                    </a:p>
                  </a:txBody>
                  <a:tcPr>
                    <a:solidFill>
                      <a:srgbClr val="F7F6F2"/>
                    </a:solidFill>
                  </a:tcPr>
                </a:tc>
                <a:tc>
                  <a:txBody>
                    <a:bodyPr/>
                    <a:lstStyle/>
                    <a:p>
                      <a:pPr algn="r"/>
                      <a:r>
                        <a:rPr sz="1400">
                          <a:solidFill>
                            <a:srgbClr val="3F4A4E"/>
                          </a:solidFill>
                          <a:latin typeface="Arial"/>
                        </a:rPr>
                        <a:t>$135.0K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$112.4K</a:t>
                      </a:r>
                    </a:p>
                  </a:txBody>
                  <a:tcPr>
                    <a:solidFill>
                      <a:srgbClr val="FFFFFF"/>
                    </a:solidFill>
                  </a:tcPr>
                </a:tc>
                <a:tc>
                  <a:txBody>
                    <a:bodyPr/>
                    <a:lstStyle/>
                    <a:p>
                      <a:pPr algn="r"/>
                      <a:r>
                        <a:rPr sz="1400">
                          <a:solidFill>
                            <a:srgbClr val="3F4A4E"/>
                          </a:solidFill>
                          <a:latin typeface="Arial"/>
                        </a:rPr>
                        <a:t>$113.0K</a:t>
                      </a:r>
                    </a:p>
                  </a:txBody>
                  <a:tcPr>
                    <a:solidFill>
                      <a:srgbClr val="FFFFFF"/>
                    </a:solidFill>
                  </a:tcPr>
                </a:tc>
                <a:tc>
                  <a:txBody>
                    <a:bodyPr/>
                    <a:lstStyle/>
                    <a:p>
                      <a:pPr algn="r"/>
                      <a:r>
                        <a:rPr sz="1400">
                          <a:solidFill>
                            <a:srgbClr val="3F4A4E"/>
                          </a:solidFill>
                          <a:latin typeface="Arial"/>
                        </a:rPr>
                        <a:t>$120.7K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$34.0K</a:t>
                      </a:r>
                    </a:p>
                  </a:txBody>
                  <a:tcPr>
                    <a:solidFill>
                      <a:srgbClr val="F7F6F2"/>
                    </a:solidFill>
                  </a:tcPr>
                </a:tc>
                <a:tc>
                  <a:txBody>
                    <a:bodyPr/>
                    <a:lstStyle/>
                    <a:p>
                      <a:pPr algn="r"/>
                      <a:r>
                        <a:rPr sz="1400">
                          <a:solidFill>
                            <a:srgbClr val="3F4A4E"/>
                          </a:solidFill>
                          <a:latin typeface="Arial"/>
                        </a:rPr>
                        <a:t>$14.5K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$17.4K</a:t>
                      </a:r>
                    </a:p>
                  </a:txBody>
                  <a:tcPr>
                    <a:solidFill>
                      <a:srgbClr val="FFFFFF"/>
                    </a:solidFill>
                  </a:tcPr>
                </a:tc>
                <a:tc>
                  <a:txBody>
                    <a:bodyPr/>
                    <a:lstStyle/>
                    <a:p>
                      <a:pPr algn="r"/>
                      <a:r>
                        <a:rPr sz="1400">
                          <a:solidFill>
                            <a:srgbClr val="3F4A4E"/>
                          </a:solidFill>
                          <a:latin typeface="Arial"/>
                        </a:rPr>
                        <a:t>$9.7K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($164.0K)</a:t>
                      </a:r>
                    </a:p>
                  </a:txBody>
                  <a:tcPr>
                    <a:solidFill>
                      <a:srgbClr val="F7F6F2"/>
                    </a:solidFill>
                  </a:tcPr>
                </a:tc>
                <a:tc>
                  <a:txBody>
                    <a:bodyPr/>
                    <a:lstStyle/>
                    <a:p>
                      <a:pPr algn="r"/>
                      <a:r>
                        <a:rPr sz="1400" b="1">
                          <a:solidFill>
                            <a:srgbClr val="22424B"/>
                          </a:solidFill>
                          <a:latin typeface="Arial"/>
                        </a:rPr>
                        <a:t>($114.3K)</a:t>
                      </a:r>
                    </a:p>
                  </a:txBody>
                  <a:tcPr>
                    <a:solidFill>
                      <a:srgbClr val="F7F6F2"/>
                    </a:solidFill>
                  </a:tcPr>
                </a:tc>
                <a:tc>
                  <a:txBody>
                    <a:bodyPr/>
                    <a:lstStyle/>
                    <a:p>
                      <a:pPr algn="r"/>
                      <a:r>
                        <a:rPr sz="1400" b="1">
                          <a:solidFill>
                            <a:srgbClr val="22424B"/>
                          </a:solidFill>
                          <a:latin typeface="Arial"/>
                        </a:rPr>
                        <a:t>($42.5K)</a:t>
                      </a:r>
                    </a:p>
                  </a:txBody>
                  <a:tcPr>
                    <a:solidFill>
                      <a:srgbClr val="F7F6F2"/>
                    </a:solidFill>
                  </a:tcPr>
                </a:tc>
              </a:tr>
            </a:tbl>
          </a:graphicData>
        </a:graphic>
      </p:graphicFrame>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cut 74% — from ($164K) to ($42.5K)</a:t>
            </a:r>
          </a:p>
          <a:p>
            <a:pPr>
              <a:spcAft>
                <a:spcPts val="800"/>
              </a:spcAft>
            </a:pPr>
            <a:r>
              <a:rPr sz="1400" b="0">
                <a:solidFill>
                  <a:srgbClr val="3F4A4E"/>
                </a:solidFill>
                <a:latin typeface="Arial"/>
              </a:rPr>
              <a:t>Combined with Vessel (+$54.2K), the portfolio turns positive in 2027: +$11.8K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$3,500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$700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