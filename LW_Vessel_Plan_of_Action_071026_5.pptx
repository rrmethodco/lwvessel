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 id="295" r:id="rId2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~34%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a:t>
            </a:r>
            <a:r>
              <a:rPr lang="en-US" sz="3750" kern="0" spc="-75" dirty="0" err="1">
                <a:solidFill>
                  <a:srgbClr val="22424B"/>
                </a:solidFill>
                <a:latin typeface="Georgia" pitchFamily="34" charset="0"/>
                <a:ea typeface="Georgia" pitchFamily="34" charset="-122"/>
                <a:cs typeface="Georgia" pitchFamily="34" charset="-120"/>
              </a:rPr>
              <a:t>xxK</a:t>
            </a:r>
            <a:r>
              <a:rPr lang="en-US" sz="3750" kern="0" spc="-75" dirty="0">
                <a:solidFill>
                  <a:srgbClr val="22424B"/>
                </a:solidFill>
                <a:latin typeface="Georgia" pitchFamily="34" charset="0"/>
                <a:ea typeface="Georgia" pitchFamily="34" charset="-122"/>
                <a:cs typeface="Georgia" pitchFamily="34" charset="-120"/>
              </a:rPr>
              <a:t> → $</a:t>
            </a:r>
            <a:r>
              <a:rPr lang="en-US" sz="3750" kern="0" spc="-75" dirty="0" err="1">
                <a:solidFill>
                  <a:srgbClr val="22424B"/>
                </a:solidFill>
                <a:latin typeface="Georgia" pitchFamily="34" charset="0"/>
                <a:ea typeface="Georgia" pitchFamily="34" charset="-122"/>
                <a:cs typeface="Georgia" pitchFamily="34" charset="-120"/>
              </a:rPr>
              <a:t>xxK</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$14.5K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graphicFrame>
        <p:nvGraphicFramePr>
          <p:cNvPr id="123" name="Table 122"/>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a:t>
                      </a:r>
                    </a:p>
                  </a:txBody>
                  <a:tcPr>
                    <a:solidFill>
                      <a:srgbClr val="F7F6F2"/>
                    </a:solidFill>
                  </a:tcPr>
                </a:tc>
                <a:tc>
                  <a:txBody>
                    <a:bodyPr/>
                    <a:lstStyle/>
                    <a:p>
                      <a:pPr algn="r"/>
                      <a:r>
                        <a:rPr sz="1400">
                          <a:solidFill>
                            <a:srgbClr val="3F4A4E"/>
                          </a:solidFill>
                          <a:latin typeface="Arial"/>
                        </a:rPr>
                        <a:t>$288.7K</a:t>
                      </a:r>
                    </a:p>
                  </a:txBody>
                  <a:tcPr>
                    <a:solidFill>
                      <a:srgbClr val="F7F6F2"/>
                    </a:solidFill>
                  </a:tcPr>
                </a:tc>
                <a:tc>
                  <a:txBody>
                    <a:bodyPr/>
                    <a:lstStyle/>
                    <a:p>
                      <a:pPr algn="r"/>
                      <a:r>
                        <a:rPr sz="1400">
                          <a:solidFill>
                            <a:srgbClr val="3F4A4E"/>
                          </a:solidFill>
                          <a:latin typeface="Arial"/>
                        </a:rPr>
                        <a:t>$311.2K</a:t>
                      </a:r>
                    </a:p>
                  </a:txBody>
                  <a:tcPr>
                    <a:solidFill>
                      <a:srgbClr val="F7F6F2"/>
                    </a:solidFill>
                  </a:tcPr>
                </a:tc>
                <a:tc>
                  <a:txBody>
                    <a:bodyPr/>
                    <a:lstStyle/>
                    <a:p>
                      <a:pPr algn="r"/>
                      <a:r>
                        <a:rPr sz="1400">
                          <a:solidFill>
                            <a:srgbClr val="3F4A4E"/>
                          </a:solidFill>
                          <a:latin typeface="Arial"/>
                        </a:rPr>
                        <a:t>$362.1K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$104.6K</a:t>
                      </a:r>
                    </a:p>
                  </a:txBody>
                  <a:tcPr>
                    <a:solidFill>
                      <a:srgbClr val="FFFFFF"/>
                    </a:solidFill>
                  </a:tcPr>
                </a:tc>
                <a:tc>
                  <a:txBody>
                    <a:bodyPr/>
                    <a:lstStyle/>
                    <a:p>
                      <a:pPr algn="r"/>
                      <a:r>
                        <a:rPr sz="1400">
                          <a:solidFill>
                            <a:srgbClr val="3F4A4E"/>
                          </a:solidFill>
                          <a:latin typeface="Arial"/>
                        </a:rPr>
                        <a:t>$113.4K</a:t>
                      </a:r>
                    </a:p>
                  </a:txBody>
                  <a:tcPr>
                    <a:solidFill>
                      <a:srgbClr val="FFFFFF"/>
                    </a:solidFill>
                  </a:tcPr>
                </a:tc>
                <a:tc>
                  <a:txBody>
                    <a:bodyPr/>
                    <a:lstStyle/>
                    <a:p>
                      <a:pPr algn="r"/>
                      <a:r>
                        <a:rPr sz="1400">
                          <a:solidFill>
                            <a:srgbClr val="3F4A4E"/>
                          </a:solidFill>
                          <a:latin typeface="Arial"/>
                        </a:rPr>
                        <a:t>$134.4K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$170.3K</a:t>
                      </a:r>
                    </a:p>
                  </a:txBody>
                  <a:tcPr>
                    <a:solidFill>
                      <a:srgbClr val="F7F6F2"/>
                    </a:solidFill>
                  </a:tcPr>
                </a:tc>
                <a:tc>
                  <a:txBody>
                    <a:bodyPr/>
                    <a:lstStyle/>
                    <a:p>
                      <a:pPr algn="r"/>
                      <a:r>
                        <a:rPr sz="1400">
                          <a:solidFill>
                            <a:srgbClr val="3F4A4E"/>
                          </a:solidFill>
                          <a:latin typeface="Arial"/>
                        </a:rPr>
                        <a:t>$155.5K</a:t>
                      </a:r>
                    </a:p>
                  </a:txBody>
                  <a:tcPr>
                    <a:solidFill>
                      <a:srgbClr val="F7F6F2"/>
                    </a:solidFill>
                  </a:tcPr>
                </a:tc>
                <a:tc>
                  <a:txBody>
                    <a:bodyPr/>
                    <a:lstStyle/>
                    <a:p>
                      <a:pPr algn="r"/>
                      <a:r>
                        <a:rPr sz="1400">
                          <a:solidFill>
                            <a:srgbClr val="3F4A4E"/>
                          </a:solidFill>
                          <a:latin typeface="Arial"/>
                        </a:rPr>
                        <a:t>$131.2K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$112.4K</a:t>
                      </a:r>
                    </a:p>
                  </a:txBody>
                  <a:tcPr>
                    <a:solidFill>
                      <a:srgbClr val="FFFFFF"/>
                    </a:solidFill>
                  </a:tcPr>
                </a:tc>
                <a:tc>
                  <a:txBody>
                    <a:bodyPr/>
                    <a:lstStyle/>
                    <a:p>
                      <a:pPr algn="r"/>
                      <a:r>
                        <a:rPr sz="1400">
                          <a:solidFill>
                            <a:srgbClr val="3F4A4E"/>
                          </a:solidFill>
                          <a:latin typeface="Arial"/>
                        </a:rPr>
                        <a:t>$113.0K</a:t>
                      </a:r>
                    </a:p>
                  </a:txBody>
                  <a:tcPr>
                    <a:solidFill>
                      <a:srgbClr val="FFFFFF"/>
                    </a:solidFill>
                  </a:tcPr>
                </a:tc>
                <a:tc>
                  <a:txBody>
                    <a:bodyPr/>
                    <a:lstStyle/>
                    <a:p>
                      <a:pPr algn="r"/>
                      <a:r>
                        <a:rPr sz="1400">
                          <a:solidFill>
                            <a:srgbClr val="3F4A4E"/>
                          </a:solidFill>
                          <a:latin typeface="Arial"/>
                        </a:rPr>
                        <a:t>$120.7K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$34.0K</a:t>
                      </a:r>
                    </a:p>
                  </a:txBody>
                  <a:tcPr>
                    <a:solidFill>
                      <a:srgbClr val="F7F6F2"/>
                    </a:solidFill>
                  </a:tcPr>
                </a:tc>
                <a:tc>
                  <a:txBody>
                    <a:bodyPr/>
                    <a:lstStyle/>
                    <a:p>
                      <a:pPr algn="r"/>
                      <a:r>
                        <a:rPr sz="1400">
                          <a:solidFill>
                            <a:srgbClr val="3F4A4E"/>
                          </a:solidFill>
                          <a:latin typeface="Arial"/>
                        </a:rPr>
                        <a:t>$14.5K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$17.4K</a:t>
                      </a:r>
                    </a:p>
                  </a:txBody>
                  <a:tcPr>
                    <a:solidFill>
                      <a:srgbClr val="FFFFFF"/>
                    </a:solidFill>
                  </a:tcPr>
                </a:tc>
                <a:tc>
                  <a:txBody>
                    <a:bodyPr/>
                    <a:lstStyle/>
                    <a:p>
                      <a:pPr algn="r"/>
                      <a:r>
                        <a:rPr sz="1400">
                          <a:solidFill>
                            <a:srgbClr val="3F4A4E"/>
                          </a:solidFill>
                          <a:latin typeface="Arial"/>
                        </a:rPr>
                        <a:t>$9.7K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($164.0K)</a:t>
                      </a:r>
                    </a:p>
                  </a:txBody>
                  <a:tcPr>
                    <a:solidFill>
                      <a:srgbClr val="F7F6F2"/>
                    </a:solidFill>
                  </a:tcPr>
                </a:tc>
                <a:tc>
                  <a:txBody>
                    <a:bodyPr/>
                    <a:lstStyle/>
                    <a:p>
                      <a:pPr algn="r"/>
                      <a:r>
                        <a:rPr sz="1400" b="1">
                          <a:solidFill>
                            <a:srgbClr val="22424B"/>
                          </a:solidFill>
                          <a:latin typeface="Arial"/>
                        </a:rPr>
                        <a:t>($114.3K)</a:t>
                      </a:r>
                    </a:p>
                  </a:txBody>
                  <a:tcPr>
                    <a:solidFill>
                      <a:srgbClr val="F7F6F2"/>
                    </a:solidFill>
                  </a:tcPr>
                </a:tc>
                <a:tc>
                  <a:txBody>
                    <a:bodyPr/>
                    <a:lstStyle/>
                    <a:p>
                      <a:pPr algn="r"/>
                      <a:r>
                        <a:rPr sz="1400" b="1">
                          <a:solidFill>
                            <a:srgbClr val="22424B"/>
                          </a:solidFill>
                          <a:latin typeface="Arial"/>
                        </a:rPr>
                        <a:t>($38.7K)</a:t>
                      </a:r>
                    </a:p>
                  </a:txBody>
                  <a:tcPr>
                    <a:solidFill>
                      <a:srgbClr val="F7F6F2"/>
                    </a:solidFill>
                  </a:tcPr>
                </a:tc>
              </a:tr>
            </a:tbl>
          </a:graphicData>
        </a:graphic>
      </p:graphicFrame>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cut 76% — from ($164K) to ($38.7K)</a:t>
            </a:r>
          </a:p>
          <a:p>
            <a:pPr>
              <a:spcAft>
                <a:spcPts val="800"/>
              </a:spcAft>
            </a:pPr>
            <a:r>
              <a:rPr sz="1400" b="0">
                <a:solidFill>
                  <a:srgbClr val="3F4A4E"/>
                </a:solidFill>
                <a:latin typeface="Arial"/>
              </a:rPr>
              <a:t>Combined with Vessel (+$54.2K), the portfolio turns positive in 2027: +$15.5K</a:t>
            </a:r>
          </a:p>
        </p:txBody>
      </p:sp>
      <p:sp>
        <p:nvSpPr>
          <p:cNvPr id="125" name="TextBox 124"/>
          <p:cNvSpPr txBox="1"/>
          <p:nvPr/>
        </p:nvSpPr>
        <p:spPr>
          <a:xfrm>
            <a:off x="950976" y="7406640"/>
            <a:ext cx="11521440" cy="822960"/>
          </a:xfrm>
          <a:prstGeom prst="rect">
            <a:avLst/>
          </a:prstGeom>
          <a:noFill/>
        </p:spPr>
        <p:txBody>
          <a:bodyPr wrap="square">
            <a:spAutoFit/>
          </a:bodyPr>
          <a:lstStyle/>
          <a:p>
            <a:r>
              <a:rPr sz="1400" b="1">
                <a:solidFill>
                  <a:srgbClr val="63BACB"/>
                </a:solidFill>
                <a:latin typeface="Arial"/>
              </a:rPr>
              <a:t>IMMEDIATE IMPACT — AUG 1 THROUGH YEAR-END:  ($18.1K) with the changes vs ($67.8K) with no changes  →  +$49.7K in five months.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 + admin fee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 + 5%</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$1,000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 admin fee covers 3% commission payout + 2% credit card processing fees</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9015984" cy="265176"/>
          </a:xfrm>
          <a:prstGeom prst="rect">
            <a:avLst/>
          </a:prstGeom>
          <a:noFill/>
        </p:spPr>
        <p:txBody>
          <a:bodyPr wrap="none">
            <a:spAutoFit/>
          </a:bodyPr>
          <a:lstStyle/>
          <a:p>
            <a:r>
              <a:rPr sz="1650" b="1">
                <a:solidFill>
                  <a:srgbClr val="63BACB"/>
                </a:solidFill>
                <a:latin typeface="Arial"/>
              </a:rPr>
              <a:t>06 | P&amp;L — VESSEL</a:t>
            </a:r>
          </a:p>
        </p:txBody>
      </p:sp>
      <p:sp>
        <p:nvSpPr>
          <p:cNvPr id="3" name="TextBox 2"/>
          <p:cNvSpPr txBox="1"/>
          <p:nvPr/>
        </p:nvSpPr>
        <p:spPr>
          <a:xfrm>
            <a:off x="950976" y="1106424"/>
            <a:ext cx="9015984" cy="566928"/>
          </a:xfrm>
          <a:prstGeom prst="rect">
            <a:avLst/>
          </a:prstGeom>
          <a:noFill/>
        </p:spPr>
        <p:txBody>
          <a:bodyPr wrap="none">
            <a:spAutoFit/>
          </a:bodyPr>
          <a:lstStyle/>
          <a:p>
            <a:r>
              <a:rPr sz="4000">
                <a:solidFill>
                  <a:srgbClr val="22424B"/>
                </a:solidFill>
                <a:latin typeface="Georgia"/>
              </a:rPr>
              <a:t>The go-forward plan</a:t>
            </a:r>
          </a:p>
        </p:txBody>
      </p:sp>
      <p:graphicFrame>
        <p:nvGraphicFramePr>
          <p:cNvPr id="4" name="Table 3"/>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 (incl 5% admin fee billed to clients)</a:t>
                      </a:r>
                    </a:p>
                  </a:txBody>
                  <a:tcPr>
                    <a:solidFill>
                      <a:srgbClr val="F7F6F2"/>
                    </a:solidFill>
                  </a:tcPr>
                </a:tc>
                <a:tc>
                  <a:txBody>
                    <a:bodyPr/>
                    <a:lstStyle/>
                    <a:p>
                      <a:pPr algn="r"/>
                      <a:r>
                        <a:rPr sz="1400">
                          <a:solidFill>
                            <a:srgbClr val="3F4A4E"/>
                          </a:solidFill>
                          <a:latin typeface="Arial"/>
                        </a:rPr>
                        <a:t>$352.0K</a:t>
                      </a:r>
                    </a:p>
                  </a:txBody>
                  <a:tcPr>
                    <a:solidFill>
                      <a:srgbClr val="F7F6F2"/>
                    </a:solidFill>
                  </a:tcPr>
                </a:tc>
                <a:tc>
                  <a:txBody>
                    <a:bodyPr/>
                    <a:lstStyle/>
                    <a:p>
                      <a:pPr algn="r"/>
                      <a:r>
                        <a:rPr sz="1400">
                          <a:solidFill>
                            <a:srgbClr val="3F4A4E"/>
                          </a:solidFill>
                          <a:latin typeface="Arial"/>
                        </a:rPr>
                        <a:t>$355.5K</a:t>
                      </a:r>
                    </a:p>
                  </a:txBody>
                  <a:tcPr>
                    <a:solidFill>
                      <a:srgbClr val="F7F6F2"/>
                    </a:solidFill>
                  </a:tcPr>
                </a:tc>
                <a:tc>
                  <a:txBody>
                    <a:bodyPr/>
                    <a:lstStyle/>
                    <a:p>
                      <a:pPr algn="r"/>
                      <a:r>
                        <a:rPr sz="1400">
                          <a:solidFill>
                            <a:srgbClr val="3F4A4E"/>
                          </a:solidFill>
                          <a:latin typeface="Arial"/>
                        </a:rPr>
                        <a:t>$415.0K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$170.0K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$70.6K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$93.2K</a:t>
                      </a:r>
                    </a:p>
                  </a:txBody>
                  <a:tcPr>
                    <a:solidFill>
                      <a:srgbClr val="FFFFFF"/>
                    </a:solidFill>
                  </a:tcPr>
                </a:tc>
                <a:tc>
                  <a:txBody>
                    <a:bodyPr/>
                    <a:lstStyle/>
                    <a:p>
                      <a:pPr algn="r"/>
                      <a:r>
                        <a:rPr sz="1400">
                          <a:solidFill>
                            <a:srgbClr val="3F4A4E"/>
                          </a:solidFill>
                          <a:latin typeface="Arial"/>
                        </a:rPr>
                        <a:t>$93.2K</a:t>
                      </a:r>
                    </a:p>
                  </a:txBody>
                  <a:tcPr>
                    <a:solidFill>
                      <a:srgbClr val="FFFFFF"/>
                    </a:solidFill>
                  </a:tcPr>
                </a:tc>
                <a:tc>
                  <a:txBody>
                    <a:bodyPr/>
                    <a:lstStyle/>
                    <a:p>
                      <a:pPr algn="r"/>
                      <a:r>
                        <a:rPr sz="1400">
                          <a:solidFill>
                            <a:srgbClr val="3F4A4E"/>
                          </a:solidFill>
                          <a:latin typeface="Arial"/>
                        </a:rPr>
                        <a:t>$103.5K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$33.1K</a:t>
                      </a:r>
                    </a:p>
                  </a:txBody>
                  <a:tcPr>
                    <a:solidFill>
                      <a:srgbClr val="F7F6F2"/>
                    </a:solidFill>
                  </a:tcPr>
                </a:tc>
                <a:tc>
                  <a:txBody>
                    <a:bodyPr/>
                    <a:lstStyle/>
                    <a:p>
                      <a:pPr algn="r"/>
                      <a:r>
                        <a:rPr sz="1400">
                          <a:solidFill>
                            <a:srgbClr val="3F4A4E"/>
                          </a:solidFill>
                          <a:latin typeface="Arial"/>
                        </a:rPr>
                        <a:t>$16.6K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$21.3K</a:t>
                      </a:r>
                    </a:p>
                  </a:txBody>
                  <a:tcPr>
                    <a:solidFill>
                      <a:srgbClr val="FFFFFF"/>
                    </a:solidFill>
                  </a:tcPr>
                </a:tc>
                <a:tc>
                  <a:txBody>
                    <a:bodyPr/>
                    <a:lstStyle/>
                    <a:p>
                      <a:pPr algn="r"/>
                      <a:r>
                        <a:rPr sz="1400">
                          <a:solidFill>
                            <a:srgbClr val="3F4A4E"/>
                          </a:solidFill>
                          <a:latin typeface="Arial"/>
                        </a:rPr>
                        <a:t>$13.8K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($13.5K)</a:t>
                      </a:r>
                    </a:p>
                  </a:txBody>
                  <a:tcPr>
                    <a:solidFill>
                      <a:srgbClr val="F7F6F2"/>
                    </a:solidFill>
                  </a:tcPr>
                </a:tc>
                <a:tc>
                  <a:txBody>
                    <a:bodyPr/>
                    <a:lstStyle/>
                    <a:p>
                      <a:pPr algn="r"/>
                      <a:r>
                        <a:rPr sz="1400" b="1">
                          <a:solidFill>
                            <a:srgbClr val="22424B"/>
                          </a:solidFill>
                          <a:latin typeface="Arial"/>
                        </a:rPr>
                        <a:t>$12.3K</a:t>
                      </a:r>
                    </a:p>
                  </a:txBody>
                  <a:tcPr>
                    <a:solidFill>
                      <a:srgbClr val="F7F6F2"/>
                    </a:solidFill>
                  </a:tcPr>
                </a:tc>
                <a:tc>
                  <a:txBody>
                    <a:bodyPr/>
                    <a:lstStyle/>
                    <a:p>
                      <a:pPr algn="r"/>
                      <a:r>
                        <a:rPr sz="1400" b="1">
                          <a:solidFill>
                            <a:srgbClr val="22424B"/>
                          </a:solidFill>
                          <a:latin typeface="Arial"/>
                        </a:rPr>
                        <a:t>$54.2K</a:t>
                      </a:r>
                    </a:p>
                  </a:txBody>
                  <a:tcPr>
                    <a:solidFill>
                      <a:srgbClr val="F7F6F2"/>
                    </a:solidFill>
                  </a:tcPr>
                </a:tc>
              </a:tr>
            </a:tbl>
          </a:graphicData>
        </a:graphic>
      </p:graphicFrame>
      <p:sp>
        <p:nvSpPr>
          <p:cNvPr id="5" name="TextBox 4"/>
          <p:cNvSpPr txBox="1"/>
          <p:nvPr/>
        </p:nvSpPr>
        <p:spPr>
          <a:xfrm>
            <a:off x="12893040" y="2468880"/>
            <a:ext cx="4572000" cy="5029200"/>
          </a:xfrm>
          <a:prstGeom prst="rect">
            <a:avLst/>
          </a:prstGeom>
          <a:noFill/>
        </p:spPr>
        <p:txBody>
          <a:bodyPr wrap="square">
            <a:spAutoFit/>
          </a:bodyPr>
          <a:lstStyle/>
          <a:p>
            <a:pPr>
              <a:spcAft>
                <a:spcPts val="800"/>
              </a:spcAft>
            </a:pPr>
            <a:r>
              <a:rPr sz="1300" b="1">
                <a:solidFill>
                  <a:srgbClr val="63BACB"/>
                </a:solidFill>
                <a:latin typeface="Arial"/>
              </a:rPr>
              <a:t>EVENT TERMS — DECIDED</a:t>
            </a:r>
          </a:p>
          <a:p>
            <a:pPr>
              <a:spcAft>
                <a:spcPts val="800"/>
              </a:spcAft>
            </a:pPr>
            <a:r>
              <a:rPr sz="1400" b="0">
                <a:solidFill>
                  <a:srgbClr val="3F4A4E"/>
                </a:solidFill>
                <a:latin typeface="Arial"/>
              </a:rPr>
              <a:t>$4,000 F&amp;B minimum per event (was none)</a:t>
            </a:r>
          </a:p>
          <a:p>
            <a:pPr>
              <a:spcAft>
                <a:spcPts val="800"/>
              </a:spcAft>
            </a:pPr>
            <a:r>
              <a:rPr sz="1400" b="0">
                <a:solidFill>
                  <a:srgbClr val="3F4A4E"/>
                </a:solidFill>
                <a:latin typeface="Arial"/>
              </a:rPr>
              <a:t>20% service charge + 5% admin fee billed to clients — admin fee is income, covering 3% commission + 2% CC processing</a:t>
            </a:r>
          </a:p>
          <a:p>
            <a:pPr>
              <a:spcAft>
                <a:spcPts val="800"/>
              </a:spcAft>
            </a:pPr>
            <a:r>
              <a:rPr sz="1400" b="0">
                <a:solidFill>
                  <a:srgbClr val="3F4A4E"/>
                </a:solidFill>
                <a:latin typeface="Arial"/>
              </a:rPr>
              <a:t>4% management fee replaces the $48K flat fee · rent waived · live 8/1/2026</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Vessel swings from a ($13.5K) year to +$54.2K in 2027</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+$34.8K with the changes vs +$9.0K with no changes → +$25.8K in five months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